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434" r:id="rId4"/>
    <p:sldId id="435" r:id="rId5"/>
    <p:sldId id="436" r:id="rId6"/>
    <p:sldId id="437" r:id="rId7"/>
    <p:sldId id="438" r:id="rId8"/>
    <p:sldId id="439" r:id="rId9"/>
    <p:sldId id="440" r:id="rId10"/>
    <p:sldId id="441" r:id="rId11"/>
    <p:sldId id="442" r:id="rId12"/>
    <p:sldId id="443" r:id="rId13"/>
    <p:sldId id="444" r:id="rId14"/>
    <p:sldId id="445" r:id="rId15"/>
    <p:sldId id="446" r:id="rId16"/>
    <p:sldId id="447" r:id="rId17"/>
    <p:sldId id="448" r:id="rId18"/>
    <p:sldId id="450" r:id="rId19"/>
    <p:sldId id="449" r:id="rId20"/>
    <p:sldId id="451" r:id="rId21"/>
    <p:sldId id="452" r:id="rId22"/>
    <p:sldId id="453" r:id="rId23"/>
    <p:sldId id="454" r:id="rId24"/>
    <p:sldId id="455" r:id="rId25"/>
    <p:sldId id="456" r:id="rId26"/>
    <p:sldId id="457" r:id="rId27"/>
    <p:sldId id="458" r:id="rId28"/>
    <p:sldId id="459" r:id="rId29"/>
    <p:sldId id="460" r:id="rId30"/>
    <p:sldId id="461" r:id="rId31"/>
    <p:sldId id="462" r:id="rId32"/>
    <p:sldId id="463" r:id="rId33"/>
    <p:sldId id="464" r:id="rId34"/>
    <p:sldId id="465" r:id="rId35"/>
    <p:sldId id="466" r:id="rId36"/>
    <p:sldId id="467" r:id="rId37"/>
    <p:sldId id="468" r:id="rId38"/>
    <p:sldId id="469" r:id="rId39"/>
    <p:sldId id="470" r:id="rId40"/>
    <p:sldId id="471" r:id="rId41"/>
    <p:sldId id="472" r:id="rId42"/>
    <p:sldId id="473" r:id="rId43"/>
    <p:sldId id="474" r:id="rId44"/>
    <p:sldId id="475" r:id="rId45"/>
    <p:sldId id="476" r:id="rId46"/>
    <p:sldId id="477" r:id="rId47"/>
    <p:sldId id="478" r:id="rId48"/>
    <p:sldId id="479" r:id="rId49"/>
    <p:sldId id="480" r:id="rId50"/>
    <p:sldId id="481" r:id="rId51"/>
    <p:sldId id="482" r:id="rId52"/>
    <p:sldId id="483" r:id="rId53"/>
    <p:sldId id="484" r:id="rId54"/>
    <p:sldId id="485" r:id="rId55"/>
    <p:sldId id="486" r:id="rId56"/>
    <p:sldId id="487" r:id="rId57"/>
    <p:sldId id="488" r:id="rId58"/>
    <p:sldId id="489" r:id="rId59"/>
    <p:sldId id="490" r:id="rId60"/>
    <p:sldId id="491" r:id="rId61"/>
    <p:sldId id="492" r:id="rId62"/>
    <p:sldId id="493" r:id="rId63"/>
    <p:sldId id="494" r:id="rId64"/>
    <p:sldId id="495" r:id="rId65"/>
    <p:sldId id="496" r:id="rId66"/>
    <p:sldId id="497" r:id="rId67"/>
    <p:sldId id="498" r:id="rId68"/>
    <p:sldId id="499" r:id="rId69"/>
    <p:sldId id="500" r:id="rId70"/>
    <p:sldId id="501" r:id="rId71"/>
    <p:sldId id="502" r:id="rId72"/>
    <p:sldId id="503" r:id="rId73"/>
    <p:sldId id="504" r:id="rId74"/>
    <p:sldId id="505" r:id="rId75"/>
    <p:sldId id="506" r:id="rId76"/>
    <p:sldId id="507" r:id="rId77"/>
    <p:sldId id="508" r:id="rId78"/>
    <p:sldId id="509" r:id="rId79"/>
    <p:sldId id="510" r:id="rId80"/>
    <p:sldId id="511" r:id="rId81"/>
    <p:sldId id="512" r:id="rId82"/>
    <p:sldId id="513" r:id="rId83"/>
    <p:sldId id="514" r:id="rId84"/>
    <p:sldId id="515" r:id="rId85"/>
    <p:sldId id="516" r:id="rId86"/>
    <p:sldId id="517" r:id="rId87"/>
    <p:sldId id="518" r:id="rId88"/>
    <p:sldId id="519" r:id="rId89"/>
    <p:sldId id="520" r:id="rId90"/>
    <p:sldId id="521" r:id="rId91"/>
    <p:sldId id="522" r:id="rId92"/>
    <p:sldId id="523" r:id="rId93"/>
    <p:sldId id="524" r:id="rId94"/>
    <p:sldId id="525" r:id="rId95"/>
    <p:sldId id="526" r:id="rId96"/>
    <p:sldId id="527" r:id="rId97"/>
    <p:sldId id="528" r:id="rId9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53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4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8B6A79-4EC4-41E7-BFBD-F442802DD3C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22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F90436-268C-46C2-884C-EA5B3DA816A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4502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5F1450-E21D-4B6E-92DA-8E4E5A6F51B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4954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181EF9-84C7-428B-9019-B709E878BA7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9447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3BECA5-220B-405F-A4B9-2F9780E14FB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1906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A5DFDE-2E9C-4C65-AAAF-0462866AFA2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4727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7D03DA-BBB8-4ACD-83B0-0995E3E30C5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5985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B8241A-F5AE-4B9B-B74C-4D132022096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1383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6D2F96-A710-4352-A02E-8D8BC9C2AD0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5408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7715C-457D-4EE1-9B09-789B4E5176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5745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B8C1-06E1-458C-8F69-BB30A0BFA04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05011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05D450-1CFD-4814-87A0-B8EF34A6711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3853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834CAA91-A5AD-45F2-A642-A6406050261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5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6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7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8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9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0.emf"/><Relationship Id="rId4" Type="http://schemas.openxmlformats.org/officeDocument/2006/relationships/oleObject" Target="../embeddings/Microsoft_Word_97_-_2003___1.doc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1.emf"/><Relationship Id="rId4" Type="http://schemas.openxmlformats.org/officeDocument/2006/relationships/oleObject" Target="../embeddings/Microsoft_Word_97_-_2003___2.doc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2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3.emf"/><Relationship Id="rId4" Type="http://schemas.openxmlformats.org/officeDocument/2006/relationships/oleObject" Target="../embeddings/Microsoft_Word_97_-_2003___3.doc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14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15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16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17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18.e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19.e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20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21.e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22.e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23.e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24.emf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25.emf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26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27.emf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28.emf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29.emf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30.emf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31.emf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4" Type="http://schemas.openxmlformats.org/officeDocument/2006/relationships/image" Target="../media/image32.emf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4" Type="http://schemas.openxmlformats.org/officeDocument/2006/relationships/image" Target="../media/image33.emf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en-US" altLang="zh-CN" sz="4400" smtClean="0"/>
              <a:t>COMPILERS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zh-CN" sz="3200" smtClean="0"/>
              <a:t>Principles and Practice</a:t>
            </a:r>
          </a:p>
          <a:p>
            <a:pPr eaLnBrk="1" hangingPunct="1"/>
            <a:endParaRPr lang="en-US" altLang="zh-CN" sz="3200" smtClean="0"/>
          </a:p>
          <a:p>
            <a:pPr eaLnBrk="1" hangingPunct="1"/>
            <a:r>
              <a:rPr lang="en-US" altLang="zh-CN" sz="3200" smtClean="0"/>
              <a:t>Jing Zhang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en-US" altLang="zh-CN" sz="4800" b="1" smtClean="0"/>
              <a:t>8. </a:t>
            </a:r>
            <a:r>
              <a:rPr lang="en-US" altLang="zh-CN" sz="4400" b="1" smtClean="0"/>
              <a:t>Runtime Environments</a:t>
            </a:r>
            <a:r>
              <a:rPr lang="en-US" altLang="zh-CN" sz="440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Contents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zh-CN" sz="2400" smtClean="0"/>
              <a:t>8.1 Memory Organization During Program Execution</a:t>
            </a:r>
          </a:p>
          <a:p>
            <a:pPr marL="609600" indent="-609600" algn="just" eaLnBrk="1" hangingPunct="1">
              <a:buFontTx/>
              <a:buNone/>
            </a:pPr>
            <a:r>
              <a:rPr lang="en-US" altLang="zh-CN" sz="2400" smtClean="0"/>
              <a:t>8.2 Fully Static Runtime Environments</a:t>
            </a:r>
          </a:p>
          <a:p>
            <a:pPr marL="609600" indent="-609600" algn="just" eaLnBrk="1" hangingPunct="1">
              <a:buFontTx/>
              <a:buNone/>
            </a:pPr>
            <a:r>
              <a:rPr lang="en-US" altLang="zh-CN" sz="2400" smtClean="0"/>
              <a:t>8.3 Stack-Based Runtime Environments</a:t>
            </a:r>
          </a:p>
          <a:p>
            <a:pPr marL="609600" indent="-609600" algn="just" eaLnBrk="1" hangingPunct="1">
              <a:buFontTx/>
              <a:buNone/>
            </a:pPr>
            <a:r>
              <a:rPr lang="en-US" altLang="zh-CN" sz="2400" smtClean="0"/>
              <a:t>8.4 Dynamic Memory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20713"/>
            <a:ext cx="7772400" cy="576103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The precious chapters studied the phases of a compiler that </a:t>
            </a:r>
            <a:r>
              <a:rPr lang="en-US" altLang="zh-CN" sz="2800" b="1" smtClean="0"/>
              <a:t>perform static analysis</a:t>
            </a:r>
            <a:r>
              <a:rPr lang="en-US" altLang="zh-CN" sz="2800" smtClean="0"/>
              <a:t> of the source language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/>
              <a:t>Scanning, parsing, and static semantic analysis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/>
              <a:t>Depends only on the </a:t>
            </a:r>
            <a:r>
              <a:rPr lang="en-US" altLang="zh-CN" sz="2400" b="1" smtClean="0"/>
              <a:t>properties of the source language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zh-CN" sz="2400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This chapter and the next turn to the task of studying how a compiler generates executable code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b="1" smtClean="0"/>
              <a:t>Additional analysis</a:t>
            </a:r>
            <a:r>
              <a:rPr lang="en-US" altLang="zh-CN" sz="2400" smtClean="0"/>
              <a:t>, such as that performed by an optimizer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/>
              <a:t>Some of this can be machine independent, but much of the task of code generation is </a:t>
            </a:r>
            <a:r>
              <a:rPr lang="en-US" altLang="zh-CN" sz="2400" b="1" smtClean="0"/>
              <a:t>dependent on the details of the target machine</a:t>
            </a:r>
            <a:endParaRPr lang="zh-CN" altLang="en-US" sz="2400" b="1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836613"/>
            <a:ext cx="7772400" cy="5259387"/>
          </a:xfrm>
        </p:spPr>
        <p:txBody>
          <a:bodyPr/>
          <a:lstStyle/>
          <a:p>
            <a:pPr eaLnBrk="1" hangingPunct="1">
              <a:tabLst>
                <a:tab pos="365125" algn="l"/>
              </a:tabLst>
            </a:pPr>
            <a:r>
              <a:rPr lang="en-US" altLang="zh-CN" b="1" smtClean="0"/>
              <a:t>Runtime Environment</a:t>
            </a:r>
            <a:endParaRPr lang="en-US" altLang="zh-CN" smtClean="0"/>
          </a:p>
          <a:p>
            <a:pPr marL="522288" lvl="1" indent="11113" eaLnBrk="1" hangingPunct="1">
              <a:buFontTx/>
              <a:buNone/>
              <a:tabLst>
                <a:tab pos="365125" algn="l"/>
              </a:tabLst>
            </a:pPr>
            <a:r>
              <a:rPr lang="en-US" altLang="zh-CN" smtClean="0"/>
              <a:t>The structure of the target computer</a:t>
            </a:r>
            <a:r>
              <a:rPr lang="en-US" altLang="zh-CN" smtClean="0">
                <a:latin typeface="Arial" panose="020B0604020202020204" pitchFamily="34" charset="0"/>
              </a:rPr>
              <a:t>’</a:t>
            </a:r>
            <a:r>
              <a:rPr lang="en-US" altLang="zh-CN" smtClean="0"/>
              <a:t>s </a:t>
            </a:r>
            <a:r>
              <a:rPr lang="en-US" altLang="zh-CN" b="1" smtClean="0"/>
              <a:t>registers and memory</a:t>
            </a:r>
            <a:r>
              <a:rPr lang="en-US" altLang="zh-CN" smtClean="0"/>
              <a:t> that serves to manage memory and maintain the information needed </a:t>
            </a:r>
            <a:r>
              <a:rPr lang="en-US" altLang="zh-CN" b="1" smtClean="0"/>
              <a:t>to guide the execution process</a:t>
            </a:r>
          </a:p>
          <a:p>
            <a:pPr marL="522288" lvl="1" indent="11113" eaLnBrk="1" hangingPunct="1">
              <a:buFontTx/>
              <a:buNone/>
              <a:tabLst>
                <a:tab pos="365125" algn="l"/>
              </a:tabLst>
            </a:pPr>
            <a:endParaRPr lang="en-US" altLang="zh-CN" b="1" smtClean="0"/>
          </a:p>
          <a:p>
            <a:pPr eaLnBrk="1" hangingPunct="1">
              <a:tabLst>
                <a:tab pos="365125" algn="l"/>
              </a:tabLst>
            </a:pPr>
            <a:r>
              <a:rPr lang="en-US" altLang="zh-CN" b="1" smtClean="0"/>
              <a:t>Three kinds of runtime environments</a:t>
            </a:r>
            <a:endParaRPr lang="en-US" altLang="zh-CN" smtClean="0"/>
          </a:p>
          <a:p>
            <a:pPr marL="522288" lvl="1" indent="11113" eaLnBrk="1" hangingPunct="1">
              <a:buFontTx/>
              <a:buNone/>
              <a:tabLst>
                <a:tab pos="365125" algn="l"/>
              </a:tabLst>
            </a:pPr>
            <a:r>
              <a:rPr lang="en-US" altLang="zh-CN" smtClean="0"/>
              <a:t>(1) </a:t>
            </a:r>
            <a:r>
              <a:rPr lang="en-US" altLang="zh-CN" b="1" smtClean="0"/>
              <a:t>Fully static</a:t>
            </a:r>
            <a:r>
              <a:rPr lang="en-US" altLang="zh-CN" smtClean="0"/>
              <a:t> environment; FORTRAN77</a:t>
            </a:r>
          </a:p>
          <a:p>
            <a:pPr marL="522288" lvl="1" indent="11113" eaLnBrk="1" hangingPunct="1">
              <a:buFontTx/>
              <a:buNone/>
              <a:tabLst>
                <a:tab pos="365125" algn="l"/>
              </a:tabLst>
            </a:pPr>
            <a:r>
              <a:rPr lang="en-US" altLang="zh-CN" smtClean="0"/>
              <a:t>(2) </a:t>
            </a:r>
            <a:r>
              <a:rPr lang="en-US" altLang="zh-CN" b="1" smtClean="0"/>
              <a:t>Stack-Based</a:t>
            </a:r>
            <a:r>
              <a:rPr lang="en-US" altLang="zh-CN" smtClean="0"/>
              <a:t> environment;	C C++</a:t>
            </a:r>
          </a:p>
          <a:p>
            <a:pPr marL="522288" lvl="1" indent="11113" eaLnBrk="1" hangingPunct="1">
              <a:buFontTx/>
              <a:buNone/>
              <a:tabLst>
                <a:tab pos="365125" algn="l"/>
              </a:tabLst>
            </a:pPr>
            <a:r>
              <a:rPr lang="en-US" altLang="zh-CN" smtClean="0"/>
              <a:t>(3) </a:t>
            </a:r>
            <a:r>
              <a:rPr lang="en-US" altLang="zh-CN" b="1" smtClean="0"/>
              <a:t>Fully dynamic</a:t>
            </a:r>
            <a:r>
              <a:rPr lang="en-US" altLang="zh-CN" smtClean="0"/>
              <a:t> environment; LISP</a:t>
            </a:r>
            <a:endParaRPr lang="zh-CN" altLang="en-US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5175"/>
            <a:ext cx="7772400" cy="53308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Main issues will be discussed in more detail in the chapter: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/>
              <a:t>For each environment, the language features and their properties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(1) </a:t>
            </a:r>
            <a:r>
              <a:rPr lang="en-US" altLang="zh-CN" sz="2400" b="1" smtClean="0"/>
              <a:t>Scoping and allocation</a:t>
            </a:r>
            <a:r>
              <a:rPr lang="en-US" altLang="zh-CN" sz="2400" smtClean="0"/>
              <a:t> issues;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(2) Nature of </a:t>
            </a:r>
            <a:r>
              <a:rPr lang="en-US" altLang="zh-CN" sz="2400" b="1" smtClean="0"/>
              <a:t>procedure calls</a:t>
            </a:r>
            <a:r>
              <a:rPr lang="en-US" altLang="zh-CN" sz="2400" smtClean="0"/>
              <a:t>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(3) </a:t>
            </a:r>
            <a:r>
              <a:rPr lang="en-US" altLang="zh-CN" sz="2400" b="1" smtClean="0"/>
              <a:t>Parameter passing</a:t>
            </a:r>
            <a:r>
              <a:rPr lang="en-US" altLang="zh-CN" sz="2400" smtClean="0"/>
              <a:t> mechanisms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Focus on the general structure of the environment</a:t>
            </a:r>
          </a:p>
          <a:p>
            <a:pPr eaLnBrk="1" hangingPunct="1">
              <a:lnSpc>
                <a:spcPct val="80000"/>
              </a:lnSpc>
            </a:pPr>
            <a:endParaRPr lang="en-US" altLang="zh-CN" sz="2800" b="1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800" b="1" smtClean="0"/>
              <a:t>Note:</a:t>
            </a:r>
            <a:r>
              <a:rPr lang="en-US" altLang="zh-CN" sz="2800" smtClean="0"/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/>
              <a:t>The compiler can only maintain an environment only indirectly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/>
              <a:t>It must generate code to perform the necessary maintenance operations during program execution.</a:t>
            </a:r>
            <a:endParaRPr lang="zh-CN" alt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en-US" altLang="zh-CN" sz="4000" b="1" smtClean="0"/>
              <a:t>8.1 Memory Organization During Program Execution</a:t>
            </a:r>
            <a:endParaRPr lang="zh-CN" altLang="en-US" sz="4000" b="1" smtClean="0"/>
          </a:p>
        </p:txBody>
      </p:sp>
      <p:sp>
        <p:nvSpPr>
          <p:cNvPr id="819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zh-CN" altLang="en-US" sz="32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4"/>
          <p:cNvGraphicFramePr>
            <a:graphicFrameLocks noChangeAspect="1"/>
          </p:cNvGraphicFramePr>
          <p:nvPr>
            <p:ph idx="4294967295"/>
          </p:nvPr>
        </p:nvGraphicFramePr>
        <p:xfrm>
          <a:off x="249238" y="404813"/>
          <a:ext cx="8389937" cy="604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文档" r:id="rId3" imgW="4602300" imgH="2984248" progId="Word.Document.8">
                  <p:embed/>
                </p:oleObj>
              </mc:Choice>
              <mc:Fallback>
                <p:oleObj name="文档" r:id="rId3" imgW="4602300" imgH="2984248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8" y="404813"/>
                        <a:ext cx="8389937" cy="604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5175"/>
            <a:ext cx="7772400" cy="53308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smtClean="0"/>
              <a:t>The global and/or static data of a program can be </a:t>
            </a:r>
            <a:r>
              <a:rPr lang="en-US" altLang="zh-CN" sz="2800" b="1" smtClean="0"/>
              <a:t>fixed in memory prior to execution</a:t>
            </a:r>
            <a:endParaRPr lang="en-US" altLang="zh-CN" sz="280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/>
              <a:t>Data are allocated separately in a fixed area in a similar fashion to the code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smtClean="0"/>
              <a:t>In Fortran77, all data are in this class;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smtClean="0"/>
              <a:t>In Pascal, global variables are in this class;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smtClean="0"/>
              <a:t>In C, the external and static variables are in this class</a:t>
            </a:r>
          </a:p>
          <a:p>
            <a:pPr lvl="2" eaLnBrk="1" hangingPunct="1">
              <a:lnSpc>
                <a:spcPct val="90000"/>
              </a:lnSpc>
            </a:pPr>
            <a:endParaRPr lang="en-US" altLang="zh-CN" sz="2000" smtClean="0"/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/>
              <a:t>The </a:t>
            </a:r>
            <a:r>
              <a:rPr lang="en-US" altLang="zh-CN" sz="2800" b="1" smtClean="0"/>
              <a:t>constants</a:t>
            </a:r>
            <a:r>
              <a:rPr lang="en-US" altLang="zh-CN" sz="2800" smtClean="0"/>
              <a:t> are usually allocated memory </a:t>
            </a:r>
            <a:r>
              <a:rPr lang="en-US" altLang="zh-CN" sz="2800" b="1" smtClean="0"/>
              <a:t>in the global/static area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/>
              <a:t>Const declarations of C and Pascal;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/>
              <a:t>Literal values used in the code,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smtClean="0"/>
              <a:t>such as </a:t>
            </a:r>
            <a:r>
              <a:rPr lang="en-US" altLang="zh-CN" sz="2000" smtClean="0">
                <a:latin typeface="Arial" panose="020B0604020202020204" pitchFamily="34" charset="0"/>
              </a:rPr>
              <a:t>“</a:t>
            </a:r>
            <a:r>
              <a:rPr lang="en-US" altLang="zh-CN" sz="2000" smtClean="0"/>
              <a:t>Hello%D\n</a:t>
            </a:r>
            <a:r>
              <a:rPr lang="en-US" altLang="zh-CN" sz="2000" smtClean="0">
                <a:latin typeface="Arial" panose="020B0604020202020204" pitchFamily="34" charset="0"/>
              </a:rPr>
              <a:t>”</a:t>
            </a:r>
            <a:r>
              <a:rPr lang="en-US" altLang="zh-CN" sz="2000" smtClean="0"/>
              <a:t> and Integer value 12345: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smtClean="0"/>
              <a:t>Printf(</a:t>
            </a:r>
            <a:r>
              <a:rPr lang="en-US" altLang="zh-CN" sz="2000" smtClean="0">
                <a:latin typeface="Arial" panose="020B0604020202020204" pitchFamily="34" charset="0"/>
              </a:rPr>
              <a:t>“</a:t>
            </a:r>
            <a:r>
              <a:rPr lang="en-US" altLang="zh-CN" sz="2000" smtClean="0"/>
              <a:t>Hello %d\n</a:t>
            </a:r>
            <a:r>
              <a:rPr lang="en-US" altLang="zh-CN" sz="2000" smtClean="0">
                <a:latin typeface="Arial" panose="020B0604020202020204" pitchFamily="34" charset="0"/>
              </a:rPr>
              <a:t>”</a:t>
            </a:r>
            <a:r>
              <a:rPr lang="en-US" altLang="zh-CN" sz="2000" smtClean="0"/>
              <a:t>,12345);</a:t>
            </a:r>
            <a:endParaRPr lang="zh-CN" altLang="en-US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5175"/>
            <a:ext cx="7772400" cy="53308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The memory area used for </a:t>
            </a:r>
            <a:r>
              <a:rPr lang="en-US" altLang="zh-CN" sz="2800" b="1" smtClean="0"/>
              <a:t>dynamic data</a:t>
            </a:r>
            <a:r>
              <a:rPr lang="en-US" altLang="zh-CN" sz="2800" smtClean="0"/>
              <a:t> can be organized in many different ways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/>
              <a:t>Typically, this memory can be divided into a stack area and a heap area;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2000" b="1" smtClean="0"/>
              <a:t>A stack area</a:t>
            </a:r>
            <a:r>
              <a:rPr lang="en-US" altLang="zh-CN" sz="2000" smtClean="0"/>
              <a:t> used for data whose allocation occurs in FIFO fashion;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2000" b="1" smtClean="0"/>
              <a:t>A heap area</a:t>
            </a:r>
            <a:r>
              <a:rPr lang="en-US" altLang="zh-CN" sz="2000" smtClean="0"/>
              <a:t> used for dynamic allocation occurs not in FIFO fashion.</a:t>
            </a:r>
          </a:p>
          <a:p>
            <a:pPr lvl="2" eaLnBrk="1" hangingPunct="1">
              <a:lnSpc>
                <a:spcPct val="80000"/>
              </a:lnSpc>
            </a:pPr>
            <a:endParaRPr lang="en-US" altLang="zh-CN" sz="2000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Generally, the architecture of the target machine includes a processor stack for procedure calls and returns.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/>
              <a:t>Sometimes, a compiler will have to arrange for the </a:t>
            </a:r>
            <a:r>
              <a:rPr lang="en-US" altLang="zh-CN" sz="2400" b="1" smtClean="0"/>
              <a:t>explicit allocation of the processor stack</a:t>
            </a:r>
            <a:r>
              <a:rPr lang="en-US" altLang="zh-CN" sz="2400" smtClean="0"/>
              <a:t> in an appropriate place in memory.</a:t>
            </a:r>
            <a:endParaRPr lang="zh-CN" alt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4"/>
          <p:cNvGraphicFramePr>
            <a:graphicFrameLocks noChangeAspect="1"/>
          </p:cNvGraphicFramePr>
          <p:nvPr/>
        </p:nvGraphicFramePr>
        <p:xfrm>
          <a:off x="323850" y="404813"/>
          <a:ext cx="8183563" cy="521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文档" r:id="rId3" imgW="4090415" imgH="3009810" progId="Word.Document.8">
                  <p:embed/>
                </p:oleObj>
              </mc:Choice>
              <mc:Fallback>
                <p:oleObj name="文档" r:id="rId3" imgW="4090415" imgH="300981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04813"/>
                        <a:ext cx="8183563" cy="5216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4"/>
          <p:cNvGraphicFramePr>
            <a:graphicFrameLocks noChangeAspect="1"/>
          </p:cNvGraphicFramePr>
          <p:nvPr/>
        </p:nvGraphicFramePr>
        <p:xfrm>
          <a:off x="255588" y="260350"/>
          <a:ext cx="8334375" cy="578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文档" r:id="rId3" imgW="4598349" imgH="3597731" progId="Word.Document.8">
                  <p:embed/>
                </p:oleObj>
              </mc:Choice>
              <mc:Fallback>
                <p:oleObj name="文档" r:id="rId3" imgW="4598349" imgH="3597731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8" y="260350"/>
                        <a:ext cx="8334375" cy="578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33375"/>
            <a:ext cx="7772400" cy="633571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400" smtClean="0"/>
              <a:t>Some parts of an activation record have the </a:t>
            </a:r>
            <a:r>
              <a:rPr lang="en-US" altLang="zh-CN" sz="2400" b="1" smtClean="0"/>
              <a:t>same size for all procedures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smtClean="0"/>
              <a:t>Space for bookkeeping information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 smtClean="0"/>
              <a:t>Other parts of an activation record may </a:t>
            </a:r>
            <a:r>
              <a:rPr lang="en-US" altLang="zh-CN" sz="2400" b="1" smtClean="0"/>
              <a:t>remain fixed for each individual procedure</a:t>
            </a:r>
            <a:r>
              <a:rPr lang="en-US" altLang="zh-CN" sz="2400" smtClean="0"/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smtClean="0"/>
              <a:t>Space for arguments and local data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400" smtClean="0"/>
              <a:t>Some parts of activation record may be </a:t>
            </a:r>
            <a:r>
              <a:rPr lang="en-US" altLang="zh-CN" sz="2400" b="1" smtClean="0"/>
              <a:t>allocated automatically</a:t>
            </a:r>
            <a:r>
              <a:rPr lang="en-US" altLang="zh-CN" sz="2400" smtClean="0"/>
              <a:t> on procedure calls: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smtClean="0"/>
              <a:t> Storing the return address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 smtClean="0"/>
              <a:t>Other parts of activation record may need to be </a:t>
            </a:r>
            <a:r>
              <a:rPr lang="en-US" altLang="zh-CN" sz="2400" b="1" smtClean="0"/>
              <a:t>allocated explicitly</a:t>
            </a:r>
            <a:r>
              <a:rPr lang="en-US" altLang="zh-CN" sz="2400" smtClean="0"/>
              <a:t> by instructions generated by the compiler: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smtClean="0"/>
              <a:t>Local temporary space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400" b="1" smtClean="0"/>
              <a:t>Depending on the language</a:t>
            </a:r>
            <a:r>
              <a:rPr lang="en-US" altLang="zh-CN" sz="2400" smtClean="0"/>
              <a:t>, activation records may be allocated in different areas: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smtClean="0"/>
              <a:t>Fortran77 in the static area;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smtClean="0"/>
              <a:t>C and Pascal in the stack area; referred to as stack frames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smtClean="0"/>
              <a:t>LISP in the heap area.</a:t>
            </a:r>
            <a:endParaRPr lang="zh-CN" altLang="en-US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81075"/>
            <a:ext cx="7772400" cy="4824413"/>
          </a:xfrm>
        </p:spPr>
        <p:txBody>
          <a:bodyPr/>
          <a:lstStyle/>
          <a:p>
            <a:pPr eaLnBrk="1" hangingPunct="1"/>
            <a:r>
              <a:rPr lang="en-US" altLang="zh-CN" sz="2800" b="1" smtClean="0"/>
              <a:t>Processor registers are also part of the structure of the runtime environment</a:t>
            </a:r>
            <a:endParaRPr lang="en-US" altLang="zh-CN" sz="2800" smtClean="0"/>
          </a:p>
          <a:p>
            <a:pPr lvl="1" eaLnBrk="1" hangingPunct="1"/>
            <a:r>
              <a:rPr lang="en-US" altLang="zh-CN" sz="2400" smtClean="0"/>
              <a:t>Registers may be used to store temporaries, local variables, or even global variables;</a:t>
            </a:r>
          </a:p>
          <a:p>
            <a:pPr lvl="1" eaLnBrk="1" hangingPunct="1"/>
            <a:r>
              <a:rPr lang="en-US" altLang="zh-CN" sz="2400" smtClean="0"/>
              <a:t>In newer RISC processor, keep entire static area and whole activation records;</a:t>
            </a:r>
          </a:p>
          <a:p>
            <a:pPr lvl="1" eaLnBrk="1" hangingPunct="1"/>
            <a:r>
              <a:rPr lang="en-US" altLang="zh-CN" sz="2400" smtClean="0"/>
              <a:t>Special-purpose registers to keep track of execution</a:t>
            </a:r>
          </a:p>
          <a:p>
            <a:pPr lvl="2" eaLnBrk="1" hangingPunct="1"/>
            <a:r>
              <a:rPr lang="en-US" altLang="zh-CN" smtClean="0"/>
              <a:t>PC 	program counter;</a:t>
            </a:r>
          </a:p>
          <a:p>
            <a:pPr lvl="2" eaLnBrk="1" hangingPunct="1"/>
            <a:r>
              <a:rPr lang="en-US" altLang="zh-CN" smtClean="0"/>
              <a:t>SP	stack pointer;</a:t>
            </a:r>
          </a:p>
          <a:p>
            <a:pPr lvl="2" eaLnBrk="1" hangingPunct="1"/>
            <a:r>
              <a:rPr lang="en-US" altLang="zh-CN" smtClean="0"/>
              <a:t>FP	frame pointer;</a:t>
            </a:r>
          </a:p>
          <a:p>
            <a:pPr lvl="2" eaLnBrk="1" hangingPunct="1"/>
            <a:r>
              <a:rPr lang="en-US" altLang="zh-CN" smtClean="0"/>
              <a:t>AP	argument pointer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92150"/>
            <a:ext cx="7772400" cy="54038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b="1" smtClean="0"/>
              <a:t>The sequence of operations when calling the functions</a:t>
            </a:r>
            <a:r>
              <a:rPr lang="en-US" altLang="zh-CN" sz="2800" smtClean="0"/>
              <a:t>: </a:t>
            </a:r>
            <a:r>
              <a:rPr lang="en-US" altLang="zh-CN" sz="2800" b="1" i="1" smtClean="0">
                <a:solidFill>
                  <a:srgbClr val="FF3300"/>
                </a:solidFill>
              </a:rPr>
              <a:t>calling sequence</a:t>
            </a:r>
            <a:endParaRPr lang="en-US" altLang="zh-CN" sz="2800" b="1" smtClean="0">
              <a:solidFill>
                <a:srgbClr val="FF33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/>
              <a:t>The allocation of memory for the activation record;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/>
              <a:t>The computation and storing of the arguments;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/>
              <a:t>The storing and setting of necessary registers to affect the call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smtClean="0"/>
          </a:p>
          <a:p>
            <a:pPr eaLnBrk="1" hangingPunct="1">
              <a:lnSpc>
                <a:spcPct val="90000"/>
              </a:lnSpc>
            </a:pPr>
            <a:r>
              <a:rPr lang="en-US" altLang="zh-CN" sz="2800" b="1" smtClean="0"/>
              <a:t>The additional operations when a procedure or function returns: </a:t>
            </a:r>
            <a:r>
              <a:rPr lang="en-US" altLang="zh-CN" sz="2800" b="1" i="1" smtClean="0">
                <a:solidFill>
                  <a:srgbClr val="FF3300"/>
                </a:solidFill>
              </a:rPr>
              <a:t>return sequence (VS call</a:t>
            </a:r>
            <a:r>
              <a:rPr lang="en-US" altLang="zh-CN" sz="2800" i="1" smtClean="0">
                <a:solidFill>
                  <a:srgbClr val="FF3300"/>
                </a:solidFill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/>
              <a:t>The placing of the return value where the caller can access it;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/>
              <a:t>The readjustment of registers;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/>
              <a:t>The possible releasing for activation record memory</a:t>
            </a:r>
            <a:endParaRPr lang="zh-CN" alt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81075"/>
            <a:ext cx="7772400" cy="5114925"/>
          </a:xfrm>
        </p:spPr>
        <p:txBody>
          <a:bodyPr/>
          <a:lstStyle/>
          <a:p>
            <a:pPr eaLnBrk="1" hangingPunct="1">
              <a:tabLst>
                <a:tab pos="631825" algn="l"/>
              </a:tabLst>
            </a:pPr>
            <a:r>
              <a:rPr lang="en-US" altLang="zh-CN" sz="2800" b="1" smtClean="0"/>
              <a:t>The important aspects of the design of the calling sequence:</a:t>
            </a:r>
          </a:p>
          <a:p>
            <a:pPr marL="1076325" lvl="1" indent="-554038" eaLnBrk="1" hangingPunct="1">
              <a:buFontTx/>
              <a:buNone/>
              <a:tabLst>
                <a:tab pos="631825" algn="l"/>
              </a:tabLst>
            </a:pPr>
            <a:r>
              <a:rPr lang="en-US" altLang="zh-CN" smtClean="0"/>
              <a:t>(1) How to </a:t>
            </a:r>
            <a:r>
              <a:rPr lang="en-US" altLang="zh-CN" b="1" smtClean="0"/>
              <a:t>divide the calling sequence</a:t>
            </a:r>
            <a:r>
              <a:rPr lang="en-US" altLang="zh-CN" smtClean="0"/>
              <a:t> operations between the caller and callee</a:t>
            </a:r>
          </a:p>
          <a:p>
            <a:pPr marL="1417638" lvl="2" indent="-161925" eaLnBrk="1" hangingPunct="1">
              <a:tabLst>
                <a:tab pos="631825" algn="l"/>
              </a:tabLst>
            </a:pPr>
            <a:r>
              <a:rPr lang="en-US" altLang="zh-CN" smtClean="0"/>
              <a:t>At a minimum, the caller is responsible for computing the arguments and placing them in locations where they may be found by the callee</a:t>
            </a:r>
          </a:p>
          <a:p>
            <a:pPr marL="1417638" lvl="2" indent="-161925" eaLnBrk="1" hangingPunct="1">
              <a:buFontTx/>
              <a:buNone/>
              <a:tabLst>
                <a:tab pos="631825" algn="l"/>
              </a:tabLst>
            </a:pPr>
            <a:endParaRPr lang="en-US" altLang="zh-CN" smtClean="0"/>
          </a:p>
          <a:p>
            <a:pPr marL="1076325" lvl="1" indent="-554038" eaLnBrk="1" hangingPunct="1">
              <a:buFontTx/>
              <a:buNone/>
              <a:tabLst>
                <a:tab pos="631825" algn="l"/>
              </a:tabLst>
            </a:pPr>
            <a:r>
              <a:rPr lang="en-US" altLang="zh-CN" smtClean="0"/>
              <a:t>(2) To what extent to </a:t>
            </a:r>
            <a:r>
              <a:rPr lang="en-US" altLang="zh-CN" b="1" smtClean="0"/>
              <a:t>rely on processor support for calls</a:t>
            </a:r>
            <a:r>
              <a:rPr lang="en-US" altLang="zh-CN" smtClean="0"/>
              <a:t> rather that generating explicit code for each step of the calling sequence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en-US" altLang="zh-CN" sz="3600" b="1" smtClean="0"/>
              <a:t>8.2 Fully Static Runtime Environments</a:t>
            </a:r>
            <a:endParaRPr lang="zh-CN" altLang="en-US" sz="3600" b="1" smtClean="0"/>
          </a:p>
        </p:txBody>
      </p:sp>
      <p:sp>
        <p:nvSpPr>
          <p:cNvPr id="1843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zh-CN" altLang="en-US" sz="32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4"/>
          <p:cNvGraphicFramePr>
            <a:graphicFrameLocks noChangeAspect="1"/>
          </p:cNvGraphicFramePr>
          <p:nvPr/>
        </p:nvGraphicFramePr>
        <p:xfrm>
          <a:off x="1409700" y="255588"/>
          <a:ext cx="6715125" cy="658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文档" r:id="rId3" imgW="3675877" imgH="3610332" progId="Word.Document.8">
                  <p:embed/>
                </p:oleObj>
              </mc:Choice>
              <mc:Fallback>
                <p:oleObj name="文档" r:id="rId3" imgW="3675877" imgH="3610332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0" y="255588"/>
                        <a:ext cx="6715125" cy="658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92150"/>
            <a:ext cx="7772400" cy="5403850"/>
          </a:xfrm>
        </p:spPr>
        <p:txBody>
          <a:bodyPr/>
          <a:lstStyle/>
          <a:p>
            <a:pPr eaLnBrk="1" hangingPunct="1"/>
            <a:r>
              <a:rPr lang="en-US" altLang="zh-CN" sz="2800" smtClean="0"/>
              <a:t>All data are static, remaining fixed in memory for the duration of program execution</a:t>
            </a:r>
          </a:p>
          <a:p>
            <a:pPr eaLnBrk="1" hangingPunct="1">
              <a:buFontTx/>
              <a:buNone/>
            </a:pPr>
            <a:endParaRPr lang="en-US" altLang="zh-CN" sz="2800" smtClean="0"/>
          </a:p>
          <a:p>
            <a:pPr eaLnBrk="1" hangingPunct="1"/>
            <a:r>
              <a:rPr lang="en-US" altLang="zh-CN" sz="2800" smtClean="0"/>
              <a:t>For a language, such as FORTRAN77, no pointer or dynamic allocation, no recursive procedure calling</a:t>
            </a:r>
          </a:p>
          <a:p>
            <a:pPr lvl="1" eaLnBrk="1" hangingPunct="1"/>
            <a:r>
              <a:rPr lang="en-US" altLang="zh-CN" sz="2400" smtClean="0"/>
              <a:t>The global variables and all variables are allocated statically.</a:t>
            </a:r>
          </a:p>
          <a:p>
            <a:pPr lvl="1" eaLnBrk="1" hangingPunct="1"/>
            <a:r>
              <a:rPr lang="en-US" altLang="zh-CN" sz="2400" smtClean="0"/>
              <a:t>Each procedure has only a single activation record.</a:t>
            </a:r>
          </a:p>
          <a:p>
            <a:pPr lvl="1" eaLnBrk="1" hangingPunct="1"/>
            <a:r>
              <a:rPr lang="en-US" altLang="zh-CN" sz="2400" smtClean="0"/>
              <a:t>All variable, whether local or global, can be accessed directly via fixed address.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5175"/>
            <a:ext cx="7772400" cy="5330825"/>
          </a:xfrm>
        </p:spPr>
        <p:txBody>
          <a:bodyPr/>
          <a:lstStyle/>
          <a:p>
            <a:pPr eaLnBrk="1" hangingPunct="1"/>
            <a:r>
              <a:rPr lang="en-US" altLang="zh-CN" sz="2800" smtClean="0"/>
              <a:t>Relative little overhead in terms of bookkeeping information to retain in each activation record;</a:t>
            </a:r>
          </a:p>
          <a:p>
            <a:pPr eaLnBrk="1" hangingPunct="1"/>
            <a:r>
              <a:rPr lang="en-US" altLang="zh-CN" sz="2800" smtClean="0"/>
              <a:t>And no extra information about the environment needs to be kept in an activation record;</a:t>
            </a:r>
            <a:endParaRPr lang="zh-CN" altLang="en-US" sz="2800" smtClean="0"/>
          </a:p>
          <a:p>
            <a:pPr eaLnBrk="1" hangingPunct="1"/>
            <a:endParaRPr lang="en-US" altLang="zh-CN" sz="2800" smtClean="0"/>
          </a:p>
          <a:p>
            <a:pPr eaLnBrk="1" hangingPunct="1"/>
            <a:r>
              <a:rPr lang="en-US" altLang="zh-CN" sz="2800" smtClean="0"/>
              <a:t>The calling sequence is simple.</a:t>
            </a:r>
          </a:p>
          <a:p>
            <a:pPr lvl="1" eaLnBrk="1" hangingPunct="1"/>
            <a:r>
              <a:rPr lang="en-US" altLang="zh-CN" sz="2400" smtClean="0"/>
              <a:t>Each argument is computed and stored into its appropriate parameter location;</a:t>
            </a:r>
          </a:p>
          <a:p>
            <a:pPr lvl="1" eaLnBrk="1" hangingPunct="1"/>
            <a:r>
              <a:rPr lang="en-US" altLang="zh-CN" sz="2400" smtClean="0"/>
              <a:t>The return address is saved, and jump to the beginning of the code of the callee;</a:t>
            </a:r>
          </a:p>
          <a:p>
            <a:pPr lvl="1" eaLnBrk="1" hangingPunct="1"/>
            <a:r>
              <a:rPr lang="en-US" altLang="zh-CN" sz="2400" smtClean="0"/>
              <a:t>On return, a simple jump is made to the return address.</a:t>
            </a:r>
            <a:endParaRPr lang="zh-CN" alt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549275"/>
            <a:ext cx="7772400" cy="59753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smtClean="0"/>
              <a:t>Example: A FORTRAN77 sample program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8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smtClean="0"/>
              <a:t>	PROGRAM TEST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smtClean="0"/>
              <a:t>	COMMON	MAXSIZE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smtClean="0"/>
              <a:t>	INTEGER	MAXSIZE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smtClean="0"/>
              <a:t>	REAL	TABLE(10),TEMP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smtClean="0"/>
              <a:t>	MAXSIZE = 10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8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smtClean="0"/>
              <a:t>	READ *, TABLE(1),TABLE(2),TABLE(3)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smtClean="0"/>
              <a:t>	CALL QUADMEAN(TABLE,3,TEMP)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smtClean="0"/>
              <a:t>	PRINT *, TEMP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smtClean="0"/>
              <a:t>	END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smtClean="0"/>
              <a:t>				</a:t>
            </a:r>
            <a:endParaRPr lang="zh-CN" altLang="en-US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549275"/>
            <a:ext cx="7772400" cy="597535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SUBROUTINE 	QUADMEAN(A, SIZE,QMEAN)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COMMON 	MAXSIZE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INTEGER	MAXSIZE,SIZE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REAL A(SIZE),QMEAN,TEMP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INTEGER K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zh-CN" sz="2400" smtClean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TEMP=0.0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IF ((SIZE .GT. MAXSIZE) .OR. (SIZE .LT. 1) GOTO 99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DO 10 K=1,SIZE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TEMP=TEMP+A(K)*A(K)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10  CONTINUE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99  QMEAN = SQRT(TEMP/SIZE)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RETURN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END</a:t>
            </a:r>
            <a:endParaRPr lang="zh-CN" alt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4"/>
          <p:cNvGraphicFramePr>
            <a:graphicFrameLocks noChangeAspect="1"/>
          </p:cNvGraphicFramePr>
          <p:nvPr/>
        </p:nvGraphicFramePr>
        <p:xfrm>
          <a:off x="1228725" y="255588"/>
          <a:ext cx="7015163" cy="610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" name="文档" r:id="rId3" imgW="4410119" imgH="4038401" progId="Word.Document.8">
                  <p:embed/>
                </p:oleObj>
              </mc:Choice>
              <mc:Fallback>
                <p:oleObj name="文档" r:id="rId3" imgW="4410119" imgH="4038401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255588"/>
                        <a:ext cx="7015163" cy="610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9" name="Line 5"/>
          <p:cNvSpPr>
            <a:spLocks noChangeShapeType="1"/>
          </p:cNvSpPr>
          <p:nvPr/>
        </p:nvSpPr>
        <p:spPr bwMode="auto">
          <a:xfrm>
            <a:off x="7524750" y="3789363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0" name="Line 6"/>
          <p:cNvSpPr>
            <a:spLocks noChangeShapeType="1"/>
          </p:cNvSpPr>
          <p:nvPr/>
        </p:nvSpPr>
        <p:spPr bwMode="auto">
          <a:xfrm flipV="1">
            <a:off x="7956550" y="3068638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1" name="Line 7"/>
          <p:cNvSpPr>
            <a:spLocks noChangeShapeType="1"/>
          </p:cNvSpPr>
          <p:nvPr/>
        </p:nvSpPr>
        <p:spPr bwMode="auto">
          <a:xfrm flipH="1">
            <a:off x="7524750" y="306863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2" name="Line 8"/>
          <p:cNvSpPr>
            <a:spLocks noChangeShapeType="1"/>
          </p:cNvSpPr>
          <p:nvPr/>
        </p:nvSpPr>
        <p:spPr bwMode="auto">
          <a:xfrm>
            <a:off x="7451725" y="4076700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3" name="Line 9"/>
          <p:cNvSpPr>
            <a:spLocks noChangeShapeType="1"/>
          </p:cNvSpPr>
          <p:nvPr/>
        </p:nvSpPr>
        <p:spPr bwMode="auto">
          <a:xfrm flipV="1">
            <a:off x="8172450" y="2708275"/>
            <a:ext cx="0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4" name="Line 10"/>
          <p:cNvSpPr>
            <a:spLocks noChangeShapeType="1"/>
          </p:cNvSpPr>
          <p:nvPr/>
        </p:nvSpPr>
        <p:spPr bwMode="auto">
          <a:xfrm flipH="1">
            <a:off x="7524750" y="2708275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5" name="Line 11"/>
          <p:cNvSpPr>
            <a:spLocks noChangeShapeType="1"/>
          </p:cNvSpPr>
          <p:nvPr/>
        </p:nvSpPr>
        <p:spPr bwMode="auto">
          <a:xfrm>
            <a:off x="7451725" y="3357563"/>
            <a:ext cx="1008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6" name="Line 12"/>
          <p:cNvSpPr>
            <a:spLocks noChangeShapeType="1"/>
          </p:cNvSpPr>
          <p:nvPr/>
        </p:nvSpPr>
        <p:spPr bwMode="auto">
          <a:xfrm flipV="1">
            <a:off x="8459788" y="1341438"/>
            <a:ext cx="0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7" name="Line 13"/>
          <p:cNvSpPr>
            <a:spLocks noChangeShapeType="1"/>
          </p:cNvSpPr>
          <p:nvPr/>
        </p:nvSpPr>
        <p:spPr bwMode="auto">
          <a:xfrm flipH="1">
            <a:off x="7451725" y="1341438"/>
            <a:ext cx="1008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en-US" altLang="zh-CN" sz="3600" b="1" smtClean="0"/>
              <a:t>8.3 Stack-Based Runtime Environments</a:t>
            </a:r>
            <a:endParaRPr lang="zh-CN" altLang="en-US" sz="3600" b="1" smtClean="0"/>
          </a:p>
        </p:txBody>
      </p:sp>
      <p:sp>
        <p:nvSpPr>
          <p:cNvPr id="2560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zh-CN" altLang="en-US" sz="32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5175"/>
            <a:ext cx="7772400" cy="53308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For a language, </a:t>
            </a:r>
            <a:r>
              <a:rPr lang="en-US" altLang="zh-CN" sz="2800" b="1" smtClean="0"/>
              <a:t>in which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/>
              <a:t>Recursive calls are allowed;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/>
              <a:t>Local variables are newly allocated at each call;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/>
              <a:t>Activation records cannot be allocated statically</a:t>
            </a:r>
          </a:p>
          <a:p>
            <a:pPr lvl="1" eaLnBrk="1" hangingPunct="1">
              <a:lnSpc>
                <a:spcPct val="80000"/>
              </a:lnSpc>
            </a:pPr>
            <a:endParaRPr lang="en-US" altLang="zh-CN" sz="2400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Activation records must be </a:t>
            </a:r>
            <a:r>
              <a:rPr lang="en-US" altLang="zh-CN" sz="2800" b="1" smtClean="0"/>
              <a:t>allocated in a stack-based fashion</a:t>
            </a:r>
            <a:endParaRPr lang="en-US" altLang="zh-CN" sz="2800" smtClean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/>
              <a:t>The stack of activation records grows and shrinks with the chain of calls in the executing program.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/>
              <a:t>Each procedure may have several </a:t>
            </a:r>
            <a:r>
              <a:rPr lang="en-US" altLang="zh-CN" sz="2400" b="1" smtClean="0"/>
              <a:t>different activation records on the call stack at one time</a:t>
            </a:r>
            <a:r>
              <a:rPr lang="en-US" altLang="zh-CN" sz="2400" smtClean="0"/>
              <a:t>, each representing a distinct call.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b="1" smtClean="0"/>
              <a:t>More complex strategy for bookkeeping and variable access,</a:t>
            </a:r>
            <a:r>
              <a:rPr lang="en-US" altLang="zh-CN" sz="2400" smtClean="0"/>
              <a:t> which depends heavily on the properties of the language being compiled.</a:t>
            </a:r>
            <a:endParaRPr lang="zh-CN" alt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en-US" altLang="zh-CN" sz="4000" b="1" smtClean="0"/>
              <a:t>7.3.1 Stack-Based Environments Without Local Procedures</a:t>
            </a:r>
            <a:endParaRPr lang="zh-CN" altLang="en-US" sz="4000" b="1" smtClean="0"/>
          </a:p>
        </p:txBody>
      </p:sp>
      <p:sp>
        <p:nvSpPr>
          <p:cNvPr id="2765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zh-CN" altLang="en-US" sz="32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5175"/>
            <a:ext cx="7772400" cy="5330825"/>
          </a:xfrm>
        </p:spPr>
        <p:txBody>
          <a:bodyPr/>
          <a:lstStyle/>
          <a:p>
            <a:pPr eaLnBrk="1" hangingPunct="1"/>
            <a:r>
              <a:rPr lang="en-US" altLang="zh-CN" sz="2800" smtClean="0"/>
              <a:t>In a language where all properties are global (such as C language), the stack-based environment requires two things:</a:t>
            </a:r>
          </a:p>
          <a:p>
            <a:pPr marL="963613" lvl="1" indent="-506413" eaLnBrk="1" hangingPunct="1">
              <a:buFontTx/>
              <a:buNone/>
            </a:pPr>
            <a:r>
              <a:rPr lang="en-US" altLang="zh-CN" smtClean="0"/>
              <a:t>(1) </a:t>
            </a:r>
            <a:r>
              <a:rPr lang="en-US" altLang="zh-CN" b="1" smtClean="0"/>
              <a:t>Frame pointer or fp</a:t>
            </a:r>
            <a:r>
              <a:rPr lang="en-US" altLang="zh-CN" smtClean="0"/>
              <a:t>, a pointer to the current activation record to allow access to local variable; </a:t>
            </a:r>
            <a:r>
              <a:rPr lang="en-US" altLang="zh-CN" b="1" smtClean="0"/>
              <a:t>Control link or dynamic link</a:t>
            </a:r>
            <a:r>
              <a:rPr lang="en-US" altLang="zh-CN" smtClean="0"/>
              <a:t>, a point to a record of the immediately preceding activation</a:t>
            </a:r>
          </a:p>
          <a:p>
            <a:pPr marL="963613" lvl="1" indent="-506413" eaLnBrk="1" hangingPunct="1">
              <a:buFontTx/>
              <a:buNone/>
            </a:pPr>
            <a:r>
              <a:rPr lang="en-US" altLang="zh-CN" smtClean="0"/>
              <a:t>(2) </a:t>
            </a:r>
            <a:r>
              <a:rPr lang="en-US" altLang="zh-CN" b="1" smtClean="0"/>
              <a:t>Stack pointer or sp</a:t>
            </a:r>
            <a:r>
              <a:rPr lang="en-US" altLang="zh-CN" smtClean="0"/>
              <a:t>, a point to the last location allocated on the call stack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5175"/>
            <a:ext cx="7772400" cy="57594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400" b="1" smtClean="0"/>
              <a:t>Example:</a:t>
            </a:r>
            <a:r>
              <a:rPr lang="en-US" altLang="zh-CN" sz="2400" smtClean="0"/>
              <a:t> The simple recursive implementation of Euclid</a:t>
            </a:r>
            <a:r>
              <a:rPr lang="en-US" altLang="zh-CN" sz="2400" smtClean="0">
                <a:latin typeface="Arial" panose="020B0604020202020204" pitchFamily="34" charset="0"/>
              </a:rPr>
              <a:t>’</a:t>
            </a:r>
            <a:r>
              <a:rPr lang="en-US" altLang="zh-CN" sz="2400" smtClean="0"/>
              <a:t>s algorithm to compute the greatest common divisor of two non-negative integer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1800" smtClean="0"/>
              <a:t>	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200" smtClean="0"/>
              <a:t>    # include &lt;stdio.h&gt;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200" smtClean="0"/>
              <a:t>	int x,y;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200" smtClean="0"/>
              <a:t>	int gcd(int u,int v)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200" smtClean="0"/>
              <a:t>	{ if (v==0) return u;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200" smtClean="0"/>
              <a:t>		else return gcd(v,u%v);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200" smtClean="0"/>
              <a:t>	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200" smtClean="0"/>
              <a:t>	main()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200" smtClean="0"/>
              <a:t>	{scanf(</a:t>
            </a:r>
            <a:r>
              <a:rPr lang="en-US" altLang="zh-CN" sz="2200" smtClean="0">
                <a:latin typeface="Arial" panose="020B0604020202020204" pitchFamily="34" charset="0"/>
              </a:rPr>
              <a:t>“</a:t>
            </a:r>
            <a:r>
              <a:rPr lang="en-US" altLang="zh-CN" sz="2200" smtClean="0"/>
              <a:t>%d%d</a:t>
            </a:r>
            <a:r>
              <a:rPr lang="en-US" altLang="zh-CN" sz="2200" smtClean="0">
                <a:latin typeface="Arial" panose="020B0604020202020204" pitchFamily="34" charset="0"/>
              </a:rPr>
              <a:t>”</a:t>
            </a:r>
            <a:r>
              <a:rPr lang="en-US" altLang="zh-CN" sz="2200" smtClean="0"/>
              <a:t>,&amp;x,&amp;y);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200" smtClean="0"/>
              <a:t>	printf(</a:t>
            </a:r>
            <a:r>
              <a:rPr lang="en-US" altLang="zh-CN" sz="2200" smtClean="0">
                <a:latin typeface="Arial" panose="020B0604020202020204" pitchFamily="34" charset="0"/>
              </a:rPr>
              <a:t>“</a:t>
            </a:r>
            <a:r>
              <a:rPr lang="en-US" altLang="zh-CN" sz="2200" smtClean="0"/>
              <a:t>%d\n</a:t>
            </a:r>
            <a:r>
              <a:rPr lang="en-US" altLang="zh-CN" sz="2200" smtClean="0">
                <a:latin typeface="Arial" panose="020B0604020202020204" pitchFamily="34" charset="0"/>
              </a:rPr>
              <a:t>”</a:t>
            </a:r>
            <a:r>
              <a:rPr lang="en-US" altLang="zh-CN" sz="2200" smtClean="0"/>
              <a:t>,gcd(x,y));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200" smtClean="0"/>
              <a:t>	return 0;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1800" smtClean="0"/>
              <a:t>	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zh-CN" sz="18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Suppose the user inputs the values 15 and 10 to this program. </a:t>
            </a:r>
            <a:endParaRPr lang="zh-CN" alt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103"/>
          <p:cNvGraphicFramePr>
            <a:graphicFrameLocks noChangeAspect="1"/>
          </p:cNvGraphicFramePr>
          <p:nvPr/>
        </p:nvGraphicFramePr>
        <p:xfrm>
          <a:off x="390525" y="255588"/>
          <a:ext cx="7659688" cy="628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4" name="文档" r:id="rId3" imgW="5116700" imgH="4205093" progId="Word.Document.8">
                  <p:embed/>
                </p:oleObj>
              </mc:Choice>
              <mc:Fallback>
                <p:oleObj name="文档" r:id="rId3" imgW="5116700" imgH="4205093" progId="Word.Document.8">
                  <p:embed/>
                  <p:pic>
                    <p:nvPicPr>
                      <p:cNvPr id="0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525" y="255588"/>
                        <a:ext cx="7659688" cy="628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3" name="Line 104"/>
          <p:cNvSpPr>
            <a:spLocks noChangeShapeType="1"/>
          </p:cNvSpPr>
          <p:nvPr/>
        </p:nvSpPr>
        <p:spPr bwMode="auto">
          <a:xfrm>
            <a:off x="971550" y="5084763"/>
            <a:ext cx="792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4" name="Line 105"/>
          <p:cNvSpPr>
            <a:spLocks noChangeShapeType="1"/>
          </p:cNvSpPr>
          <p:nvPr/>
        </p:nvSpPr>
        <p:spPr bwMode="auto">
          <a:xfrm>
            <a:off x="971550" y="4797425"/>
            <a:ext cx="792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5" name="Line 106"/>
          <p:cNvSpPr>
            <a:spLocks noChangeShapeType="1"/>
          </p:cNvSpPr>
          <p:nvPr/>
        </p:nvSpPr>
        <p:spPr bwMode="auto">
          <a:xfrm flipH="1">
            <a:off x="1331913" y="4652963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6" name="Line 107"/>
          <p:cNvSpPr>
            <a:spLocks noChangeShapeType="1"/>
          </p:cNvSpPr>
          <p:nvPr/>
        </p:nvSpPr>
        <p:spPr bwMode="auto">
          <a:xfrm flipV="1">
            <a:off x="1331913" y="3789363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7" name="Line 108"/>
          <p:cNvSpPr>
            <a:spLocks noChangeShapeType="1"/>
          </p:cNvSpPr>
          <p:nvPr/>
        </p:nvSpPr>
        <p:spPr bwMode="auto">
          <a:xfrm>
            <a:off x="1331913" y="3789363"/>
            <a:ext cx="576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8" name="Line 109"/>
          <p:cNvSpPr>
            <a:spLocks noChangeShapeType="1"/>
          </p:cNvSpPr>
          <p:nvPr/>
        </p:nvSpPr>
        <p:spPr bwMode="auto">
          <a:xfrm flipH="1">
            <a:off x="1258888" y="3429000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9" name="Line 110"/>
          <p:cNvSpPr>
            <a:spLocks noChangeShapeType="1"/>
          </p:cNvSpPr>
          <p:nvPr/>
        </p:nvSpPr>
        <p:spPr bwMode="auto">
          <a:xfrm flipV="1">
            <a:off x="1258888" y="2565400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0" name="Line 111"/>
          <p:cNvSpPr>
            <a:spLocks noChangeShapeType="1"/>
          </p:cNvSpPr>
          <p:nvPr/>
        </p:nvSpPr>
        <p:spPr bwMode="auto">
          <a:xfrm>
            <a:off x="1258888" y="2565400"/>
            <a:ext cx="649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1" name="Line 112"/>
          <p:cNvSpPr>
            <a:spLocks noChangeShapeType="1"/>
          </p:cNvSpPr>
          <p:nvPr/>
        </p:nvSpPr>
        <p:spPr bwMode="auto">
          <a:xfrm flipH="1">
            <a:off x="1331913" y="2205038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2" name="Line 113"/>
          <p:cNvSpPr>
            <a:spLocks noChangeShapeType="1"/>
          </p:cNvSpPr>
          <p:nvPr/>
        </p:nvSpPr>
        <p:spPr bwMode="auto">
          <a:xfrm flipV="1">
            <a:off x="1331913" y="1341438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3" name="Line 114"/>
          <p:cNvSpPr>
            <a:spLocks noChangeShapeType="1"/>
          </p:cNvSpPr>
          <p:nvPr/>
        </p:nvSpPr>
        <p:spPr bwMode="auto">
          <a:xfrm>
            <a:off x="1331913" y="134143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404813"/>
            <a:ext cx="7342188" cy="61198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smtClean="0"/>
              <a:t>Example:             Int x=2;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smtClean="0"/>
              <a:t>			Void g(int);/*prototype*/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smtClean="0"/>
              <a:t>			Void f(int n)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smtClean="0"/>
              <a:t>			{static int x=1;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smtClean="0"/>
              <a:t>			 g(n);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smtClean="0"/>
              <a:t>			 x--;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smtClean="0"/>
              <a:t>		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smtClean="0"/>
              <a:t>			void g(int m)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smtClean="0"/>
              <a:t>			{int y=m-1;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smtClean="0"/>
              <a:t>			 if (y&gt;0)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smtClean="0"/>
              <a:t>			 { f(y);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smtClean="0"/>
              <a:t>			  x--;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smtClean="0"/>
              <a:t>			  g(y);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smtClean="0"/>
              <a:t>			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smtClean="0"/>
              <a:t>		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smtClean="0"/>
              <a:t>			main( 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smtClean="0"/>
              <a:t>			{g(x);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smtClean="0"/>
              <a:t>			 return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smtClean="0"/>
              <a:t>			}</a:t>
            </a:r>
            <a:endParaRPr lang="zh-CN" altLang="en-US" sz="2000" b="1" smtClean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4"/>
          <p:cNvGraphicFramePr>
            <a:graphicFrameLocks noChangeAspect="1"/>
          </p:cNvGraphicFramePr>
          <p:nvPr/>
        </p:nvGraphicFramePr>
        <p:xfrm>
          <a:off x="255588" y="255588"/>
          <a:ext cx="7764462" cy="629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2" name="文档" r:id="rId3" imgW="4928111" imgH="4006719" progId="Word.Document.8">
                  <p:embed/>
                </p:oleObj>
              </mc:Choice>
              <mc:Fallback>
                <p:oleObj name="文档" r:id="rId3" imgW="4928111" imgH="4006719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8" y="255588"/>
                        <a:ext cx="7764462" cy="6294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1" name="Line 5"/>
          <p:cNvSpPr>
            <a:spLocks noChangeShapeType="1"/>
          </p:cNvSpPr>
          <p:nvPr/>
        </p:nvSpPr>
        <p:spPr bwMode="auto">
          <a:xfrm>
            <a:off x="900113" y="5734050"/>
            <a:ext cx="1150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2" name="Line 7"/>
          <p:cNvSpPr>
            <a:spLocks noChangeShapeType="1"/>
          </p:cNvSpPr>
          <p:nvPr/>
        </p:nvSpPr>
        <p:spPr bwMode="auto">
          <a:xfrm>
            <a:off x="900113" y="5445125"/>
            <a:ext cx="1150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3" name="Line 8"/>
          <p:cNvSpPr>
            <a:spLocks noChangeShapeType="1"/>
          </p:cNvSpPr>
          <p:nvPr/>
        </p:nvSpPr>
        <p:spPr bwMode="auto">
          <a:xfrm flipH="1">
            <a:off x="1763713" y="5157788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4" name="Line 9"/>
          <p:cNvSpPr>
            <a:spLocks noChangeShapeType="1"/>
          </p:cNvSpPr>
          <p:nvPr/>
        </p:nvSpPr>
        <p:spPr bwMode="auto">
          <a:xfrm flipV="1">
            <a:off x="1763713" y="458152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5" name="Line 10"/>
          <p:cNvSpPr>
            <a:spLocks noChangeShapeType="1"/>
          </p:cNvSpPr>
          <p:nvPr/>
        </p:nvSpPr>
        <p:spPr bwMode="auto">
          <a:xfrm>
            <a:off x="1763713" y="4581525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6" name="Line 11"/>
          <p:cNvSpPr>
            <a:spLocks noChangeShapeType="1"/>
          </p:cNvSpPr>
          <p:nvPr/>
        </p:nvSpPr>
        <p:spPr bwMode="auto">
          <a:xfrm flipH="1">
            <a:off x="1763713" y="4221163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7" name="Line 12"/>
          <p:cNvSpPr>
            <a:spLocks noChangeShapeType="1"/>
          </p:cNvSpPr>
          <p:nvPr/>
        </p:nvSpPr>
        <p:spPr bwMode="auto">
          <a:xfrm flipV="1">
            <a:off x="1763713" y="3284538"/>
            <a:ext cx="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8" name="Line 13"/>
          <p:cNvSpPr>
            <a:spLocks noChangeShapeType="1"/>
          </p:cNvSpPr>
          <p:nvPr/>
        </p:nvSpPr>
        <p:spPr bwMode="auto">
          <a:xfrm>
            <a:off x="1763713" y="328453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9" name="Line 14"/>
          <p:cNvSpPr>
            <a:spLocks noChangeShapeType="1"/>
          </p:cNvSpPr>
          <p:nvPr/>
        </p:nvSpPr>
        <p:spPr bwMode="auto">
          <a:xfrm flipH="1">
            <a:off x="1692275" y="2924175"/>
            <a:ext cx="1150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0" name="Line 15"/>
          <p:cNvSpPr>
            <a:spLocks noChangeShapeType="1"/>
          </p:cNvSpPr>
          <p:nvPr/>
        </p:nvSpPr>
        <p:spPr bwMode="auto">
          <a:xfrm flipV="1">
            <a:off x="1692275" y="2276475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1" name="Line 16"/>
          <p:cNvSpPr>
            <a:spLocks noChangeShapeType="1"/>
          </p:cNvSpPr>
          <p:nvPr/>
        </p:nvSpPr>
        <p:spPr bwMode="auto">
          <a:xfrm>
            <a:off x="1692275" y="2276475"/>
            <a:ext cx="576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4"/>
          <p:cNvGraphicFramePr>
            <a:graphicFrameLocks noChangeAspect="1"/>
          </p:cNvGraphicFramePr>
          <p:nvPr/>
        </p:nvGraphicFramePr>
        <p:xfrm>
          <a:off x="255588" y="255588"/>
          <a:ext cx="8483600" cy="551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3" name="文档" r:id="rId3" imgW="5227699" imgH="3405837" progId="Word.Document.8">
                  <p:embed/>
                </p:oleObj>
              </mc:Choice>
              <mc:Fallback>
                <p:oleObj name="文档" r:id="rId3" imgW="5227699" imgH="3405837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8" y="255588"/>
                        <a:ext cx="8483600" cy="551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5" name="Line 5"/>
          <p:cNvSpPr>
            <a:spLocks noChangeShapeType="1"/>
          </p:cNvSpPr>
          <p:nvPr/>
        </p:nvSpPr>
        <p:spPr bwMode="auto">
          <a:xfrm>
            <a:off x="900113" y="4868863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6" name="Line 6"/>
          <p:cNvSpPr>
            <a:spLocks noChangeShapeType="1"/>
          </p:cNvSpPr>
          <p:nvPr/>
        </p:nvSpPr>
        <p:spPr bwMode="auto">
          <a:xfrm>
            <a:off x="900113" y="4508500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7" name="Line 7"/>
          <p:cNvSpPr>
            <a:spLocks noChangeShapeType="1"/>
          </p:cNvSpPr>
          <p:nvPr/>
        </p:nvSpPr>
        <p:spPr bwMode="auto">
          <a:xfrm flipH="1">
            <a:off x="1403350" y="4292600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8" name="Line 8"/>
          <p:cNvSpPr>
            <a:spLocks noChangeShapeType="1"/>
          </p:cNvSpPr>
          <p:nvPr/>
        </p:nvSpPr>
        <p:spPr bwMode="auto">
          <a:xfrm flipV="1">
            <a:off x="1403350" y="3357563"/>
            <a:ext cx="0" cy="935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9" name="Line 9"/>
          <p:cNvSpPr>
            <a:spLocks noChangeShapeType="1"/>
          </p:cNvSpPr>
          <p:nvPr/>
        </p:nvSpPr>
        <p:spPr bwMode="auto">
          <a:xfrm>
            <a:off x="1403350" y="33575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0" name="Line 10"/>
          <p:cNvSpPr>
            <a:spLocks noChangeShapeType="1"/>
          </p:cNvSpPr>
          <p:nvPr/>
        </p:nvSpPr>
        <p:spPr bwMode="auto">
          <a:xfrm flipH="1">
            <a:off x="1403350" y="2997200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1" name="Line 11"/>
          <p:cNvSpPr>
            <a:spLocks noChangeShapeType="1"/>
          </p:cNvSpPr>
          <p:nvPr/>
        </p:nvSpPr>
        <p:spPr bwMode="auto">
          <a:xfrm flipV="1">
            <a:off x="1403350" y="2276475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2" name="Line 12"/>
          <p:cNvSpPr>
            <a:spLocks noChangeShapeType="1"/>
          </p:cNvSpPr>
          <p:nvPr/>
        </p:nvSpPr>
        <p:spPr bwMode="auto">
          <a:xfrm>
            <a:off x="1403350" y="2276475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Object 4"/>
          <p:cNvGraphicFramePr>
            <a:graphicFrameLocks noChangeAspect="1"/>
          </p:cNvGraphicFramePr>
          <p:nvPr/>
        </p:nvGraphicFramePr>
        <p:xfrm>
          <a:off x="149225" y="600075"/>
          <a:ext cx="8680450" cy="580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6" name="文档" r:id="rId3" imgW="4744191" imgH="3182262" progId="Word.Document.8">
                  <p:embed/>
                </p:oleObj>
              </mc:Choice>
              <mc:Fallback>
                <p:oleObj name="文档" r:id="rId3" imgW="4744191" imgH="3182262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25" y="600075"/>
                        <a:ext cx="8680450" cy="580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9" name="Line 5"/>
          <p:cNvSpPr>
            <a:spLocks noChangeShapeType="1"/>
          </p:cNvSpPr>
          <p:nvPr/>
        </p:nvSpPr>
        <p:spPr bwMode="auto">
          <a:xfrm>
            <a:off x="3132138" y="2420938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0" name="Line 6"/>
          <p:cNvSpPr>
            <a:spLocks noChangeShapeType="1"/>
          </p:cNvSpPr>
          <p:nvPr/>
        </p:nvSpPr>
        <p:spPr bwMode="auto">
          <a:xfrm>
            <a:off x="3132138" y="3141663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1" name="Line 7"/>
          <p:cNvSpPr>
            <a:spLocks noChangeShapeType="1"/>
          </p:cNvSpPr>
          <p:nvPr/>
        </p:nvSpPr>
        <p:spPr bwMode="auto">
          <a:xfrm>
            <a:off x="3132138" y="3860800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2" name="Line 8"/>
          <p:cNvSpPr>
            <a:spLocks noChangeShapeType="1"/>
          </p:cNvSpPr>
          <p:nvPr/>
        </p:nvSpPr>
        <p:spPr bwMode="auto">
          <a:xfrm>
            <a:off x="6732588" y="2420938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3" name="Line 9"/>
          <p:cNvSpPr>
            <a:spLocks noChangeShapeType="1"/>
          </p:cNvSpPr>
          <p:nvPr/>
        </p:nvSpPr>
        <p:spPr bwMode="auto">
          <a:xfrm flipH="1">
            <a:off x="6443663" y="3141663"/>
            <a:ext cx="288925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4" name="Line 10"/>
          <p:cNvSpPr>
            <a:spLocks noChangeShapeType="1"/>
          </p:cNvSpPr>
          <p:nvPr/>
        </p:nvSpPr>
        <p:spPr bwMode="auto">
          <a:xfrm>
            <a:off x="6804025" y="3141663"/>
            <a:ext cx="288925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5" name="Line 11"/>
          <p:cNvSpPr>
            <a:spLocks noChangeShapeType="1"/>
          </p:cNvSpPr>
          <p:nvPr/>
        </p:nvSpPr>
        <p:spPr bwMode="auto">
          <a:xfrm>
            <a:off x="6300788" y="3860800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73238"/>
            <a:ext cx="7772400" cy="3527425"/>
          </a:xfrm>
        </p:spPr>
        <p:txBody>
          <a:bodyPr/>
          <a:lstStyle/>
          <a:p>
            <a:pPr eaLnBrk="1" hangingPunct="1"/>
            <a:r>
              <a:rPr lang="en-US" altLang="zh-CN" smtClean="0"/>
              <a:t>Access to Names:</a:t>
            </a:r>
          </a:p>
          <a:p>
            <a:pPr lvl="1" eaLnBrk="1" hangingPunct="1"/>
            <a:r>
              <a:rPr lang="en-US" altLang="zh-CN" smtClean="0"/>
              <a:t>Parameters and local variable can </a:t>
            </a:r>
            <a:r>
              <a:rPr lang="en-US" altLang="zh-CN" b="1" smtClean="0"/>
              <a:t>no longer be accessed by fixed addresses</a:t>
            </a:r>
            <a:r>
              <a:rPr lang="en-US" altLang="zh-CN" smtClean="0"/>
              <a:t>, instead they must be found by offset from the current frame pointer.</a:t>
            </a:r>
          </a:p>
          <a:p>
            <a:pPr lvl="1" eaLnBrk="1" hangingPunct="1"/>
            <a:r>
              <a:rPr lang="en-US" altLang="zh-CN" smtClean="0"/>
              <a:t>In most language, the offset can be statically computable by the compiler.</a:t>
            </a:r>
            <a:endParaRPr lang="zh-CN" altLang="en-US" smtClean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Object 4"/>
          <p:cNvGraphicFramePr>
            <a:graphicFrameLocks noChangeAspect="1"/>
          </p:cNvGraphicFramePr>
          <p:nvPr/>
        </p:nvGraphicFramePr>
        <p:xfrm>
          <a:off x="323850" y="260350"/>
          <a:ext cx="8351838" cy="620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3" name="Document" r:id="rId4" imgW="4841180" imgH="3597731" progId="Word.Document.8">
                  <p:embed/>
                </p:oleObj>
              </mc:Choice>
              <mc:Fallback>
                <p:oleObj name="Document" r:id="rId4" imgW="4841180" imgH="3597731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60350"/>
                        <a:ext cx="8351838" cy="620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7" name="Line 5"/>
          <p:cNvSpPr>
            <a:spLocks noChangeShapeType="1"/>
          </p:cNvSpPr>
          <p:nvPr/>
        </p:nvSpPr>
        <p:spPr bwMode="auto">
          <a:xfrm>
            <a:off x="6011863" y="1268413"/>
            <a:ext cx="1223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8" name="Line 6"/>
          <p:cNvSpPr>
            <a:spLocks noChangeShapeType="1"/>
          </p:cNvSpPr>
          <p:nvPr/>
        </p:nvSpPr>
        <p:spPr bwMode="auto">
          <a:xfrm>
            <a:off x="5940425" y="2276475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9" name="Line 7"/>
          <p:cNvSpPr>
            <a:spLocks noChangeShapeType="1"/>
          </p:cNvSpPr>
          <p:nvPr/>
        </p:nvSpPr>
        <p:spPr bwMode="auto">
          <a:xfrm>
            <a:off x="5940425" y="2997200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0" name="Line 8"/>
          <p:cNvSpPr>
            <a:spLocks noChangeShapeType="1"/>
          </p:cNvSpPr>
          <p:nvPr/>
        </p:nvSpPr>
        <p:spPr bwMode="auto">
          <a:xfrm flipV="1">
            <a:off x="6227763" y="1412875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1" name="Line 9"/>
          <p:cNvSpPr>
            <a:spLocks noChangeShapeType="1"/>
          </p:cNvSpPr>
          <p:nvPr/>
        </p:nvSpPr>
        <p:spPr bwMode="auto">
          <a:xfrm>
            <a:off x="6227763" y="2349500"/>
            <a:ext cx="0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2" name="Line 10"/>
          <p:cNvSpPr>
            <a:spLocks noChangeShapeType="1"/>
          </p:cNvSpPr>
          <p:nvPr/>
        </p:nvSpPr>
        <p:spPr bwMode="auto">
          <a:xfrm>
            <a:off x="1908175" y="2349500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90" name="Object 4"/>
          <p:cNvGraphicFramePr>
            <a:graphicFrameLocks noChangeAspect="1"/>
          </p:cNvGraphicFramePr>
          <p:nvPr/>
        </p:nvGraphicFramePr>
        <p:xfrm>
          <a:off x="323850" y="333375"/>
          <a:ext cx="7974013" cy="626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0" name="Document" r:id="rId4" imgW="5111671" imgH="4025801" progId="Word.Document.8">
                  <p:embed/>
                </p:oleObj>
              </mc:Choice>
              <mc:Fallback>
                <p:oleObj name="Document" r:id="rId4" imgW="5111671" imgH="4025801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33375"/>
                        <a:ext cx="7974013" cy="626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1" name="Line 5"/>
          <p:cNvSpPr>
            <a:spLocks noChangeShapeType="1"/>
          </p:cNvSpPr>
          <p:nvPr/>
        </p:nvSpPr>
        <p:spPr bwMode="auto">
          <a:xfrm>
            <a:off x="1403350" y="3716338"/>
            <a:ext cx="8651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2" name="Line 6"/>
          <p:cNvSpPr>
            <a:spLocks noChangeShapeType="1"/>
          </p:cNvSpPr>
          <p:nvPr/>
        </p:nvSpPr>
        <p:spPr bwMode="auto">
          <a:xfrm>
            <a:off x="4572000" y="3068638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3" name="Line 8"/>
          <p:cNvSpPr>
            <a:spLocks noChangeShapeType="1"/>
          </p:cNvSpPr>
          <p:nvPr/>
        </p:nvSpPr>
        <p:spPr bwMode="auto">
          <a:xfrm>
            <a:off x="4572000" y="3429000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4" name="Line 9"/>
          <p:cNvSpPr>
            <a:spLocks noChangeShapeType="1"/>
          </p:cNvSpPr>
          <p:nvPr/>
        </p:nvSpPr>
        <p:spPr bwMode="auto">
          <a:xfrm>
            <a:off x="4572000" y="3716338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5" name="Line 10"/>
          <p:cNvSpPr>
            <a:spLocks noChangeShapeType="1"/>
          </p:cNvSpPr>
          <p:nvPr/>
        </p:nvSpPr>
        <p:spPr bwMode="auto">
          <a:xfrm>
            <a:off x="4572000" y="53006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6" name="Line 11"/>
          <p:cNvSpPr>
            <a:spLocks noChangeShapeType="1"/>
          </p:cNvSpPr>
          <p:nvPr/>
        </p:nvSpPr>
        <p:spPr bwMode="auto">
          <a:xfrm flipV="1">
            <a:off x="4572000" y="3068638"/>
            <a:ext cx="0" cy="57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7" name="Line 12"/>
          <p:cNvSpPr>
            <a:spLocks noChangeShapeType="1"/>
          </p:cNvSpPr>
          <p:nvPr/>
        </p:nvSpPr>
        <p:spPr bwMode="auto">
          <a:xfrm flipV="1">
            <a:off x="4932363" y="3429000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8" name="Line 13"/>
          <p:cNvSpPr>
            <a:spLocks noChangeShapeType="1"/>
          </p:cNvSpPr>
          <p:nvPr/>
        </p:nvSpPr>
        <p:spPr bwMode="auto">
          <a:xfrm>
            <a:off x="4572000" y="3716338"/>
            <a:ext cx="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9" name="Line 14"/>
          <p:cNvSpPr>
            <a:spLocks noChangeShapeType="1"/>
          </p:cNvSpPr>
          <p:nvPr/>
        </p:nvSpPr>
        <p:spPr bwMode="auto">
          <a:xfrm>
            <a:off x="5292725" y="3716338"/>
            <a:ext cx="0" cy="2017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4" name="Object 4"/>
          <p:cNvGraphicFramePr>
            <a:graphicFrameLocks noChangeAspect="1"/>
          </p:cNvGraphicFramePr>
          <p:nvPr/>
        </p:nvGraphicFramePr>
        <p:xfrm>
          <a:off x="330200" y="1063625"/>
          <a:ext cx="8499475" cy="527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5" name="文档" r:id="rId3" imgW="4346896" imgH="2707029" progId="Word.Document.8">
                  <p:embed/>
                </p:oleObj>
              </mc:Choice>
              <mc:Fallback>
                <p:oleObj name="文档" r:id="rId3" imgW="4346896" imgH="2707029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" y="1063625"/>
                        <a:ext cx="8499475" cy="527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20713"/>
            <a:ext cx="7772400" cy="5475287"/>
          </a:xfrm>
        </p:spPr>
        <p:txBody>
          <a:bodyPr/>
          <a:lstStyle/>
          <a:p>
            <a:pPr eaLnBrk="1" hangingPunct="1"/>
            <a:r>
              <a:rPr lang="en-US" altLang="zh-CN" sz="2800" smtClean="0"/>
              <a:t>The calling sequence: </a:t>
            </a:r>
          </a:p>
          <a:p>
            <a:pPr lvl="1" eaLnBrk="1" hangingPunct="1"/>
            <a:r>
              <a:rPr lang="en-US" altLang="zh-CN" sz="2400" smtClean="0"/>
              <a:t>When a procedure is called</a:t>
            </a:r>
          </a:p>
          <a:p>
            <a:pPr lvl="2" eaLnBrk="1" hangingPunct="1"/>
            <a:r>
              <a:rPr lang="en-US" altLang="zh-CN" sz="2000" b="1" smtClean="0"/>
              <a:t>Compute the arguments</a:t>
            </a:r>
            <a:r>
              <a:rPr lang="en-US" altLang="zh-CN" sz="2000" smtClean="0"/>
              <a:t> and store them in their correct positions in the new activation record of the procedure;</a:t>
            </a:r>
          </a:p>
          <a:p>
            <a:pPr lvl="2" eaLnBrk="1" hangingPunct="1"/>
            <a:r>
              <a:rPr lang="en-US" altLang="zh-CN" sz="2000" b="1" smtClean="0"/>
              <a:t>Store the fp</a:t>
            </a:r>
            <a:r>
              <a:rPr lang="en-US" altLang="zh-CN" sz="2000" smtClean="0"/>
              <a:t> as the control link in the new activation record;</a:t>
            </a:r>
          </a:p>
          <a:p>
            <a:pPr lvl="2" eaLnBrk="1" hangingPunct="1"/>
            <a:r>
              <a:rPr lang="en-US" altLang="zh-CN" sz="2000" b="1" smtClean="0"/>
              <a:t>Change the fp</a:t>
            </a:r>
            <a:r>
              <a:rPr lang="en-US" altLang="zh-CN" sz="2000" smtClean="0"/>
              <a:t> so that it points to the beginning of the new activation record;</a:t>
            </a:r>
          </a:p>
          <a:p>
            <a:pPr lvl="2" eaLnBrk="1" hangingPunct="1"/>
            <a:r>
              <a:rPr lang="en-US" altLang="zh-CN" sz="2000" b="1" smtClean="0"/>
              <a:t>Store the return address</a:t>
            </a:r>
            <a:r>
              <a:rPr lang="en-US" altLang="zh-CN" sz="2000" smtClean="0"/>
              <a:t> in the new activation record;</a:t>
            </a:r>
          </a:p>
          <a:p>
            <a:pPr lvl="2" eaLnBrk="1" hangingPunct="1"/>
            <a:r>
              <a:rPr lang="en-US" altLang="zh-CN" sz="2000" b="1" smtClean="0"/>
              <a:t>Perform a jump</a:t>
            </a:r>
            <a:r>
              <a:rPr lang="en-US" altLang="zh-CN" sz="2000" smtClean="0"/>
              <a:t> to the code of the procedure to be called.</a:t>
            </a:r>
          </a:p>
          <a:p>
            <a:pPr lvl="1" eaLnBrk="1" hangingPunct="1"/>
            <a:r>
              <a:rPr lang="en-US" altLang="zh-CN" sz="2400" smtClean="0"/>
              <a:t>When a procedure exits</a:t>
            </a:r>
          </a:p>
          <a:p>
            <a:pPr lvl="2" eaLnBrk="1" hangingPunct="1"/>
            <a:r>
              <a:rPr lang="en-US" altLang="zh-CN" sz="2000" smtClean="0"/>
              <a:t>Copy the fp to the sp.</a:t>
            </a:r>
          </a:p>
          <a:p>
            <a:pPr lvl="2" eaLnBrk="1" hangingPunct="1"/>
            <a:r>
              <a:rPr lang="en-US" altLang="zh-CN" sz="2000" smtClean="0"/>
              <a:t>Load the control link into the fp.</a:t>
            </a:r>
          </a:p>
          <a:p>
            <a:pPr lvl="2" eaLnBrk="1" hangingPunct="1"/>
            <a:r>
              <a:rPr lang="en-US" altLang="zh-CN" sz="2000" smtClean="0"/>
              <a:t>Perform a jump to the return address;</a:t>
            </a:r>
          </a:p>
          <a:p>
            <a:pPr lvl="2" eaLnBrk="1" hangingPunct="1"/>
            <a:r>
              <a:rPr lang="en-US" altLang="zh-CN" sz="2000" smtClean="0"/>
              <a:t>Change the sp to pop the arguments.</a:t>
            </a:r>
            <a:endParaRPr lang="zh-CN" altLang="en-US" sz="2000" smtClean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2" name="Object 4"/>
          <p:cNvGraphicFramePr>
            <a:graphicFrameLocks noChangeAspect="1"/>
          </p:cNvGraphicFramePr>
          <p:nvPr/>
        </p:nvGraphicFramePr>
        <p:xfrm>
          <a:off x="-688975" y="674688"/>
          <a:ext cx="9637713" cy="473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7" name="Document" r:id="rId4" imgW="5317503" imgH="2619903" progId="Word.Document.8">
                  <p:embed/>
                </p:oleObj>
              </mc:Choice>
              <mc:Fallback>
                <p:oleObj name="Document" r:id="rId4" imgW="5317503" imgH="2619903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88975" y="674688"/>
                        <a:ext cx="9637713" cy="473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3" name="Line 5"/>
          <p:cNvSpPr>
            <a:spLocks noChangeShapeType="1"/>
          </p:cNvSpPr>
          <p:nvPr/>
        </p:nvSpPr>
        <p:spPr bwMode="auto">
          <a:xfrm>
            <a:off x="1331913" y="3573463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4" name="Line 6"/>
          <p:cNvSpPr>
            <a:spLocks noChangeShapeType="1"/>
          </p:cNvSpPr>
          <p:nvPr/>
        </p:nvSpPr>
        <p:spPr bwMode="auto">
          <a:xfrm>
            <a:off x="1258888" y="4365625"/>
            <a:ext cx="10810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5" name="Line 7"/>
          <p:cNvSpPr>
            <a:spLocks noChangeShapeType="1"/>
          </p:cNvSpPr>
          <p:nvPr/>
        </p:nvSpPr>
        <p:spPr bwMode="auto">
          <a:xfrm flipH="1">
            <a:off x="1692275" y="3357563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6" name="Line 8"/>
          <p:cNvSpPr>
            <a:spLocks noChangeShapeType="1"/>
          </p:cNvSpPr>
          <p:nvPr/>
        </p:nvSpPr>
        <p:spPr bwMode="auto">
          <a:xfrm flipV="1">
            <a:off x="1692275" y="2565400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6" name="Object 4"/>
          <p:cNvGraphicFramePr>
            <a:graphicFrameLocks noChangeAspect="1"/>
          </p:cNvGraphicFramePr>
          <p:nvPr/>
        </p:nvGraphicFramePr>
        <p:xfrm>
          <a:off x="107950" y="330200"/>
          <a:ext cx="8785225" cy="467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1" name="文档" r:id="rId3" imgW="4975528" imgH="2649425" progId="Word.Document.8">
                  <p:embed/>
                </p:oleObj>
              </mc:Choice>
              <mc:Fallback>
                <p:oleObj name="文档" r:id="rId3" imgW="4975528" imgH="264942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330200"/>
                        <a:ext cx="8785225" cy="467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7" name="Line 5"/>
          <p:cNvSpPr>
            <a:spLocks noChangeShapeType="1"/>
          </p:cNvSpPr>
          <p:nvPr/>
        </p:nvSpPr>
        <p:spPr bwMode="auto">
          <a:xfrm>
            <a:off x="2051050" y="2492375"/>
            <a:ext cx="1008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88" name="Line 6"/>
          <p:cNvSpPr>
            <a:spLocks noChangeShapeType="1"/>
          </p:cNvSpPr>
          <p:nvPr/>
        </p:nvSpPr>
        <p:spPr bwMode="auto">
          <a:xfrm>
            <a:off x="1908175" y="3716338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89" name="Line 7"/>
          <p:cNvSpPr>
            <a:spLocks noChangeShapeType="1"/>
          </p:cNvSpPr>
          <p:nvPr/>
        </p:nvSpPr>
        <p:spPr bwMode="auto">
          <a:xfrm flipH="1">
            <a:off x="2484438" y="2276475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0" name="Line 8"/>
          <p:cNvSpPr>
            <a:spLocks noChangeShapeType="1"/>
          </p:cNvSpPr>
          <p:nvPr/>
        </p:nvSpPr>
        <p:spPr bwMode="auto">
          <a:xfrm flipV="1">
            <a:off x="2484438" y="1125538"/>
            <a:ext cx="0" cy="1150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0" name="Object 4"/>
          <p:cNvGraphicFramePr>
            <a:graphicFrameLocks noChangeAspect="1"/>
          </p:cNvGraphicFramePr>
          <p:nvPr/>
        </p:nvGraphicFramePr>
        <p:xfrm>
          <a:off x="395288" y="549275"/>
          <a:ext cx="8497887" cy="480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6" name="文档" r:id="rId3" imgW="5158011" imgH="2917643" progId="Word.Document.8">
                  <p:embed/>
                </p:oleObj>
              </mc:Choice>
              <mc:Fallback>
                <p:oleObj name="文档" r:id="rId3" imgW="5158011" imgH="2917643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49275"/>
                        <a:ext cx="8497887" cy="480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1" name="Line 5"/>
          <p:cNvSpPr>
            <a:spLocks noChangeShapeType="1"/>
          </p:cNvSpPr>
          <p:nvPr/>
        </p:nvSpPr>
        <p:spPr bwMode="auto">
          <a:xfrm>
            <a:off x="2268538" y="3860800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2" name="Line 6"/>
          <p:cNvSpPr>
            <a:spLocks noChangeShapeType="1"/>
          </p:cNvSpPr>
          <p:nvPr/>
        </p:nvSpPr>
        <p:spPr bwMode="auto">
          <a:xfrm flipH="1">
            <a:off x="2484438" y="3573463"/>
            <a:ext cx="1150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3" name="Line 7"/>
          <p:cNvSpPr>
            <a:spLocks noChangeShapeType="1"/>
          </p:cNvSpPr>
          <p:nvPr/>
        </p:nvSpPr>
        <p:spPr bwMode="auto">
          <a:xfrm flipV="1">
            <a:off x="2484438" y="2492375"/>
            <a:ext cx="0" cy="1081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4" name="Line 8"/>
          <p:cNvSpPr>
            <a:spLocks noChangeShapeType="1"/>
          </p:cNvSpPr>
          <p:nvPr/>
        </p:nvSpPr>
        <p:spPr bwMode="auto">
          <a:xfrm flipV="1">
            <a:off x="2484438" y="2276475"/>
            <a:ext cx="71913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5" name="Line 9"/>
          <p:cNvSpPr>
            <a:spLocks noChangeShapeType="1"/>
          </p:cNvSpPr>
          <p:nvPr/>
        </p:nvSpPr>
        <p:spPr bwMode="auto">
          <a:xfrm>
            <a:off x="2411413" y="2205038"/>
            <a:ext cx="576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Object 4"/>
          <p:cNvGraphicFramePr>
            <a:graphicFrameLocks noChangeAspect="1"/>
          </p:cNvGraphicFramePr>
          <p:nvPr/>
        </p:nvGraphicFramePr>
        <p:xfrm>
          <a:off x="179388" y="404813"/>
          <a:ext cx="8785225" cy="518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2" name="文档" r:id="rId3" imgW="5659838" imgH="3340673" progId="Word.Document.8">
                  <p:embed/>
                </p:oleObj>
              </mc:Choice>
              <mc:Fallback>
                <p:oleObj name="文档" r:id="rId3" imgW="5659838" imgH="3340673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404813"/>
                        <a:ext cx="8785225" cy="518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5" name="Line 5"/>
          <p:cNvSpPr>
            <a:spLocks noChangeShapeType="1"/>
          </p:cNvSpPr>
          <p:nvPr/>
        </p:nvSpPr>
        <p:spPr bwMode="auto">
          <a:xfrm>
            <a:off x="2339975" y="44370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6" name="Line 6"/>
          <p:cNvSpPr>
            <a:spLocks noChangeShapeType="1"/>
          </p:cNvSpPr>
          <p:nvPr/>
        </p:nvSpPr>
        <p:spPr bwMode="auto">
          <a:xfrm>
            <a:off x="2268538" y="4005263"/>
            <a:ext cx="719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7" name="Line 7"/>
          <p:cNvSpPr>
            <a:spLocks noChangeShapeType="1"/>
          </p:cNvSpPr>
          <p:nvPr/>
        </p:nvSpPr>
        <p:spPr bwMode="auto">
          <a:xfrm flipH="1">
            <a:off x="2484438" y="3573463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8" name="Line 8"/>
          <p:cNvSpPr>
            <a:spLocks noChangeShapeType="1"/>
          </p:cNvSpPr>
          <p:nvPr/>
        </p:nvSpPr>
        <p:spPr bwMode="auto">
          <a:xfrm flipV="1">
            <a:off x="2484438" y="2708275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9" name="Line 9"/>
          <p:cNvSpPr>
            <a:spLocks noChangeShapeType="1"/>
          </p:cNvSpPr>
          <p:nvPr/>
        </p:nvSpPr>
        <p:spPr bwMode="auto">
          <a:xfrm flipV="1">
            <a:off x="2484438" y="2492375"/>
            <a:ext cx="574675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0" name="Line 10"/>
          <p:cNvSpPr>
            <a:spLocks noChangeShapeType="1"/>
          </p:cNvSpPr>
          <p:nvPr/>
        </p:nvSpPr>
        <p:spPr bwMode="auto">
          <a:xfrm flipH="1">
            <a:off x="2555875" y="2133600"/>
            <a:ext cx="792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1" name="Line 11"/>
          <p:cNvSpPr>
            <a:spLocks noChangeShapeType="1"/>
          </p:cNvSpPr>
          <p:nvPr/>
        </p:nvSpPr>
        <p:spPr bwMode="auto">
          <a:xfrm flipV="1">
            <a:off x="2555875" y="1412875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8" name="Object 4"/>
          <p:cNvGraphicFramePr>
            <a:graphicFrameLocks noChangeAspect="1"/>
          </p:cNvGraphicFramePr>
          <p:nvPr/>
        </p:nvGraphicFramePr>
        <p:xfrm>
          <a:off x="330200" y="404813"/>
          <a:ext cx="8394700" cy="541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6" name="文档" r:id="rId3" imgW="5571315" imgH="3584781" progId="Word.Document.8">
                  <p:embed/>
                </p:oleObj>
              </mc:Choice>
              <mc:Fallback>
                <p:oleObj name="文档" r:id="rId3" imgW="5571315" imgH="3584781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" y="404813"/>
                        <a:ext cx="8394700" cy="541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9" name="Line 5"/>
          <p:cNvSpPr>
            <a:spLocks noChangeShapeType="1"/>
          </p:cNvSpPr>
          <p:nvPr/>
        </p:nvSpPr>
        <p:spPr bwMode="auto">
          <a:xfrm>
            <a:off x="2195513" y="4797425"/>
            <a:ext cx="576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0" name="Line 6"/>
          <p:cNvSpPr>
            <a:spLocks noChangeShapeType="1"/>
          </p:cNvSpPr>
          <p:nvPr/>
        </p:nvSpPr>
        <p:spPr bwMode="auto">
          <a:xfrm>
            <a:off x="2051050" y="3933825"/>
            <a:ext cx="8651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1" name="Line 7"/>
          <p:cNvSpPr>
            <a:spLocks noChangeShapeType="1"/>
          </p:cNvSpPr>
          <p:nvPr/>
        </p:nvSpPr>
        <p:spPr bwMode="auto">
          <a:xfrm flipH="1">
            <a:off x="2411413" y="3500438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2" name="Line 8"/>
          <p:cNvSpPr>
            <a:spLocks noChangeShapeType="1"/>
          </p:cNvSpPr>
          <p:nvPr/>
        </p:nvSpPr>
        <p:spPr bwMode="auto">
          <a:xfrm>
            <a:off x="2411413" y="2708275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3" name="Line 9"/>
          <p:cNvSpPr>
            <a:spLocks noChangeShapeType="1"/>
          </p:cNvSpPr>
          <p:nvPr/>
        </p:nvSpPr>
        <p:spPr bwMode="auto">
          <a:xfrm flipV="1">
            <a:off x="2411413" y="2492375"/>
            <a:ext cx="504825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4" name="Line 10"/>
          <p:cNvSpPr>
            <a:spLocks noChangeShapeType="1"/>
          </p:cNvSpPr>
          <p:nvPr/>
        </p:nvSpPr>
        <p:spPr bwMode="auto">
          <a:xfrm flipH="1">
            <a:off x="2339975" y="2133600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5" name="Line 11"/>
          <p:cNvSpPr>
            <a:spLocks noChangeShapeType="1"/>
          </p:cNvSpPr>
          <p:nvPr/>
        </p:nvSpPr>
        <p:spPr bwMode="auto">
          <a:xfrm flipV="1">
            <a:off x="2339975" y="1341438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549275"/>
            <a:ext cx="7772400" cy="4248150"/>
          </a:xfrm>
        </p:spPr>
        <p:txBody>
          <a:bodyPr/>
          <a:lstStyle/>
          <a:p>
            <a:pPr eaLnBrk="1" hangingPunct="1"/>
            <a:r>
              <a:rPr lang="en-US" altLang="zh-CN" sz="2800" b="1" smtClean="0"/>
              <a:t>Dealing with variable-length data</a:t>
            </a:r>
          </a:p>
          <a:p>
            <a:pPr lvl="1" eaLnBrk="1" hangingPunct="1"/>
            <a:r>
              <a:rPr lang="en-US" altLang="zh-CN" sz="2400" smtClean="0"/>
              <a:t>The number of arguments in a call may vary from call to call, and</a:t>
            </a:r>
          </a:p>
          <a:p>
            <a:pPr lvl="1" eaLnBrk="1" hangingPunct="1"/>
            <a:r>
              <a:rPr lang="en-US" altLang="zh-CN" sz="2400" smtClean="0"/>
              <a:t>The size of an array parameter or a local array variable may vary from call to call</a:t>
            </a:r>
          </a:p>
          <a:p>
            <a:pPr lvl="1" eaLnBrk="1" hangingPunct="1"/>
            <a:r>
              <a:rPr lang="en-US" altLang="zh-CN" sz="2400" smtClean="0"/>
              <a:t>An example of situation 1 is the printf function in C:</a:t>
            </a:r>
          </a:p>
          <a:p>
            <a:pPr lvl="2" eaLnBrk="1" hangingPunct="1"/>
            <a:r>
              <a:rPr lang="en-US" altLang="zh-CN" smtClean="0"/>
              <a:t>Printf(</a:t>
            </a:r>
            <a:r>
              <a:rPr lang="en-US" altLang="zh-CN" smtClean="0">
                <a:latin typeface="Arial" panose="020B0604020202020204" pitchFamily="34" charset="0"/>
              </a:rPr>
              <a:t>“</a:t>
            </a:r>
            <a:r>
              <a:rPr lang="en-US" altLang="zh-CN" smtClean="0"/>
              <a:t>%d%s%c</a:t>
            </a:r>
            <a:r>
              <a:rPr lang="en-US" altLang="zh-CN" smtClean="0">
                <a:latin typeface="Arial" panose="020B0604020202020204" pitchFamily="34" charset="0"/>
              </a:rPr>
              <a:t>”</a:t>
            </a:r>
            <a:r>
              <a:rPr lang="en-US" altLang="zh-CN" smtClean="0"/>
              <a:t>,n,prompt,ch)</a:t>
            </a:r>
          </a:p>
          <a:p>
            <a:pPr lvl="3" eaLnBrk="1" hangingPunct="1"/>
            <a:r>
              <a:rPr lang="en-US" altLang="zh-CN" smtClean="0"/>
              <a:t>Has four arguments, while</a:t>
            </a:r>
          </a:p>
          <a:p>
            <a:pPr lvl="2" eaLnBrk="1" hangingPunct="1"/>
            <a:r>
              <a:rPr lang="en-US" altLang="zh-CN" smtClean="0"/>
              <a:t>Printf(</a:t>
            </a:r>
            <a:r>
              <a:rPr lang="en-US" altLang="zh-CN" smtClean="0">
                <a:latin typeface="Arial" panose="020B0604020202020204" pitchFamily="34" charset="0"/>
              </a:rPr>
              <a:t>“</a:t>
            </a:r>
            <a:r>
              <a:rPr lang="en-US" altLang="zh-CN" smtClean="0"/>
              <a:t>Hello, world\n</a:t>
            </a:r>
            <a:r>
              <a:rPr lang="en-US" altLang="zh-CN" smtClean="0">
                <a:latin typeface="Arial" panose="020B0604020202020204" pitchFamily="34" charset="0"/>
              </a:rPr>
              <a:t>”</a:t>
            </a:r>
            <a:r>
              <a:rPr lang="en-US" altLang="zh-CN" smtClean="0"/>
              <a:t>)</a:t>
            </a:r>
          </a:p>
          <a:p>
            <a:pPr lvl="3" eaLnBrk="1" hangingPunct="1"/>
            <a:r>
              <a:rPr lang="en-US" altLang="zh-CN" smtClean="0"/>
              <a:t>Has only one argument</a:t>
            </a:r>
            <a:endParaRPr lang="zh-CN" altLang="en-US" smtClean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73238"/>
            <a:ext cx="7772400" cy="37433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smtClean="0"/>
              <a:t>C compiler typically deal with this by </a:t>
            </a:r>
            <a:r>
              <a:rPr lang="en-US" altLang="zh-CN" sz="2800" b="1" smtClean="0"/>
              <a:t>pushing the arguments to a call in reverse order</a:t>
            </a:r>
            <a:r>
              <a:rPr lang="en-US" altLang="zh-CN" sz="2800" smtClean="0"/>
              <a:t> onto the runtime stack. The </a:t>
            </a:r>
            <a:r>
              <a:rPr lang="en-US" altLang="zh-CN" sz="2800" b="1" smtClean="0"/>
              <a:t>first parameter is always located at a fixed offset from the fp</a:t>
            </a:r>
            <a:r>
              <a:rPr lang="en-US" altLang="zh-CN" sz="2800" smtClean="0"/>
              <a:t> in the implementation described above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smtClean="0"/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/>
              <a:t>Another option is to use a processor mechanism such as </a:t>
            </a:r>
            <a:r>
              <a:rPr lang="en-US" altLang="zh-CN" sz="2800" b="1" smtClean="0"/>
              <a:t>ap (argument pointer)</a:t>
            </a:r>
            <a:r>
              <a:rPr lang="en-US" altLang="zh-CN" sz="2800" smtClean="0"/>
              <a:t> in VAX architecture.</a:t>
            </a:r>
            <a:endParaRPr lang="zh-CN" altLang="en-US" sz="2800" smtClean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92150"/>
            <a:ext cx="7772400" cy="5689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400" smtClean="0"/>
              <a:t>An example of situation 2 is the unconstrained array of Ada:</a:t>
            </a:r>
          </a:p>
          <a:p>
            <a:pPr eaLnBrk="1" hangingPunct="1">
              <a:lnSpc>
                <a:spcPct val="80000"/>
              </a:lnSpc>
            </a:pPr>
            <a:endParaRPr lang="en-US" altLang="zh-CN" sz="2400" smtClean="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Type int_vector is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         Array(INTEGER range &lt;&gt;) of INTEGER;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Procedure sum (low, high: INTEGER;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         A: Int_vector) return INTEGER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Is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        Temp: Int_Array (low..high);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Begin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</a:t>
            </a:r>
            <a:r>
              <a:rPr lang="en-US" altLang="zh-CN" sz="2000" smtClean="0">
                <a:latin typeface="Arial" panose="020B0604020202020204" pitchFamily="34" charset="0"/>
              </a:rPr>
              <a:t>…</a:t>
            </a:r>
            <a:endParaRPr lang="en-US" altLang="zh-CN" sz="2000" smtClean="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end sum;</a:t>
            </a:r>
          </a:p>
          <a:p>
            <a:pPr eaLnBrk="1" hangingPunct="1">
              <a:lnSpc>
                <a:spcPct val="80000"/>
              </a:lnSpc>
            </a:pPr>
            <a:endParaRPr lang="en-US" altLang="zh-CN" sz="2200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400" smtClean="0"/>
              <a:t>A typical method is to </a:t>
            </a:r>
            <a:r>
              <a:rPr lang="en-US" altLang="zh-CN" sz="2400" b="1" smtClean="0"/>
              <a:t>use an extra level of indirection for the variable-length data, storing a pointer to the actual data</a:t>
            </a:r>
            <a:r>
              <a:rPr lang="en-US" altLang="zh-CN" sz="2400" smtClean="0"/>
              <a:t> in a location that can be predicated at compile time</a:t>
            </a:r>
            <a:r>
              <a:rPr lang="en-US" altLang="zh-CN" sz="2000" smtClean="0"/>
              <a:t>.</a:t>
            </a:r>
            <a:endParaRPr lang="zh-CN" altLang="en-US" sz="2000" smtClean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4" name="Object 4"/>
          <p:cNvGraphicFramePr>
            <a:graphicFrameLocks noChangeAspect="1"/>
          </p:cNvGraphicFramePr>
          <p:nvPr/>
        </p:nvGraphicFramePr>
        <p:xfrm>
          <a:off x="104775" y="188913"/>
          <a:ext cx="8394700" cy="677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2" name="文档" r:id="rId3" imgW="5728089" imgH="5035311" progId="Word.Document.8">
                  <p:embed/>
                </p:oleObj>
              </mc:Choice>
              <mc:Fallback>
                <p:oleObj name="文档" r:id="rId3" imgW="5728089" imgH="5035311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" y="188913"/>
                        <a:ext cx="8394700" cy="677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5" name="Line 5"/>
          <p:cNvSpPr>
            <a:spLocks noChangeShapeType="1"/>
          </p:cNvSpPr>
          <p:nvPr/>
        </p:nvSpPr>
        <p:spPr bwMode="auto">
          <a:xfrm>
            <a:off x="5580063" y="2492375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6" name="Line 6"/>
          <p:cNvSpPr>
            <a:spLocks noChangeShapeType="1"/>
          </p:cNvSpPr>
          <p:nvPr/>
        </p:nvSpPr>
        <p:spPr bwMode="auto">
          <a:xfrm>
            <a:off x="6084888" y="2492375"/>
            <a:ext cx="0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7" name="Line 7"/>
          <p:cNvSpPr>
            <a:spLocks noChangeShapeType="1"/>
          </p:cNvSpPr>
          <p:nvPr/>
        </p:nvSpPr>
        <p:spPr bwMode="auto">
          <a:xfrm flipH="1">
            <a:off x="5724525" y="4508500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8" name="Line 8"/>
          <p:cNvSpPr>
            <a:spLocks noChangeShapeType="1"/>
          </p:cNvSpPr>
          <p:nvPr/>
        </p:nvSpPr>
        <p:spPr bwMode="auto">
          <a:xfrm>
            <a:off x="1547813" y="4508500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9" name="Line 9"/>
          <p:cNvSpPr>
            <a:spLocks noChangeShapeType="1"/>
          </p:cNvSpPr>
          <p:nvPr/>
        </p:nvSpPr>
        <p:spPr bwMode="auto">
          <a:xfrm>
            <a:off x="1476375" y="3141663"/>
            <a:ext cx="935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60" name="Line 10"/>
          <p:cNvSpPr>
            <a:spLocks noChangeShapeType="1"/>
          </p:cNvSpPr>
          <p:nvPr/>
        </p:nvSpPr>
        <p:spPr bwMode="auto">
          <a:xfrm flipH="1">
            <a:off x="1908175" y="2997200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61" name="Line 11"/>
          <p:cNvSpPr>
            <a:spLocks noChangeShapeType="1"/>
          </p:cNvSpPr>
          <p:nvPr/>
        </p:nvSpPr>
        <p:spPr bwMode="auto">
          <a:xfrm flipV="1">
            <a:off x="1908175" y="1844675"/>
            <a:ext cx="0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25538"/>
            <a:ext cx="7772400" cy="38877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smtClean="0"/>
              <a:t>Note: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/>
              <a:t>In the implementation described in the previous example, </a:t>
            </a:r>
            <a:r>
              <a:rPr lang="en-US" altLang="zh-CN" sz="2400" b="1" smtClean="0"/>
              <a:t>the caller must know the size of any activation record of Sum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/>
              <a:t>The </a:t>
            </a:r>
            <a:r>
              <a:rPr lang="en-US" altLang="zh-CN" sz="2400" b="1" smtClean="0"/>
              <a:t>size of the parameter part and the bookkeeping part is known</a:t>
            </a:r>
            <a:r>
              <a:rPr lang="en-US" altLang="zh-CN" sz="2400" smtClean="0"/>
              <a:t> to the compiler at the point of call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zh-CN" sz="240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/>
              <a:t>The size of the </a:t>
            </a:r>
            <a:r>
              <a:rPr lang="en-US" altLang="zh-CN" sz="2400" b="1" smtClean="0"/>
              <a:t>local variable part is not</a:t>
            </a:r>
            <a:r>
              <a:rPr lang="en-US" altLang="zh-CN" sz="2400" smtClean="0"/>
              <a:t>, in general, known at the point of call. </a:t>
            </a:r>
            <a:r>
              <a:rPr lang="en-US" altLang="zh-CN" sz="2400" b="1" smtClean="0"/>
              <a:t>Variable-length local variables</a:t>
            </a:r>
            <a:r>
              <a:rPr lang="en-US" altLang="zh-CN" sz="2400" smtClean="0"/>
              <a:t> can be dealt with in a similar way</a:t>
            </a:r>
            <a:endParaRPr lang="zh-CN" altLang="en-US" sz="2400" smtClean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08050"/>
            <a:ext cx="7772400" cy="51879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b="1" smtClean="0"/>
              <a:t>Local Temporaries and Nested Declarations:</a:t>
            </a:r>
            <a:endParaRPr lang="en-US" altLang="zh-CN" sz="2800" smtClean="0"/>
          </a:p>
          <a:p>
            <a:pPr marL="936625" lvl="1" indent="-414338" eaLnBrk="1" hangingPunct="1">
              <a:lnSpc>
                <a:spcPct val="90000"/>
              </a:lnSpc>
            </a:pPr>
            <a:r>
              <a:rPr lang="en-US" altLang="zh-CN" sz="2400" smtClean="0"/>
              <a:t>Two more complications to the basic stack-based runtime environment</a:t>
            </a:r>
          </a:p>
          <a:p>
            <a:pPr marL="936625" lvl="1" indent="-414338"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(1) Local temporaries are partial results of computations that must be saved across procedure calls, for example:</a:t>
            </a:r>
          </a:p>
          <a:p>
            <a:pPr marL="936625" lvl="1" indent="-414338"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		x[i] = (i + j) *(i/k + f(j))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smtClean="0"/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/>
              <a:t>The three partial results need to be saved across the call to f:</a:t>
            </a:r>
          </a:p>
          <a:p>
            <a:pPr marL="936625" lvl="1" indent="-414338"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		The address x[i];</a:t>
            </a:r>
          </a:p>
          <a:p>
            <a:pPr marL="936625" lvl="1" indent="-414338"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		The sum i+j;</a:t>
            </a:r>
          </a:p>
          <a:p>
            <a:pPr marL="936625" lvl="1" indent="-414338"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		The quotient i/k;</a:t>
            </a:r>
            <a:endParaRPr lang="zh-CN" altLang="en-US" sz="2400" smtClean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26" name="Object 4"/>
          <p:cNvGraphicFramePr>
            <a:graphicFrameLocks noChangeAspect="1"/>
          </p:cNvGraphicFramePr>
          <p:nvPr/>
        </p:nvGraphicFramePr>
        <p:xfrm>
          <a:off x="104775" y="900113"/>
          <a:ext cx="8755063" cy="481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1" name="文档" r:id="rId3" imgW="5579615" imgH="3061012" progId="Word.Document.8">
                  <p:embed/>
                </p:oleObj>
              </mc:Choice>
              <mc:Fallback>
                <p:oleObj name="文档" r:id="rId3" imgW="5579615" imgH="3061012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" y="900113"/>
                        <a:ext cx="8755063" cy="481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7" name="Line 5"/>
          <p:cNvSpPr>
            <a:spLocks noChangeShapeType="1"/>
          </p:cNvSpPr>
          <p:nvPr/>
        </p:nvSpPr>
        <p:spPr bwMode="auto">
          <a:xfrm>
            <a:off x="1692275" y="4076700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28" name="Line 6"/>
          <p:cNvSpPr>
            <a:spLocks noChangeShapeType="1"/>
          </p:cNvSpPr>
          <p:nvPr/>
        </p:nvSpPr>
        <p:spPr bwMode="auto">
          <a:xfrm>
            <a:off x="1619250" y="2852738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29" name="Line 7"/>
          <p:cNvSpPr>
            <a:spLocks noChangeShapeType="1"/>
          </p:cNvSpPr>
          <p:nvPr/>
        </p:nvSpPr>
        <p:spPr bwMode="auto">
          <a:xfrm flipH="1">
            <a:off x="2195513" y="2349500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0" name="Line 8"/>
          <p:cNvSpPr>
            <a:spLocks noChangeShapeType="1"/>
          </p:cNvSpPr>
          <p:nvPr/>
        </p:nvSpPr>
        <p:spPr bwMode="auto">
          <a:xfrm flipV="1">
            <a:off x="2195513" y="1484313"/>
            <a:ext cx="0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04813"/>
            <a:ext cx="7772400" cy="62642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400" smtClean="0"/>
              <a:t>Nested declarations present a similar problem. Consider the C code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600" b="1" smtClean="0"/>
              <a:t>		Void p( int x, double y)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600" b="1" smtClean="0"/>
              <a:t>		{ char a;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600" b="1" smtClean="0"/>
              <a:t>		  int I;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600" b="1" smtClean="0"/>
              <a:t>		</a:t>
            </a:r>
            <a:r>
              <a:rPr lang="en-US" altLang="zh-CN" sz="1600" b="1" smtClean="0">
                <a:latin typeface="Arial" panose="020B0604020202020204" pitchFamily="34" charset="0"/>
              </a:rPr>
              <a:t>…</a:t>
            </a:r>
            <a:endParaRPr lang="en-US" altLang="zh-CN" sz="1600" b="1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600" b="1" smtClean="0"/>
              <a:t>		A:{double x;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600" b="1" smtClean="0"/>
              <a:t>			Int j;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600" b="1" smtClean="0"/>
              <a:t>			</a:t>
            </a:r>
            <a:r>
              <a:rPr lang="en-US" altLang="zh-CN" sz="1600" b="1" smtClean="0">
                <a:latin typeface="Arial" panose="020B0604020202020204" pitchFamily="34" charset="0"/>
              </a:rPr>
              <a:t>…</a:t>
            </a:r>
            <a:endParaRPr lang="en-US" altLang="zh-CN" sz="1600" b="1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600" b="1" smtClean="0"/>
              <a:t>		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600" b="1" smtClean="0"/>
              <a:t>		</a:t>
            </a:r>
            <a:r>
              <a:rPr lang="en-US" altLang="zh-CN" sz="1600" b="1" smtClean="0">
                <a:latin typeface="Arial" panose="020B0604020202020204" pitchFamily="34" charset="0"/>
              </a:rPr>
              <a:t>…</a:t>
            </a:r>
            <a:endParaRPr lang="en-US" altLang="zh-CN" sz="1600" b="1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600" b="1" smtClean="0"/>
              <a:t>		B:{char *a;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600" b="1" smtClean="0"/>
              <a:t>			Int 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600" b="1" smtClean="0"/>
              <a:t>			</a:t>
            </a:r>
            <a:r>
              <a:rPr lang="en-US" altLang="zh-CN" sz="1600" b="1" smtClean="0">
                <a:latin typeface="Arial" panose="020B0604020202020204" pitchFamily="34" charset="0"/>
              </a:rPr>
              <a:t>…</a:t>
            </a:r>
            <a:endParaRPr lang="en-US" altLang="zh-CN" sz="1600" b="1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600" b="1" smtClean="0"/>
              <a:t>		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600" b="1" smtClean="0"/>
              <a:t>			</a:t>
            </a:r>
            <a:r>
              <a:rPr lang="en-US" altLang="zh-CN" sz="1600" b="1" smtClean="0">
                <a:latin typeface="Arial" panose="020B0604020202020204" pitchFamily="34" charset="0"/>
              </a:rPr>
              <a:t>…</a:t>
            </a:r>
            <a:endParaRPr lang="en-US" altLang="zh-CN" sz="1600" b="1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600" b="1" smtClean="0"/>
              <a:t>		}</a:t>
            </a:r>
          </a:p>
          <a:p>
            <a:pPr eaLnBrk="1" hangingPunct="1">
              <a:lnSpc>
                <a:spcPct val="80000"/>
              </a:lnSpc>
            </a:pPr>
            <a:endParaRPr lang="en-US" altLang="zh-CN" sz="1600" b="1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200" smtClean="0"/>
              <a:t>There are two block (also called compound statement), labeled A and B nested inside the body of procedure p.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200" smtClean="0"/>
              <a:t>The nested local declaration does not need to be allocated until entered;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200" smtClean="0"/>
              <a:t>Both A and B do not need to be allocated simultaneously.</a:t>
            </a:r>
            <a:endParaRPr lang="zh-CN" altLang="en-US" sz="2200" smtClean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4" name="Object 4"/>
          <p:cNvGraphicFramePr>
            <a:graphicFrameLocks noChangeAspect="1"/>
          </p:cNvGraphicFramePr>
          <p:nvPr/>
        </p:nvGraphicFramePr>
        <p:xfrm>
          <a:off x="104775" y="330200"/>
          <a:ext cx="8469313" cy="533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9" name="文档" r:id="rId3" imgW="5571315" imgH="3494551" progId="Word.Document.8">
                  <p:embed/>
                </p:oleObj>
              </mc:Choice>
              <mc:Fallback>
                <p:oleObj name="文档" r:id="rId3" imgW="5571315" imgH="3494551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" y="330200"/>
                        <a:ext cx="8469313" cy="533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5" name="Line 5"/>
          <p:cNvSpPr>
            <a:spLocks noChangeShapeType="1"/>
          </p:cNvSpPr>
          <p:nvPr/>
        </p:nvSpPr>
        <p:spPr bwMode="auto">
          <a:xfrm>
            <a:off x="1619250" y="4365625"/>
            <a:ext cx="8651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76" name="Line 6"/>
          <p:cNvSpPr>
            <a:spLocks noChangeShapeType="1"/>
          </p:cNvSpPr>
          <p:nvPr/>
        </p:nvSpPr>
        <p:spPr bwMode="auto">
          <a:xfrm>
            <a:off x="1547813" y="2781300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77" name="Line 7"/>
          <p:cNvSpPr>
            <a:spLocks noChangeShapeType="1"/>
          </p:cNvSpPr>
          <p:nvPr/>
        </p:nvSpPr>
        <p:spPr bwMode="auto">
          <a:xfrm flipH="1">
            <a:off x="1908175" y="2636838"/>
            <a:ext cx="1008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78" name="Line 8"/>
          <p:cNvSpPr>
            <a:spLocks noChangeShapeType="1"/>
          </p:cNvSpPr>
          <p:nvPr/>
        </p:nvSpPr>
        <p:spPr bwMode="auto">
          <a:xfrm flipV="1">
            <a:off x="1908175" y="1628775"/>
            <a:ext cx="0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298" name="Object 75"/>
          <p:cNvGraphicFramePr>
            <a:graphicFrameLocks noChangeAspect="1"/>
          </p:cNvGraphicFramePr>
          <p:nvPr/>
        </p:nvGraphicFramePr>
        <p:xfrm>
          <a:off x="104775" y="539750"/>
          <a:ext cx="8559800" cy="517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3" name="文档" r:id="rId3" imgW="5431735" imgH="3286669" progId="Word.Document.8">
                  <p:embed/>
                </p:oleObj>
              </mc:Choice>
              <mc:Fallback>
                <p:oleObj name="文档" r:id="rId3" imgW="5431735" imgH="3286669" progId="Word.Document.8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" y="539750"/>
                        <a:ext cx="8559800" cy="517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299" name="Line 76"/>
          <p:cNvSpPr>
            <a:spLocks noChangeShapeType="1"/>
          </p:cNvSpPr>
          <p:nvPr/>
        </p:nvSpPr>
        <p:spPr bwMode="auto">
          <a:xfrm>
            <a:off x="1835150" y="4365625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0" name="Line 77"/>
          <p:cNvSpPr>
            <a:spLocks noChangeShapeType="1"/>
          </p:cNvSpPr>
          <p:nvPr/>
        </p:nvSpPr>
        <p:spPr bwMode="auto">
          <a:xfrm>
            <a:off x="1619250" y="2781300"/>
            <a:ext cx="8651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1" name="Line 78"/>
          <p:cNvSpPr>
            <a:spLocks noChangeShapeType="1"/>
          </p:cNvSpPr>
          <p:nvPr/>
        </p:nvSpPr>
        <p:spPr bwMode="auto">
          <a:xfrm flipH="1">
            <a:off x="2195513" y="2565400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2" name="Line 79"/>
          <p:cNvSpPr>
            <a:spLocks noChangeShapeType="1"/>
          </p:cNvSpPr>
          <p:nvPr/>
        </p:nvSpPr>
        <p:spPr bwMode="auto">
          <a:xfrm flipV="1">
            <a:off x="2195513" y="1484313"/>
            <a:ext cx="0" cy="1081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en-US" altLang="zh-CN" sz="4400" smtClean="0"/>
              <a:t>8.3.2 Stack-Based Environment with local Procedures</a:t>
            </a:r>
            <a:endParaRPr lang="zh-CN" altLang="en-US" sz="4400" smtClean="0"/>
          </a:p>
        </p:txBody>
      </p:sp>
      <p:sp>
        <p:nvSpPr>
          <p:cNvPr id="5632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zh-CN" altLang="en-US" sz="3200" smtClean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6250"/>
            <a:ext cx="7772400" cy="60483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200" smtClean="0"/>
              <a:t>Consider the non-local and non-global references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200" smtClean="0"/>
              <a:t>Example: Pascal program showing nonlocal, nonglobal reference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smtClean="0"/>
              <a:t>	Program nonlocalRef;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smtClean="0"/>
              <a:t>	Procedure P;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smtClean="0"/>
              <a:t>	Var N: integer;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smtClean="0"/>
              <a:t>		Procedure Q;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smtClean="0"/>
              <a:t>		Begin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smtClean="0"/>
              <a:t>		(* a reference to N is now non-local andnon-global *)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smtClean="0"/>
              <a:t>		end; (* q*)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smtClean="0"/>
              <a:t>		Procedure R(N: integer);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smtClean="0"/>
              <a:t>		Begin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smtClean="0"/>
              <a:t>		  Q;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smtClean="0"/>
              <a:t>		End;(*r *)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smtClean="0"/>
              <a:t>	Begin(*p*)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smtClean="0"/>
              <a:t>		N:=1;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smtClean="0"/>
              <a:t>		 R(2);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smtClean="0"/>
              <a:t>	End ;(*p*)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smtClean="0"/>
              <a:t>	Begin (* main*)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smtClean="0"/>
              <a:t>		P;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smtClean="0"/>
              <a:t>	End.</a:t>
            </a:r>
            <a:endParaRPr lang="zh-CN" altLang="en-US" sz="1800" smtClean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370" name="Object 4"/>
          <p:cNvGraphicFramePr>
            <a:graphicFrameLocks noChangeAspect="1"/>
          </p:cNvGraphicFramePr>
          <p:nvPr/>
        </p:nvGraphicFramePr>
        <p:xfrm>
          <a:off x="390525" y="928688"/>
          <a:ext cx="8453438" cy="487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1" name="文档" r:id="rId3" imgW="5206864" imgH="3009810" progId="Word.Document.8">
                  <p:embed/>
                </p:oleObj>
              </mc:Choice>
              <mc:Fallback>
                <p:oleObj name="文档" r:id="rId3" imgW="5206864" imgH="300981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525" y="928688"/>
                        <a:ext cx="8453438" cy="487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1" name="Line 5"/>
          <p:cNvSpPr>
            <a:spLocks noChangeShapeType="1"/>
          </p:cNvSpPr>
          <p:nvPr/>
        </p:nvSpPr>
        <p:spPr bwMode="auto">
          <a:xfrm>
            <a:off x="1187450" y="4797425"/>
            <a:ext cx="792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72" name="Line 6"/>
          <p:cNvSpPr>
            <a:spLocks noChangeShapeType="1"/>
          </p:cNvSpPr>
          <p:nvPr/>
        </p:nvSpPr>
        <p:spPr bwMode="auto">
          <a:xfrm>
            <a:off x="1116013" y="4437063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73" name="Line 7"/>
          <p:cNvSpPr>
            <a:spLocks noChangeShapeType="1"/>
          </p:cNvSpPr>
          <p:nvPr/>
        </p:nvSpPr>
        <p:spPr bwMode="auto">
          <a:xfrm flipH="1">
            <a:off x="1403350" y="4292600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74" name="Line 8"/>
          <p:cNvSpPr>
            <a:spLocks noChangeShapeType="1"/>
          </p:cNvSpPr>
          <p:nvPr/>
        </p:nvSpPr>
        <p:spPr bwMode="auto">
          <a:xfrm flipV="1">
            <a:off x="1403350" y="3933825"/>
            <a:ext cx="0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75" name="Line 9"/>
          <p:cNvSpPr>
            <a:spLocks noChangeShapeType="1"/>
          </p:cNvSpPr>
          <p:nvPr/>
        </p:nvSpPr>
        <p:spPr bwMode="auto">
          <a:xfrm>
            <a:off x="1403350" y="3933825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76" name="Line 10"/>
          <p:cNvSpPr>
            <a:spLocks noChangeShapeType="1"/>
          </p:cNvSpPr>
          <p:nvPr/>
        </p:nvSpPr>
        <p:spPr bwMode="auto">
          <a:xfrm flipH="1">
            <a:off x="1476375" y="3644900"/>
            <a:ext cx="180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77" name="Line 12"/>
          <p:cNvSpPr>
            <a:spLocks noChangeShapeType="1"/>
          </p:cNvSpPr>
          <p:nvPr/>
        </p:nvSpPr>
        <p:spPr bwMode="auto">
          <a:xfrm flipV="1">
            <a:off x="1476375" y="2781300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78" name="Line 13"/>
          <p:cNvSpPr>
            <a:spLocks noChangeShapeType="1"/>
          </p:cNvSpPr>
          <p:nvPr/>
        </p:nvSpPr>
        <p:spPr bwMode="auto">
          <a:xfrm>
            <a:off x="1476375" y="2781300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79" name="Line 14"/>
          <p:cNvSpPr>
            <a:spLocks noChangeShapeType="1"/>
          </p:cNvSpPr>
          <p:nvPr/>
        </p:nvSpPr>
        <p:spPr bwMode="auto">
          <a:xfrm flipH="1">
            <a:off x="1403350" y="2420938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80" name="Line 15"/>
          <p:cNvSpPr>
            <a:spLocks noChangeShapeType="1"/>
          </p:cNvSpPr>
          <p:nvPr/>
        </p:nvSpPr>
        <p:spPr bwMode="auto">
          <a:xfrm flipV="1">
            <a:off x="1403350" y="184467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08050"/>
            <a:ext cx="7772400" cy="51879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b="1" smtClean="0"/>
              <a:t>N cannot be found using any of the bookkeeping</a:t>
            </a:r>
            <a:r>
              <a:rPr lang="en-US" altLang="zh-CN" sz="2800" smtClean="0"/>
              <a:t> information that is kept in the runtime environment up to now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smtClean="0"/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/>
              <a:t>To solve the above problem about variable access, we add an extra piece of bookkeeping information called the </a:t>
            </a:r>
            <a:r>
              <a:rPr lang="en-US" altLang="zh-CN" sz="2800" b="1" i="1" smtClean="0"/>
              <a:t>access link</a:t>
            </a:r>
            <a:r>
              <a:rPr lang="en-US" altLang="zh-CN" sz="2800" smtClean="0"/>
              <a:t> to each activation record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smtClean="0"/>
          </a:p>
          <a:p>
            <a:pPr eaLnBrk="1" hangingPunct="1">
              <a:lnSpc>
                <a:spcPct val="90000"/>
              </a:lnSpc>
            </a:pPr>
            <a:r>
              <a:rPr lang="en-US" altLang="zh-CN" sz="2800" b="1" smtClean="0"/>
              <a:t>Access link</a:t>
            </a:r>
            <a:r>
              <a:rPr lang="en-US" altLang="zh-CN" sz="2800" smtClean="0"/>
              <a:t> represents the </a:t>
            </a:r>
            <a:r>
              <a:rPr lang="en-US" altLang="zh-CN" sz="2800" smtClean="0">
                <a:solidFill>
                  <a:srgbClr val="FF3300"/>
                </a:solidFill>
              </a:rPr>
              <a:t>defining environment</a:t>
            </a:r>
            <a:r>
              <a:rPr lang="en-US" altLang="zh-CN" sz="2800" smtClean="0"/>
              <a:t> of the procedure;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b="1" smtClean="0"/>
              <a:t>Control link</a:t>
            </a:r>
            <a:r>
              <a:rPr lang="en-US" altLang="zh-CN" sz="2800" smtClean="0"/>
              <a:t> represents the </a:t>
            </a:r>
            <a:r>
              <a:rPr lang="en-US" altLang="zh-CN" sz="2800" smtClean="0">
                <a:solidFill>
                  <a:srgbClr val="FF3300"/>
                </a:solidFill>
              </a:rPr>
              <a:t>calling environment</a:t>
            </a:r>
            <a:r>
              <a:rPr lang="en-US" altLang="zh-CN" sz="2800" smtClean="0"/>
              <a:t> of the procedure.</a:t>
            </a:r>
            <a:endParaRPr lang="zh-CN" altLang="en-US" sz="2800" smtClean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18" name="Object 4"/>
          <p:cNvGraphicFramePr>
            <a:graphicFrameLocks noChangeAspect="1"/>
          </p:cNvGraphicFramePr>
          <p:nvPr/>
        </p:nvGraphicFramePr>
        <p:xfrm>
          <a:off x="539750" y="404813"/>
          <a:ext cx="8208963" cy="568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5" name="文档" r:id="rId3" imgW="5206864" imgH="3614292" progId="Word.Document.8">
                  <p:embed/>
                </p:oleObj>
              </mc:Choice>
              <mc:Fallback>
                <p:oleObj name="文档" r:id="rId3" imgW="5206864" imgH="3614292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04813"/>
                        <a:ext cx="8208963" cy="568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19" name="Line 5"/>
          <p:cNvSpPr>
            <a:spLocks noChangeShapeType="1"/>
          </p:cNvSpPr>
          <p:nvPr/>
        </p:nvSpPr>
        <p:spPr bwMode="auto">
          <a:xfrm>
            <a:off x="4787900" y="3429000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0" name="Line 6"/>
          <p:cNvSpPr>
            <a:spLocks noChangeShapeType="1"/>
          </p:cNvSpPr>
          <p:nvPr/>
        </p:nvSpPr>
        <p:spPr bwMode="auto">
          <a:xfrm flipV="1">
            <a:off x="6011863" y="2420938"/>
            <a:ext cx="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1" name="Line 7"/>
          <p:cNvSpPr>
            <a:spLocks noChangeShapeType="1"/>
          </p:cNvSpPr>
          <p:nvPr/>
        </p:nvSpPr>
        <p:spPr bwMode="auto">
          <a:xfrm flipH="1">
            <a:off x="5867400" y="2420938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2" name="Line 8"/>
          <p:cNvSpPr>
            <a:spLocks noChangeShapeType="1"/>
          </p:cNvSpPr>
          <p:nvPr/>
        </p:nvSpPr>
        <p:spPr bwMode="auto">
          <a:xfrm>
            <a:off x="4787900" y="4365625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3" name="Line 9"/>
          <p:cNvSpPr>
            <a:spLocks noChangeShapeType="1"/>
          </p:cNvSpPr>
          <p:nvPr/>
        </p:nvSpPr>
        <p:spPr bwMode="auto">
          <a:xfrm flipV="1">
            <a:off x="6156325" y="2420938"/>
            <a:ext cx="0" cy="1944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4" name="Line 10"/>
          <p:cNvSpPr>
            <a:spLocks noChangeShapeType="1"/>
          </p:cNvSpPr>
          <p:nvPr/>
        </p:nvSpPr>
        <p:spPr bwMode="auto">
          <a:xfrm flipH="1">
            <a:off x="6084888" y="2420938"/>
            <a:ext cx="71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5" name="Line 11"/>
          <p:cNvSpPr>
            <a:spLocks noChangeShapeType="1"/>
          </p:cNvSpPr>
          <p:nvPr/>
        </p:nvSpPr>
        <p:spPr bwMode="auto">
          <a:xfrm>
            <a:off x="1331913" y="5084763"/>
            <a:ext cx="719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6" name="Line 12"/>
          <p:cNvSpPr>
            <a:spLocks noChangeShapeType="1"/>
          </p:cNvSpPr>
          <p:nvPr/>
        </p:nvSpPr>
        <p:spPr bwMode="auto">
          <a:xfrm>
            <a:off x="1331913" y="4724400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7" name="Line 13"/>
          <p:cNvSpPr>
            <a:spLocks noChangeShapeType="1"/>
          </p:cNvSpPr>
          <p:nvPr/>
        </p:nvSpPr>
        <p:spPr bwMode="auto">
          <a:xfrm flipH="1">
            <a:off x="1979613" y="4652963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8" name="Line 14"/>
          <p:cNvSpPr>
            <a:spLocks noChangeShapeType="1"/>
          </p:cNvSpPr>
          <p:nvPr/>
        </p:nvSpPr>
        <p:spPr bwMode="auto">
          <a:xfrm flipV="1">
            <a:off x="1979613" y="3860800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9" name="Line 15"/>
          <p:cNvSpPr>
            <a:spLocks noChangeShapeType="1"/>
          </p:cNvSpPr>
          <p:nvPr/>
        </p:nvSpPr>
        <p:spPr bwMode="auto">
          <a:xfrm>
            <a:off x="1979613" y="3860800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30" name="Line 16"/>
          <p:cNvSpPr>
            <a:spLocks noChangeShapeType="1"/>
          </p:cNvSpPr>
          <p:nvPr/>
        </p:nvSpPr>
        <p:spPr bwMode="auto">
          <a:xfrm flipH="1">
            <a:off x="1908175" y="3716338"/>
            <a:ext cx="14398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31" name="Line 17"/>
          <p:cNvSpPr>
            <a:spLocks noChangeShapeType="1"/>
          </p:cNvSpPr>
          <p:nvPr/>
        </p:nvSpPr>
        <p:spPr bwMode="auto">
          <a:xfrm flipV="1">
            <a:off x="1908175" y="2420938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32" name="Line 18"/>
          <p:cNvSpPr>
            <a:spLocks noChangeShapeType="1"/>
          </p:cNvSpPr>
          <p:nvPr/>
        </p:nvSpPr>
        <p:spPr bwMode="auto">
          <a:xfrm>
            <a:off x="1908175" y="2420938"/>
            <a:ext cx="287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33" name="Line 19"/>
          <p:cNvSpPr>
            <a:spLocks noChangeShapeType="1"/>
          </p:cNvSpPr>
          <p:nvPr/>
        </p:nvSpPr>
        <p:spPr bwMode="auto">
          <a:xfrm flipH="1">
            <a:off x="1908175" y="2133600"/>
            <a:ext cx="14398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34" name="Line 20"/>
          <p:cNvSpPr>
            <a:spLocks noChangeShapeType="1"/>
          </p:cNvSpPr>
          <p:nvPr/>
        </p:nvSpPr>
        <p:spPr bwMode="auto">
          <a:xfrm flipV="1">
            <a:off x="1908175" y="1412875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628775"/>
            <a:ext cx="7772400" cy="39608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b="1" smtClean="0"/>
              <a:t>Note: </a:t>
            </a:r>
            <a:endParaRPr lang="en-US" altLang="zh-CN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/>
              <a:t>The activation record of procedure p itself contains no access link, as any nonlocal reference with p must be a global reference and is accessed via the global reference mechanism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zh-CN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/>
              <a:t>This is the simplest situation, where the nonlocal reference is to a declaration </a:t>
            </a:r>
            <a:r>
              <a:rPr lang="en-US" altLang="zh-CN" b="1" smtClean="0"/>
              <a:t>in the next outermost scope.</a:t>
            </a:r>
            <a:endParaRPr lang="zh-CN" altLang="en-US" b="1" smtClean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20713"/>
            <a:ext cx="7772400" cy="54752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Example: Pascal code demonstrating access chaining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	</a:t>
            </a:r>
            <a:r>
              <a:rPr lang="en-US" altLang="zh-CN" sz="2000" b="1" smtClean="0"/>
              <a:t>Program chain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	Procedure p;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	Var x: integer;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		Procedure q;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			Procedure r;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			Begin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				X:=2;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				</a:t>
            </a:r>
            <a:r>
              <a:rPr lang="en-US" altLang="zh-CN" sz="2000" smtClean="0">
                <a:latin typeface="Arial" panose="020B0604020202020204" pitchFamily="34" charset="0"/>
              </a:rPr>
              <a:t>…</a:t>
            </a:r>
            <a:endParaRPr lang="en-US" altLang="zh-CN" sz="20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				if </a:t>
            </a:r>
            <a:r>
              <a:rPr lang="en-US" altLang="zh-CN" sz="2000" smtClean="0">
                <a:latin typeface="Arial" panose="020B0604020202020204" pitchFamily="34" charset="0"/>
              </a:rPr>
              <a:t>…</a:t>
            </a:r>
            <a:r>
              <a:rPr lang="en-US" altLang="zh-CN" sz="2000" smtClean="0"/>
              <a:t>then p;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			end;(*r*)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		begin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			r;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		end;(*q*)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	begin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		q;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	end;(*p*)</a:t>
            </a:r>
            <a:endParaRPr lang="zh-CN" altLang="en-US" sz="2000" b="1" u="sng" smtClean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620713"/>
            <a:ext cx="7772400" cy="54752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mtClean="0"/>
              <a:t>		</a:t>
            </a:r>
            <a:r>
              <a:rPr lang="en-US" altLang="zh-CN" sz="2800" smtClean="0"/>
              <a:t>begin(* main *)</a:t>
            </a:r>
          </a:p>
          <a:p>
            <a:pPr eaLnBrk="1" hangingPunct="1">
              <a:buFontTx/>
              <a:buNone/>
            </a:pPr>
            <a:r>
              <a:rPr lang="en-US" altLang="zh-CN" sz="2800" smtClean="0"/>
              <a:t>			p;</a:t>
            </a:r>
          </a:p>
          <a:p>
            <a:pPr eaLnBrk="1" hangingPunct="1">
              <a:buFontTx/>
              <a:buNone/>
            </a:pPr>
            <a:r>
              <a:rPr lang="en-US" altLang="zh-CN" sz="2800" smtClean="0"/>
              <a:t>		end.</a:t>
            </a:r>
          </a:p>
          <a:p>
            <a:pPr eaLnBrk="1" hangingPunct="1"/>
            <a:endParaRPr lang="en-US" altLang="zh-CN" sz="2800" smtClean="0"/>
          </a:p>
          <a:p>
            <a:pPr eaLnBrk="1" hangingPunct="1"/>
            <a:r>
              <a:rPr lang="en-US" altLang="zh-CN" sz="2800" smtClean="0"/>
              <a:t>In this code, the assignment to x inside r, which refers to the x of p, must </a:t>
            </a:r>
            <a:r>
              <a:rPr lang="en-US" altLang="zh-CN" sz="2800" b="1" smtClean="0"/>
              <a:t>traverse two scope levels</a:t>
            </a:r>
            <a:r>
              <a:rPr lang="en-US" altLang="zh-CN" sz="2800" smtClean="0"/>
              <a:t> to find x</a:t>
            </a:r>
          </a:p>
          <a:p>
            <a:pPr eaLnBrk="1" hangingPunct="1">
              <a:buFontTx/>
              <a:buNone/>
            </a:pPr>
            <a:endParaRPr lang="en-US" altLang="zh-CN" sz="2800" smtClean="0"/>
          </a:p>
          <a:p>
            <a:pPr eaLnBrk="1" hangingPunct="1"/>
            <a:r>
              <a:rPr lang="en-US" altLang="zh-CN" sz="2800" smtClean="0"/>
              <a:t>In this environment, x must be reached by following tow access links, a process that is called </a:t>
            </a:r>
            <a:r>
              <a:rPr lang="en-US" altLang="zh-CN" sz="2800" b="1" smtClean="0"/>
              <a:t>access chaining</a:t>
            </a:r>
            <a:endParaRPr lang="zh-CN" altLang="en-US" sz="2800" b="1" smtClean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14" name="Object 4"/>
          <p:cNvGraphicFramePr>
            <a:graphicFrameLocks noChangeAspect="1"/>
          </p:cNvGraphicFramePr>
          <p:nvPr/>
        </p:nvGraphicFramePr>
        <p:xfrm>
          <a:off x="395288" y="333375"/>
          <a:ext cx="8353425" cy="544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2" name="文档" r:id="rId3" imgW="5206864" imgH="3405837" progId="Word.Document.8">
                  <p:embed/>
                </p:oleObj>
              </mc:Choice>
              <mc:Fallback>
                <p:oleObj name="文档" r:id="rId3" imgW="5206864" imgH="3405837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33375"/>
                        <a:ext cx="8353425" cy="544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5" name="Line 5"/>
          <p:cNvSpPr>
            <a:spLocks noChangeShapeType="1"/>
          </p:cNvSpPr>
          <p:nvPr/>
        </p:nvSpPr>
        <p:spPr bwMode="auto">
          <a:xfrm>
            <a:off x="5364163" y="4292600"/>
            <a:ext cx="792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16" name="Line 6"/>
          <p:cNvSpPr>
            <a:spLocks noChangeShapeType="1"/>
          </p:cNvSpPr>
          <p:nvPr/>
        </p:nvSpPr>
        <p:spPr bwMode="auto">
          <a:xfrm flipV="1">
            <a:off x="6156325" y="3789363"/>
            <a:ext cx="0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17" name="Line 7"/>
          <p:cNvSpPr>
            <a:spLocks noChangeShapeType="1"/>
          </p:cNvSpPr>
          <p:nvPr/>
        </p:nvSpPr>
        <p:spPr bwMode="auto">
          <a:xfrm flipH="1">
            <a:off x="5795963" y="3789363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18" name="Line 8"/>
          <p:cNvSpPr>
            <a:spLocks noChangeShapeType="1"/>
          </p:cNvSpPr>
          <p:nvPr/>
        </p:nvSpPr>
        <p:spPr bwMode="auto">
          <a:xfrm>
            <a:off x="5219700" y="3429000"/>
            <a:ext cx="792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19" name="Line 9"/>
          <p:cNvSpPr>
            <a:spLocks noChangeShapeType="1"/>
          </p:cNvSpPr>
          <p:nvPr/>
        </p:nvSpPr>
        <p:spPr bwMode="auto">
          <a:xfrm flipV="1">
            <a:off x="6011863" y="2420938"/>
            <a:ext cx="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0" name="Line 10"/>
          <p:cNvSpPr>
            <a:spLocks noChangeShapeType="1"/>
          </p:cNvSpPr>
          <p:nvPr/>
        </p:nvSpPr>
        <p:spPr bwMode="auto">
          <a:xfrm flipH="1">
            <a:off x="5795963" y="2420938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1" name="Line 11"/>
          <p:cNvSpPr>
            <a:spLocks noChangeShapeType="1"/>
          </p:cNvSpPr>
          <p:nvPr/>
        </p:nvSpPr>
        <p:spPr bwMode="auto">
          <a:xfrm>
            <a:off x="1403350" y="5084763"/>
            <a:ext cx="576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2" name="Line 12"/>
          <p:cNvSpPr>
            <a:spLocks noChangeShapeType="1"/>
          </p:cNvSpPr>
          <p:nvPr/>
        </p:nvSpPr>
        <p:spPr bwMode="auto">
          <a:xfrm>
            <a:off x="1331913" y="4724400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3" name="Line 13"/>
          <p:cNvSpPr>
            <a:spLocks noChangeShapeType="1"/>
          </p:cNvSpPr>
          <p:nvPr/>
        </p:nvSpPr>
        <p:spPr bwMode="auto">
          <a:xfrm flipH="1">
            <a:off x="1692275" y="4652963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4" name="Line 14"/>
          <p:cNvSpPr>
            <a:spLocks noChangeShapeType="1"/>
          </p:cNvSpPr>
          <p:nvPr/>
        </p:nvSpPr>
        <p:spPr bwMode="auto">
          <a:xfrm flipV="1">
            <a:off x="1692275" y="3789363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5" name="Line 15"/>
          <p:cNvSpPr>
            <a:spLocks noChangeShapeType="1"/>
          </p:cNvSpPr>
          <p:nvPr/>
        </p:nvSpPr>
        <p:spPr bwMode="auto">
          <a:xfrm>
            <a:off x="1692275" y="3789363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6" name="Line 16"/>
          <p:cNvSpPr>
            <a:spLocks noChangeShapeType="1"/>
          </p:cNvSpPr>
          <p:nvPr/>
        </p:nvSpPr>
        <p:spPr bwMode="auto">
          <a:xfrm flipH="1">
            <a:off x="1763713" y="3644900"/>
            <a:ext cx="1512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7" name="Line 17"/>
          <p:cNvSpPr>
            <a:spLocks noChangeShapeType="1"/>
          </p:cNvSpPr>
          <p:nvPr/>
        </p:nvSpPr>
        <p:spPr bwMode="auto">
          <a:xfrm flipV="1">
            <a:off x="1763713" y="2420938"/>
            <a:ext cx="0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8" name="Line 18"/>
          <p:cNvSpPr>
            <a:spLocks noChangeShapeType="1"/>
          </p:cNvSpPr>
          <p:nvPr/>
        </p:nvSpPr>
        <p:spPr bwMode="auto">
          <a:xfrm>
            <a:off x="1763713" y="2420938"/>
            <a:ext cx="287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9" name="Line 19"/>
          <p:cNvSpPr>
            <a:spLocks noChangeShapeType="1"/>
          </p:cNvSpPr>
          <p:nvPr/>
        </p:nvSpPr>
        <p:spPr bwMode="auto">
          <a:xfrm flipH="1">
            <a:off x="1763713" y="2133600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30" name="Line 20"/>
          <p:cNvSpPr>
            <a:spLocks noChangeShapeType="1"/>
          </p:cNvSpPr>
          <p:nvPr/>
        </p:nvSpPr>
        <p:spPr bwMode="auto">
          <a:xfrm flipV="1">
            <a:off x="1763713" y="1484313"/>
            <a:ext cx="0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31" name="Line 21"/>
          <p:cNvSpPr>
            <a:spLocks noChangeShapeType="1"/>
          </p:cNvSpPr>
          <p:nvPr/>
        </p:nvSpPr>
        <p:spPr bwMode="auto">
          <a:xfrm>
            <a:off x="1763713" y="1484313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5175"/>
            <a:ext cx="7772400" cy="53308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Note: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/>
              <a:t>The </a:t>
            </a:r>
            <a:r>
              <a:rPr lang="en-US" altLang="zh-CN" sz="2400" b="1" smtClean="0"/>
              <a:t>amount of chaining</a:t>
            </a:r>
            <a:r>
              <a:rPr lang="en-US" altLang="zh-CN" sz="2400" smtClean="0"/>
              <a:t>, </a:t>
            </a:r>
            <a:r>
              <a:rPr lang="en-US" altLang="zh-CN" sz="2400" b="1" smtClean="0"/>
              <a:t>determined by</a:t>
            </a:r>
            <a:r>
              <a:rPr lang="en-US" altLang="zh-CN" sz="2400" smtClean="0"/>
              <a:t> comparing the nesting level at the point of access with one of the declaration of the name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/>
              <a:t>In the above situation, the assignment to x is at nesting level 3, and x is declared at the nesting level 1, so two access links must be followed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zh-CN" sz="2400" smtClean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/>
              <a:t>However, the access chaining is an inefficient method for variable access, for each nonlocal reference with a large nesting difference, a lengthy sequence of instruction must be executed.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/>
              <a:t>There is a method of implementing </a:t>
            </a:r>
            <a:r>
              <a:rPr lang="en-US" altLang="zh-CN" sz="2400" b="1" smtClean="0"/>
              <a:t>access links in a lookup table indexed by nesting level</a:t>
            </a:r>
            <a:r>
              <a:rPr lang="en-US" altLang="zh-CN" sz="2400" smtClean="0"/>
              <a:t>, called </a:t>
            </a:r>
            <a:r>
              <a:rPr lang="en-US" altLang="zh-CN" sz="2400" b="1" smtClean="0"/>
              <a:t>display</a:t>
            </a:r>
            <a:r>
              <a:rPr lang="en-US" altLang="zh-CN" sz="2400" smtClean="0"/>
              <a:t>, to avoid the execution overhead of chaining.</a:t>
            </a:r>
            <a:endParaRPr lang="zh-CN" altLang="en-US" sz="2400" smtClean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20713"/>
            <a:ext cx="7772400" cy="547528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b="1" smtClean="0"/>
              <a:t>The calling sequence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The </a:t>
            </a:r>
            <a:r>
              <a:rPr lang="en-US" altLang="zh-CN" sz="2800" smtClean="0">
                <a:solidFill>
                  <a:srgbClr val="FF3300"/>
                </a:solidFill>
              </a:rPr>
              <a:t>changes needed</a:t>
            </a:r>
            <a:r>
              <a:rPr lang="en-US" altLang="zh-CN" sz="2800" smtClean="0"/>
              <a:t> to implement access links:</a:t>
            </a:r>
          </a:p>
          <a:p>
            <a:pPr marL="966788" lvl="1" indent="-509588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(1) The access link must be pushed onto the runtime stack just before the fp during a call</a:t>
            </a:r>
          </a:p>
          <a:p>
            <a:pPr marL="966788" lvl="1" indent="-509588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(2) The sp must be adjusted by an extra amount to remove the access link after an exit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800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How to find the access link of a procedure during a call?</a:t>
            </a:r>
          </a:p>
          <a:p>
            <a:pPr marL="966788" lvl="1" indent="-509588" eaLnBrk="1" hangingPunct="1">
              <a:lnSpc>
                <a:spcPct val="80000"/>
              </a:lnSpc>
            </a:pPr>
            <a:r>
              <a:rPr lang="en-US" altLang="zh-CN" sz="2400" smtClean="0"/>
              <a:t>Using the (compile-time) nesting level information attached to the declaration of the procedure</a:t>
            </a:r>
          </a:p>
          <a:p>
            <a:pPr marL="966788" lvl="1" indent="-509588" eaLnBrk="1" hangingPunct="1">
              <a:lnSpc>
                <a:spcPct val="80000"/>
              </a:lnSpc>
            </a:pPr>
            <a:r>
              <a:rPr lang="en-US" altLang="zh-CN" sz="2400" smtClean="0"/>
              <a:t>Generate an access chain as if to access a variable at the same nesting level</a:t>
            </a:r>
          </a:p>
          <a:p>
            <a:pPr marL="966788" lvl="1" indent="-509588" eaLnBrk="1" hangingPunct="1">
              <a:lnSpc>
                <a:spcPct val="80000"/>
              </a:lnSpc>
            </a:pPr>
            <a:r>
              <a:rPr lang="en-US" altLang="zh-CN" sz="2400" b="1" smtClean="0"/>
              <a:t>The access link and the control link are the same, if the procedure is local</a:t>
            </a:r>
            <a:endParaRPr lang="zh-CN" altLang="en-US" sz="2400" b="1" smtClean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586" name="Object 4"/>
          <p:cNvGraphicFramePr>
            <a:graphicFrameLocks noChangeAspect="1"/>
          </p:cNvGraphicFramePr>
          <p:nvPr/>
        </p:nvGraphicFramePr>
        <p:xfrm>
          <a:off x="395288" y="260350"/>
          <a:ext cx="8497887" cy="629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8" name="文档" r:id="rId3" imgW="5801011" imgH="5802524" progId="Word.Document.8">
                  <p:embed/>
                </p:oleObj>
              </mc:Choice>
              <mc:Fallback>
                <p:oleObj name="文档" r:id="rId3" imgW="5801011" imgH="5802524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60350"/>
                        <a:ext cx="8497887" cy="6291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7" name="Line 5"/>
          <p:cNvSpPr>
            <a:spLocks noChangeShapeType="1"/>
          </p:cNvSpPr>
          <p:nvPr/>
        </p:nvSpPr>
        <p:spPr bwMode="auto">
          <a:xfrm>
            <a:off x="2268538" y="5661025"/>
            <a:ext cx="358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88" name="Line 6"/>
          <p:cNvSpPr>
            <a:spLocks noChangeShapeType="1"/>
          </p:cNvSpPr>
          <p:nvPr/>
        </p:nvSpPr>
        <p:spPr bwMode="auto">
          <a:xfrm>
            <a:off x="2268538" y="5445125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89" name="Line 7"/>
          <p:cNvSpPr>
            <a:spLocks noChangeShapeType="1"/>
          </p:cNvSpPr>
          <p:nvPr/>
        </p:nvSpPr>
        <p:spPr bwMode="auto">
          <a:xfrm flipH="1">
            <a:off x="2339975" y="5229225"/>
            <a:ext cx="1008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0" name="Line 8"/>
          <p:cNvSpPr>
            <a:spLocks noChangeShapeType="1"/>
          </p:cNvSpPr>
          <p:nvPr/>
        </p:nvSpPr>
        <p:spPr bwMode="auto">
          <a:xfrm flipV="1">
            <a:off x="2339975" y="4797425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1" name="Line 9"/>
          <p:cNvSpPr>
            <a:spLocks noChangeShapeType="1"/>
          </p:cNvSpPr>
          <p:nvPr/>
        </p:nvSpPr>
        <p:spPr bwMode="auto">
          <a:xfrm>
            <a:off x="2339975" y="4797425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2" name="Line 10"/>
          <p:cNvSpPr>
            <a:spLocks noChangeShapeType="1"/>
          </p:cNvSpPr>
          <p:nvPr/>
        </p:nvSpPr>
        <p:spPr bwMode="auto">
          <a:xfrm flipH="1">
            <a:off x="2268538" y="4652963"/>
            <a:ext cx="1223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3" name="Line 11"/>
          <p:cNvSpPr>
            <a:spLocks noChangeShapeType="1"/>
          </p:cNvSpPr>
          <p:nvPr/>
        </p:nvSpPr>
        <p:spPr bwMode="auto">
          <a:xfrm flipV="1">
            <a:off x="2268538" y="4076700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4" name="Line 12"/>
          <p:cNvSpPr>
            <a:spLocks noChangeShapeType="1"/>
          </p:cNvSpPr>
          <p:nvPr/>
        </p:nvSpPr>
        <p:spPr bwMode="auto">
          <a:xfrm>
            <a:off x="2268538" y="4149725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5" name="Line 13"/>
          <p:cNvSpPr>
            <a:spLocks noChangeShapeType="1"/>
          </p:cNvSpPr>
          <p:nvPr/>
        </p:nvSpPr>
        <p:spPr bwMode="auto">
          <a:xfrm flipH="1">
            <a:off x="2195513" y="3789363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6" name="Line 14"/>
          <p:cNvSpPr>
            <a:spLocks noChangeShapeType="1"/>
          </p:cNvSpPr>
          <p:nvPr/>
        </p:nvSpPr>
        <p:spPr bwMode="auto">
          <a:xfrm flipV="1">
            <a:off x="2195513" y="3284538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7" name="Line 15"/>
          <p:cNvSpPr>
            <a:spLocks noChangeShapeType="1"/>
          </p:cNvSpPr>
          <p:nvPr/>
        </p:nvSpPr>
        <p:spPr bwMode="auto">
          <a:xfrm>
            <a:off x="2195513" y="328453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8" name="Line 16"/>
          <p:cNvSpPr>
            <a:spLocks noChangeShapeType="1"/>
          </p:cNvSpPr>
          <p:nvPr/>
        </p:nvSpPr>
        <p:spPr bwMode="auto">
          <a:xfrm flipH="1">
            <a:off x="2268538" y="3068638"/>
            <a:ext cx="1150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9" name="Line 17"/>
          <p:cNvSpPr>
            <a:spLocks noChangeShapeType="1"/>
          </p:cNvSpPr>
          <p:nvPr/>
        </p:nvSpPr>
        <p:spPr bwMode="auto">
          <a:xfrm flipV="1">
            <a:off x="2268538" y="2636838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0" name="Line 18"/>
          <p:cNvSpPr>
            <a:spLocks noChangeShapeType="1"/>
          </p:cNvSpPr>
          <p:nvPr/>
        </p:nvSpPr>
        <p:spPr bwMode="auto">
          <a:xfrm>
            <a:off x="2268538" y="2636838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1" name="Line 19"/>
          <p:cNvSpPr>
            <a:spLocks noChangeShapeType="1"/>
          </p:cNvSpPr>
          <p:nvPr/>
        </p:nvSpPr>
        <p:spPr bwMode="auto">
          <a:xfrm flipH="1">
            <a:off x="2268538" y="2420938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2" name="Line 20"/>
          <p:cNvSpPr>
            <a:spLocks noChangeShapeType="1"/>
          </p:cNvSpPr>
          <p:nvPr/>
        </p:nvSpPr>
        <p:spPr bwMode="auto">
          <a:xfrm flipV="1">
            <a:off x="2268538" y="1916113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3" name="Line 21"/>
          <p:cNvSpPr>
            <a:spLocks noChangeShapeType="1"/>
          </p:cNvSpPr>
          <p:nvPr/>
        </p:nvSpPr>
        <p:spPr bwMode="auto">
          <a:xfrm>
            <a:off x="2268538" y="1916113"/>
            <a:ext cx="574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4" name="Line 22"/>
          <p:cNvSpPr>
            <a:spLocks noChangeShapeType="1"/>
          </p:cNvSpPr>
          <p:nvPr/>
        </p:nvSpPr>
        <p:spPr bwMode="auto">
          <a:xfrm flipH="1">
            <a:off x="2268538" y="1557338"/>
            <a:ext cx="1150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5" name="Line 23"/>
          <p:cNvSpPr>
            <a:spLocks noChangeShapeType="1"/>
          </p:cNvSpPr>
          <p:nvPr/>
        </p:nvSpPr>
        <p:spPr bwMode="auto">
          <a:xfrm flipV="1">
            <a:off x="2268538" y="836613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6" name="Line 24"/>
          <p:cNvSpPr>
            <a:spLocks noChangeShapeType="1"/>
          </p:cNvSpPr>
          <p:nvPr/>
        </p:nvSpPr>
        <p:spPr bwMode="auto">
          <a:xfrm>
            <a:off x="4787900" y="5084763"/>
            <a:ext cx="792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7" name="Line 25"/>
          <p:cNvSpPr>
            <a:spLocks noChangeShapeType="1"/>
          </p:cNvSpPr>
          <p:nvPr/>
        </p:nvSpPr>
        <p:spPr bwMode="auto">
          <a:xfrm flipV="1">
            <a:off x="5580063" y="4508500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8" name="Line 26"/>
          <p:cNvSpPr>
            <a:spLocks noChangeShapeType="1"/>
          </p:cNvSpPr>
          <p:nvPr/>
        </p:nvSpPr>
        <p:spPr bwMode="auto">
          <a:xfrm flipH="1">
            <a:off x="5364163" y="4508500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9" name="Line 27"/>
          <p:cNvSpPr>
            <a:spLocks noChangeShapeType="1"/>
          </p:cNvSpPr>
          <p:nvPr/>
        </p:nvSpPr>
        <p:spPr bwMode="auto">
          <a:xfrm>
            <a:off x="4859338" y="4437063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10" name="Line 28"/>
          <p:cNvSpPr>
            <a:spLocks noChangeShapeType="1"/>
          </p:cNvSpPr>
          <p:nvPr/>
        </p:nvSpPr>
        <p:spPr bwMode="auto">
          <a:xfrm flipV="1">
            <a:off x="5580063" y="3716338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11" name="Line 29"/>
          <p:cNvSpPr>
            <a:spLocks noChangeShapeType="1"/>
          </p:cNvSpPr>
          <p:nvPr/>
        </p:nvSpPr>
        <p:spPr bwMode="auto">
          <a:xfrm flipH="1">
            <a:off x="5364163" y="3716338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12" name="Line 30"/>
          <p:cNvSpPr>
            <a:spLocks noChangeShapeType="1"/>
          </p:cNvSpPr>
          <p:nvPr/>
        </p:nvSpPr>
        <p:spPr bwMode="auto">
          <a:xfrm>
            <a:off x="5003800" y="2997200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13" name="Line 31"/>
          <p:cNvSpPr>
            <a:spLocks noChangeShapeType="1"/>
          </p:cNvSpPr>
          <p:nvPr/>
        </p:nvSpPr>
        <p:spPr bwMode="auto">
          <a:xfrm flipV="1">
            <a:off x="5724525" y="2636838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14" name="Line 32"/>
          <p:cNvSpPr>
            <a:spLocks noChangeShapeType="1"/>
          </p:cNvSpPr>
          <p:nvPr/>
        </p:nvSpPr>
        <p:spPr bwMode="auto">
          <a:xfrm flipH="1">
            <a:off x="5508625" y="2636838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15" name="Line 33"/>
          <p:cNvSpPr>
            <a:spLocks noChangeShapeType="1"/>
          </p:cNvSpPr>
          <p:nvPr/>
        </p:nvSpPr>
        <p:spPr bwMode="auto">
          <a:xfrm>
            <a:off x="5003800" y="2349500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16" name="Line 34"/>
          <p:cNvSpPr>
            <a:spLocks noChangeShapeType="1"/>
          </p:cNvSpPr>
          <p:nvPr/>
        </p:nvSpPr>
        <p:spPr bwMode="auto">
          <a:xfrm flipV="1">
            <a:off x="5724525" y="1628775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17" name="Line 35"/>
          <p:cNvSpPr>
            <a:spLocks noChangeShapeType="1"/>
          </p:cNvSpPr>
          <p:nvPr/>
        </p:nvSpPr>
        <p:spPr bwMode="auto">
          <a:xfrm flipH="1">
            <a:off x="5508625" y="1628775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en-US" altLang="zh-CN" sz="3600" b="1" smtClean="0"/>
              <a:t>8.3.3 Stack-Based Environment with Procedure Parameters</a:t>
            </a:r>
            <a:endParaRPr lang="zh-CN" altLang="en-US" sz="3600" b="1" smtClean="0"/>
          </a:p>
        </p:txBody>
      </p:sp>
      <p:sp>
        <p:nvSpPr>
          <p:cNvPr id="6861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zh-CN" altLang="en-US" sz="3200" smtClean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33375"/>
            <a:ext cx="7772400" cy="6335713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zh-CN" sz="2200" smtClean="0"/>
              <a:t>Example 7.7 Consider the standard pascal program of Figure 7.14, which has a procedure p, with a parameter</a:t>
            </a:r>
            <a:r>
              <a:rPr lang="en-US" altLang="zh-CN" sz="2200" i="1" smtClean="0"/>
              <a:t> a</a:t>
            </a:r>
            <a:r>
              <a:rPr lang="en-US" altLang="zh-CN" sz="2200" smtClean="0"/>
              <a:t> that is also a procedure.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Program closureEx(output)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Procedure p (</a:t>
            </a:r>
            <a:r>
              <a:rPr lang="en-US" altLang="zh-CN" sz="2000" b="1" smtClean="0"/>
              <a:t>procedure a</a:t>
            </a:r>
            <a:r>
              <a:rPr lang="en-US" altLang="zh-CN" sz="2000" smtClean="0"/>
              <a:t>);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Begin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	a;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end;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procedure q;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var x:integer;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	procedure r;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	begin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		writeln(x);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	end;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begin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	x:=2;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	</a:t>
            </a:r>
            <a:r>
              <a:rPr lang="en-US" altLang="zh-CN" sz="2000" b="1" smtClean="0"/>
              <a:t>p(r);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end; (* q*)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begin (* main *)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	q;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end.</a:t>
            </a:r>
            <a:endParaRPr lang="zh-CN" altLang="en-US" sz="2000" smtClean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658" name="Object 4"/>
          <p:cNvGraphicFramePr>
            <a:graphicFrameLocks noChangeAspect="1"/>
          </p:cNvGraphicFramePr>
          <p:nvPr/>
        </p:nvGraphicFramePr>
        <p:xfrm>
          <a:off x="250825" y="768350"/>
          <a:ext cx="8424863" cy="5037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8" name="文档" r:id="rId3" imgW="5004624" imgH="2992889" progId="Word.Document.8">
                  <p:embed/>
                </p:oleObj>
              </mc:Choice>
              <mc:Fallback>
                <p:oleObj name="文档" r:id="rId3" imgW="5004624" imgH="2992889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768350"/>
                        <a:ext cx="8424863" cy="5037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59" name="Line 5"/>
          <p:cNvSpPr>
            <a:spLocks noChangeShapeType="1"/>
          </p:cNvSpPr>
          <p:nvPr/>
        </p:nvSpPr>
        <p:spPr bwMode="auto">
          <a:xfrm>
            <a:off x="1476375" y="4724400"/>
            <a:ext cx="792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60" name="Line 6"/>
          <p:cNvSpPr>
            <a:spLocks noChangeShapeType="1"/>
          </p:cNvSpPr>
          <p:nvPr/>
        </p:nvSpPr>
        <p:spPr bwMode="auto">
          <a:xfrm>
            <a:off x="1476375" y="4508500"/>
            <a:ext cx="792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61" name="Line 8"/>
          <p:cNvSpPr>
            <a:spLocks noChangeShapeType="1"/>
          </p:cNvSpPr>
          <p:nvPr/>
        </p:nvSpPr>
        <p:spPr bwMode="auto">
          <a:xfrm flipH="1">
            <a:off x="2051050" y="4292600"/>
            <a:ext cx="115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62" name="Line 9"/>
          <p:cNvSpPr>
            <a:spLocks noChangeShapeType="1"/>
          </p:cNvSpPr>
          <p:nvPr/>
        </p:nvSpPr>
        <p:spPr bwMode="auto">
          <a:xfrm>
            <a:off x="2051050" y="2924175"/>
            <a:ext cx="0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63" name="Line 10"/>
          <p:cNvSpPr>
            <a:spLocks noChangeShapeType="1"/>
          </p:cNvSpPr>
          <p:nvPr/>
        </p:nvSpPr>
        <p:spPr bwMode="auto">
          <a:xfrm>
            <a:off x="2051050" y="2924175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64" name="Line 11"/>
          <p:cNvSpPr>
            <a:spLocks noChangeShapeType="1"/>
          </p:cNvSpPr>
          <p:nvPr/>
        </p:nvSpPr>
        <p:spPr bwMode="auto">
          <a:xfrm flipH="1">
            <a:off x="2051050" y="2636838"/>
            <a:ext cx="1081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65" name="Line 12"/>
          <p:cNvSpPr>
            <a:spLocks noChangeShapeType="1"/>
          </p:cNvSpPr>
          <p:nvPr/>
        </p:nvSpPr>
        <p:spPr bwMode="auto">
          <a:xfrm flipV="1">
            <a:off x="2051050" y="1700213"/>
            <a:ext cx="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66" name="Line 13"/>
          <p:cNvSpPr>
            <a:spLocks noChangeShapeType="1"/>
          </p:cNvSpPr>
          <p:nvPr/>
        </p:nvSpPr>
        <p:spPr bwMode="auto">
          <a:xfrm>
            <a:off x="2051050" y="1700213"/>
            <a:ext cx="4333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67" name="Freeform 15"/>
          <p:cNvSpPr>
            <a:spLocks/>
          </p:cNvSpPr>
          <p:nvPr/>
        </p:nvSpPr>
        <p:spPr bwMode="auto">
          <a:xfrm>
            <a:off x="1055688" y="2924175"/>
            <a:ext cx="3300412" cy="792163"/>
          </a:xfrm>
          <a:custGeom>
            <a:avLst/>
            <a:gdLst>
              <a:gd name="T0" fmla="*/ 3300412 w 2079"/>
              <a:gd name="T1" fmla="*/ 792163 h 499"/>
              <a:gd name="T2" fmla="*/ 420687 w 2079"/>
              <a:gd name="T3" fmla="*/ 649288 h 499"/>
              <a:gd name="T4" fmla="*/ 779462 w 2079"/>
              <a:gd name="T5" fmla="*/ 0 h 49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79" h="499">
                <a:moveTo>
                  <a:pt x="2079" y="499"/>
                </a:moveTo>
                <a:cubicBezTo>
                  <a:pt x="1304" y="495"/>
                  <a:pt x="530" y="492"/>
                  <a:pt x="265" y="409"/>
                </a:cubicBezTo>
                <a:cubicBezTo>
                  <a:pt x="0" y="326"/>
                  <a:pt x="453" y="68"/>
                  <a:pt x="491" y="0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sysDot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82" name="Object 4"/>
          <p:cNvGraphicFramePr>
            <a:graphicFrameLocks noChangeAspect="1"/>
          </p:cNvGraphicFramePr>
          <p:nvPr/>
        </p:nvGraphicFramePr>
        <p:xfrm>
          <a:off x="395288" y="509588"/>
          <a:ext cx="8280400" cy="551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8" name="文档" r:id="rId3" imgW="5113108" imgH="3405837" progId="Word.Document.8">
                  <p:embed/>
                </p:oleObj>
              </mc:Choice>
              <mc:Fallback>
                <p:oleObj name="文档" r:id="rId3" imgW="5113108" imgH="3405837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09588"/>
                        <a:ext cx="8280400" cy="551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3" name="Line 5"/>
          <p:cNvSpPr>
            <a:spLocks noChangeShapeType="1"/>
          </p:cNvSpPr>
          <p:nvPr/>
        </p:nvSpPr>
        <p:spPr bwMode="auto">
          <a:xfrm>
            <a:off x="1692275" y="5373688"/>
            <a:ext cx="7191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4" name="Line 6"/>
          <p:cNvSpPr>
            <a:spLocks noChangeShapeType="1"/>
          </p:cNvSpPr>
          <p:nvPr/>
        </p:nvSpPr>
        <p:spPr bwMode="auto">
          <a:xfrm>
            <a:off x="1692275" y="5013325"/>
            <a:ext cx="7191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5" name="Line 7"/>
          <p:cNvSpPr>
            <a:spLocks noChangeShapeType="1"/>
          </p:cNvSpPr>
          <p:nvPr/>
        </p:nvSpPr>
        <p:spPr bwMode="auto">
          <a:xfrm flipH="1">
            <a:off x="2124075" y="4868863"/>
            <a:ext cx="115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6" name="Line 8"/>
          <p:cNvSpPr>
            <a:spLocks noChangeShapeType="1"/>
          </p:cNvSpPr>
          <p:nvPr/>
        </p:nvSpPr>
        <p:spPr bwMode="auto">
          <a:xfrm flipV="1">
            <a:off x="2124075" y="4221163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7" name="Line 9"/>
          <p:cNvSpPr>
            <a:spLocks noChangeShapeType="1"/>
          </p:cNvSpPr>
          <p:nvPr/>
        </p:nvSpPr>
        <p:spPr bwMode="auto">
          <a:xfrm>
            <a:off x="2124075" y="4221163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8" name="Line 10"/>
          <p:cNvSpPr>
            <a:spLocks noChangeShapeType="1"/>
          </p:cNvSpPr>
          <p:nvPr/>
        </p:nvSpPr>
        <p:spPr bwMode="auto">
          <a:xfrm flipH="1">
            <a:off x="2051050" y="3933825"/>
            <a:ext cx="1296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9" name="Line 11"/>
          <p:cNvSpPr>
            <a:spLocks noChangeShapeType="1"/>
          </p:cNvSpPr>
          <p:nvPr/>
        </p:nvSpPr>
        <p:spPr bwMode="auto">
          <a:xfrm flipV="1">
            <a:off x="2051050" y="2636838"/>
            <a:ext cx="0" cy="129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0" name="Line 12"/>
          <p:cNvSpPr>
            <a:spLocks noChangeShapeType="1"/>
          </p:cNvSpPr>
          <p:nvPr/>
        </p:nvSpPr>
        <p:spPr bwMode="auto">
          <a:xfrm>
            <a:off x="2051050" y="2636838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1" name="Line 13"/>
          <p:cNvSpPr>
            <a:spLocks noChangeShapeType="1"/>
          </p:cNvSpPr>
          <p:nvPr/>
        </p:nvSpPr>
        <p:spPr bwMode="auto">
          <a:xfrm flipH="1">
            <a:off x="2051050" y="2276475"/>
            <a:ext cx="1296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2" name="Line 14"/>
          <p:cNvSpPr>
            <a:spLocks noChangeShapeType="1"/>
          </p:cNvSpPr>
          <p:nvPr/>
        </p:nvSpPr>
        <p:spPr bwMode="auto">
          <a:xfrm flipV="1">
            <a:off x="2051050" y="1484313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3" name="Line 15"/>
          <p:cNvSpPr>
            <a:spLocks noChangeShapeType="1"/>
          </p:cNvSpPr>
          <p:nvPr/>
        </p:nvSpPr>
        <p:spPr bwMode="auto">
          <a:xfrm>
            <a:off x="2051050" y="1484313"/>
            <a:ext cx="4333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4" name="Freeform 16"/>
          <p:cNvSpPr>
            <a:spLocks/>
          </p:cNvSpPr>
          <p:nvPr/>
        </p:nvSpPr>
        <p:spPr bwMode="auto">
          <a:xfrm>
            <a:off x="1150938" y="2636838"/>
            <a:ext cx="3133725" cy="768350"/>
          </a:xfrm>
          <a:custGeom>
            <a:avLst/>
            <a:gdLst>
              <a:gd name="T0" fmla="*/ 3133725 w 1974"/>
              <a:gd name="T1" fmla="*/ 720725 h 484"/>
              <a:gd name="T2" fmla="*/ 396875 w 1974"/>
              <a:gd name="T3" fmla="*/ 647700 h 484"/>
              <a:gd name="T4" fmla="*/ 757238 w 1974"/>
              <a:gd name="T5" fmla="*/ 0 h 48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74" h="484">
                <a:moveTo>
                  <a:pt x="1974" y="454"/>
                </a:moveTo>
                <a:cubicBezTo>
                  <a:pt x="1237" y="469"/>
                  <a:pt x="500" y="484"/>
                  <a:pt x="250" y="408"/>
                </a:cubicBezTo>
                <a:cubicBezTo>
                  <a:pt x="0" y="332"/>
                  <a:pt x="439" y="68"/>
                  <a:pt x="477" y="0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sysDot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5" name="Line 17"/>
          <p:cNvSpPr>
            <a:spLocks noChangeShapeType="1"/>
          </p:cNvSpPr>
          <p:nvPr/>
        </p:nvSpPr>
        <p:spPr bwMode="auto">
          <a:xfrm>
            <a:off x="4787900" y="4581525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6" name="Line 18"/>
          <p:cNvSpPr>
            <a:spLocks noChangeShapeType="1"/>
          </p:cNvSpPr>
          <p:nvPr/>
        </p:nvSpPr>
        <p:spPr bwMode="auto">
          <a:xfrm flipV="1">
            <a:off x="5724525" y="2349500"/>
            <a:ext cx="0" cy="2232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7" name="Line 19"/>
          <p:cNvSpPr>
            <a:spLocks noChangeShapeType="1"/>
          </p:cNvSpPr>
          <p:nvPr/>
        </p:nvSpPr>
        <p:spPr bwMode="auto">
          <a:xfrm flipH="1">
            <a:off x="5508625" y="2349500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5175"/>
            <a:ext cx="7772400" cy="53308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b="1" smtClean="0"/>
              <a:t>Note:</a:t>
            </a:r>
            <a:endParaRPr lang="en-US" altLang="zh-CN" sz="280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/>
              <a:t>The calling sequence must </a:t>
            </a:r>
            <a:r>
              <a:rPr lang="en-US" altLang="zh-CN" sz="2400" b="1" smtClean="0"/>
              <a:t>distinguish clearly</a:t>
            </a:r>
            <a:r>
              <a:rPr lang="en-US" altLang="zh-CN" sz="2400" smtClean="0"/>
              <a:t> between ordinary procedures and procedure parameters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/>
              <a:t>When calling ordinary procedure, </a:t>
            </a:r>
            <a:r>
              <a:rPr lang="en-US" altLang="zh-CN" sz="2400" b="1" smtClean="0"/>
              <a:t>fetch the access link using the nesting level</a:t>
            </a:r>
            <a:r>
              <a:rPr lang="en-US" altLang="zh-CN" sz="2400" smtClean="0"/>
              <a:t> and jump directly to the code of the procedure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zh-CN" sz="240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/>
              <a:t>A procedure parameter has </a:t>
            </a:r>
            <a:r>
              <a:rPr lang="en-US" altLang="zh-CN" sz="2400" b="1" smtClean="0"/>
              <a:t>its access link stored in the local activation record</a:t>
            </a:r>
            <a:r>
              <a:rPr lang="en-US" altLang="zh-CN" sz="2400" smtClean="0"/>
              <a:t>, and an indirect call must be performed to the ip stored in the current activation record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b="1" smtClean="0"/>
              <a:t>If all procedure values are stored in the environment as closures</a:t>
            </a:r>
            <a:r>
              <a:rPr lang="en-US" altLang="zh-CN" sz="2400" smtClean="0"/>
              <a:t>, the following page</a:t>
            </a:r>
            <a:r>
              <a:rPr lang="zh-CN" altLang="en-US" sz="2400" smtClean="0"/>
              <a:t> </a:t>
            </a:r>
            <a:r>
              <a:rPr lang="en-US" altLang="zh-CN" sz="2400" smtClean="0"/>
              <a:t>shows the environment </a:t>
            </a:r>
            <a:endParaRPr lang="zh-CN" altLang="en-US" sz="2400" smtClean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730" name="Object 4"/>
          <p:cNvGraphicFramePr>
            <a:graphicFrameLocks noChangeAspect="1"/>
          </p:cNvGraphicFramePr>
          <p:nvPr/>
        </p:nvGraphicFramePr>
        <p:xfrm>
          <a:off x="468313" y="404813"/>
          <a:ext cx="8064500" cy="596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5" name="文档" r:id="rId3" imgW="5476403" imgH="4044922" progId="Word.Document.8">
                  <p:embed/>
                </p:oleObj>
              </mc:Choice>
              <mc:Fallback>
                <p:oleObj name="文档" r:id="rId3" imgW="5476403" imgH="4044922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04813"/>
                        <a:ext cx="8064500" cy="596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1" name="Line 5"/>
          <p:cNvSpPr>
            <a:spLocks noChangeShapeType="1"/>
          </p:cNvSpPr>
          <p:nvPr/>
        </p:nvSpPr>
        <p:spPr bwMode="auto">
          <a:xfrm>
            <a:off x="1476375" y="5373688"/>
            <a:ext cx="792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32" name="Line 6"/>
          <p:cNvSpPr>
            <a:spLocks noChangeShapeType="1"/>
          </p:cNvSpPr>
          <p:nvPr/>
        </p:nvSpPr>
        <p:spPr bwMode="auto">
          <a:xfrm>
            <a:off x="1476375" y="5157788"/>
            <a:ext cx="792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33" name="Line 7"/>
          <p:cNvSpPr>
            <a:spLocks noChangeShapeType="1"/>
          </p:cNvSpPr>
          <p:nvPr/>
        </p:nvSpPr>
        <p:spPr bwMode="auto">
          <a:xfrm flipH="1">
            <a:off x="1979613" y="4941888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34" name="Line 8"/>
          <p:cNvSpPr>
            <a:spLocks noChangeShapeType="1"/>
          </p:cNvSpPr>
          <p:nvPr/>
        </p:nvSpPr>
        <p:spPr bwMode="auto">
          <a:xfrm flipV="1">
            <a:off x="1979613" y="4437063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35" name="Line 9"/>
          <p:cNvSpPr>
            <a:spLocks noChangeShapeType="1"/>
          </p:cNvSpPr>
          <p:nvPr/>
        </p:nvSpPr>
        <p:spPr bwMode="auto">
          <a:xfrm>
            <a:off x="1979613" y="4437063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36" name="Line 10"/>
          <p:cNvSpPr>
            <a:spLocks noChangeShapeType="1"/>
          </p:cNvSpPr>
          <p:nvPr/>
        </p:nvSpPr>
        <p:spPr bwMode="auto">
          <a:xfrm flipH="1">
            <a:off x="1979613" y="4149725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37" name="Line 11"/>
          <p:cNvSpPr>
            <a:spLocks noChangeShapeType="1"/>
          </p:cNvSpPr>
          <p:nvPr/>
        </p:nvSpPr>
        <p:spPr bwMode="auto">
          <a:xfrm flipV="1">
            <a:off x="1979613" y="2708275"/>
            <a:ext cx="0" cy="144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38" name="Line 12"/>
          <p:cNvSpPr>
            <a:spLocks noChangeShapeType="1"/>
          </p:cNvSpPr>
          <p:nvPr/>
        </p:nvSpPr>
        <p:spPr bwMode="auto">
          <a:xfrm>
            <a:off x="1979613" y="2708275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39" name="Line 13"/>
          <p:cNvSpPr>
            <a:spLocks noChangeShapeType="1"/>
          </p:cNvSpPr>
          <p:nvPr/>
        </p:nvSpPr>
        <p:spPr bwMode="auto">
          <a:xfrm flipH="1">
            <a:off x="1908175" y="2349500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40" name="Line 14"/>
          <p:cNvSpPr>
            <a:spLocks noChangeShapeType="1"/>
          </p:cNvSpPr>
          <p:nvPr/>
        </p:nvSpPr>
        <p:spPr bwMode="auto">
          <a:xfrm flipV="1">
            <a:off x="1908175" y="1773238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41" name="Line 15"/>
          <p:cNvSpPr>
            <a:spLocks noChangeShapeType="1"/>
          </p:cNvSpPr>
          <p:nvPr/>
        </p:nvSpPr>
        <p:spPr bwMode="auto">
          <a:xfrm>
            <a:off x="1908175" y="1773238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42" name="Line 16"/>
          <p:cNvSpPr>
            <a:spLocks noChangeShapeType="1"/>
          </p:cNvSpPr>
          <p:nvPr/>
        </p:nvSpPr>
        <p:spPr bwMode="auto">
          <a:xfrm>
            <a:off x="4500563" y="4724400"/>
            <a:ext cx="792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43" name="Line 17"/>
          <p:cNvSpPr>
            <a:spLocks noChangeShapeType="1"/>
          </p:cNvSpPr>
          <p:nvPr/>
        </p:nvSpPr>
        <p:spPr bwMode="auto">
          <a:xfrm flipV="1">
            <a:off x="5292725" y="2276475"/>
            <a:ext cx="0" cy="2447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44" name="Line 18"/>
          <p:cNvSpPr>
            <a:spLocks noChangeShapeType="1"/>
          </p:cNvSpPr>
          <p:nvPr/>
        </p:nvSpPr>
        <p:spPr bwMode="auto">
          <a:xfrm flipH="1" flipV="1">
            <a:off x="5148263" y="2205038"/>
            <a:ext cx="144462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en-US" altLang="zh-CN" sz="4400" b="1" smtClean="0"/>
              <a:t>8.4 Dynamic Memory</a:t>
            </a:r>
            <a:endParaRPr lang="zh-CN" altLang="en-US" sz="4400" b="1" smtClean="0"/>
          </a:p>
        </p:txBody>
      </p:sp>
      <p:sp>
        <p:nvSpPr>
          <p:cNvPr id="7475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zh-CN" altLang="en-US" sz="3200" smtClean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en-US" altLang="zh-CN" sz="4400" smtClean="0"/>
              <a:t>8.4.1 Fully Dynamic Runtime Environments</a:t>
            </a:r>
            <a:endParaRPr lang="zh-CN" altLang="en-US" sz="4400" smtClean="0"/>
          </a:p>
        </p:txBody>
      </p:sp>
      <p:sp>
        <p:nvSpPr>
          <p:cNvPr id="7577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zh-CN" altLang="en-US" sz="3200" smtClean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549275"/>
            <a:ext cx="7772400" cy="590391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b="1" smtClean="0"/>
              <a:t>A stack-based environment will result in a </a:t>
            </a:r>
            <a:r>
              <a:rPr lang="en-US" altLang="zh-CN" sz="2800" b="1" smtClean="0">
                <a:solidFill>
                  <a:srgbClr val="FF3300"/>
                </a:solidFill>
              </a:rPr>
              <a:t>dangling reference</a:t>
            </a:r>
            <a:r>
              <a:rPr lang="en-US" altLang="zh-CN" sz="2800" b="1" smtClean="0"/>
              <a:t> when the procedure is exited if a local variable in a procedure can be returned to the caller</a:t>
            </a:r>
          </a:p>
          <a:p>
            <a:pPr eaLnBrk="1" hangingPunct="1">
              <a:lnSpc>
                <a:spcPct val="80000"/>
              </a:lnSpc>
            </a:pPr>
            <a:endParaRPr lang="en-US" altLang="zh-CN" sz="2800" b="1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b="1" smtClean="0"/>
              <a:t>	The simplest example: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b="1" smtClean="0"/>
              <a:t>		Int * dangle(void)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b="1" smtClean="0"/>
              <a:t>		{ int x;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b="1" smtClean="0"/>
              <a:t>		 return &amp;x;}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b="1" smtClean="0"/>
              <a:t>	     Where, the address of a local variable is returned.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800" b="1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800" b="1" smtClean="0"/>
              <a:t>An assignment addr = dangle( ) now cause addr to </a:t>
            </a:r>
            <a:r>
              <a:rPr lang="en-US" altLang="zh-CN" sz="2800" b="1" smtClean="0">
                <a:solidFill>
                  <a:srgbClr val="FF3300"/>
                </a:solidFill>
              </a:rPr>
              <a:t>point to an unsafe location in the activation stack</a:t>
            </a:r>
            <a:endParaRPr lang="zh-CN" altLang="en-US" sz="28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6250"/>
            <a:ext cx="7772400" cy="58324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400" b="1" smtClean="0"/>
              <a:t>A somewhat more complex instance of </a:t>
            </a:r>
            <a:r>
              <a:rPr lang="en-US" altLang="zh-CN" sz="2400" b="1" smtClean="0">
                <a:solidFill>
                  <a:srgbClr val="FF3300"/>
                </a:solidFill>
              </a:rPr>
              <a:t>a dangling reference</a:t>
            </a:r>
            <a:r>
              <a:rPr lang="en-US" altLang="zh-CN" sz="2400" b="1" smtClean="0"/>
              <a:t> occurs if a local function can be returned by a call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b="1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	Typedef int(* proc)(void);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	Proc g(int x)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	{int f(void) /*illegal local function*/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		{return x;}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		return f;}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	main()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	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		proc c;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		c= g(2);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		printf(</a:t>
            </a:r>
            <a:r>
              <a:rPr lang="en-US" altLang="zh-CN" sz="2400" smtClean="0">
                <a:latin typeface="Arial" panose="020B0604020202020204" pitchFamily="34" charset="0"/>
              </a:rPr>
              <a:t>“</a:t>
            </a:r>
            <a:r>
              <a:rPr lang="en-US" altLang="zh-CN" sz="2400" smtClean="0"/>
              <a:t>%d\n</a:t>
            </a:r>
            <a:r>
              <a:rPr lang="en-US" altLang="zh-CN" sz="2400" smtClean="0">
                <a:latin typeface="Arial" panose="020B0604020202020204" pitchFamily="34" charset="0"/>
              </a:rPr>
              <a:t>”</a:t>
            </a:r>
            <a:r>
              <a:rPr lang="en-US" altLang="zh-CN" sz="2400" smtClean="0"/>
              <a:t>,c());/* should print 2*/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		return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	}</a:t>
            </a:r>
            <a:endParaRPr lang="zh-CN" alt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5175"/>
            <a:ext cx="7772400" cy="53308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Of course, </a:t>
            </a:r>
            <a:r>
              <a:rPr lang="en-US" altLang="zh-CN" sz="2800" smtClean="0">
                <a:solidFill>
                  <a:srgbClr val="FF3300"/>
                </a:solidFill>
              </a:rPr>
              <a:t>C language</a:t>
            </a:r>
            <a:r>
              <a:rPr lang="en-US" altLang="zh-CN" sz="2800" smtClean="0"/>
              <a:t> avoids the above problem by prohibiting local procedure </a:t>
            </a:r>
          </a:p>
          <a:p>
            <a:pPr eaLnBrk="1" hangingPunct="1">
              <a:lnSpc>
                <a:spcPct val="80000"/>
              </a:lnSpc>
            </a:pPr>
            <a:endParaRPr lang="en-US" altLang="zh-CN" sz="2800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Other languages, like </a:t>
            </a:r>
            <a:r>
              <a:rPr lang="en-US" altLang="zh-CN" sz="2800" smtClean="0">
                <a:solidFill>
                  <a:srgbClr val="FF3300"/>
                </a:solidFill>
              </a:rPr>
              <a:t>Mudula-2</a:t>
            </a:r>
            <a:r>
              <a:rPr lang="en-US" altLang="zh-CN" sz="2800" smtClean="0"/>
              <a:t>, which have local procedures as well as procedure variables, parameters, and returned values, </a:t>
            </a:r>
            <a:r>
              <a:rPr lang="en-US" altLang="zh-CN" sz="2800" b="1" smtClean="0"/>
              <a:t>must state a special rule that makes such program erroneous</a:t>
            </a:r>
          </a:p>
          <a:p>
            <a:pPr eaLnBrk="1" hangingPunct="1">
              <a:lnSpc>
                <a:spcPct val="80000"/>
              </a:lnSpc>
            </a:pPr>
            <a:endParaRPr lang="en-US" altLang="zh-CN" sz="2800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800" b="1" smtClean="0"/>
              <a:t>In the </a:t>
            </a:r>
            <a:r>
              <a:rPr lang="en-US" altLang="zh-CN" sz="2800" b="1" smtClean="0">
                <a:solidFill>
                  <a:srgbClr val="FF3300"/>
                </a:solidFill>
              </a:rPr>
              <a:t>functional programming languages</a:t>
            </a:r>
            <a:r>
              <a:rPr lang="en-US" altLang="zh-CN" sz="2800" smtClean="0"/>
              <a:t>, such as </a:t>
            </a:r>
            <a:r>
              <a:rPr lang="en-US" altLang="zh-CN" sz="2800" smtClean="0">
                <a:solidFill>
                  <a:srgbClr val="FF3300"/>
                </a:solidFill>
              </a:rPr>
              <a:t>LISP and ML</a:t>
            </a:r>
            <a:r>
              <a:rPr lang="en-US" altLang="zh-CN" sz="2800" smtClean="0"/>
              <a:t>, </a:t>
            </a:r>
            <a:r>
              <a:rPr lang="en-US" altLang="zh-CN" sz="2800" b="1" smtClean="0"/>
              <a:t>the functions must be able to be locally defined, passed as parameters, and returned as results.</a:t>
            </a:r>
            <a:endParaRPr lang="zh-CN" altLang="en-US" sz="2800" b="1" smtClean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549275"/>
            <a:ext cx="7772400" cy="55467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Thus, a stack-based runtime environment is </a:t>
            </a:r>
            <a:r>
              <a:rPr lang="en-US" altLang="zh-CN" sz="2800" smtClean="0">
                <a:solidFill>
                  <a:srgbClr val="FF3300"/>
                </a:solidFill>
              </a:rPr>
              <a:t>inadequate</a:t>
            </a:r>
            <a:r>
              <a:rPr lang="en-US" altLang="zh-CN" sz="2800" smtClean="0"/>
              <a:t>, and a more general form of environment is required, called </a:t>
            </a:r>
            <a:r>
              <a:rPr lang="en-US" altLang="zh-CN" sz="2800" smtClean="0">
                <a:solidFill>
                  <a:srgbClr val="FF3300"/>
                </a:solidFill>
              </a:rPr>
              <a:t>Fully Dynamic Environment</a:t>
            </a:r>
          </a:p>
          <a:p>
            <a:pPr eaLnBrk="1" hangingPunct="1">
              <a:lnSpc>
                <a:spcPct val="80000"/>
              </a:lnSpc>
            </a:pPr>
            <a:endParaRPr lang="en-US" altLang="zh-CN" sz="2800" smtClean="0">
              <a:solidFill>
                <a:srgbClr val="FF330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In fully dynamic environment, the basic structure of </a:t>
            </a:r>
            <a:r>
              <a:rPr lang="en-US" altLang="zh-CN" sz="2800" smtClean="0">
                <a:solidFill>
                  <a:srgbClr val="FF3300"/>
                </a:solidFill>
              </a:rPr>
              <a:t>activation record remains the same</a:t>
            </a:r>
            <a:r>
              <a:rPr lang="en-US" altLang="zh-CN" sz="2800" smtClean="0"/>
              <a:t>: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/>
              <a:t>The space must be allocated for parameters and local variables, and there is still a need for control and access links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800" b="1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800" b="1" smtClean="0"/>
              <a:t>When control is returned to the caller, the </a:t>
            </a:r>
            <a:r>
              <a:rPr lang="en-US" altLang="zh-CN" sz="2800" b="1" smtClean="0">
                <a:solidFill>
                  <a:srgbClr val="FF3300"/>
                </a:solidFill>
              </a:rPr>
              <a:t>exited activation record remains in memory</a:t>
            </a:r>
            <a:r>
              <a:rPr lang="en-US" altLang="zh-CN" sz="2800" b="1" smtClean="0"/>
              <a:t>, to be de-allocated at some later time</a:t>
            </a:r>
            <a:endParaRPr lang="zh-CN" altLang="en-US" sz="2800" b="1" smtClean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en-US" altLang="zh-CN" sz="4400" b="1" smtClean="0"/>
              <a:t>8.4.2 Dynamic Memory in Object-Oriented Languages</a:t>
            </a:r>
            <a:endParaRPr lang="zh-CN" altLang="en-US" sz="4400" b="1" smtClean="0"/>
          </a:p>
        </p:txBody>
      </p:sp>
      <p:sp>
        <p:nvSpPr>
          <p:cNvPr id="8089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zh-CN" altLang="en-US" sz="3200" smtClean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92150"/>
            <a:ext cx="7772400" cy="54038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smtClean="0"/>
              <a:t>OO language requires </a:t>
            </a:r>
            <a:r>
              <a:rPr lang="en-US" altLang="zh-CN" sz="2800" smtClean="0">
                <a:solidFill>
                  <a:srgbClr val="FF3300"/>
                </a:solidFill>
              </a:rPr>
              <a:t>special mechanisms</a:t>
            </a:r>
            <a:r>
              <a:rPr lang="en-US" altLang="zh-CN" sz="2800" smtClean="0"/>
              <a:t> in the runtime environment to implement their added features: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/>
              <a:t>Objects, methods, inheritance, and dynamic binding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800" smtClean="0"/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/>
              <a:t>OO languages </a:t>
            </a:r>
            <a:r>
              <a:rPr lang="en-US" altLang="zh-CN" sz="2800" smtClean="0">
                <a:solidFill>
                  <a:srgbClr val="FF3300"/>
                </a:solidFill>
              </a:rPr>
              <a:t>vary greatly</a:t>
            </a:r>
            <a:r>
              <a:rPr lang="en-US" altLang="zh-CN" sz="2800" smtClean="0"/>
              <a:t> in their requirements for the runtime environment.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800" smtClean="0"/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/>
              <a:t>Two good representatives of the extreme: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/>
              <a:t>Smalltake requires fully dynamic environment;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/>
              <a:t>C++ retains the stack-based environment of C in much of its design efforts.</a:t>
            </a:r>
            <a:endParaRPr lang="zh-CN" altLang="en-US" sz="2400" smtClean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5175"/>
            <a:ext cx="7772400" cy="53308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b="1" smtClean="0"/>
              <a:t>Object in memory</a:t>
            </a:r>
            <a:r>
              <a:rPr lang="en-US" altLang="zh-CN" sz="2400" smtClean="0"/>
              <a:t> can be viewed as a </a:t>
            </a:r>
            <a:r>
              <a:rPr lang="en-US" altLang="zh-CN" sz="2400" smtClean="0">
                <a:solidFill>
                  <a:srgbClr val="FF3300"/>
                </a:solidFill>
              </a:rPr>
              <a:t>cross between </a:t>
            </a:r>
            <a:r>
              <a:rPr lang="en-US" altLang="zh-CN" sz="2400" i="1" smtClean="0">
                <a:solidFill>
                  <a:srgbClr val="FF3300"/>
                </a:solidFill>
              </a:rPr>
              <a:t>a traditional record</a:t>
            </a:r>
            <a:r>
              <a:rPr lang="en-US" altLang="zh-CN" sz="2400" smtClean="0">
                <a:solidFill>
                  <a:srgbClr val="FF3300"/>
                </a:solidFill>
              </a:rPr>
              <a:t> structure and </a:t>
            </a:r>
            <a:r>
              <a:rPr lang="en-US" altLang="zh-CN" sz="2400" i="1" smtClean="0">
                <a:solidFill>
                  <a:srgbClr val="FF3300"/>
                </a:solidFill>
              </a:rPr>
              <a:t>an activation record</a:t>
            </a:r>
          </a:p>
          <a:p>
            <a:pPr eaLnBrk="1" hangingPunct="1">
              <a:lnSpc>
                <a:spcPct val="90000"/>
              </a:lnSpc>
            </a:pPr>
            <a:endParaRPr lang="en-US" altLang="zh-CN" sz="2400" i="1" smtClean="0"/>
          </a:p>
          <a:p>
            <a:pPr eaLnBrk="1" hangingPunct="1">
              <a:lnSpc>
                <a:spcPct val="90000"/>
              </a:lnSpc>
            </a:pPr>
            <a:r>
              <a:rPr lang="en-US" altLang="zh-CN" sz="2400" smtClean="0">
                <a:solidFill>
                  <a:srgbClr val="FF3300"/>
                </a:solidFill>
              </a:rPr>
              <a:t>One mechanism</a:t>
            </a:r>
            <a:r>
              <a:rPr lang="en-US" altLang="zh-CN" sz="2400" smtClean="0"/>
              <a:t> would be for initialization code to copy all the currently inherited features (and methods) </a:t>
            </a:r>
            <a:r>
              <a:rPr lang="en-US" altLang="zh-CN" sz="2400" b="1" smtClean="0"/>
              <a:t>directly into the record structure</a:t>
            </a:r>
            <a:r>
              <a:rPr lang="en-US" altLang="zh-CN" sz="2400" smtClean="0"/>
              <a:t> (with methods as code pointer);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smtClean="0">
                <a:solidFill>
                  <a:srgbClr val="FF3300"/>
                </a:solidFill>
              </a:rPr>
              <a:t>An alternative</a:t>
            </a:r>
            <a:r>
              <a:rPr lang="en-US" altLang="zh-CN" sz="2400" smtClean="0"/>
              <a:t> is to keep a complete description of the class structure in memory at each point during execution, with inheritance maintained </a:t>
            </a:r>
            <a:r>
              <a:rPr lang="en-US" altLang="zh-CN" sz="2400" b="1" smtClean="0"/>
              <a:t>by superclass pointers</a:t>
            </a:r>
            <a:r>
              <a:rPr lang="en-US" altLang="zh-CN" sz="2400" smtClean="0"/>
              <a:t>, and all method pointers kept as field in the class structure (</a:t>
            </a:r>
            <a:r>
              <a:rPr lang="en-US" altLang="zh-CN" sz="2400" b="1" smtClean="0"/>
              <a:t>Inheritance graph</a:t>
            </a:r>
            <a:r>
              <a:rPr lang="en-US" altLang="zh-CN" sz="2400" smtClean="0"/>
              <a:t>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smtClean="0">
                <a:solidFill>
                  <a:srgbClr val="FF3300"/>
                </a:solidFill>
              </a:rPr>
              <a:t>Another alternative</a:t>
            </a:r>
            <a:r>
              <a:rPr lang="en-US" altLang="zh-CN" sz="2400" smtClean="0"/>
              <a:t> is to compute </a:t>
            </a:r>
            <a:r>
              <a:rPr lang="en-US" altLang="zh-CN" sz="2400" b="1" smtClean="0"/>
              <a:t>the list of code pointers</a:t>
            </a:r>
            <a:r>
              <a:rPr lang="en-US" altLang="zh-CN" sz="2400" smtClean="0"/>
              <a:t> for available methods of each class, and store this in (static) memory as a </a:t>
            </a:r>
            <a:r>
              <a:rPr lang="en-US" altLang="zh-CN" sz="2400" b="1" smtClean="0"/>
              <a:t>virtual function table</a:t>
            </a:r>
            <a:r>
              <a:rPr lang="en-US" altLang="zh-CN" sz="2400" smtClean="0"/>
              <a:t>. It is the method of choice in C++.</a:t>
            </a:r>
            <a:endParaRPr lang="zh-CN" altLang="en-US" sz="2400" smtClean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692150"/>
            <a:ext cx="8496300" cy="57610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smtClean="0"/>
              <a:t>Example: Consider the following C++ class declarations: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zh-CN" smtClean="0"/>
              <a:t>Class A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zh-CN" smtClean="0"/>
              <a:t>{public: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zh-CN" smtClean="0"/>
              <a:t>  double x, y;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zh-CN" smtClean="0"/>
              <a:t>  void f();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zh-CN" smtClean="0"/>
              <a:t>  virtual void g();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zh-CN" smtClean="0"/>
              <a:t>}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endParaRPr lang="en-US" altLang="zh-CN" smtClean="0"/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zh-CN" smtClean="0"/>
              <a:t>class B : public A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zh-CN" smtClean="0"/>
              <a:t>{public: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zh-CN" smtClean="0"/>
              <a:t>  double z;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zh-CN" smtClean="0"/>
              <a:t>  void f();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zh-CN" smtClean="0"/>
              <a:t>  virtual void h();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zh-CN" smtClean="0"/>
              <a:t>}</a:t>
            </a:r>
            <a:endParaRPr lang="zh-CN" altLang="en-US" smtClean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994" name="Object 4"/>
          <p:cNvGraphicFramePr>
            <a:graphicFrameLocks noChangeAspect="1"/>
          </p:cNvGraphicFramePr>
          <p:nvPr/>
        </p:nvGraphicFramePr>
        <p:xfrm>
          <a:off x="395288" y="115888"/>
          <a:ext cx="8748712" cy="660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0" name="文档" r:id="rId3" imgW="5574563" imgH="4211363" progId="Word.Document.8">
                  <p:embed/>
                </p:oleObj>
              </mc:Choice>
              <mc:Fallback>
                <p:oleObj name="文档" r:id="rId3" imgW="5574563" imgH="4211363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15888"/>
                        <a:ext cx="8748712" cy="6608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5" name="Line 5"/>
          <p:cNvSpPr>
            <a:spLocks noChangeShapeType="1"/>
          </p:cNvSpPr>
          <p:nvPr/>
        </p:nvSpPr>
        <p:spPr bwMode="auto">
          <a:xfrm>
            <a:off x="4067175" y="1700213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996" name="Rectangle 6"/>
          <p:cNvSpPr>
            <a:spLocks noChangeArrowheads="1"/>
          </p:cNvSpPr>
          <p:nvPr/>
        </p:nvSpPr>
        <p:spPr bwMode="auto">
          <a:xfrm>
            <a:off x="4932363" y="1628775"/>
            <a:ext cx="792162" cy="576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997" name="Rectangle 7"/>
          <p:cNvSpPr>
            <a:spLocks noChangeArrowheads="1"/>
          </p:cNvSpPr>
          <p:nvPr/>
        </p:nvSpPr>
        <p:spPr bwMode="auto">
          <a:xfrm>
            <a:off x="5003800" y="4221163"/>
            <a:ext cx="64770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998" name="Rectangle 8"/>
          <p:cNvSpPr>
            <a:spLocks noChangeArrowheads="1"/>
          </p:cNvSpPr>
          <p:nvPr/>
        </p:nvSpPr>
        <p:spPr bwMode="auto">
          <a:xfrm>
            <a:off x="5003800" y="4652963"/>
            <a:ext cx="647700" cy="360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999" name="Line 9"/>
          <p:cNvSpPr>
            <a:spLocks noChangeShapeType="1"/>
          </p:cNvSpPr>
          <p:nvPr/>
        </p:nvSpPr>
        <p:spPr bwMode="auto">
          <a:xfrm>
            <a:off x="4138613" y="4292600"/>
            <a:ext cx="865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en-US" altLang="zh-CN" sz="4400" b="1" smtClean="0"/>
              <a:t>8.4.3 Heap Management</a:t>
            </a:r>
            <a:endParaRPr lang="zh-CN" altLang="en-US" sz="4400" b="1" smtClean="0"/>
          </a:p>
        </p:txBody>
      </p:sp>
      <p:sp>
        <p:nvSpPr>
          <p:cNvPr id="8601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zh-CN" altLang="en-US" sz="3200" smtClean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08050"/>
            <a:ext cx="7772400" cy="51879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In most language, even a stack-based environment needs some dynamic capabilities in order to handle </a:t>
            </a:r>
            <a:r>
              <a:rPr lang="en-US" altLang="zh-CN" sz="2800" smtClean="0">
                <a:solidFill>
                  <a:srgbClr val="FF3300"/>
                </a:solidFill>
              </a:rPr>
              <a:t>pointer allocation and de-allocation</a:t>
            </a:r>
          </a:p>
          <a:p>
            <a:pPr eaLnBrk="1" hangingPunct="1">
              <a:lnSpc>
                <a:spcPct val="80000"/>
              </a:lnSpc>
            </a:pPr>
            <a:endParaRPr lang="en-US" altLang="zh-CN" sz="2800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800" b="1" smtClean="0"/>
              <a:t>HEAP, the data structure to handle such allocation.</a:t>
            </a:r>
            <a:r>
              <a:rPr lang="en-US" altLang="zh-CN" sz="2800" smtClean="0"/>
              <a:t> </a:t>
            </a:r>
          </a:p>
          <a:p>
            <a:pPr eaLnBrk="1" hangingPunct="1">
              <a:lnSpc>
                <a:spcPct val="80000"/>
              </a:lnSpc>
            </a:pPr>
            <a:endParaRPr lang="en-US" altLang="zh-CN" sz="2800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Allocated as a linear block of memory, which provides two operations:</a:t>
            </a:r>
          </a:p>
          <a:p>
            <a:pPr marL="898525" lvl="1" indent="-376238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(1) </a:t>
            </a:r>
            <a:r>
              <a:rPr lang="en-US" altLang="zh-CN" sz="2400" smtClean="0">
                <a:solidFill>
                  <a:srgbClr val="FF3300"/>
                </a:solidFill>
              </a:rPr>
              <a:t>Allocate</a:t>
            </a:r>
            <a:r>
              <a:rPr lang="en-US" altLang="zh-CN" sz="2400" smtClean="0"/>
              <a:t>, which takes a size parameter and returns a pointer to a block of memory of the correct size, or a null pointer if none exists.</a:t>
            </a:r>
          </a:p>
          <a:p>
            <a:pPr marL="898525" lvl="1" indent="-376238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(2) </a:t>
            </a:r>
            <a:r>
              <a:rPr lang="en-US" altLang="zh-CN" sz="2400" smtClean="0">
                <a:solidFill>
                  <a:srgbClr val="FF3300"/>
                </a:solidFill>
              </a:rPr>
              <a:t>Free</a:t>
            </a:r>
            <a:r>
              <a:rPr lang="en-US" altLang="zh-CN" sz="2400" smtClean="0"/>
              <a:t>, which takes a pointer to an allocated block of memory and marks it as being free again</a:t>
            </a:r>
            <a:endParaRPr lang="zh-CN" altLang="en-US" sz="2400" smtClean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20713"/>
            <a:ext cx="7772400" cy="547528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These two operations exist under different names in many languages:</a:t>
            </a:r>
          </a:p>
          <a:p>
            <a:pPr marL="963613" lvl="1" indent="-506413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New and dispose in Pascal;</a:t>
            </a:r>
          </a:p>
          <a:p>
            <a:pPr marL="963613" lvl="1" indent="-506413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New and delete in C++;</a:t>
            </a:r>
          </a:p>
          <a:p>
            <a:pPr marL="963613" lvl="1" indent="-506413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Malloc and free in the C language.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A standard method for maintaining the heap and implementing these functions:</a:t>
            </a:r>
          </a:p>
          <a:p>
            <a:pPr marL="963613" lvl="1" indent="-506413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(1) A circular linked list of free blocks;</a:t>
            </a:r>
          </a:p>
          <a:p>
            <a:pPr marL="963613" lvl="1" indent="-506413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(2) Memory is taken by malloc;</a:t>
            </a:r>
          </a:p>
          <a:p>
            <a:pPr marL="963613" lvl="1" indent="-506413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(3) Memory is return by free.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The drawbacks:</a:t>
            </a:r>
          </a:p>
          <a:p>
            <a:pPr marL="963613" lvl="1" indent="-506413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(1) The free operation can not tell if the pointer </a:t>
            </a:r>
            <a:r>
              <a:rPr lang="en-US" altLang="zh-CN" sz="2400" smtClean="0">
                <a:solidFill>
                  <a:srgbClr val="FF3300"/>
                </a:solidFill>
              </a:rPr>
              <a:t>is legal or   not</a:t>
            </a:r>
            <a:r>
              <a:rPr lang="en-US" altLang="zh-CN" sz="2400" smtClean="0"/>
              <a:t>;</a:t>
            </a:r>
          </a:p>
          <a:p>
            <a:pPr marL="963613" lvl="1" indent="-506413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(2) Care must be taken to </a:t>
            </a:r>
            <a:r>
              <a:rPr lang="en-US" altLang="zh-CN" sz="2400" smtClean="0">
                <a:solidFill>
                  <a:srgbClr val="FF3300"/>
                </a:solidFill>
              </a:rPr>
              <a:t>coalesce blocks</a:t>
            </a:r>
            <a:r>
              <a:rPr lang="en-US" altLang="zh-CN" sz="2400" smtClean="0"/>
              <a:t>; otherwise, the heap can quickly become fragmented.</a:t>
            </a:r>
            <a:endParaRPr lang="zh-CN" altLang="en-US" sz="2400" smtClean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6250"/>
            <a:ext cx="7772400" cy="597693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400" smtClean="0"/>
              <a:t>A different implementation of malloc and free, using a circular linked list data structure that keep track of both allocated and free block. </a:t>
            </a:r>
          </a:p>
          <a:p>
            <a:pPr eaLnBrk="1" hangingPunct="1">
              <a:lnSpc>
                <a:spcPct val="80000"/>
              </a:lnSpc>
            </a:pPr>
            <a:endParaRPr lang="en-US" altLang="zh-CN" sz="2400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400" smtClean="0"/>
              <a:t>The code is given in the following figures: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smtClean="0"/>
              <a:t>	</a:t>
            </a:r>
            <a:r>
              <a:rPr lang="en-US" altLang="zh-CN" sz="2200" smtClean="0"/>
              <a:t>#define NULL 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smtClean="0"/>
              <a:t>	#define MEMSIZE 8096 /* change for different sizes */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smtClean="0"/>
              <a:t>	typedef double align;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smtClean="0"/>
              <a:t>	typedef union header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smtClean="0"/>
              <a:t>		{struct { union header *next;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smtClean="0"/>
              <a:t>			  unsigned usedsize;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smtClean="0"/>
              <a:t>			  unsigned freesize;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smtClean="0"/>
              <a:t>			  } s;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smtClean="0"/>
              <a:t>		 align a;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smtClean="0"/>
              <a:t>		} header;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smtClean="0"/>
              <a:t>	static header men[MEMSIZE];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smtClean="0"/>
              <a:t>	static header *memptr=NULL;</a:t>
            </a:r>
            <a:endParaRPr lang="zh-CN" altLang="en-US" sz="2200" smtClean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7838"/>
            <a:ext cx="7772400" cy="56880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void *malloc(unsigned nbytes)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{header *p, *newp;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unsigned nunits;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nunits = (nbytes+sizeof(header)-1)/sizeof(header)+1;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   if (memptr == NULL)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{ memptr-&gt;s.next = memptr = mem;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 memptr-&gt;s.usedsize = 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 memptr-&gt;s.freesize = MEMSIZE-1;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   for(p=memptr;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(p-&gt;s.next!=memptr) &amp;&amp; (p-&gt;s.freesize &lt;nunits);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	p=p-&gt;s.next);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	</a:t>
            </a:r>
            <a:endParaRPr lang="zh-CN" altLang="en-US" sz="2400" smtClean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549275"/>
            <a:ext cx="7772400" cy="568801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smtClean="0"/>
              <a:t>	</a:t>
            </a:r>
            <a:r>
              <a:rPr lang="en-US" altLang="zh-CN" sz="2800" smtClean="0"/>
              <a:t>if (p-&gt;s.freesize &lt; nunits) return NULL;</a:t>
            </a:r>
          </a:p>
          <a:p>
            <a:pPr eaLnBrk="1" hangingPunct="1">
              <a:buFontTx/>
              <a:buNone/>
            </a:pPr>
            <a:r>
              <a:rPr lang="en-US" altLang="zh-CN" sz="2800" smtClean="0"/>
              <a:t>	/* no block big enough */</a:t>
            </a:r>
          </a:p>
          <a:p>
            <a:pPr eaLnBrk="1" hangingPunct="1">
              <a:buFontTx/>
              <a:buNone/>
            </a:pPr>
            <a:r>
              <a:rPr lang="en-US" altLang="zh-CN" sz="2800" smtClean="0"/>
              <a:t>	newp =p +p-&gt;s.usedsize;</a:t>
            </a:r>
          </a:p>
          <a:p>
            <a:pPr eaLnBrk="1" hangingPunct="1">
              <a:buFontTx/>
              <a:buNone/>
            </a:pPr>
            <a:r>
              <a:rPr lang="en-US" altLang="zh-CN" sz="2800" smtClean="0"/>
              <a:t>	newp-&gt;s.usedsize = nunits;</a:t>
            </a:r>
          </a:p>
          <a:p>
            <a:pPr eaLnBrk="1" hangingPunct="1">
              <a:buFontTx/>
              <a:buNone/>
            </a:pPr>
            <a:r>
              <a:rPr lang="en-US" altLang="zh-CN" sz="2800" smtClean="0"/>
              <a:t>	newp-&gt;s.freesize =p-&gt;s.freesize </a:t>
            </a:r>
            <a:r>
              <a:rPr lang="en-US" altLang="zh-CN" sz="2800" smtClean="0">
                <a:latin typeface="Arial" panose="020B0604020202020204" pitchFamily="34" charset="0"/>
              </a:rPr>
              <a:t>–</a:t>
            </a:r>
            <a:r>
              <a:rPr lang="en-US" altLang="zh-CN" sz="2800" smtClean="0"/>
              <a:t>nunits;</a:t>
            </a:r>
          </a:p>
          <a:p>
            <a:pPr eaLnBrk="1" hangingPunct="1">
              <a:buFontTx/>
              <a:buNone/>
            </a:pPr>
            <a:r>
              <a:rPr lang="en-US" altLang="zh-CN" sz="2800" smtClean="0"/>
              <a:t>	newp-&gt;s.next = p-&gt;s.next;</a:t>
            </a:r>
          </a:p>
          <a:p>
            <a:pPr eaLnBrk="1" hangingPunct="1">
              <a:buFontTx/>
              <a:buNone/>
            </a:pPr>
            <a:r>
              <a:rPr lang="en-US" altLang="zh-CN" sz="2800" smtClean="0"/>
              <a:t>	p-&gt;s.freesize=0;</a:t>
            </a:r>
          </a:p>
          <a:p>
            <a:pPr eaLnBrk="1" hangingPunct="1">
              <a:buFontTx/>
              <a:buNone/>
            </a:pPr>
            <a:r>
              <a:rPr lang="en-US" altLang="zh-CN" sz="2800" smtClean="0"/>
              <a:t>	p-&gt;s.next = newp;</a:t>
            </a:r>
          </a:p>
          <a:p>
            <a:pPr eaLnBrk="1" hangingPunct="1">
              <a:buFontTx/>
              <a:buNone/>
            </a:pPr>
            <a:r>
              <a:rPr lang="en-US" altLang="zh-CN" sz="2800" smtClean="0"/>
              <a:t>	memptr = newp;</a:t>
            </a:r>
          </a:p>
          <a:p>
            <a:pPr eaLnBrk="1" hangingPunct="1">
              <a:buFontTx/>
              <a:buNone/>
            </a:pPr>
            <a:r>
              <a:rPr lang="en-US" altLang="zh-CN" sz="2800" smtClean="0"/>
              <a:t>	return (void *) (newp+1);</a:t>
            </a:r>
          </a:p>
          <a:p>
            <a:pPr eaLnBrk="1" hangingPunct="1">
              <a:buFontTx/>
              <a:buNone/>
            </a:pPr>
            <a:r>
              <a:rPr lang="en-US" altLang="zh-CN" sz="2800" smtClean="0"/>
              <a:t>	}</a:t>
            </a:r>
            <a:endParaRPr lang="zh-CN" altLang="en-US" sz="2800" smtClean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620713"/>
            <a:ext cx="8207375" cy="54752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smtClean="0"/>
              <a:t>void free(void *ap)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smtClean="0"/>
              <a:t>{ header *bp, *p, *prev;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smtClean="0"/>
              <a:t>	bp = (header *)ap </a:t>
            </a:r>
            <a:r>
              <a:rPr lang="en-US" altLang="zh-CN" sz="2800" smtClean="0">
                <a:latin typeface="Arial" panose="020B0604020202020204" pitchFamily="34" charset="0"/>
              </a:rPr>
              <a:t>–</a:t>
            </a:r>
            <a:r>
              <a:rPr lang="en-US" altLang="zh-CN" sz="2800" smtClean="0"/>
              <a:t>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8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smtClean="0"/>
              <a:t>	for (prev=memptr, p=memptr-&gt;s.next;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smtClean="0"/>
              <a:t>	      </a:t>
            </a:r>
            <a:r>
              <a:rPr lang="en-US" altLang="zh-CN" sz="2800" b="1" smtClean="0"/>
              <a:t>(p!=bp) &amp;&amp; (p!=memptr);</a:t>
            </a:r>
            <a:r>
              <a:rPr lang="en-US" altLang="zh-CN" sz="2800" smtClean="0"/>
              <a:t> prev=p, p=p-&gt;s.next);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smtClean="0"/>
              <a:t>	if (p!=bp) return;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smtClean="0"/>
              <a:t>	/* corrupted list, do nothing */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smtClean="0"/>
              <a:t>	prev-&gt;s.freesize +=p-&gt;s.usedsize + p-&gt;s.freesize;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smtClean="0"/>
              <a:t>	prev-&gt;s.next = p-&gt;s.next;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smtClean="0"/>
              <a:t>	memptr = prev;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smtClean="0"/>
              <a:t>	}</a:t>
            </a:r>
            <a:endParaRPr lang="zh-CN" altLang="en-US" sz="2800" smtClean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186" name="Object 4"/>
          <p:cNvGraphicFramePr>
            <a:graphicFrameLocks noChangeAspect="1"/>
          </p:cNvGraphicFramePr>
          <p:nvPr/>
        </p:nvGraphicFramePr>
        <p:xfrm>
          <a:off x="330200" y="479425"/>
          <a:ext cx="8202613" cy="590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91" name="文档" r:id="rId3" imgW="4171957" imgH="3009810" progId="Word.Document.8">
                  <p:embed/>
                </p:oleObj>
              </mc:Choice>
              <mc:Fallback>
                <p:oleObj name="文档" r:id="rId3" imgW="4171957" imgH="300981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" y="479425"/>
                        <a:ext cx="8202613" cy="590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87" name="Line 5"/>
          <p:cNvSpPr>
            <a:spLocks noChangeShapeType="1"/>
          </p:cNvSpPr>
          <p:nvPr/>
        </p:nvSpPr>
        <p:spPr bwMode="auto">
          <a:xfrm>
            <a:off x="1979613" y="2852738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188" name="Line 6"/>
          <p:cNvSpPr>
            <a:spLocks noChangeShapeType="1"/>
          </p:cNvSpPr>
          <p:nvPr/>
        </p:nvSpPr>
        <p:spPr bwMode="auto">
          <a:xfrm>
            <a:off x="1979613" y="2852738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189" name="Line 7"/>
          <p:cNvSpPr>
            <a:spLocks noChangeShapeType="1"/>
          </p:cNvSpPr>
          <p:nvPr/>
        </p:nvSpPr>
        <p:spPr bwMode="auto">
          <a:xfrm>
            <a:off x="1979613" y="3573463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190" name="Freeform 8"/>
          <p:cNvSpPr>
            <a:spLocks/>
          </p:cNvSpPr>
          <p:nvPr/>
        </p:nvSpPr>
        <p:spPr bwMode="auto">
          <a:xfrm>
            <a:off x="6503988" y="2420938"/>
            <a:ext cx="1020762" cy="1439862"/>
          </a:xfrm>
          <a:custGeom>
            <a:avLst/>
            <a:gdLst>
              <a:gd name="T0" fmla="*/ 0 w 643"/>
              <a:gd name="T1" fmla="*/ 0 h 907"/>
              <a:gd name="T2" fmla="*/ 865187 w 643"/>
              <a:gd name="T3" fmla="*/ 431800 h 907"/>
              <a:gd name="T4" fmla="*/ 936625 w 643"/>
              <a:gd name="T5" fmla="*/ 1439862 h 90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43" h="907">
                <a:moveTo>
                  <a:pt x="0" y="0"/>
                </a:moveTo>
                <a:cubicBezTo>
                  <a:pt x="223" y="60"/>
                  <a:pt x="447" y="121"/>
                  <a:pt x="545" y="272"/>
                </a:cubicBezTo>
                <a:cubicBezTo>
                  <a:pt x="643" y="423"/>
                  <a:pt x="583" y="801"/>
                  <a:pt x="590" y="90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210" name="Object 4"/>
          <p:cNvGraphicFramePr>
            <a:graphicFrameLocks noChangeAspect="1"/>
          </p:cNvGraphicFramePr>
          <p:nvPr/>
        </p:nvGraphicFramePr>
        <p:xfrm>
          <a:off x="179388" y="668338"/>
          <a:ext cx="8496300" cy="435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12" name="文档" r:id="rId3" imgW="4358391" imgH="2206594" progId="Word.Document.8">
                  <p:embed/>
                </p:oleObj>
              </mc:Choice>
              <mc:Fallback>
                <p:oleObj name="文档" r:id="rId3" imgW="4358391" imgH="2206594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668338"/>
                        <a:ext cx="8496300" cy="435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1" name="Line 5"/>
          <p:cNvSpPr>
            <a:spLocks noChangeShapeType="1"/>
          </p:cNvSpPr>
          <p:nvPr/>
        </p:nvSpPr>
        <p:spPr bwMode="auto">
          <a:xfrm>
            <a:off x="2051050" y="3213100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234" name="Object 4"/>
          <p:cNvGraphicFramePr>
            <a:graphicFrameLocks noChangeAspect="1"/>
          </p:cNvGraphicFramePr>
          <p:nvPr/>
        </p:nvGraphicFramePr>
        <p:xfrm>
          <a:off x="104775" y="865188"/>
          <a:ext cx="8589963" cy="479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0" name="文档" r:id="rId3" imgW="4228355" imgH="2613422" progId="Word.Document.8">
                  <p:embed/>
                </p:oleObj>
              </mc:Choice>
              <mc:Fallback>
                <p:oleObj name="文档" r:id="rId3" imgW="4228355" imgH="2613422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" y="865188"/>
                        <a:ext cx="8589963" cy="479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5" name="Line 5"/>
          <p:cNvSpPr>
            <a:spLocks noChangeShapeType="1"/>
          </p:cNvSpPr>
          <p:nvPr/>
        </p:nvSpPr>
        <p:spPr bwMode="auto">
          <a:xfrm>
            <a:off x="1476375" y="414972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236" name="Freeform 7"/>
          <p:cNvSpPr>
            <a:spLocks/>
          </p:cNvSpPr>
          <p:nvPr/>
        </p:nvSpPr>
        <p:spPr bwMode="auto">
          <a:xfrm>
            <a:off x="6588125" y="2806700"/>
            <a:ext cx="144463" cy="334963"/>
          </a:xfrm>
          <a:custGeom>
            <a:avLst/>
            <a:gdLst>
              <a:gd name="T0" fmla="*/ 0 w 91"/>
              <a:gd name="T1" fmla="*/ 47625 h 211"/>
              <a:gd name="T2" fmla="*/ 144463 w 91"/>
              <a:gd name="T3" fmla="*/ 47625 h 211"/>
              <a:gd name="T4" fmla="*/ 0 w 91"/>
              <a:gd name="T5" fmla="*/ 334963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1" h="211">
                <a:moveTo>
                  <a:pt x="0" y="30"/>
                </a:moveTo>
                <a:cubicBezTo>
                  <a:pt x="45" y="15"/>
                  <a:pt x="91" y="0"/>
                  <a:pt x="91" y="30"/>
                </a:cubicBezTo>
                <a:cubicBezTo>
                  <a:pt x="91" y="60"/>
                  <a:pt x="15" y="181"/>
                  <a:pt x="0" y="21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237" name="Freeform 8"/>
          <p:cNvSpPr>
            <a:spLocks/>
          </p:cNvSpPr>
          <p:nvPr/>
        </p:nvSpPr>
        <p:spPr bwMode="auto">
          <a:xfrm>
            <a:off x="6588125" y="3238500"/>
            <a:ext cx="144463" cy="334963"/>
          </a:xfrm>
          <a:custGeom>
            <a:avLst/>
            <a:gdLst>
              <a:gd name="T0" fmla="*/ 0 w 91"/>
              <a:gd name="T1" fmla="*/ 47625 h 211"/>
              <a:gd name="T2" fmla="*/ 144463 w 91"/>
              <a:gd name="T3" fmla="*/ 47625 h 211"/>
              <a:gd name="T4" fmla="*/ 0 w 91"/>
              <a:gd name="T5" fmla="*/ 334963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1" h="211">
                <a:moveTo>
                  <a:pt x="0" y="30"/>
                </a:moveTo>
                <a:cubicBezTo>
                  <a:pt x="45" y="15"/>
                  <a:pt x="91" y="0"/>
                  <a:pt x="91" y="30"/>
                </a:cubicBezTo>
                <a:cubicBezTo>
                  <a:pt x="91" y="60"/>
                  <a:pt x="15" y="181"/>
                  <a:pt x="0" y="21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238" name="Freeform 9"/>
          <p:cNvSpPr>
            <a:spLocks/>
          </p:cNvSpPr>
          <p:nvPr/>
        </p:nvSpPr>
        <p:spPr bwMode="auto">
          <a:xfrm>
            <a:off x="6588125" y="3598863"/>
            <a:ext cx="144463" cy="334962"/>
          </a:xfrm>
          <a:custGeom>
            <a:avLst/>
            <a:gdLst>
              <a:gd name="T0" fmla="*/ 0 w 91"/>
              <a:gd name="T1" fmla="*/ 47625 h 211"/>
              <a:gd name="T2" fmla="*/ 144463 w 91"/>
              <a:gd name="T3" fmla="*/ 47625 h 211"/>
              <a:gd name="T4" fmla="*/ 0 w 91"/>
              <a:gd name="T5" fmla="*/ 334962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1" h="211">
                <a:moveTo>
                  <a:pt x="0" y="30"/>
                </a:moveTo>
                <a:cubicBezTo>
                  <a:pt x="45" y="15"/>
                  <a:pt x="91" y="0"/>
                  <a:pt x="91" y="30"/>
                </a:cubicBezTo>
                <a:cubicBezTo>
                  <a:pt x="91" y="60"/>
                  <a:pt x="15" y="181"/>
                  <a:pt x="0" y="21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239" name="Freeform 10"/>
          <p:cNvSpPr>
            <a:spLocks/>
          </p:cNvSpPr>
          <p:nvPr/>
        </p:nvSpPr>
        <p:spPr bwMode="auto">
          <a:xfrm>
            <a:off x="6588125" y="2708275"/>
            <a:ext cx="1223963" cy="1584325"/>
          </a:xfrm>
          <a:custGeom>
            <a:avLst/>
            <a:gdLst>
              <a:gd name="T0" fmla="*/ 0 w 771"/>
              <a:gd name="T1" fmla="*/ 1584325 h 998"/>
              <a:gd name="T2" fmla="*/ 1223963 w 771"/>
              <a:gd name="T3" fmla="*/ 792163 h 998"/>
              <a:gd name="T4" fmla="*/ 0 w 771"/>
              <a:gd name="T5" fmla="*/ 0 h 99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71" h="998">
                <a:moveTo>
                  <a:pt x="0" y="998"/>
                </a:moveTo>
                <a:cubicBezTo>
                  <a:pt x="385" y="831"/>
                  <a:pt x="771" y="665"/>
                  <a:pt x="771" y="499"/>
                </a:cubicBezTo>
                <a:cubicBezTo>
                  <a:pt x="771" y="333"/>
                  <a:pt x="128" y="83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58" name="Object 4"/>
          <p:cNvGraphicFramePr>
            <a:graphicFrameLocks noChangeAspect="1"/>
          </p:cNvGraphicFramePr>
          <p:nvPr/>
        </p:nvGraphicFramePr>
        <p:xfrm>
          <a:off x="395288" y="473075"/>
          <a:ext cx="8280400" cy="482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63" name="文档" r:id="rId3" imgW="4371682" imgH="2811436" progId="Word.Document.8">
                  <p:embed/>
                </p:oleObj>
              </mc:Choice>
              <mc:Fallback>
                <p:oleObj name="文档" r:id="rId3" imgW="4371682" imgH="2811436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73075"/>
                        <a:ext cx="8280400" cy="482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59" name="Line 5"/>
          <p:cNvSpPr>
            <a:spLocks noChangeShapeType="1"/>
          </p:cNvSpPr>
          <p:nvPr/>
        </p:nvSpPr>
        <p:spPr bwMode="auto">
          <a:xfrm>
            <a:off x="1763713" y="2852738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0" name="Freeform 6"/>
          <p:cNvSpPr>
            <a:spLocks/>
          </p:cNvSpPr>
          <p:nvPr/>
        </p:nvSpPr>
        <p:spPr bwMode="auto">
          <a:xfrm>
            <a:off x="6443663" y="2708275"/>
            <a:ext cx="288925" cy="287338"/>
          </a:xfrm>
          <a:custGeom>
            <a:avLst/>
            <a:gdLst>
              <a:gd name="T0" fmla="*/ 0 w 182"/>
              <a:gd name="T1" fmla="*/ 0 h 181"/>
              <a:gd name="T2" fmla="*/ 288925 w 182"/>
              <a:gd name="T3" fmla="*/ 144463 h 181"/>
              <a:gd name="T4" fmla="*/ 0 w 182"/>
              <a:gd name="T5" fmla="*/ 287338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2" h="181">
                <a:moveTo>
                  <a:pt x="0" y="0"/>
                </a:moveTo>
                <a:cubicBezTo>
                  <a:pt x="91" y="30"/>
                  <a:pt x="182" y="61"/>
                  <a:pt x="182" y="91"/>
                </a:cubicBezTo>
                <a:cubicBezTo>
                  <a:pt x="182" y="121"/>
                  <a:pt x="30" y="166"/>
                  <a:pt x="0" y="18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1" name="Freeform 7"/>
          <p:cNvSpPr>
            <a:spLocks/>
          </p:cNvSpPr>
          <p:nvPr/>
        </p:nvSpPr>
        <p:spPr bwMode="auto">
          <a:xfrm>
            <a:off x="6443663" y="2924175"/>
            <a:ext cx="360362" cy="719138"/>
          </a:xfrm>
          <a:custGeom>
            <a:avLst/>
            <a:gdLst>
              <a:gd name="T0" fmla="*/ 0 w 227"/>
              <a:gd name="T1" fmla="*/ 0 h 453"/>
              <a:gd name="T2" fmla="*/ 360362 w 227"/>
              <a:gd name="T3" fmla="*/ 358775 h 453"/>
              <a:gd name="T4" fmla="*/ 0 w 227"/>
              <a:gd name="T5" fmla="*/ 719138 h 4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7" h="453">
                <a:moveTo>
                  <a:pt x="0" y="0"/>
                </a:moveTo>
                <a:cubicBezTo>
                  <a:pt x="113" y="75"/>
                  <a:pt x="227" y="151"/>
                  <a:pt x="227" y="226"/>
                </a:cubicBezTo>
                <a:cubicBezTo>
                  <a:pt x="227" y="301"/>
                  <a:pt x="38" y="415"/>
                  <a:pt x="0" y="45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2" name="Freeform 8"/>
          <p:cNvSpPr>
            <a:spLocks/>
          </p:cNvSpPr>
          <p:nvPr/>
        </p:nvSpPr>
        <p:spPr bwMode="auto">
          <a:xfrm>
            <a:off x="6443663" y="2492375"/>
            <a:ext cx="1296987" cy="1512888"/>
          </a:xfrm>
          <a:custGeom>
            <a:avLst/>
            <a:gdLst>
              <a:gd name="T0" fmla="*/ 0 w 817"/>
              <a:gd name="T1" fmla="*/ 1512888 h 953"/>
              <a:gd name="T2" fmla="*/ 1296987 w 817"/>
              <a:gd name="T3" fmla="*/ 865188 h 953"/>
              <a:gd name="T4" fmla="*/ 0 w 817"/>
              <a:gd name="T5" fmla="*/ 0 h 9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17" h="953">
                <a:moveTo>
                  <a:pt x="0" y="953"/>
                </a:moveTo>
                <a:cubicBezTo>
                  <a:pt x="408" y="828"/>
                  <a:pt x="817" y="704"/>
                  <a:pt x="817" y="545"/>
                </a:cubicBezTo>
                <a:cubicBezTo>
                  <a:pt x="817" y="386"/>
                  <a:pt x="136" y="91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en-US" altLang="zh-CN" sz="4400" b="1" smtClean="0"/>
              <a:t>8.4.4 Automatic Management of the heap</a:t>
            </a:r>
            <a:endParaRPr lang="zh-CN" altLang="en-US" sz="4400" b="1" smtClean="0"/>
          </a:p>
        </p:txBody>
      </p:sp>
      <p:sp>
        <p:nvSpPr>
          <p:cNvPr id="9728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zh-CN" altLang="en-US" sz="3200" smtClean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333375"/>
            <a:ext cx="8280400" cy="61912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smtClean="0"/>
              <a:t>The use of malloc and free to perform dynamic allocation and de-allocation of pointer is called </a:t>
            </a:r>
            <a:r>
              <a:rPr lang="en-US" altLang="zh-CN" sz="2400" smtClean="0">
                <a:solidFill>
                  <a:srgbClr val="FF3300"/>
                </a:solidFill>
              </a:rPr>
              <a:t>manual method</a:t>
            </a:r>
            <a:r>
              <a:rPr lang="en-US" altLang="zh-CN" sz="2400" smtClean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smtClean="0"/>
              <a:t>By contrast, the runtime stack is managed automatically by the calling sequence.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400" smtClean="0"/>
          </a:p>
          <a:p>
            <a:pPr eaLnBrk="1" hangingPunct="1">
              <a:lnSpc>
                <a:spcPct val="90000"/>
              </a:lnSpc>
            </a:pPr>
            <a:r>
              <a:rPr lang="en-US" altLang="zh-CN" sz="2400" smtClean="0">
                <a:solidFill>
                  <a:srgbClr val="FF3300"/>
                </a:solidFill>
              </a:rPr>
              <a:t>Garbarge collection</a:t>
            </a:r>
            <a:r>
              <a:rPr lang="en-US" altLang="zh-CN" sz="2400" smtClean="0"/>
              <a:t>: the process of reclamation of allocated but no longer used storage without an explicit call to free.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smtClean="0"/>
              <a:t>The standard technique is to </a:t>
            </a:r>
            <a:r>
              <a:rPr lang="en-US" altLang="zh-CN" sz="2400" smtClean="0">
                <a:solidFill>
                  <a:srgbClr val="FF3300"/>
                </a:solidFill>
              </a:rPr>
              <a:t>perform mark and sweep garbage collection</a:t>
            </a:r>
            <a:r>
              <a:rPr lang="en-US" altLang="zh-CN" sz="2400" smtClean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smtClean="0"/>
              <a:t> In this method no memory is freed until a call to malloc fails, which does this in two passes.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smtClean="0"/>
              <a:t>Follows all pointers recursively, </a:t>
            </a:r>
            <a:r>
              <a:rPr lang="en-US" altLang="zh-CN" sz="2000" smtClean="0">
                <a:solidFill>
                  <a:srgbClr val="FF3300"/>
                </a:solidFill>
              </a:rPr>
              <a:t>starting with all currently accessible pointer values and marks each block of storage reached</a:t>
            </a:r>
            <a:r>
              <a:rPr lang="en-US" altLang="zh-CN" sz="2000" smtClean="0"/>
              <a:t>; an extra bit for the marking.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smtClean="0"/>
              <a:t>Sweeps linearly through memory, </a:t>
            </a:r>
            <a:r>
              <a:rPr lang="en-US" altLang="zh-CN" sz="2000" smtClean="0">
                <a:solidFill>
                  <a:srgbClr val="FF3300"/>
                </a:solidFill>
              </a:rPr>
              <a:t>returning unmarked blocks to free memory</a:t>
            </a:r>
            <a:r>
              <a:rPr lang="en-US" altLang="zh-CN" sz="2000" smtClean="0"/>
              <a:t>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smtClean="0"/>
              <a:t>Also perform memory compaction to leave only one large block of </a:t>
            </a:r>
            <a:r>
              <a:rPr lang="en-US" altLang="zh-CN" sz="2000" smtClean="0">
                <a:solidFill>
                  <a:srgbClr val="FF3300"/>
                </a:solidFill>
              </a:rPr>
              <a:t>contiguous free space</a:t>
            </a:r>
            <a:r>
              <a:rPr lang="en-US" altLang="zh-CN" sz="2000" smtClean="0"/>
              <a:t> at the other end.</a:t>
            </a:r>
            <a:endParaRPr lang="zh-CN" altLang="en-US" sz="2000" smtClean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476250"/>
            <a:ext cx="8207375" cy="59055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smtClean="0"/>
              <a:t>The Mark and Sweep garbage collection has several drawbacks: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smtClean="0"/>
              <a:t>Requires extra storage;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smtClean="0"/>
              <a:t>The double pass through memory cause a significant delay in processing</a:t>
            </a:r>
          </a:p>
          <a:p>
            <a:pPr lvl="1" eaLnBrk="1" hangingPunct="1">
              <a:lnSpc>
                <a:spcPct val="90000"/>
              </a:lnSpc>
            </a:pPr>
            <a:endParaRPr lang="en-US" altLang="zh-CN" sz="2000" smtClean="0"/>
          </a:p>
          <a:p>
            <a:pPr eaLnBrk="1" hangingPunct="1">
              <a:lnSpc>
                <a:spcPct val="90000"/>
              </a:lnSpc>
            </a:pPr>
            <a:r>
              <a:rPr lang="en-US" altLang="zh-CN" sz="2400" smtClean="0"/>
              <a:t>A bookkeeping improvement can be made to this process by splitting available memory into two halves and allocating storage only from one half at a time.</a:t>
            </a:r>
          </a:p>
          <a:p>
            <a:pPr eaLnBrk="1" hangingPunct="1">
              <a:lnSpc>
                <a:spcPct val="90000"/>
              </a:lnSpc>
            </a:pPr>
            <a:endParaRPr lang="en-US" altLang="zh-CN" sz="2400" smtClean="0"/>
          </a:p>
          <a:p>
            <a:pPr eaLnBrk="1" hangingPunct="1">
              <a:lnSpc>
                <a:spcPct val="90000"/>
              </a:lnSpc>
            </a:pPr>
            <a:r>
              <a:rPr lang="en-US" altLang="zh-CN" sz="2400" smtClean="0"/>
              <a:t> </a:t>
            </a:r>
            <a:r>
              <a:rPr lang="en-US" altLang="zh-CN" sz="2400" b="1" smtClean="0"/>
              <a:t>Called stop-and-copy or two-space garbage collection</a:t>
            </a:r>
            <a:r>
              <a:rPr lang="en-US" altLang="zh-CN" sz="2400" smtClean="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smtClean="0"/>
              <a:t>All reached blocks are immediately copied to the second half of storage not in use;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smtClean="0"/>
              <a:t>No extra mark bit is required and only one pass is required;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smtClean="0"/>
              <a:t>It also performs compaction automatically;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smtClean="0"/>
              <a:t>It does little to improve processing delays during storage reclamation.</a:t>
            </a:r>
            <a:endParaRPr lang="zh-CN" altLang="en-US" sz="2000" smtClean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836613"/>
            <a:ext cx="7772400" cy="52593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b="1" smtClean="0"/>
              <a:t>Generational garbage collection</a:t>
            </a:r>
            <a:r>
              <a:rPr lang="en-US" altLang="zh-CN" sz="2800" smtClean="0"/>
              <a:t>, which adds a permanent storage area to the reclamation scheme of the previous paragraph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smtClean="0"/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/>
              <a:t>Allocated objects that </a:t>
            </a:r>
            <a:r>
              <a:rPr lang="en-US" altLang="zh-CN" sz="2800" b="1" smtClean="0"/>
              <a:t>survive long enough</a:t>
            </a:r>
            <a:r>
              <a:rPr lang="en-US" altLang="zh-CN" sz="2800" smtClean="0"/>
              <a:t> are simply copied into permanent space and are never deallocated during subsequent storage reclamations.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smtClean="0"/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/>
              <a:t>Search only a </a:t>
            </a:r>
            <a:r>
              <a:rPr lang="en-US" altLang="zh-CN" sz="2800" b="1" smtClean="0"/>
              <a:t>very small section of memory for newer storage allocations</a:t>
            </a:r>
            <a:r>
              <a:rPr lang="en-US" altLang="zh-CN" sz="2800" smtClean="0"/>
              <a:t>, and the time for such a search is reduced to a fraction of a second.</a:t>
            </a:r>
            <a:endParaRPr lang="zh-CN" altLang="en-US" sz="280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1409</TotalTime>
  <Words>2955</Words>
  <Application>Microsoft Office PowerPoint</Application>
  <PresentationFormat>全屏显示(4:3)</PresentationFormat>
  <Paragraphs>509</Paragraphs>
  <Slides>97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97</vt:i4>
      </vt:variant>
    </vt:vector>
  </HeadingPairs>
  <TitlesOfParts>
    <vt:vector size="104" baseType="lpstr">
      <vt:lpstr>Times New Roman</vt:lpstr>
      <vt:lpstr>宋体</vt:lpstr>
      <vt:lpstr>Arial</vt:lpstr>
      <vt:lpstr>Calibri</vt:lpstr>
      <vt:lpstr>默认设计模板</vt:lpstr>
      <vt:lpstr>Microsoft Word 文档</vt:lpstr>
      <vt:lpstr>Microsoft Word 97 - 2003 文档</vt:lpstr>
      <vt:lpstr>COMPILERS</vt:lpstr>
      <vt:lpstr>8. Runtime Environments </vt:lpstr>
      <vt:lpstr>Contents</vt:lpstr>
      <vt:lpstr>PowerPoint 演示文稿</vt:lpstr>
      <vt:lpstr>PowerPoint 演示文稿</vt:lpstr>
      <vt:lpstr>PowerPoint 演示文稿</vt:lpstr>
      <vt:lpstr>8.1 Memory Organization During Program Execution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8.2 Fully Static Runtime Environments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8.3 Stack-Based Runtime Environments</vt:lpstr>
      <vt:lpstr>PowerPoint 演示文稿</vt:lpstr>
      <vt:lpstr>7.3.1 Stack-Based Environments Without Local Procedures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8.3.2 Stack-Based Environment with local Procedures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8.3.3 Stack-Based Environment with Procedure Parameters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8.4 Dynamic Memory</vt:lpstr>
      <vt:lpstr>8.4.1 Fully Dynamic Runtime Environments</vt:lpstr>
      <vt:lpstr>PowerPoint 演示文稿</vt:lpstr>
      <vt:lpstr>PowerPoint 演示文稿</vt:lpstr>
      <vt:lpstr>PowerPoint 演示文稿</vt:lpstr>
      <vt:lpstr>PowerPoint 演示文稿</vt:lpstr>
      <vt:lpstr>8.4.2 Dynamic Memory in Object-Oriented Languages</vt:lpstr>
      <vt:lpstr>PowerPoint 演示文稿</vt:lpstr>
      <vt:lpstr>PowerPoint 演示文稿</vt:lpstr>
      <vt:lpstr>PowerPoint 演示文稿</vt:lpstr>
      <vt:lpstr>PowerPoint 演示文稿</vt:lpstr>
      <vt:lpstr>8.4.3 Heap Management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8.4.4 Automatic Management of the heap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jzhang</dc:creator>
  <cp:lastModifiedBy>jzhang</cp:lastModifiedBy>
  <cp:revision>193</cp:revision>
  <dcterms:created xsi:type="dcterms:W3CDTF">1601-01-01T00:00:00Z</dcterms:created>
  <dcterms:modified xsi:type="dcterms:W3CDTF">2018-06-06T08:06:43Z</dcterms:modified>
</cp:coreProperties>
</file>