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sdx" ContentType="application/vnd.ms-visio.drawing"/>
  <Default Extension="wdp" ContentType="image/vnd.ms-photo"/>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4"/>
  </p:sldMasterIdLst>
  <p:notesMasterIdLst>
    <p:notesMasterId r:id="rId49"/>
  </p:notesMasterIdLst>
  <p:handoutMasterIdLst>
    <p:handoutMasterId r:id="rId50"/>
  </p:handoutMasterIdLst>
  <p:sldIdLst>
    <p:sldId id="256" r:id="rId5"/>
    <p:sldId id="261" r:id="rId6"/>
    <p:sldId id="262" r:id="rId7"/>
    <p:sldId id="263" r:id="rId8"/>
    <p:sldId id="281" r:id="rId9"/>
    <p:sldId id="282" r:id="rId10"/>
    <p:sldId id="280" r:id="rId11"/>
    <p:sldId id="284" r:id="rId12"/>
    <p:sldId id="285" r:id="rId13"/>
    <p:sldId id="283" r:id="rId14"/>
    <p:sldId id="286" r:id="rId15"/>
    <p:sldId id="287" r:id="rId16"/>
    <p:sldId id="288" r:id="rId17"/>
    <p:sldId id="289" r:id="rId18"/>
    <p:sldId id="290" r:id="rId19"/>
    <p:sldId id="291" r:id="rId20"/>
    <p:sldId id="292" r:id="rId21"/>
    <p:sldId id="293" r:id="rId22"/>
    <p:sldId id="294" r:id="rId23"/>
    <p:sldId id="295" r:id="rId24"/>
    <p:sldId id="296" r:id="rId25"/>
    <p:sldId id="301" r:id="rId26"/>
    <p:sldId id="297" r:id="rId27"/>
    <p:sldId id="298" r:id="rId28"/>
    <p:sldId id="299" r:id="rId29"/>
    <p:sldId id="300" r:id="rId30"/>
    <p:sldId id="302" r:id="rId31"/>
    <p:sldId id="303" r:id="rId32"/>
    <p:sldId id="304" r:id="rId33"/>
    <p:sldId id="305" r:id="rId34"/>
    <p:sldId id="306" r:id="rId35"/>
    <p:sldId id="307" r:id="rId36"/>
    <p:sldId id="308" r:id="rId37"/>
    <p:sldId id="309" r:id="rId38"/>
    <p:sldId id="310" r:id="rId39"/>
    <p:sldId id="311" r:id="rId40"/>
    <p:sldId id="312" r:id="rId41"/>
    <p:sldId id="313" r:id="rId42"/>
    <p:sldId id="314" r:id="rId43"/>
    <p:sldId id="316" r:id="rId44"/>
    <p:sldId id="317" r:id="rId45"/>
    <p:sldId id="315" r:id="rId46"/>
    <p:sldId id="318" r:id="rId47"/>
    <p:sldId id="319" r:id="rId48"/>
  </p:sldIdLst>
  <p:sldSz cx="9144000" cy="6858000" type="screen4x3"/>
  <p:notesSz cx="6858000" cy="9144000"/>
  <p:defaultTextStyle>
    <a:defPPr rtl="0">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86" d="100"/>
          <a:sy n="86" d="100"/>
        </p:scale>
        <p:origin x="1382" y="72"/>
      </p:cViewPr>
      <p:guideLst>
        <p:guide orient="horz" pos="2160"/>
        <p:guide pos="2880"/>
      </p:guideLst>
    </p:cSldViewPr>
  </p:slideViewPr>
  <p:notesTextViewPr>
    <p:cViewPr>
      <p:scale>
        <a:sx n="1" d="1"/>
        <a:sy n="1" d="1"/>
      </p:scale>
      <p:origin x="0" y="0"/>
    </p:cViewPr>
  </p:notesTextViewPr>
  <p:notesViewPr>
    <p:cSldViewPr snapToGrid="0" showGuides="1">
      <p:cViewPr varScale="1">
        <p:scale>
          <a:sx n="99" d="100"/>
          <a:sy n="99" d="100"/>
        </p:scale>
        <p:origin x="3570"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handoutMaster" Target="handoutMasters/handout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C995058-FF0E-41CB-83DE-49CB7AA0451B}"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zh-CN" altLang="en-US"/>
        </a:p>
      </dgm:t>
    </dgm:pt>
    <dgm:pt modelId="{7A7B0B22-734B-4B60-945C-1C217C0DCF06}">
      <dgm:prSet/>
      <dgm:spPr/>
      <dgm:t>
        <a:bodyPr/>
        <a:lstStyle/>
        <a:p>
          <a:pPr rtl="0"/>
          <a:r>
            <a:rPr lang="en-US" altLang="zh-CN" b="1" dirty="0"/>
            <a:t>Token name</a:t>
          </a:r>
          <a:endParaRPr lang="zh-CN" b="1" dirty="0"/>
        </a:p>
      </dgm:t>
    </dgm:pt>
    <dgm:pt modelId="{456BE404-FE92-4653-847B-13A4C466193B}" type="parTrans" cxnId="{5DD742A0-E47B-434B-A367-28698D9A94AC}">
      <dgm:prSet/>
      <dgm:spPr/>
      <dgm:t>
        <a:bodyPr/>
        <a:lstStyle/>
        <a:p>
          <a:endParaRPr lang="zh-CN" altLang="en-US"/>
        </a:p>
      </dgm:t>
    </dgm:pt>
    <dgm:pt modelId="{AE7C2B2F-D38B-4001-BCA5-264E08C8A118}" type="sibTrans" cxnId="{5DD742A0-E47B-434B-A367-28698D9A94AC}">
      <dgm:prSet/>
      <dgm:spPr/>
      <dgm:t>
        <a:bodyPr/>
        <a:lstStyle/>
        <a:p>
          <a:endParaRPr lang="zh-CN" altLang="en-US"/>
        </a:p>
      </dgm:t>
    </dgm:pt>
    <dgm:pt modelId="{9E15A5BC-F5FB-4E00-804A-B436A47DF563}">
      <dgm:prSet/>
      <dgm:spPr/>
      <dgm:t>
        <a:bodyPr/>
        <a:lstStyle/>
        <a:p>
          <a:pPr rtl="0"/>
          <a:r>
            <a:rPr lang="en-US" dirty="0">
              <a:solidFill>
                <a:srgbClr val="7030A0"/>
              </a:solidFill>
            </a:rPr>
            <a:t>Keyword</a:t>
          </a:r>
          <a:r>
            <a:rPr lang="zh-CN" dirty="0">
              <a:solidFill>
                <a:srgbClr val="7030A0"/>
              </a:solidFill>
            </a:rPr>
            <a:t>：</a:t>
          </a:r>
          <a:r>
            <a:rPr lang="en-US" dirty="0"/>
            <a:t>if, while, switch, … (</a:t>
          </a:r>
          <a:r>
            <a:rPr lang="en-US" altLang="zh-CN" dirty="0">
              <a:solidFill>
                <a:srgbClr val="00B050"/>
              </a:solidFill>
            </a:rPr>
            <a:t>any keyword as a token name</a:t>
          </a:r>
          <a:r>
            <a:rPr lang="en-US" dirty="0"/>
            <a:t>)</a:t>
          </a:r>
          <a:endParaRPr lang="zh-CN" dirty="0"/>
        </a:p>
      </dgm:t>
    </dgm:pt>
    <dgm:pt modelId="{2CB3AB6F-EC4C-462C-B0A4-BF6AE9730CE1}" type="parTrans" cxnId="{75EFCF67-004A-4A13-AC60-80FC5828F0CC}">
      <dgm:prSet/>
      <dgm:spPr/>
      <dgm:t>
        <a:bodyPr/>
        <a:lstStyle/>
        <a:p>
          <a:endParaRPr lang="zh-CN" altLang="en-US"/>
        </a:p>
      </dgm:t>
    </dgm:pt>
    <dgm:pt modelId="{AFC0727E-1890-487B-A3E2-065B0FBAA484}" type="sibTrans" cxnId="{75EFCF67-004A-4A13-AC60-80FC5828F0CC}">
      <dgm:prSet/>
      <dgm:spPr/>
      <dgm:t>
        <a:bodyPr/>
        <a:lstStyle/>
        <a:p>
          <a:endParaRPr lang="zh-CN" altLang="en-US"/>
        </a:p>
      </dgm:t>
    </dgm:pt>
    <dgm:pt modelId="{4099513A-59D9-46D4-8773-E5C9061AA494}">
      <dgm:prSet/>
      <dgm:spPr/>
      <dgm:t>
        <a:bodyPr/>
        <a:lstStyle/>
        <a:p>
          <a:pPr rtl="0"/>
          <a:r>
            <a:rPr lang="en-US" dirty="0">
              <a:solidFill>
                <a:srgbClr val="7030A0"/>
              </a:solidFill>
            </a:rPr>
            <a:t>Identifier</a:t>
          </a:r>
          <a:r>
            <a:rPr lang="zh-CN" dirty="0">
              <a:solidFill>
                <a:srgbClr val="7030A0"/>
              </a:solidFill>
            </a:rPr>
            <a:t>：</a:t>
          </a:r>
          <a:r>
            <a:rPr lang="en-US" altLang="zh-CN" dirty="0"/>
            <a:t>variables, functions, classes… defined by users </a:t>
          </a:r>
          <a:r>
            <a:rPr lang="en-US" dirty="0"/>
            <a:t>…  (</a:t>
          </a:r>
          <a:r>
            <a:rPr lang="en-US" altLang="zh-CN" dirty="0">
              <a:solidFill>
                <a:srgbClr val="00B050"/>
              </a:solidFill>
            </a:rPr>
            <a:t>all identifiers have one token name </a:t>
          </a:r>
          <a:r>
            <a:rPr lang="en-US" altLang="zh-CN" b="1" dirty="0">
              <a:solidFill>
                <a:schemeClr val="tx2"/>
              </a:solidFill>
            </a:rPr>
            <a:t>id</a:t>
          </a:r>
          <a:r>
            <a:rPr lang="en-US" dirty="0"/>
            <a:t>)</a:t>
          </a:r>
          <a:endParaRPr lang="zh-CN" dirty="0"/>
        </a:p>
      </dgm:t>
    </dgm:pt>
    <dgm:pt modelId="{ED8F94D8-FA52-46E1-B737-9ACD1336EC6D}" type="parTrans" cxnId="{47A244CF-CC22-4301-8F69-727FD5D93BC8}">
      <dgm:prSet/>
      <dgm:spPr/>
      <dgm:t>
        <a:bodyPr/>
        <a:lstStyle/>
        <a:p>
          <a:endParaRPr lang="zh-CN" altLang="en-US"/>
        </a:p>
      </dgm:t>
    </dgm:pt>
    <dgm:pt modelId="{1F12A164-1875-48EC-A15E-F404BF810F89}" type="sibTrans" cxnId="{47A244CF-CC22-4301-8F69-727FD5D93BC8}">
      <dgm:prSet/>
      <dgm:spPr/>
      <dgm:t>
        <a:bodyPr/>
        <a:lstStyle/>
        <a:p>
          <a:endParaRPr lang="zh-CN" altLang="en-US"/>
        </a:p>
      </dgm:t>
    </dgm:pt>
    <dgm:pt modelId="{371CAAA0-553A-4287-BC28-19D08863B9E7}">
      <dgm:prSet/>
      <dgm:spPr/>
      <dgm:t>
        <a:bodyPr/>
        <a:lstStyle/>
        <a:p>
          <a:pPr rtl="0"/>
          <a:r>
            <a:rPr lang="en-US" dirty="0">
              <a:solidFill>
                <a:srgbClr val="7030A0"/>
              </a:solidFill>
            </a:rPr>
            <a:t>Constant</a:t>
          </a:r>
          <a:r>
            <a:rPr lang="zh-CN" dirty="0">
              <a:solidFill>
                <a:srgbClr val="7030A0"/>
              </a:solidFill>
            </a:rPr>
            <a:t>：</a:t>
          </a:r>
          <a:r>
            <a:rPr lang="en-US" altLang="zh-CN" dirty="0"/>
            <a:t>integer</a:t>
          </a:r>
          <a:r>
            <a:rPr lang="zh-CN" dirty="0"/>
            <a:t>，</a:t>
          </a:r>
          <a:r>
            <a:rPr lang="en-US" altLang="zh-CN" dirty="0"/>
            <a:t>float, Boolean</a:t>
          </a:r>
          <a:r>
            <a:rPr lang="zh-CN" dirty="0"/>
            <a:t>，</a:t>
          </a:r>
          <a:r>
            <a:rPr lang="en-US" altLang="zh-CN" dirty="0"/>
            <a:t>literature </a:t>
          </a:r>
          <a:r>
            <a:rPr lang="zh-CN" altLang="en-US" dirty="0"/>
            <a:t>（</a:t>
          </a:r>
          <a:r>
            <a:rPr lang="en-US" altLang="zh-CN" dirty="0">
              <a:solidFill>
                <a:srgbClr val="00B050"/>
              </a:solidFill>
            </a:rPr>
            <a:t>Each type has a token name</a:t>
          </a:r>
          <a:r>
            <a:rPr lang="zh-CN" altLang="en-US" dirty="0"/>
            <a:t>）</a:t>
          </a:r>
          <a:endParaRPr lang="zh-CN" dirty="0"/>
        </a:p>
      </dgm:t>
    </dgm:pt>
    <dgm:pt modelId="{227C915B-E4DF-4E54-A3BB-05F0181BA3C1}" type="parTrans" cxnId="{98D043D9-AC68-412D-9D3F-EB90CA262758}">
      <dgm:prSet/>
      <dgm:spPr/>
      <dgm:t>
        <a:bodyPr/>
        <a:lstStyle/>
        <a:p>
          <a:endParaRPr lang="zh-CN" altLang="en-US"/>
        </a:p>
      </dgm:t>
    </dgm:pt>
    <dgm:pt modelId="{4751C367-B6B0-4610-9A17-9E8523D1F0DB}" type="sibTrans" cxnId="{98D043D9-AC68-412D-9D3F-EB90CA262758}">
      <dgm:prSet/>
      <dgm:spPr/>
      <dgm:t>
        <a:bodyPr/>
        <a:lstStyle/>
        <a:p>
          <a:endParaRPr lang="zh-CN" altLang="en-US"/>
        </a:p>
      </dgm:t>
    </dgm:pt>
    <dgm:pt modelId="{C901F106-DC0E-410B-B6B5-8ACA44DDD770}">
      <dgm:prSet/>
      <dgm:spPr/>
      <dgm:t>
        <a:bodyPr/>
        <a:lstStyle/>
        <a:p>
          <a:pPr rtl="0"/>
          <a:r>
            <a:rPr lang="en-US" dirty="0">
              <a:solidFill>
                <a:srgbClr val="7030A0"/>
              </a:solidFill>
            </a:rPr>
            <a:t>Operator</a:t>
          </a:r>
          <a:r>
            <a:rPr lang="zh-CN" dirty="0">
              <a:solidFill>
                <a:srgbClr val="7030A0"/>
              </a:solidFill>
            </a:rPr>
            <a:t>：</a:t>
          </a:r>
          <a:r>
            <a:rPr lang="en-US" dirty="0"/>
            <a:t>+, -, *, /, %, … </a:t>
          </a:r>
          <a:r>
            <a:rPr lang="zh-CN" altLang="en-US" dirty="0"/>
            <a:t>（</a:t>
          </a:r>
          <a:r>
            <a:rPr lang="en-US" altLang="zh-CN" dirty="0">
              <a:solidFill>
                <a:srgbClr val="00B050"/>
              </a:solidFill>
            </a:rPr>
            <a:t>each operator has a token name or each type has a token</a:t>
          </a:r>
          <a:r>
            <a:rPr lang="zh-CN" altLang="en-US" dirty="0"/>
            <a:t>）</a:t>
          </a:r>
          <a:endParaRPr lang="zh-CN" dirty="0"/>
        </a:p>
      </dgm:t>
    </dgm:pt>
    <dgm:pt modelId="{DA845C3F-5661-4CEC-8AF9-3FF1E5A6733A}" type="parTrans" cxnId="{9492A9F8-89BD-411D-AB21-5F59FED40E43}">
      <dgm:prSet/>
      <dgm:spPr/>
      <dgm:t>
        <a:bodyPr/>
        <a:lstStyle/>
        <a:p>
          <a:endParaRPr lang="zh-CN" altLang="en-US"/>
        </a:p>
      </dgm:t>
    </dgm:pt>
    <dgm:pt modelId="{E25C93A2-ADAF-433A-A457-56D7ECD2B4F4}" type="sibTrans" cxnId="{9492A9F8-89BD-411D-AB21-5F59FED40E43}">
      <dgm:prSet/>
      <dgm:spPr/>
      <dgm:t>
        <a:bodyPr/>
        <a:lstStyle/>
        <a:p>
          <a:endParaRPr lang="zh-CN" altLang="en-US"/>
        </a:p>
      </dgm:t>
    </dgm:pt>
    <dgm:pt modelId="{37B1083F-5F9D-4EF9-B7A1-F5D4A9BED552}">
      <dgm:prSet/>
      <dgm:spPr/>
      <dgm:t>
        <a:bodyPr/>
        <a:lstStyle/>
        <a:p>
          <a:pPr rtl="0"/>
          <a:r>
            <a:rPr lang="en-US" dirty="0">
              <a:solidFill>
                <a:srgbClr val="7030A0"/>
              </a:solidFill>
            </a:rPr>
            <a:t>Delimiter</a:t>
          </a:r>
          <a:r>
            <a:rPr lang="zh-CN" dirty="0">
              <a:solidFill>
                <a:srgbClr val="7030A0"/>
              </a:solidFill>
            </a:rPr>
            <a:t>：</a:t>
          </a:r>
          <a:r>
            <a:rPr lang="en-US" dirty="0"/>
            <a:t>;, {, /**/, … (</a:t>
          </a:r>
          <a:r>
            <a:rPr lang="en-US" altLang="zh-CN" dirty="0">
              <a:solidFill>
                <a:srgbClr val="00B050"/>
              </a:solidFill>
            </a:rPr>
            <a:t>each delimiter has as token name</a:t>
          </a:r>
          <a:r>
            <a:rPr lang="en-US" dirty="0"/>
            <a:t>)</a:t>
          </a:r>
          <a:endParaRPr lang="zh-CN" dirty="0"/>
        </a:p>
      </dgm:t>
    </dgm:pt>
    <dgm:pt modelId="{B05BC6FF-B78D-402B-B893-CF46A53438BA}" type="parTrans" cxnId="{170E3DF7-D70F-451A-A11A-51DF9A0BDAF6}">
      <dgm:prSet/>
      <dgm:spPr/>
      <dgm:t>
        <a:bodyPr/>
        <a:lstStyle/>
        <a:p>
          <a:endParaRPr lang="zh-CN" altLang="en-US"/>
        </a:p>
      </dgm:t>
    </dgm:pt>
    <dgm:pt modelId="{4B78AF72-CAF9-4DD9-A13F-E7A8318C9F99}" type="sibTrans" cxnId="{170E3DF7-D70F-451A-A11A-51DF9A0BDAF6}">
      <dgm:prSet/>
      <dgm:spPr/>
      <dgm:t>
        <a:bodyPr/>
        <a:lstStyle/>
        <a:p>
          <a:endParaRPr lang="zh-CN" altLang="en-US"/>
        </a:p>
      </dgm:t>
    </dgm:pt>
    <dgm:pt modelId="{B8E74565-FFDD-4628-9D12-03E931DBC576}" type="pres">
      <dgm:prSet presAssocID="{DC995058-FF0E-41CB-83DE-49CB7AA0451B}" presName="linear" presStyleCnt="0">
        <dgm:presLayoutVars>
          <dgm:animLvl val="lvl"/>
          <dgm:resizeHandles val="exact"/>
        </dgm:presLayoutVars>
      </dgm:prSet>
      <dgm:spPr/>
    </dgm:pt>
    <dgm:pt modelId="{21512F9D-CB85-41E5-9782-82FB2BC55C5A}" type="pres">
      <dgm:prSet presAssocID="{7A7B0B22-734B-4B60-945C-1C217C0DCF06}" presName="parentText" presStyleLbl="node1" presStyleIdx="0" presStyleCnt="1" custScaleY="104096" custLinFactNeighborX="-4441" custLinFactNeighborY="-36117">
        <dgm:presLayoutVars>
          <dgm:chMax val="0"/>
          <dgm:bulletEnabled val="1"/>
        </dgm:presLayoutVars>
      </dgm:prSet>
      <dgm:spPr/>
    </dgm:pt>
    <dgm:pt modelId="{1FD7BE0E-4983-47C5-BFC4-098EA77686C0}" type="pres">
      <dgm:prSet presAssocID="{7A7B0B22-734B-4B60-945C-1C217C0DCF06}" presName="childText" presStyleLbl="revTx" presStyleIdx="0" presStyleCnt="1">
        <dgm:presLayoutVars>
          <dgm:bulletEnabled val="1"/>
        </dgm:presLayoutVars>
      </dgm:prSet>
      <dgm:spPr/>
    </dgm:pt>
  </dgm:ptLst>
  <dgm:cxnLst>
    <dgm:cxn modelId="{DCF94907-6DF5-42B9-9B40-4B748013339F}" type="presOf" srcId="{DC995058-FF0E-41CB-83DE-49CB7AA0451B}" destId="{B8E74565-FFDD-4628-9D12-03E931DBC576}" srcOrd="0" destOrd="0" presId="urn:microsoft.com/office/officeart/2005/8/layout/vList2"/>
    <dgm:cxn modelId="{75EFCF67-004A-4A13-AC60-80FC5828F0CC}" srcId="{7A7B0B22-734B-4B60-945C-1C217C0DCF06}" destId="{9E15A5BC-F5FB-4E00-804A-B436A47DF563}" srcOrd="0" destOrd="0" parTransId="{2CB3AB6F-EC4C-462C-B0A4-BF6AE9730CE1}" sibTransId="{AFC0727E-1890-487B-A3E2-065B0FBAA484}"/>
    <dgm:cxn modelId="{85CADC55-BCF0-4E57-9CF1-60AC2789B93A}" type="presOf" srcId="{C901F106-DC0E-410B-B6B5-8ACA44DDD770}" destId="{1FD7BE0E-4983-47C5-BFC4-098EA77686C0}" srcOrd="0" destOrd="3" presId="urn:microsoft.com/office/officeart/2005/8/layout/vList2"/>
    <dgm:cxn modelId="{168F9192-8636-48B1-AE42-A3701B68A268}" type="presOf" srcId="{371CAAA0-553A-4287-BC28-19D08863B9E7}" destId="{1FD7BE0E-4983-47C5-BFC4-098EA77686C0}" srcOrd="0" destOrd="2" presId="urn:microsoft.com/office/officeart/2005/8/layout/vList2"/>
    <dgm:cxn modelId="{5DD742A0-E47B-434B-A367-28698D9A94AC}" srcId="{DC995058-FF0E-41CB-83DE-49CB7AA0451B}" destId="{7A7B0B22-734B-4B60-945C-1C217C0DCF06}" srcOrd="0" destOrd="0" parTransId="{456BE404-FE92-4653-847B-13A4C466193B}" sibTransId="{AE7C2B2F-D38B-4001-BCA5-264E08C8A118}"/>
    <dgm:cxn modelId="{DAC12EA8-D868-4325-ACB9-D9BF3C7EDE4D}" type="presOf" srcId="{37B1083F-5F9D-4EF9-B7A1-F5D4A9BED552}" destId="{1FD7BE0E-4983-47C5-BFC4-098EA77686C0}" srcOrd="0" destOrd="4" presId="urn:microsoft.com/office/officeart/2005/8/layout/vList2"/>
    <dgm:cxn modelId="{C73B15CA-F903-47C8-9A56-1F663AD6D45A}" type="presOf" srcId="{7A7B0B22-734B-4B60-945C-1C217C0DCF06}" destId="{21512F9D-CB85-41E5-9782-82FB2BC55C5A}" srcOrd="0" destOrd="0" presId="urn:microsoft.com/office/officeart/2005/8/layout/vList2"/>
    <dgm:cxn modelId="{47A244CF-CC22-4301-8F69-727FD5D93BC8}" srcId="{7A7B0B22-734B-4B60-945C-1C217C0DCF06}" destId="{4099513A-59D9-46D4-8773-E5C9061AA494}" srcOrd="1" destOrd="0" parTransId="{ED8F94D8-FA52-46E1-B737-9ACD1336EC6D}" sibTransId="{1F12A164-1875-48EC-A15E-F404BF810F89}"/>
    <dgm:cxn modelId="{642EB2D3-C439-498A-B2D6-DAC8BC54BD1A}" type="presOf" srcId="{4099513A-59D9-46D4-8773-E5C9061AA494}" destId="{1FD7BE0E-4983-47C5-BFC4-098EA77686C0}" srcOrd="0" destOrd="1" presId="urn:microsoft.com/office/officeart/2005/8/layout/vList2"/>
    <dgm:cxn modelId="{98D043D9-AC68-412D-9D3F-EB90CA262758}" srcId="{7A7B0B22-734B-4B60-945C-1C217C0DCF06}" destId="{371CAAA0-553A-4287-BC28-19D08863B9E7}" srcOrd="2" destOrd="0" parTransId="{227C915B-E4DF-4E54-A3BB-05F0181BA3C1}" sibTransId="{4751C367-B6B0-4610-9A17-9E8523D1F0DB}"/>
    <dgm:cxn modelId="{09BDFAE1-A3C1-4F6D-A37C-2EFD851F5F35}" type="presOf" srcId="{9E15A5BC-F5FB-4E00-804A-B436A47DF563}" destId="{1FD7BE0E-4983-47C5-BFC4-098EA77686C0}" srcOrd="0" destOrd="0" presId="urn:microsoft.com/office/officeart/2005/8/layout/vList2"/>
    <dgm:cxn modelId="{170E3DF7-D70F-451A-A11A-51DF9A0BDAF6}" srcId="{7A7B0B22-734B-4B60-945C-1C217C0DCF06}" destId="{37B1083F-5F9D-4EF9-B7A1-F5D4A9BED552}" srcOrd="4" destOrd="0" parTransId="{B05BC6FF-B78D-402B-B893-CF46A53438BA}" sibTransId="{4B78AF72-CAF9-4DD9-A13F-E7A8318C9F99}"/>
    <dgm:cxn modelId="{9492A9F8-89BD-411D-AB21-5F59FED40E43}" srcId="{7A7B0B22-734B-4B60-945C-1C217C0DCF06}" destId="{C901F106-DC0E-410B-B6B5-8ACA44DDD770}" srcOrd="3" destOrd="0" parTransId="{DA845C3F-5661-4CEC-8AF9-3FF1E5A6733A}" sibTransId="{E25C93A2-ADAF-433A-A457-56D7ECD2B4F4}"/>
    <dgm:cxn modelId="{AE537485-6DED-4404-AEF5-B924F6B18CE8}" type="presParOf" srcId="{B8E74565-FFDD-4628-9D12-03E931DBC576}" destId="{21512F9D-CB85-41E5-9782-82FB2BC55C5A}" srcOrd="0" destOrd="0" presId="urn:microsoft.com/office/officeart/2005/8/layout/vList2"/>
    <dgm:cxn modelId="{50B6E878-5107-4AB3-9262-FDA290DAFED9}" type="presParOf" srcId="{B8E74565-FFDD-4628-9D12-03E931DBC576}" destId="{1FD7BE0E-4983-47C5-BFC4-098EA77686C0}"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512F9D-CB85-41E5-9782-82FB2BC55C5A}">
      <dsp:nvSpPr>
        <dsp:cNvPr id="0" name=""/>
        <dsp:cNvSpPr/>
      </dsp:nvSpPr>
      <dsp:spPr>
        <a:xfrm>
          <a:off x="0" y="0"/>
          <a:ext cx="7942390" cy="584603"/>
        </a:xfrm>
        <a:prstGeom prst="roundRect">
          <a:avLst/>
        </a:prstGeom>
        <a:solidFill>
          <a:schemeClr val="accent5">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n-US" altLang="zh-CN" sz="2400" b="1" kern="1200" dirty="0"/>
            <a:t>Token name</a:t>
          </a:r>
          <a:endParaRPr lang="zh-CN" sz="2400" b="1" kern="1200" dirty="0"/>
        </a:p>
      </dsp:txBody>
      <dsp:txXfrm>
        <a:off x="28538" y="28538"/>
        <a:ext cx="7885314" cy="527527"/>
      </dsp:txXfrm>
    </dsp:sp>
    <dsp:sp modelId="{1FD7BE0E-4983-47C5-BFC4-098EA77686C0}">
      <dsp:nvSpPr>
        <dsp:cNvPr id="0" name=""/>
        <dsp:cNvSpPr/>
      </dsp:nvSpPr>
      <dsp:spPr>
        <a:xfrm>
          <a:off x="0" y="917105"/>
          <a:ext cx="7942390" cy="2285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2171" tIns="30480" rIns="170688" bIns="30480" numCol="1" spcCol="1270" anchor="t" anchorCtr="0">
          <a:noAutofit/>
        </a:bodyPr>
        <a:lstStyle/>
        <a:p>
          <a:pPr marL="171450" lvl="1" indent="-171450" algn="l" defTabSz="844550" rtl="0">
            <a:lnSpc>
              <a:spcPct val="90000"/>
            </a:lnSpc>
            <a:spcBef>
              <a:spcPct val="0"/>
            </a:spcBef>
            <a:spcAft>
              <a:spcPct val="20000"/>
            </a:spcAft>
            <a:buChar char="•"/>
          </a:pPr>
          <a:r>
            <a:rPr lang="en-US" sz="1900" kern="1200" dirty="0">
              <a:solidFill>
                <a:srgbClr val="7030A0"/>
              </a:solidFill>
            </a:rPr>
            <a:t>Keyword</a:t>
          </a:r>
          <a:r>
            <a:rPr lang="zh-CN" sz="1900" kern="1200" dirty="0">
              <a:solidFill>
                <a:srgbClr val="7030A0"/>
              </a:solidFill>
            </a:rPr>
            <a:t>：</a:t>
          </a:r>
          <a:r>
            <a:rPr lang="en-US" sz="1900" kern="1200" dirty="0"/>
            <a:t>if, while, switch, … (</a:t>
          </a:r>
          <a:r>
            <a:rPr lang="en-US" altLang="zh-CN" sz="1900" kern="1200" dirty="0">
              <a:solidFill>
                <a:srgbClr val="00B050"/>
              </a:solidFill>
            </a:rPr>
            <a:t>any keyword as a token name</a:t>
          </a:r>
          <a:r>
            <a:rPr lang="en-US" sz="1900" kern="1200" dirty="0"/>
            <a:t>)</a:t>
          </a:r>
          <a:endParaRPr lang="zh-CN" sz="1900" kern="1200" dirty="0"/>
        </a:p>
        <a:p>
          <a:pPr marL="171450" lvl="1" indent="-171450" algn="l" defTabSz="844550" rtl="0">
            <a:lnSpc>
              <a:spcPct val="90000"/>
            </a:lnSpc>
            <a:spcBef>
              <a:spcPct val="0"/>
            </a:spcBef>
            <a:spcAft>
              <a:spcPct val="20000"/>
            </a:spcAft>
            <a:buChar char="•"/>
          </a:pPr>
          <a:r>
            <a:rPr lang="en-US" sz="1900" kern="1200" dirty="0">
              <a:solidFill>
                <a:srgbClr val="7030A0"/>
              </a:solidFill>
            </a:rPr>
            <a:t>Identifier</a:t>
          </a:r>
          <a:r>
            <a:rPr lang="zh-CN" sz="1900" kern="1200" dirty="0">
              <a:solidFill>
                <a:srgbClr val="7030A0"/>
              </a:solidFill>
            </a:rPr>
            <a:t>：</a:t>
          </a:r>
          <a:r>
            <a:rPr lang="en-US" altLang="zh-CN" sz="1900" kern="1200" dirty="0"/>
            <a:t>variables, functions, classes… defined by users </a:t>
          </a:r>
          <a:r>
            <a:rPr lang="en-US" sz="1900" kern="1200" dirty="0"/>
            <a:t>…  (</a:t>
          </a:r>
          <a:r>
            <a:rPr lang="en-US" altLang="zh-CN" sz="1900" kern="1200" dirty="0">
              <a:solidFill>
                <a:srgbClr val="00B050"/>
              </a:solidFill>
            </a:rPr>
            <a:t>all identifiers have one token name </a:t>
          </a:r>
          <a:r>
            <a:rPr lang="en-US" altLang="zh-CN" sz="1900" b="1" kern="1200" dirty="0">
              <a:solidFill>
                <a:schemeClr val="tx2"/>
              </a:solidFill>
            </a:rPr>
            <a:t>id</a:t>
          </a:r>
          <a:r>
            <a:rPr lang="en-US" sz="1900" kern="1200" dirty="0"/>
            <a:t>)</a:t>
          </a:r>
          <a:endParaRPr lang="zh-CN" sz="1900" kern="1200" dirty="0"/>
        </a:p>
        <a:p>
          <a:pPr marL="171450" lvl="1" indent="-171450" algn="l" defTabSz="844550" rtl="0">
            <a:lnSpc>
              <a:spcPct val="90000"/>
            </a:lnSpc>
            <a:spcBef>
              <a:spcPct val="0"/>
            </a:spcBef>
            <a:spcAft>
              <a:spcPct val="20000"/>
            </a:spcAft>
            <a:buChar char="•"/>
          </a:pPr>
          <a:r>
            <a:rPr lang="en-US" sz="1900" kern="1200" dirty="0">
              <a:solidFill>
                <a:srgbClr val="7030A0"/>
              </a:solidFill>
            </a:rPr>
            <a:t>Constant</a:t>
          </a:r>
          <a:r>
            <a:rPr lang="zh-CN" sz="1900" kern="1200" dirty="0">
              <a:solidFill>
                <a:srgbClr val="7030A0"/>
              </a:solidFill>
            </a:rPr>
            <a:t>：</a:t>
          </a:r>
          <a:r>
            <a:rPr lang="en-US" altLang="zh-CN" sz="1900" kern="1200" dirty="0"/>
            <a:t>integer</a:t>
          </a:r>
          <a:r>
            <a:rPr lang="zh-CN" sz="1900" kern="1200" dirty="0"/>
            <a:t>，</a:t>
          </a:r>
          <a:r>
            <a:rPr lang="en-US" altLang="zh-CN" sz="1900" kern="1200" dirty="0"/>
            <a:t>float, Boolean</a:t>
          </a:r>
          <a:r>
            <a:rPr lang="zh-CN" sz="1900" kern="1200" dirty="0"/>
            <a:t>，</a:t>
          </a:r>
          <a:r>
            <a:rPr lang="en-US" altLang="zh-CN" sz="1900" kern="1200" dirty="0"/>
            <a:t>literature </a:t>
          </a:r>
          <a:r>
            <a:rPr lang="zh-CN" altLang="en-US" sz="1900" kern="1200" dirty="0"/>
            <a:t>（</a:t>
          </a:r>
          <a:r>
            <a:rPr lang="en-US" altLang="zh-CN" sz="1900" kern="1200" dirty="0">
              <a:solidFill>
                <a:srgbClr val="00B050"/>
              </a:solidFill>
            </a:rPr>
            <a:t>Each type has a token name</a:t>
          </a:r>
          <a:r>
            <a:rPr lang="zh-CN" altLang="en-US" sz="1900" kern="1200" dirty="0"/>
            <a:t>）</a:t>
          </a:r>
          <a:endParaRPr lang="zh-CN" sz="1900" kern="1200" dirty="0"/>
        </a:p>
        <a:p>
          <a:pPr marL="171450" lvl="1" indent="-171450" algn="l" defTabSz="844550" rtl="0">
            <a:lnSpc>
              <a:spcPct val="90000"/>
            </a:lnSpc>
            <a:spcBef>
              <a:spcPct val="0"/>
            </a:spcBef>
            <a:spcAft>
              <a:spcPct val="20000"/>
            </a:spcAft>
            <a:buChar char="•"/>
          </a:pPr>
          <a:r>
            <a:rPr lang="en-US" sz="1900" kern="1200" dirty="0">
              <a:solidFill>
                <a:srgbClr val="7030A0"/>
              </a:solidFill>
            </a:rPr>
            <a:t>Operator</a:t>
          </a:r>
          <a:r>
            <a:rPr lang="zh-CN" sz="1900" kern="1200" dirty="0">
              <a:solidFill>
                <a:srgbClr val="7030A0"/>
              </a:solidFill>
            </a:rPr>
            <a:t>：</a:t>
          </a:r>
          <a:r>
            <a:rPr lang="en-US" sz="1900" kern="1200" dirty="0"/>
            <a:t>+, -, *, /, %, … </a:t>
          </a:r>
          <a:r>
            <a:rPr lang="zh-CN" altLang="en-US" sz="1900" kern="1200" dirty="0"/>
            <a:t>（</a:t>
          </a:r>
          <a:r>
            <a:rPr lang="en-US" altLang="zh-CN" sz="1900" kern="1200" dirty="0">
              <a:solidFill>
                <a:srgbClr val="00B050"/>
              </a:solidFill>
            </a:rPr>
            <a:t>each operator has a token name or each type has a token</a:t>
          </a:r>
          <a:r>
            <a:rPr lang="zh-CN" altLang="en-US" sz="1900" kern="1200" dirty="0"/>
            <a:t>）</a:t>
          </a:r>
          <a:endParaRPr lang="zh-CN" sz="1900" kern="1200" dirty="0"/>
        </a:p>
        <a:p>
          <a:pPr marL="171450" lvl="1" indent="-171450" algn="l" defTabSz="844550" rtl="0">
            <a:lnSpc>
              <a:spcPct val="90000"/>
            </a:lnSpc>
            <a:spcBef>
              <a:spcPct val="0"/>
            </a:spcBef>
            <a:spcAft>
              <a:spcPct val="20000"/>
            </a:spcAft>
            <a:buChar char="•"/>
          </a:pPr>
          <a:r>
            <a:rPr lang="en-US" sz="1900" kern="1200" dirty="0">
              <a:solidFill>
                <a:srgbClr val="7030A0"/>
              </a:solidFill>
            </a:rPr>
            <a:t>Delimiter</a:t>
          </a:r>
          <a:r>
            <a:rPr lang="zh-CN" sz="1900" kern="1200" dirty="0">
              <a:solidFill>
                <a:srgbClr val="7030A0"/>
              </a:solidFill>
            </a:rPr>
            <a:t>：</a:t>
          </a:r>
          <a:r>
            <a:rPr lang="en-US" sz="1900" kern="1200" dirty="0"/>
            <a:t>;, {, /**/, … (</a:t>
          </a:r>
          <a:r>
            <a:rPr lang="en-US" altLang="zh-CN" sz="1900" kern="1200" dirty="0">
              <a:solidFill>
                <a:srgbClr val="00B050"/>
              </a:solidFill>
            </a:rPr>
            <a:t>each delimiter has as token name</a:t>
          </a:r>
          <a:r>
            <a:rPr lang="en-US" sz="1900" kern="1200" dirty="0"/>
            <a:t>)</a:t>
          </a:r>
          <a:endParaRPr lang="zh-CN" sz="1900" kern="1200" dirty="0"/>
        </a:p>
      </dsp:txBody>
      <dsp:txXfrm>
        <a:off x="0" y="917105"/>
        <a:ext cx="7942390" cy="228528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12.wmf"/><Relationship Id="rId13" Type="http://schemas.openxmlformats.org/officeDocument/2006/relationships/image" Target="../media/image17.wmf"/><Relationship Id="rId3" Type="http://schemas.openxmlformats.org/officeDocument/2006/relationships/image" Target="../media/image7.wmf"/><Relationship Id="rId7" Type="http://schemas.openxmlformats.org/officeDocument/2006/relationships/image" Target="../media/image11.wmf"/><Relationship Id="rId12" Type="http://schemas.openxmlformats.org/officeDocument/2006/relationships/image" Target="../media/image16.wmf"/><Relationship Id="rId2" Type="http://schemas.openxmlformats.org/officeDocument/2006/relationships/image" Target="../media/image6.wmf"/><Relationship Id="rId1" Type="http://schemas.openxmlformats.org/officeDocument/2006/relationships/image" Target="../media/image5.wmf"/><Relationship Id="rId6" Type="http://schemas.openxmlformats.org/officeDocument/2006/relationships/image" Target="../media/image10.wmf"/><Relationship Id="rId11" Type="http://schemas.openxmlformats.org/officeDocument/2006/relationships/image" Target="../media/image15.wmf"/><Relationship Id="rId5" Type="http://schemas.openxmlformats.org/officeDocument/2006/relationships/image" Target="../media/image9.wmf"/><Relationship Id="rId10" Type="http://schemas.openxmlformats.org/officeDocument/2006/relationships/image" Target="../media/image14.wmf"/><Relationship Id="rId4" Type="http://schemas.openxmlformats.org/officeDocument/2006/relationships/image" Target="../media/image8.wmf"/><Relationship Id="rId9"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 Id="rId4" Type="http://schemas.openxmlformats.org/officeDocument/2006/relationships/image" Target="../media/image23.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 Id="rId5" Type="http://schemas.openxmlformats.org/officeDocument/2006/relationships/image" Target="../media/image28.wmf"/><Relationship Id="rId4" Type="http://schemas.openxmlformats.org/officeDocument/2006/relationships/image" Target="../media/image27.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 Id="rId5" Type="http://schemas.openxmlformats.org/officeDocument/2006/relationships/image" Target="../media/image33.wmf"/><Relationship Id="rId4" Type="http://schemas.openxmlformats.org/officeDocument/2006/relationships/image" Target="../media/image32.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 Id="rId6" Type="http://schemas.openxmlformats.org/officeDocument/2006/relationships/image" Target="../media/image40.wmf"/><Relationship Id="rId5" Type="http://schemas.openxmlformats.org/officeDocument/2006/relationships/image" Target="../media/image39.wmf"/><Relationship Id="rId4" Type="http://schemas.openxmlformats.org/officeDocument/2006/relationships/image" Target="../media/image38.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image" Target="../media/image42.wmf"/><Relationship Id="rId4" Type="http://schemas.openxmlformats.org/officeDocument/2006/relationships/image" Target="../media/image45.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image" Target="../media/image49.wmf"/><Relationship Id="rId1" Type="http://schemas.openxmlformats.org/officeDocument/2006/relationships/image" Target="../media/image48.wmf"/><Relationship Id="rId4" Type="http://schemas.openxmlformats.org/officeDocument/2006/relationships/image" Target="../media/image51.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54.wmf"/><Relationship Id="rId7" Type="http://schemas.openxmlformats.org/officeDocument/2006/relationships/image" Target="../media/image58.wmf"/><Relationship Id="rId2" Type="http://schemas.openxmlformats.org/officeDocument/2006/relationships/image" Target="../media/image53.wmf"/><Relationship Id="rId1" Type="http://schemas.openxmlformats.org/officeDocument/2006/relationships/image" Target="../media/image52.wmf"/><Relationship Id="rId6" Type="http://schemas.openxmlformats.org/officeDocument/2006/relationships/image" Target="../media/image57.wmf"/><Relationship Id="rId5" Type="http://schemas.openxmlformats.org/officeDocument/2006/relationships/image" Target="../media/image56.wmf"/><Relationship Id="rId4" Type="http://schemas.openxmlformats.org/officeDocument/2006/relationships/image" Target="../media/image55.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64.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67.wmf"/><Relationship Id="rId7" Type="http://schemas.openxmlformats.org/officeDocument/2006/relationships/image" Target="../media/image71.wmf"/><Relationship Id="rId2" Type="http://schemas.openxmlformats.org/officeDocument/2006/relationships/image" Target="../media/image66.wmf"/><Relationship Id="rId1" Type="http://schemas.openxmlformats.org/officeDocument/2006/relationships/image" Target="../media/image65.wmf"/><Relationship Id="rId6" Type="http://schemas.openxmlformats.org/officeDocument/2006/relationships/image" Target="../media/image70.wmf"/><Relationship Id="rId5" Type="http://schemas.openxmlformats.org/officeDocument/2006/relationships/image" Target="../media/image69.wmf"/><Relationship Id="rId4" Type="http://schemas.openxmlformats.org/officeDocument/2006/relationships/image" Target="../media/image68.w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81.wmf"/><Relationship Id="rId13" Type="http://schemas.openxmlformats.org/officeDocument/2006/relationships/image" Target="../media/image86.wmf"/><Relationship Id="rId3" Type="http://schemas.openxmlformats.org/officeDocument/2006/relationships/image" Target="../media/image76.wmf"/><Relationship Id="rId7" Type="http://schemas.openxmlformats.org/officeDocument/2006/relationships/image" Target="../media/image80.wmf"/><Relationship Id="rId12" Type="http://schemas.openxmlformats.org/officeDocument/2006/relationships/image" Target="../media/image85.wmf"/><Relationship Id="rId2" Type="http://schemas.openxmlformats.org/officeDocument/2006/relationships/image" Target="../media/image75.wmf"/><Relationship Id="rId1" Type="http://schemas.openxmlformats.org/officeDocument/2006/relationships/image" Target="../media/image65.wmf"/><Relationship Id="rId6" Type="http://schemas.openxmlformats.org/officeDocument/2006/relationships/image" Target="../media/image79.wmf"/><Relationship Id="rId11" Type="http://schemas.openxmlformats.org/officeDocument/2006/relationships/image" Target="../media/image84.wmf"/><Relationship Id="rId5" Type="http://schemas.openxmlformats.org/officeDocument/2006/relationships/image" Target="../media/image78.wmf"/><Relationship Id="rId10" Type="http://schemas.openxmlformats.org/officeDocument/2006/relationships/image" Target="../media/image83.wmf"/><Relationship Id="rId4" Type="http://schemas.openxmlformats.org/officeDocument/2006/relationships/image" Target="../media/image77.wmf"/><Relationship Id="rId9" Type="http://schemas.openxmlformats.org/officeDocument/2006/relationships/image" Target="../media/image82.wmf"/><Relationship Id="rId14" Type="http://schemas.openxmlformats.org/officeDocument/2006/relationships/image" Target="../media/image87.wmf"/></Relationships>
</file>

<file path=ppt/drawings/_rels/vmlDrawing15.vml.rels><?xml version="1.0" encoding="UTF-8" standalone="yes"?>
<Relationships xmlns="http://schemas.openxmlformats.org/package/2006/relationships"><Relationship Id="rId8" Type="http://schemas.openxmlformats.org/officeDocument/2006/relationships/image" Target="../media/image95.wmf"/><Relationship Id="rId3" Type="http://schemas.openxmlformats.org/officeDocument/2006/relationships/image" Target="../media/image90.wmf"/><Relationship Id="rId7" Type="http://schemas.openxmlformats.org/officeDocument/2006/relationships/image" Target="../media/image94.wmf"/><Relationship Id="rId2" Type="http://schemas.openxmlformats.org/officeDocument/2006/relationships/image" Target="../media/image89.wmf"/><Relationship Id="rId1" Type="http://schemas.openxmlformats.org/officeDocument/2006/relationships/image" Target="../media/image88.wmf"/><Relationship Id="rId6" Type="http://schemas.openxmlformats.org/officeDocument/2006/relationships/image" Target="../media/image93.wmf"/><Relationship Id="rId5" Type="http://schemas.openxmlformats.org/officeDocument/2006/relationships/image" Target="../media/image92.wmf"/><Relationship Id="rId4" Type="http://schemas.openxmlformats.org/officeDocument/2006/relationships/image" Target="../media/image91.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98.wmf"/><Relationship Id="rId7" Type="http://schemas.openxmlformats.org/officeDocument/2006/relationships/image" Target="../media/image102.wmf"/><Relationship Id="rId2" Type="http://schemas.openxmlformats.org/officeDocument/2006/relationships/image" Target="../media/image97.wmf"/><Relationship Id="rId1" Type="http://schemas.openxmlformats.org/officeDocument/2006/relationships/image" Target="../media/image96.wmf"/><Relationship Id="rId6" Type="http://schemas.openxmlformats.org/officeDocument/2006/relationships/image" Target="../media/image101.wmf"/><Relationship Id="rId5" Type="http://schemas.openxmlformats.org/officeDocument/2006/relationships/image" Target="../media/image100.wmf"/><Relationship Id="rId4" Type="http://schemas.openxmlformats.org/officeDocument/2006/relationships/image" Target="../media/image99.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104.wmf"/><Relationship Id="rId1" Type="http://schemas.openxmlformats.org/officeDocument/2006/relationships/image" Target="../media/image103.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109.wmf"/><Relationship Id="rId2" Type="http://schemas.openxmlformats.org/officeDocument/2006/relationships/image" Target="../media/image108.wmf"/><Relationship Id="rId1" Type="http://schemas.openxmlformats.org/officeDocument/2006/relationships/image" Target="../media/image107.wmf"/><Relationship Id="rId5" Type="http://schemas.openxmlformats.org/officeDocument/2006/relationships/image" Target="../media/image111.wmf"/><Relationship Id="rId4" Type="http://schemas.openxmlformats.org/officeDocument/2006/relationships/image" Target="../media/image110.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18.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22.wmf"/><Relationship Id="rId2" Type="http://schemas.openxmlformats.org/officeDocument/2006/relationships/image" Target="../media/image121.wmf"/><Relationship Id="rId1" Type="http://schemas.openxmlformats.org/officeDocument/2006/relationships/image" Target="../media/image120.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2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l" rtl="0">
              <a:defRPr sz="1200"/>
            </a:lvl1pPr>
          </a:lstStyle>
          <a:p>
            <a:pPr algn="r" rtl="0"/>
            <a:fld id="{91C0301E-2321-4F52-B85E-5901506D265C}" type="datetime1">
              <a:rPr lang="zh-CN" altLang="en-US" smtClean="0">
                <a:latin typeface="微软雅黑" panose="020B0503020204020204" pitchFamily="34" charset="-122"/>
                <a:ea typeface="微软雅黑" panose="020B0503020204020204" pitchFamily="34" charset="-122"/>
              </a:rPr>
              <a:pPr algn="r" rtl="0"/>
              <a:t>2018/6/11</a:t>
            </a:fld>
            <a:endParaRPr lang="zh-CN" altLang="en-US" dirty="0">
              <a:latin typeface="微软雅黑" panose="020B0503020204020204" pitchFamily="34" charset="-122"/>
              <a:ea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rtl="0">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l" rtl="0">
              <a:defRPr sz="1200"/>
            </a:lvl1pPr>
          </a:lstStyle>
          <a:p>
            <a:pPr algn="r" rtl="0"/>
            <a:fld id="{06834459-7356-44BF-850D-8B30C4FB3B6B}" type="slidenum">
              <a:rPr lang="en-US" altLang="zh-CN" smtClean="0">
                <a:latin typeface="微软雅黑" panose="020B0503020204020204" pitchFamily="34" charset="-122"/>
                <a:ea typeface="微软雅黑" panose="020B0503020204020204" pitchFamily="34" charset="-122"/>
              </a:rPr>
              <a:pPr algn="r" rtl="0"/>
              <a:t>‹#›</a:t>
            </a:fld>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atin typeface="微软雅黑" panose="020B0503020204020204" pitchFamily="34" charset="-122"/>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atin typeface="微软雅黑" panose="020B0503020204020204" pitchFamily="34" charset="-122"/>
                <a:ea typeface="微软雅黑" panose="020B0503020204020204" pitchFamily="34" charset="-122"/>
              </a:defRPr>
            </a:lvl1pPr>
          </a:lstStyle>
          <a:p>
            <a:fld id="{229B22C3-6CB1-491B-AD00-E0837F23A3F3}" type="datetime1">
              <a:rPr lang="zh-CN" altLang="en-US" smtClean="0"/>
              <a:pPr/>
              <a:t>2018/6/11</a:t>
            </a:fld>
            <a:endParaRPr lang="zh-CN" altLang="en-US" dirty="0"/>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rtl="0"/>
            <a:endParaRPr lang="zh-CN" altLang="en-US" noProof="0"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atin typeface="微软雅黑" panose="020B0503020204020204" pitchFamily="34" charset="-122"/>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atin typeface="微软雅黑" panose="020B0503020204020204" pitchFamily="34" charset="-122"/>
                <a:ea typeface="微软雅黑" panose="020B0503020204020204" pitchFamily="34" charset="-122"/>
              </a:defRPr>
            </a:lvl1pPr>
          </a:lstStyle>
          <a:p>
            <a:fld id="{0A3C37BE-C303-496D-B5CD-85F2937540FC}" type="slidenum">
              <a:rPr lang="en-US" altLang="zh-CN" smtClean="0"/>
              <a:pPr/>
              <a:t>‹#›</a:t>
            </a:fld>
            <a:endParaRPr lang="en-US" altLang="zh-CN" dirty="0"/>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A3C37BE-C303-496D-B5CD-85F2937540FC}" type="slidenum">
              <a:rPr lang="en-US" altLang="zh-CN" smtClean="0"/>
              <a:pPr/>
              <a:t>1</a:t>
            </a:fld>
            <a:endParaRPr lang="en-US" altLang="zh-CN" dirty="0"/>
          </a:p>
        </p:txBody>
      </p:sp>
    </p:spTree>
    <p:extLst>
      <p:ext uri="{BB962C8B-B14F-4D97-AF65-F5344CB8AC3E}">
        <p14:creationId xmlns:p14="http://schemas.microsoft.com/office/powerpoint/2010/main" val="8490571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这里给出一个例子。图中的</a:t>
            </a:r>
            <a:r>
              <a:rPr lang="en-US" altLang="zh-CN" dirty="0"/>
              <a:t>DFA</a:t>
            </a:r>
            <a:r>
              <a:rPr lang="zh-CN" altLang="en-US" dirty="0"/>
              <a:t>和</a:t>
            </a:r>
            <a:r>
              <a:rPr lang="en-US" altLang="zh-CN" dirty="0"/>
              <a:t>NFA</a:t>
            </a:r>
            <a:r>
              <a:rPr lang="zh-CN" altLang="en-US" dirty="0"/>
              <a:t>都是识别字符集</a:t>
            </a:r>
            <a:r>
              <a:rPr lang="zh-CN" altLang="en-US" dirty="0">
                <a:latin typeface="Cambria Math"/>
              </a:rPr>
              <a:t>∑</a:t>
            </a:r>
            <a:r>
              <a:rPr lang="en-US" altLang="zh-CN" dirty="0">
                <a:latin typeface="Cambria Math"/>
              </a:rPr>
              <a:t>={a, b}</a:t>
            </a:r>
            <a:r>
              <a:rPr lang="zh-CN" altLang="en-US" dirty="0">
                <a:latin typeface="Cambria Math"/>
              </a:rPr>
              <a:t>上含有相继两个</a:t>
            </a:r>
            <a:r>
              <a:rPr lang="en-US" altLang="zh-CN" dirty="0">
                <a:latin typeface="Cambria Math"/>
              </a:rPr>
              <a:t>a</a:t>
            </a:r>
            <a:r>
              <a:rPr lang="zh-CN" altLang="en-US" dirty="0">
                <a:latin typeface="Cambria Math"/>
              </a:rPr>
              <a:t>或者相继两个</a:t>
            </a:r>
            <a:r>
              <a:rPr lang="en-US" altLang="zh-CN" dirty="0">
                <a:latin typeface="Cambria Math"/>
              </a:rPr>
              <a:t>b</a:t>
            </a:r>
            <a:r>
              <a:rPr lang="zh-CN" altLang="en-US" dirty="0">
                <a:latin typeface="Cambria Math"/>
              </a:rPr>
              <a:t>的串。可以看到，</a:t>
            </a:r>
            <a:r>
              <a:rPr lang="en-US" altLang="zh-CN" dirty="0">
                <a:latin typeface="Cambria Math"/>
              </a:rPr>
              <a:t>DFA</a:t>
            </a:r>
            <a:r>
              <a:rPr lang="zh-CN" altLang="en-US" dirty="0">
                <a:latin typeface="Cambria Math"/>
              </a:rPr>
              <a:t>中每个状态都对应两条弧，这两条弧上的标签分别是</a:t>
            </a:r>
            <a:r>
              <a:rPr lang="en-US" altLang="zh-CN" dirty="0">
                <a:latin typeface="Cambria Math"/>
              </a:rPr>
              <a:t>a</a:t>
            </a:r>
            <a:r>
              <a:rPr lang="zh-CN" altLang="en-US" dirty="0">
                <a:latin typeface="Cambria Math"/>
              </a:rPr>
              <a:t>和</a:t>
            </a:r>
            <a:r>
              <a:rPr lang="en-US" altLang="zh-CN" dirty="0">
                <a:latin typeface="Cambria Math"/>
              </a:rPr>
              <a:t>b</a:t>
            </a:r>
            <a:r>
              <a:rPr lang="zh-CN" altLang="en-US" dirty="0">
                <a:latin typeface="Cambria Math"/>
              </a:rPr>
              <a:t>，而</a:t>
            </a:r>
            <a:r>
              <a:rPr lang="en-US" altLang="zh-CN" dirty="0">
                <a:latin typeface="Cambria Math"/>
              </a:rPr>
              <a:t>NFA</a:t>
            </a:r>
            <a:r>
              <a:rPr lang="zh-CN" altLang="en-US" dirty="0">
                <a:latin typeface="Cambria Math"/>
              </a:rPr>
              <a:t>不受此限制。弧上的标记可以是</a:t>
            </a:r>
            <a:r>
              <a:rPr lang="en-US" altLang="zh-CN" dirty="0">
                <a:latin typeface="Cambria Math"/>
              </a:rPr>
              <a:t>a</a:t>
            </a:r>
            <a:r>
              <a:rPr lang="zh-CN" altLang="en-US" dirty="0">
                <a:latin typeface="Cambria Math"/>
              </a:rPr>
              <a:t>，也可以是</a:t>
            </a:r>
            <a:r>
              <a:rPr lang="en-US" altLang="zh-CN" dirty="0">
                <a:latin typeface="Cambria Math"/>
              </a:rPr>
              <a:t>b</a:t>
            </a:r>
            <a:r>
              <a:rPr lang="zh-CN" altLang="en-US" dirty="0">
                <a:latin typeface="Cambria Math"/>
              </a:rPr>
              <a:t>，或者是</a:t>
            </a:r>
            <a:r>
              <a:rPr lang="en-US" altLang="zh-CN" dirty="0">
                <a:latin typeface="Cambria Math"/>
              </a:rPr>
              <a:t>ab</a:t>
            </a:r>
            <a:r>
              <a:rPr lang="zh-CN" altLang="en-US" dirty="0">
                <a:latin typeface="Cambria Math"/>
              </a:rPr>
              <a:t>的串，甚至是空字</a:t>
            </a:r>
            <a:r>
              <a:rPr lang="el-GR" altLang="zh-CN" dirty="0">
                <a:latin typeface="Cambria Math"/>
                <a:ea typeface="Cambria Math"/>
              </a:rPr>
              <a:t>ε</a:t>
            </a:r>
            <a:r>
              <a:rPr lang="zh-CN" altLang="en-US" sz="1200" kern="1200" dirty="0">
                <a:solidFill>
                  <a:schemeClr val="tx1"/>
                </a:solidFill>
                <a:latin typeface="微软雅黑" panose="020B0503020204020204" pitchFamily="34" charset="-122"/>
                <a:ea typeface="微软雅黑" panose="020B0503020204020204" pitchFamily="34" charset="-122"/>
                <a:cs typeface="+mn-cs"/>
              </a:rPr>
              <a:t>，每个状态的出弧也不要求必须和字母表中的字母数一样。另外，从这个例子，我们可以直观的看到，首先</a:t>
            </a:r>
            <a:r>
              <a:rPr lang="en-US" altLang="zh-CN" sz="1200" kern="1200" dirty="0">
                <a:solidFill>
                  <a:schemeClr val="tx1"/>
                </a:solidFill>
                <a:latin typeface="微软雅黑" panose="020B0503020204020204" pitchFamily="34" charset="-122"/>
                <a:ea typeface="微软雅黑" panose="020B0503020204020204" pitchFamily="34" charset="-122"/>
                <a:cs typeface="+mn-cs"/>
              </a:rPr>
              <a:t>DFA</a:t>
            </a:r>
            <a:r>
              <a:rPr lang="zh-CN" altLang="en-US" sz="1200" kern="1200" dirty="0">
                <a:solidFill>
                  <a:schemeClr val="tx1"/>
                </a:solidFill>
                <a:latin typeface="微软雅黑" panose="020B0503020204020204" pitchFamily="34" charset="-122"/>
                <a:ea typeface="微软雅黑" panose="020B0503020204020204" pitchFamily="34" charset="-122"/>
                <a:cs typeface="+mn-cs"/>
              </a:rPr>
              <a:t>和</a:t>
            </a:r>
            <a:r>
              <a:rPr lang="en-US" altLang="zh-CN" sz="1200" kern="1200" dirty="0">
                <a:solidFill>
                  <a:schemeClr val="tx1"/>
                </a:solidFill>
                <a:latin typeface="微软雅黑" panose="020B0503020204020204" pitchFamily="34" charset="-122"/>
                <a:ea typeface="微软雅黑" panose="020B0503020204020204" pitchFamily="34" charset="-122"/>
                <a:cs typeface="+mn-cs"/>
              </a:rPr>
              <a:t>NFA</a:t>
            </a:r>
            <a:r>
              <a:rPr lang="zh-CN" altLang="en-US" sz="1200" kern="1200" dirty="0">
                <a:solidFill>
                  <a:schemeClr val="tx1"/>
                </a:solidFill>
                <a:latin typeface="微软雅黑" panose="020B0503020204020204" pitchFamily="34" charset="-122"/>
                <a:ea typeface="微软雅黑" panose="020B0503020204020204" pitchFamily="34" charset="-122"/>
                <a:cs typeface="+mn-cs"/>
              </a:rPr>
              <a:t>两者的描述能力是等价的，其次，</a:t>
            </a:r>
            <a:r>
              <a:rPr lang="en-US" altLang="zh-CN" sz="1200" kern="1200" dirty="0">
                <a:solidFill>
                  <a:schemeClr val="tx1"/>
                </a:solidFill>
                <a:latin typeface="微软雅黑" panose="020B0503020204020204" pitchFamily="34" charset="-122"/>
                <a:ea typeface="微软雅黑" panose="020B0503020204020204" pitchFamily="34" charset="-122"/>
                <a:cs typeface="+mn-cs"/>
              </a:rPr>
              <a:t>NFA</a:t>
            </a:r>
            <a:r>
              <a:rPr lang="zh-CN" altLang="en-US" sz="1200" kern="1200" dirty="0">
                <a:solidFill>
                  <a:schemeClr val="tx1"/>
                </a:solidFill>
                <a:latin typeface="微软雅黑" panose="020B0503020204020204" pitchFamily="34" charset="-122"/>
                <a:ea typeface="微软雅黑" panose="020B0503020204020204" pitchFamily="34" charset="-122"/>
                <a:cs typeface="+mn-cs"/>
              </a:rPr>
              <a:t>具备比</a:t>
            </a:r>
            <a:r>
              <a:rPr lang="en-US" altLang="zh-CN" sz="1200" kern="1200" dirty="0">
                <a:solidFill>
                  <a:schemeClr val="tx1"/>
                </a:solidFill>
                <a:latin typeface="微软雅黑" panose="020B0503020204020204" pitchFamily="34" charset="-122"/>
                <a:ea typeface="微软雅黑" panose="020B0503020204020204" pitchFamily="34" charset="-122"/>
                <a:cs typeface="+mn-cs"/>
              </a:rPr>
              <a:t>DFA</a:t>
            </a:r>
            <a:r>
              <a:rPr lang="zh-CN" altLang="en-US" sz="1200" kern="1200" dirty="0">
                <a:solidFill>
                  <a:schemeClr val="tx1"/>
                </a:solidFill>
                <a:latin typeface="微软雅黑" panose="020B0503020204020204" pitchFamily="34" charset="-122"/>
                <a:ea typeface="微软雅黑" panose="020B0503020204020204" pitchFamily="34" charset="-122"/>
                <a:cs typeface="+mn-cs"/>
              </a:rPr>
              <a:t>更好的可读性。这也就是为什么使用</a:t>
            </a:r>
            <a:r>
              <a:rPr lang="en-US" altLang="zh-CN" sz="1200" kern="1200" dirty="0">
                <a:solidFill>
                  <a:schemeClr val="tx1"/>
                </a:solidFill>
                <a:latin typeface="微软雅黑" panose="020B0503020204020204" pitchFamily="34" charset="-122"/>
                <a:ea typeface="微软雅黑" panose="020B0503020204020204" pitchFamily="34" charset="-122"/>
                <a:cs typeface="+mn-cs"/>
              </a:rPr>
              <a:t>NFA</a:t>
            </a:r>
            <a:r>
              <a:rPr lang="zh-CN" altLang="en-US" sz="1200" kern="1200" dirty="0">
                <a:solidFill>
                  <a:schemeClr val="tx1"/>
                </a:solidFill>
                <a:latin typeface="微软雅黑" panose="020B0503020204020204" pitchFamily="34" charset="-122"/>
                <a:ea typeface="微软雅黑" panose="020B0503020204020204" pitchFamily="34" charset="-122"/>
                <a:cs typeface="+mn-cs"/>
              </a:rPr>
              <a:t>来构造识别器比较方便的原因。比如这里，只要将相继的两个</a:t>
            </a:r>
            <a:r>
              <a:rPr lang="en-US" altLang="zh-CN" sz="1200" kern="1200" dirty="0">
                <a:solidFill>
                  <a:schemeClr val="tx1"/>
                </a:solidFill>
                <a:latin typeface="微软雅黑" panose="020B0503020204020204" pitchFamily="34" charset="-122"/>
                <a:ea typeface="微软雅黑" panose="020B0503020204020204" pitchFamily="34" charset="-122"/>
                <a:cs typeface="+mn-cs"/>
              </a:rPr>
              <a:t>a</a:t>
            </a:r>
            <a:r>
              <a:rPr lang="zh-CN" altLang="en-US" sz="1200" kern="1200" baseline="0" dirty="0">
                <a:solidFill>
                  <a:schemeClr val="tx1"/>
                </a:solidFill>
                <a:latin typeface="微软雅黑" panose="020B0503020204020204" pitchFamily="34" charset="-122"/>
                <a:ea typeface="微软雅黑" panose="020B0503020204020204" pitchFamily="34" charset="-122"/>
                <a:cs typeface="+mn-cs"/>
              </a:rPr>
              <a:t>和相继的两个</a:t>
            </a:r>
            <a:r>
              <a:rPr lang="en-US" altLang="zh-CN" sz="1200" kern="1200" baseline="0" dirty="0">
                <a:solidFill>
                  <a:schemeClr val="tx1"/>
                </a:solidFill>
                <a:latin typeface="微软雅黑" panose="020B0503020204020204" pitchFamily="34" charset="-122"/>
                <a:ea typeface="微软雅黑" panose="020B0503020204020204" pitchFamily="34" charset="-122"/>
                <a:cs typeface="+mn-cs"/>
              </a:rPr>
              <a:t>b</a:t>
            </a:r>
            <a:r>
              <a:rPr lang="zh-CN" altLang="en-US" sz="1200" kern="1200" baseline="0" dirty="0">
                <a:solidFill>
                  <a:schemeClr val="tx1"/>
                </a:solidFill>
                <a:latin typeface="微软雅黑" panose="020B0503020204020204" pitchFamily="34" charset="-122"/>
                <a:ea typeface="微软雅黑" panose="020B0503020204020204" pitchFamily="34" charset="-122"/>
                <a:cs typeface="+mn-cs"/>
              </a:rPr>
              <a:t>作为整个</a:t>
            </a:r>
            <a:r>
              <a:rPr lang="en-US" altLang="zh-CN" sz="1200" kern="1200" baseline="0" dirty="0">
                <a:solidFill>
                  <a:schemeClr val="tx1"/>
                </a:solidFill>
                <a:latin typeface="微软雅黑" panose="020B0503020204020204" pitchFamily="34" charset="-122"/>
                <a:ea typeface="微软雅黑" panose="020B0503020204020204" pitchFamily="34" charset="-122"/>
                <a:cs typeface="+mn-cs"/>
              </a:rPr>
              <a:t>NFA</a:t>
            </a:r>
            <a:r>
              <a:rPr lang="zh-CN" altLang="en-US" sz="1200" kern="1200" baseline="0" dirty="0">
                <a:solidFill>
                  <a:schemeClr val="tx1"/>
                </a:solidFill>
                <a:latin typeface="微软雅黑" panose="020B0503020204020204" pitchFamily="34" charset="-122"/>
                <a:ea typeface="微软雅黑" panose="020B0503020204020204" pitchFamily="34" charset="-122"/>
                <a:cs typeface="+mn-cs"/>
              </a:rPr>
              <a:t>中的两个成分，在加上收尾的开始和结束状态，就很容易构造出</a:t>
            </a:r>
            <a:r>
              <a:rPr lang="en-US" altLang="zh-CN" sz="1200" kern="1200" baseline="0" dirty="0">
                <a:solidFill>
                  <a:schemeClr val="tx1"/>
                </a:solidFill>
                <a:latin typeface="微软雅黑" panose="020B0503020204020204" pitchFamily="34" charset="-122"/>
                <a:ea typeface="微软雅黑" panose="020B0503020204020204" pitchFamily="34" charset="-122"/>
                <a:cs typeface="+mn-cs"/>
              </a:rPr>
              <a:t>NFA</a:t>
            </a:r>
            <a:r>
              <a:rPr lang="zh-CN" altLang="en-US" sz="1200" kern="1200" baseline="0" dirty="0">
                <a:solidFill>
                  <a:schemeClr val="tx1"/>
                </a:solidFill>
                <a:latin typeface="微软雅黑" panose="020B0503020204020204" pitchFamily="34" charset="-122"/>
                <a:ea typeface="微软雅黑" panose="020B0503020204020204" pitchFamily="34" charset="-122"/>
                <a:cs typeface="+mn-cs"/>
              </a:rPr>
              <a:t>，但是如果想凭空构造出</a:t>
            </a:r>
            <a:r>
              <a:rPr lang="en-US" altLang="zh-CN" sz="1200" kern="1200" baseline="0" dirty="0">
                <a:solidFill>
                  <a:schemeClr val="tx1"/>
                </a:solidFill>
                <a:latin typeface="微软雅黑" panose="020B0503020204020204" pitchFamily="34" charset="-122"/>
                <a:ea typeface="微软雅黑" panose="020B0503020204020204" pitchFamily="34" charset="-122"/>
                <a:cs typeface="+mn-cs"/>
              </a:rPr>
              <a:t>DFA</a:t>
            </a:r>
            <a:r>
              <a:rPr lang="zh-CN" altLang="en-US" sz="1200" kern="1200" baseline="0" dirty="0">
                <a:solidFill>
                  <a:schemeClr val="tx1"/>
                </a:solidFill>
                <a:latin typeface="微软雅黑" panose="020B0503020204020204" pitchFamily="34" charset="-122"/>
                <a:ea typeface="微软雅黑" panose="020B0503020204020204" pitchFamily="34" charset="-122"/>
                <a:cs typeface="+mn-cs"/>
              </a:rPr>
              <a:t>就比较困难了。但是，</a:t>
            </a:r>
            <a:r>
              <a:rPr lang="en-US" altLang="zh-CN" sz="1200" kern="1200" baseline="0" dirty="0">
                <a:solidFill>
                  <a:schemeClr val="tx1"/>
                </a:solidFill>
                <a:latin typeface="微软雅黑" panose="020B0503020204020204" pitchFamily="34" charset="-122"/>
                <a:ea typeface="微软雅黑" panose="020B0503020204020204" pitchFamily="34" charset="-122"/>
                <a:cs typeface="+mn-cs"/>
              </a:rPr>
              <a:t>DFA</a:t>
            </a:r>
            <a:r>
              <a:rPr lang="zh-CN" altLang="en-US" sz="1200" kern="1200" baseline="0">
                <a:solidFill>
                  <a:schemeClr val="tx1"/>
                </a:solidFill>
                <a:latin typeface="微软雅黑" panose="020B0503020204020204" pitchFamily="34" charset="-122"/>
                <a:ea typeface="微软雅黑" panose="020B0503020204020204" pitchFamily="34" charset="-122"/>
                <a:cs typeface="+mn-cs"/>
              </a:rPr>
              <a:t>的好处就是，它的状态转换是确定的，便于程序处理。</a:t>
            </a:r>
            <a:endParaRPr lang="zh-CN" altLang="en-US"/>
          </a:p>
        </p:txBody>
      </p:sp>
      <p:sp>
        <p:nvSpPr>
          <p:cNvPr id="4" name="灯片编号占位符 3"/>
          <p:cNvSpPr>
            <a:spLocks noGrp="1"/>
          </p:cNvSpPr>
          <p:nvPr>
            <p:ph type="sldNum" sz="quarter" idx="10"/>
          </p:nvPr>
        </p:nvSpPr>
        <p:spPr/>
        <p:txBody>
          <a:bodyPr/>
          <a:lstStyle/>
          <a:p>
            <a:fld id="{0A3C37BE-C303-496D-B5CD-85F2937540FC}" type="slidenum">
              <a:rPr lang="en-US" altLang="zh-CN" smtClean="0"/>
              <a:pPr/>
              <a:t>12</a:t>
            </a:fld>
            <a:endParaRPr lang="en-US" altLang="zh-CN" dirty="0"/>
          </a:p>
        </p:txBody>
      </p:sp>
    </p:spTree>
    <p:extLst>
      <p:ext uri="{BB962C8B-B14F-4D97-AF65-F5344CB8AC3E}">
        <p14:creationId xmlns:p14="http://schemas.microsoft.com/office/powerpoint/2010/main" val="33361538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做完上面两个简单处理后我们就可以正式进入“子集法”转换算法了。在描述算法之前，我们先定义一些帮助标记的辅助函数。第一个称为状态集</a:t>
            </a:r>
            <a:r>
              <a:rPr lang="en-US" altLang="zh-CN" dirty="0"/>
              <a:t>I</a:t>
            </a:r>
            <a:r>
              <a:rPr lang="zh-CN" altLang="en-US" dirty="0"/>
              <a:t>的</a:t>
            </a:r>
            <a:r>
              <a:rPr lang="el-GR" altLang="zh-CN" dirty="0">
                <a:latin typeface="Cambria Math"/>
                <a:ea typeface="Cambria Math"/>
              </a:rPr>
              <a:t>ε</a:t>
            </a:r>
            <a:r>
              <a:rPr lang="zh-CN" altLang="en-US" dirty="0">
                <a:latin typeface="Cambria Math"/>
                <a:ea typeface="Cambria Math"/>
              </a:rPr>
              <a:t>闭包。它是这样定义的，首先状态集</a:t>
            </a:r>
            <a:r>
              <a:rPr lang="en-US" altLang="zh-CN" dirty="0">
                <a:latin typeface="Cambria Math"/>
                <a:ea typeface="Cambria Math"/>
              </a:rPr>
              <a:t>I</a:t>
            </a:r>
            <a:r>
              <a:rPr lang="zh-CN" altLang="en-US" dirty="0">
                <a:latin typeface="Cambria Math"/>
                <a:ea typeface="Cambria Math"/>
              </a:rPr>
              <a:t>中的所有状态本身肯定在这个闭包中。其次从</a:t>
            </a:r>
            <a:r>
              <a:rPr lang="en-US" altLang="zh-CN" dirty="0">
                <a:latin typeface="Cambria Math"/>
                <a:ea typeface="Cambria Math"/>
              </a:rPr>
              <a:t>I</a:t>
            </a:r>
            <a:r>
              <a:rPr lang="zh-CN" altLang="en-US" dirty="0">
                <a:latin typeface="Cambria Math"/>
                <a:ea typeface="Cambria Math"/>
              </a:rPr>
              <a:t>中的状态出发，经过任意多的</a:t>
            </a:r>
            <a:r>
              <a:rPr lang="el-GR" altLang="zh-CN" dirty="0">
                <a:latin typeface="Cambria Math"/>
                <a:ea typeface="Cambria Math"/>
              </a:rPr>
              <a:t>ε</a:t>
            </a:r>
            <a:r>
              <a:rPr lang="zh-CN" altLang="en-US" dirty="0">
                <a:latin typeface="Cambria Math"/>
                <a:ea typeface="Cambria Math"/>
              </a:rPr>
              <a:t>弧能够到达的状态</a:t>
            </a:r>
            <a:r>
              <a:rPr lang="en-US" altLang="zh-CN" dirty="0">
                <a:latin typeface="Cambria Math"/>
                <a:ea typeface="Cambria Math"/>
              </a:rPr>
              <a:t>r</a:t>
            </a:r>
            <a:r>
              <a:rPr lang="zh-CN" altLang="en-US" dirty="0">
                <a:latin typeface="Cambria Math"/>
                <a:ea typeface="Cambria Math"/>
              </a:rPr>
              <a:t>也在这个闭包中。</a:t>
            </a:r>
            <a:endParaRPr lang="en-US" altLang="zh-CN" dirty="0">
              <a:latin typeface="Cambria Math"/>
              <a:ea typeface="Cambria Math"/>
            </a:endParaRPr>
          </a:p>
          <a:p>
            <a:r>
              <a:rPr lang="zh-CN" altLang="en-US" dirty="0">
                <a:latin typeface="Cambria Math"/>
              </a:rPr>
              <a:t>第二个辅助函数，称为状态集</a:t>
            </a:r>
            <a:r>
              <a:rPr lang="en-US" altLang="zh-CN" dirty="0">
                <a:latin typeface="Cambria Math"/>
              </a:rPr>
              <a:t>I</a:t>
            </a:r>
            <a:r>
              <a:rPr lang="zh-CN" altLang="en-US" dirty="0">
                <a:latin typeface="Cambria Math"/>
              </a:rPr>
              <a:t>的</a:t>
            </a:r>
            <a:r>
              <a:rPr lang="en-US" altLang="zh-CN" dirty="0">
                <a:latin typeface="Cambria Math"/>
              </a:rPr>
              <a:t>a</a:t>
            </a:r>
            <a:r>
              <a:rPr lang="zh-CN" altLang="en-US" dirty="0">
                <a:latin typeface="Cambria Math"/>
              </a:rPr>
              <a:t>转移集，定义为</a:t>
            </a:r>
            <a:r>
              <a:rPr lang="en-US" altLang="zh-CN" dirty="0">
                <a:latin typeface="Cambria Math"/>
              </a:rPr>
              <a:t>move</a:t>
            </a:r>
            <a:r>
              <a:rPr lang="zh-CN" altLang="en-US" dirty="0">
                <a:latin typeface="Cambria Math"/>
              </a:rPr>
              <a:t>（</a:t>
            </a:r>
            <a:r>
              <a:rPr lang="en-US" altLang="zh-CN" dirty="0">
                <a:latin typeface="Cambria Math"/>
              </a:rPr>
              <a:t>I</a:t>
            </a:r>
            <a:r>
              <a:rPr lang="zh-CN" altLang="en-US" dirty="0">
                <a:latin typeface="Cambria Math"/>
              </a:rPr>
              <a:t>，</a:t>
            </a:r>
            <a:r>
              <a:rPr lang="en-US" altLang="zh-CN" dirty="0">
                <a:latin typeface="Cambria Math"/>
              </a:rPr>
              <a:t>a</a:t>
            </a:r>
            <a:r>
              <a:rPr lang="zh-CN" altLang="en-US" dirty="0">
                <a:latin typeface="Cambria Math"/>
              </a:rPr>
              <a:t>）。这个集合定义了那些从</a:t>
            </a:r>
            <a:r>
              <a:rPr lang="en-US" altLang="zh-CN" dirty="0">
                <a:latin typeface="Cambria Math"/>
              </a:rPr>
              <a:t>I</a:t>
            </a:r>
            <a:r>
              <a:rPr lang="zh-CN" altLang="en-US" dirty="0">
                <a:latin typeface="Cambria Math"/>
              </a:rPr>
              <a:t>中的状态出发经过一条</a:t>
            </a:r>
            <a:r>
              <a:rPr lang="en-US" altLang="zh-CN" dirty="0">
                <a:latin typeface="Cambria Math"/>
              </a:rPr>
              <a:t>a</a:t>
            </a:r>
            <a:r>
              <a:rPr lang="zh-CN" altLang="en-US" dirty="0">
                <a:latin typeface="Cambria Math"/>
              </a:rPr>
              <a:t>弧能够到达的状态集。其中</a:t>
            </a:r>
            <a:r>
              <a:rPr lang="en-US" altLang="zh-CN" dirty="0">
                <a:latin typeface="Cambria Math"/>
              </a:rPr>
              <a:t>a</a:t>
            </a:r>
            <a:r>
              <a:rPr lang="zh-CN" altLang="en-US" dirty="0">
                <a:latin typeface="Cambria Math"/>
              </a:rPr>
              <a:t>是字母表中的一个字母。</a:t>
            </a:r>
            <a:endParaRPr lang="en-US" altLang="zh-CN" dirty="0">
              <a:latin typeface="Cambria Math"/>
            </a:endParaRPr>
          </a:p>
          <a:p>
            <a:r>
              <a:rPr lang="zh-CN" altLang="en-US" dirty="0">
                <a:latin typeface="Cambria Math"/>
              </a:rPr>
              <a:t>有了这两个辅助函数，我们将状态集</a:t>
            </a:r>
            <a:r>
              <a:rPr lang="en-US" altLang="zh-CN" dirty="0">
                <a:latin typeface="Cambria Math"/>
              </a:rPr>
              <a:t>I</a:t>
            </a:r>
            <a:r>
              <a:rPr lang="zh-CN" altLang="en-US" dirty="0">
                <a:latin typeface="Cambria Math"/>
              </a:rPr>
              <a:t>的</a:t>
            </a:r>
            <a:r>
              <a:rPr lang="en-US" altLang="zh-CN" dirty="0">
                <a:latin typeface="Cambria Math"/>
              </a:rPr>
              <a:t>a</a:t>
            </a:r>
            <a:r>
              <a:rPr lang="zh-CN" altLang="en-US" dirty="0">
                <a:latin typeface="Cambria Math"/>
              </a:rPr>
              <a:t>转移集的</a:t>
            </a:r>
            <a:r>
              <a:rPr lang="el-GR" altLang="zh-CN" dirty="0">
                <a:latin typeface="Cambria Math"/>
                <a:ea typeface="Cambria Math"/>
              </a:rPr>
              <a:t>ε</a:t>
            </a:r>
            <a:r>
              <a:rPr lang="zh-CN" altLang="en-US" dirty="0">
                <a:latin typeface="Cambria Math"/>
                <a:ea typeface="Cambria Math"/>
              </a:rPr>
              <a:t>闭包简单记为</a:t>
            </a:r>
            <a:r>
              <a:rPr lang="en-US" altLang="zh-CN" dirty="0" err="1">
                <a:latin typeface="Cambria Math"/>
                <a:ea typeface="Cambria Math"/>
              </a:rPr>
              <a:t>Ia</a:t>
            </a:r>
            <a:r>
              <a:rPr lang="zh-CN" altLang="en-US" dirty="0">
                <a:latin typeface="Cambria Math"/>
                <a:ea typeface="Cambria Math"/>
              </a:rPr>
              <a:t>。可见，</a:t>
            </a:r>
            <a:r>
              <a:rPr lang="en-US" altLang="zh-CN" dirty="0" err="1">
                <a:latin typeface="Cambria Math"/>
                <a:ea typeface="Cambria Math"/>
              </a:rPr>
              <a:t>Ia</a:t>
            </a:r>
            <a:r>
              <a:rPr lang="zh-CN" altLang="en-US" dirty="0">
                <a:latin typeface="Cambria Math"/>
                <a:ea typeface="Cambria Math"/>
              </a:rPr>
              <a:t>也是一个集合。</a:t>
            </a:r>
            <a:endParaRPr lang="zh-CN" altLang="en-US" dirty="0"/>
          </a:p>
        </p:txBody>
      </p:sp>
      <p:sp>
        <p:nvSpPr>
          <p:cNvPr id="4" name="灯片编号占位符 3"/>
          <p:cNvSpPr>
            <a:spLocks noGrp="1"/>
          </p:cNvSpPr>
          <p:nvPr>
            <p:ph type="sldNum" sz="quarter" idx="10"/>
          </p:nvPr>
        </p:nvSpPr>
        <p:spPr/>
        <p:txBody>
          <a:bodyPr/>
          <a:lstStyle/>
          <a:p>
            <a:fld id="{0A3C37BE-C303-496D-B5CD-85F2937540FC}" type="slidenum">
              <a:rPr lang="en-US" altLang="zh-CN" smtClean="0">
                <a:solidFill>
                  <a:srgbClr val="514843"/>
                </a:solidFill>
              </a:rPr>
              <a:pPr/>
              <a:t>13</a:t>
            </a:fld>
            <a:endParaRPr altLang="en-US">
              <a:solidFill>
                <a:srgbClr val="514843"/>
              </a:solidFill>
            </a:endParaRPr>
          </a:p>
        </p:txBody>
      </p:sp>
    </p:spTree>
    <p:extLst>
      <p:ext uri="{BB962C8B-B14F-4D97-AF65-F5344CB8AC3E}">
        <p14:creationId xmlns:p14="http://schemas.microsoft.com/office/powerpoint/2010/main" val="6413978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这里就是算法的描述。假设字母表</a:t>
            </a:r>
            <a:r>
              <a:rPr lang="zh-CN" altLang="en-US" dirty="0">
                <a:latin typeface="Cambria Math"/>
              </a:rPr>
              <a:t>∑中有</a:t>
            </a:r>
            <a:r>
              <a:rPr lang="en-US" altLang="zh-CN" dirty="0">
                <a:latin typeface="Cambria Math"/>
              </a:rPr>
              <a:t>k</a:t>
            </a:r>
            <a:r>
              <a:rPr lang="zh-CN" altLang="en-US" dirty="0">
                <a:latin typeface="Cambria Math"/>
              </a:rPr>
              <a:t>个字母，算法的输入时</a:t>
            </a:r>
            <a:r>
              <a:rPr lang="en-US" altLang="zh-CN" dirty="0">
                <a:latin typeface="Cambria Math"/>
              </a:rPr>
              <a:t>NFA</a:t>
            </a:r>
            <a:r>
              <a:rPr lang="zh-CN" altLang="en-US" dirty="0">
                <a:latin typeface="Cambria Math"/>
              </a:rPr>
              <a:t>，输出是和这个</a:t>
            </a:r>
            <a:r>
              <a:rPr lang="en-US" altLang="zh-CN" dirty="0">
                <a:latin typeface="Cambria Math"/>
              </a:rPr>
              <a:t>NFA</a:t>
            </a:r>
            <a:r>
              <a:rPr lang="zh-CN" altLang="en-US" dirty="0">
                <a:latin typeface="Cambria Math"/>
              </a:rPr>
              <a:t>等价的</a:t>
            </a:r>
            <a:r>
              <a:rPr lang="en-US" altLang="zh-CN" dirty="0">
                <a:latin typeface="Cambria Math"/>
              </a:rPr>
              <a:t>DFA</a:t>
            </a:r>
            <a:r>
              <a:rPr lang="zh-CN" altLang="en-US" dirty="0">
                <a:latin typeface="Cambria Math"/>
              </a:rPr>
              <a:t>。</a:t>
            </a:r>
            <a:endParaRPr lang="en-US" altLang="zh-CN" dirty="0">
              <a:latin typeface="Cambria Math"/>
            </a:endParaRPr>
          </a:p>
          <a:p>
            <a:r>
              <a:rPr lang="zh-CN" altLang="en-US" dirty="0">
                <a:latin typeface="Cambria Math"/>
              </a:rPr>
              <a:t>第一步，构造一个</a:t>
            </a:r>
            <a:r>
              <a:rPr lang="en-US" altLang="zh-CN" dirty="0">
                <a:latin typeface="Cambria Math"/>
              </a:rPr>
              <a:t>k+1</a:t>
            </a:r>
            <a:r>
              <a:rPr lang="zh-CN" altLang="en-US" dirty="0">
                <a:latin typeface="Cambria Math"/>
              </a:rPr>
              <a:t>列的表格，其中第</a:t>
            </a:r>
            <a:r>
              <a:rPr lang="en-US" altLang="zh-CN" dirty="0">
                <a:latin typeface="Cambria Math"/>
              </a:rPr>
              <a:t>0</a:t>
            </a:r>
            <a:r>
              <a:rPr lang="zh-CN" altLang="en-US" dirty="0">
                <a:latin typeface="Cambria Math"/>
              </a:rPr>
              <a:t>列为最终的</a:t>
            </a:r>
            <a:r>
              <a:rPr lang="en-US" altLang="zh-CN" dirty="0">
                <a:latin typeface="Cambria Math"/>
              </a:rPr>
              <a:t>DFA</a:t>
            </a:r>
            <a:r>
              <a:rPr lang="zh-CN" altLang="en-US" dirty="0">
                <a:latin typeface="Cambria Math"/>
              </a:rPr>
              <a:t>状态集合，第</a:t>
            </a:r>
            <a:r>
              <a:rPr lang="en-US" altLang="zh-CN" dirty="0">
                <a:latin typeface="Cambria Math"/>
              </a:rPr>
              <a:t>1</a:t>
            </a:r>
            <a:r>
              <a:rPr lang="zh-CN" altLang="en-US" dirty="0">
                <a:latin typeface="Cambria Math"/>
              </a:rPr>
              <a:t>到</a:t>
            </a:r>
            <a:r>
              <a:rPr lang="en-US" altLang="zh-CN" dirty="0">
                <a:latin typeface="Cambria Math"/>
              </a:rPr>
              <a:t>k</a:t>
            </a:r>
            <a:r>
              <a:rPr lang="zh-CN" altLang="en-US" dirty="0">
                <a:latin typeface="Cambria Math"/>
              </a:rPr>
              <a:t>列为集合</a:t>
            </a:r>
            <a:r>
              <a:rPr lang="en-US" altLang="zh-CN" dirty="0">
                <a:latin typeface="Cambria Math"/>
              </a:rPr>
              <a:t>Ia</a:t>
            </a:r>
            <a:r>
              <a:rPr lang="en-US" altLang="zh-CN" dirty="0">
                <a:latin typeface="+mn-lt"/>
              </a:rPr>
              <a:t>1</a:t>
            </a:r>
            <a:r>
              <a:rPr lang="zh-CN" altLang="en-US" dirty="0">
                <a:latin typeface="+mn-lt"/>
              </a:rPr>
              <a:t>到</a:t>
            </a:r>
            <a:r>
              <a:rPr lang="en-US" altLang="zh-CN" dirty="0" err="1">
                <a:latin typeface="+mn-lt"/>
              </a:rPr>
              <a:t>Iak</a:t>
            </a:r>
            <a:r>
              <a:rPr lang="zh-CN" altLang="en-US" dirty="0">
                <a:latin typeface="+mn-lt"/>
              </a:rPr>
              <a:t>。其中</a:t>
            </a:r>
            <a:r>
              <a:rPr lang="en-US" altLang="zh-CN" dirty="0">
                <a:latin typeface="+mn-lt"/>
              </a:rPr>
              <a:t>Ia1</a:t>
            </a:r>
            <a:r>
              <a:rPr lang="zh-CN" altLang="en-US" dirty="0">
                <a:latin typeface="+mn-lt"/>
              </a:rPr>
              <a:t>的定义就是</a:t>
            </a:r>
            <a:r>
              <a:rPr lang="en-US" altLang="zh-CN" dirty="0">
                <a:latin typeface="+mn-lt"/>
              </a:rPr>
              <a:t>a1</a:t>
            </a:r>
            <a:r>
              <a:rPr lang="zh-CN" altLang="en-US" dirty="0">
                <a:latin typeface="+mn-lt"/>
              </a:rPr>
              <a:t>转移集的</a:t>
            </a:r>
            <a:r>
              <a:rPr lang="el-GR" altLang="zh-CN" dirty="0">
                <a:latin typeface="Cambria Math"/>
                <a:ea typeface="Cambria Math"/>
              </a:rPr>
              <a:t>ε</a:t>
            </a:r>
            <a:r>
              <a:rPr lang="zh-CN" altLang="en-US" dirty="0">
                <a:latin typeface="Cambria Math"/>
                <a:ea typeface="Cambria Math"/>
              </a:rPr>
              <a:t>闭包。表的第</a:t>
            </a:r>
            <a:r>
              <a:rPr lang="en-US" altLang="zh-CN" dirty="0">
                <a:latin typeface="Cambria Math"/>
                <a:ea typeface="Cambria Math"/>
              </a:rPr>
              <a:t>0</a:t>
            </a:r>
            <a:r>
              <a:rPr lang="zh-CN" altLang="en-US" dirty="0">
                <a:latin typeface="Cambria Math"/>
                <a:ea typeface="Cambria Math"/>
              </a:rPr>
              <a:t>行是表头，从第</a:t>
            </a:r>
            <a:r>
              <a:rPr lang="en-US" altLang="zh-CN" dirty="0">
                <a:latin typeface="Cambria Math"/>
                <a:ea typeface="Cambria Math"/>
              </a:rPr>
              <a:t>1</a:t>
            </a:r>
            <a:r>
              <a:rPr lang="zh-CN" altLang="en-US" dirty="0">
                <a:latin typeface="Cambria Math"/>
                <a:ea typeface="Cambria Math"/>
              </a:rPr>
              <a:t>行第</a:t>
            </a:r>
            <a:r>
              <a:rPr lang="en-US" altLang="zh-CN" dirty="0">
                <a:latin typeface="Cambria Math"/>
                <a:ea typeface="Cambria Math"/>
              </a:rPr>
              <a:t>0</a:t>
            </a:r>
            <a:r>
              <a:rPr lang="zh-CN" altLang="en-US" dirty="0">
                <a:latin typeface="Cambria Math"/>
                <a:ea typeface="Cambria Math"/>
              </a:rPr>
              <a:t>列开始。</a:t>
            </a:r>
            <a:endParaRPr lang="en-US" altLang="zh-CN" dirty="0">
              <a:latin typeface="Cambria Math"/>
              <a:ea typeface="Cambria Math"/>
            </a:endParaRPr>
          </a:p>
          <a:p>
            <a:r>
              <a:rPr lang="zh-CN" altLang="en-US" dirty="0">
                <a:latin typeface="Cambria Math"/>
              </a:rPr>
              <a:t>第二步，第</a:t>
            </a:r>
            <a:r>
              <a:rPr lang="en-US" altLang="zh-CN" dirty="0">
                <a:latin typeface="Cambria Math"/>
              </a:rPr>
              <a:t>1</a:t>
            </a:r>
            <a:r>
              <a:rPr lang="zh-CN" altLang="en-US" dirty="0">
                <a:latin typeface="Cambria Math"/>
              </a:rPr>
              <a:t>行第</a:t>
            </a:r>
            <a:r>
              <a:rPr lang="en-US" altLang="zh-CN" dirty="0">
                <a:latin typeface="Cambria Math"/>
              </a:rPr>
              <a:t>0</a:t>
            </a:r>
            <a:r>
              <a:rPr lang="zh-CN" altLang="en-US" dirty="0">
                <a:latin typeface="Cambria Math"/>
              </a:rPr>
              <a:t>列是初始状态</a:t>
            </a:r>
            <a:r>
              <a:rPr lang="en-US" altLang="zh-CN" dirty="0">
                <a:latin typeface="Cambria Math"/>
              </a:rPr>
              <a:t>X</a:t>
            </a:r>
            <a:r>
              <a:rPr lang="zh-CN" altLang="en-US" dirty="0">
                <a:latin typeface="Cambria Math"/>
              </a:rPr>
              <a:t>的</a:t>
            </a:r>
            <a:r>
              <a:rPr lang="el-GR" altLang="zh-CN" dirty="0">
                <a:latin typeface="Cambria Math"/>
                <a:ea typeface="Cambria Math"/>
              </a:rPr>
              <a:t>ε</a:t>
            </a:r>
            <a:r>
              <a:rPr lang="zh-CN" altLang="en-US" dirty="0">
                <a:latin typeface="Cambria Math"/>
                <a:ea typeface="Cambria Math"/>
              </a:rPr>
              <a:t>闭包，然后从这个集合开始，分别构造该集合的</a:t>
            </a:r>
            <a:r>
              <a:rPr lang="en-US" altLang="zh-CN" dirty="0">
                <a:latin typeface="Cambria Math"/>
                <a:ea typeface="Cambria Math"/>
              </a:rPr>
              <a:t>Ia1</a:t>
            </a:r>
            <a:r>
              <a:rPr lang="zh-CN" altLang="en-US" dirty="0">
                <a:latin typeface="Cambria Math"/>
                <a:ea typeface="+mn-ea"/>
              </a:rPr>
              <a:t>到</a:t>
            </a:r>
            <a:r>
              <a:rPr lang="en-US" altLang="zh-CN" dirty="0" err="1">
                <a:latin typeface="Cambria Math"/>
                <a:ea typeface="+mn-ea"/>
              </a:rPr>
              <a:t>Iak</a:t>
            </a:r>
            <a:r>
              <a:rPr lang="zh-CN" altLang="en-US" dirty="0">
                <a:latin typeface="Cambria Math"/>
                <a:ea typeface="+mn-ea"/>
              </a:rPr>
              <a:t>集合，并将其依次填到相应的位置上，每填写一个集合，就检查所有第</a:t>
            </a:r>
            <a:r>
              <a:rPr lang="en-US" altLang="zh-CN" dirty="0">
                <a:latin typeface="Cambria Math"/>
                <a:ea typeface="+mn-ea"/>
              </a:rPr>
              <a:t>0</a:t>
            </a:r>
            <a:r>
              <a:rPr lang="zh-CN" altLang="en-US" dirty="0">
                <a:latin typeface="Cambria Math"/>
                <a:ea typeface="+mn-ea"/>
              </a:rPr>
              <a:t>列的表格元素，如果没有发现相同的集合，则将这个集合顺次填在第</a:t>
            </a:r>
            <a:r>
              <a:rPr lang="en-US" altLang="zh-CN" dirty="0">
                <a:latin typeface="Cambria Math"/>
                <a:ea typeface="+mn-ea"/>
              </a:rPr>
              <a:t>0</a:t>
            </a:r>
            <a:r>
              <a:rPr lang="zh-CN" altLang="en-US" dirty="0">
                <a:latin typeface="Cambria Math"/>
                <a:ea typeface="+mn-ea"/>
              </a:rPr>
              <a:t>列的后续行中。</a:t>
            </a:r>
            <a:endParaRPr lang="en-US" altLang="zh-CN" dirty="0">
              <a:latin typeface="Cambria Math"/>
              <a:ea typeface="+mn-ea"/>
            </a:endParaRPr>
          </a:p>
          <a:p>
            <a:r>
              <a:rPr lang="zh-CN" altLang="en-US" dirty="0">
                <a:latin typeface="Cambria Math"/>
                <a:ea typeface="+mn-ea"/>
              </a:rPr>
              <a:t>第三部，将第</a:t>
            </a:r>
            <a:r>
              <a:rPr lang="en-US" altLang="zh-CN" dirty="0">
                <a:latin typeface="Cambria Math"/>
                <a:ea typeface="+mn-ea"/>
              </a:rPr>
              <a:t>2</a:t>
            </a:r>
            <a:r>
              <a:rPr lang="zh-CN" altLang="en-US" dirty="0">
                <a:latin typeface="Cambria Math"/>
                <a:ea typeface="+mn-ea"/>
              </a:rPr>
              <a:t>步一直进行下去，直到第</a:t>
            </a:r>
            <a:r>
              <a:rPr lang="en-US" altLang="zh-CN" dirty="0">
                <a:latin typeface="Cambria Math"/>
                <a:ea typeface="+mn-ea"/>
              </a:rPr>
              <a:t>0</a:t>
            </a:r>
            <a:r>
              <a:rPr lang="zh-CN" altLang="en-US" dirty="0">
                <a:latin typeface="Cambria Math"/>
                <a:ea typeface="+mn-ea"/>
              </a:rPr>
              <a:t>列中的集合不在增加，整个表格构建完成为止。</a:t>
            </a:r>
            <a:endParaRPr lang="en-US" altLang="zh-CN" dirty="0">
              <a:latin typeface="Cambria Math"/>
              <a:ea typeface="+mn-ea"/>
            </a:endParaRPr>
          </a:p>
          <a:p>
            <a:r>
              <a:rPr lang="zh-CN" altLang="en-US" dirty="0">
                <a:latin typeface="Cambria Math"/>
                <a:ea typeface="+mn-ea"/>
              </a:rPr>
              <a:t>第四步，对于第</a:t>
            </a:r>
            <a:r>
              <a:rPr lang="en-US" altLang="zh-CN" dirty="0">
                <a:latin typeface="Cambria Math"/>
                <a:ea typeface="+mn-ea"/>
              </a:rPr>
              <a:t>0</a:t>
            </a:r>
            <a:r>
              <a:rPr lang="zh-CN" altLang="en-US" dirty="0">
                <a:latin typeface="Cambria Math"/>
                <a:ea typeface="+mn-ea"/>
              </a:rPr>
              <a:t>列中的所有元素（状态集合）进行重新编号，编号从</a:t>
            </a:r>
            <a:r>
              <a:rPr lang="en-US" altLang="zh-CN" dirty="0">
                <a:latin typeface="Cambria Math"/>
                <a:ea typeface="+mn-ea"/>
              </a:rPr>
              <a:t>0</a:t>
            </a:r>
            <a:r>
              <a:rPr lang="zh-CN" altLang="en-US" dirty="0">
                <a:latin typeface="Cambria Math"/>
                <a:ea typeface="+mn-ea"/>
              </a:rPr>
              <a:t>开始，并将表中其它列中的元素（状态集合）替换为相应的编号。其中，包含</a:t>
            </a:r>
            <a:r>
              <a:rPr lang="en-US" altLang="zh-CN" dirty="0">
                <a:latin typeface="Cambria Math"/>
                <a:ea typeface="+mn-ea"/>
              </a:rPr>
              <a:t>X</a:t>
            </a:r>
            <a:r>
              <a:rPr lang="zh-CN" altLang="en-US" dirty="0">
                <a:latin typeface="Cambria Math"/>
                <a:ea typeface="+mn-ea"/>
              </a:rPr>
              <a:t>的状态集合为初态</a:t>
            </a:r>
            <a:r>
              <a:rPr lang="en-US" altLang="zh-CN" dirty="0">
                <a:latin typeface="Cambria Math"/>
                <a:ea typeface="+mn-ea"/>
              </a:rPr>
              <a:t>s0(</a:t>
            </a:r>
            <a:r>
              <a:rPr lang="zh-CN" altLang="en-US" dirty="0">
                <a:latin typeface="Cambria Math"/>
                <a:ea typeface="+mn-ea"/>
              </a:rPr>
              <a:t>唯一</a:t>
            </a:r>
            <a:r>
              <a:rPr lang="en-US" altLang="zh-CN" dirty="0">
                <a:latin typeface="Cambria Math"/>
                <a:ea typeface="+mn-ea"/>
              </a:rPr>
              <a:t>)</a:t>
            </a:r>
            <a:r>
              <a:rPr lang="zh-CN" altLang="en-US" dirty="0">
                <a:latin typeface="Cambria Math"/>
                <a:ea typeface="+mn-ea"/>
              </a:rPr>
              <a:t>，包含</a:t>
            </a:r>
            <a:r>
              <a:rPr lang="en-US" altLang="zh-CN" dirty="0">
                <a:latin typeface="Cambria Math"/>
                <a:ea typeface="+mn-ea"/>
              </a:rPr>
              <a:t>Y</a:t>
            </a:r>
            <a:r>
              <a:rPr lang="zh-CN" altLang="en-US" dirty="0">
                <a:latin typeface="Cambria Math"/>
                <a:ea typeface="+mn-ea"/>
              </a:rPr>
              <a:t>的状态集合为终态（可能有多个）</a:t>
            </a:r>
            <a:endParaRPr lang="en-US" altLang="zh-CN" dirty="0">
              <a:latin typeface="Cambria Math"/>
              <a:ea typeface="+mn-ea"/>
            </a:endParaRPr>
          </a:p>
          <a:p>
            <a:r>
              <a:rPr lang="zh-CN" altLang="en-US" dirty="0">
                <a:latin typeface="Cambria Math"/>
                <a:ea typeface="+mn-ea"/>
              </a:rPr>
              <a:t>经过上述步骤，整个表格就变成了一张对应于</a:t>
            </a:r>
            <a:r>
              <a:rPr lang="en-US" altLang="zh-CN" dirty="0">
                <a:latin typeface="Cambria Math"/>
                <a:ea typeface="+mn-ea"/>
              </a:rPr>
              <a:t>DFA</a:t>
            </a:r>
            <a:r>
              <a:rPr lang="zh-CN" altLang="en-US" dirty="0">
                <a:latin typeface="Cambria Math"/>
                <a:ea typeface="+mn-ea"/>
              </a:rPr>
              <a:t>的状态转换表，算法完成。</a:t>
            </a:r>
            <a:endParaRPr lang="en-US" altLang="zh-CN" dirty="0">
              <a:latin typeface="Cambria Math"/>
              <a:ea typeface="Cambria Math"/>
            </a:endParaRPr>
          </a:p>
        </p:txBody>
      </p:sp>
      <p:sp>
        <p:nvSpPr>
          <p:cNvPr id="4" name="灯片编号占位符 3"/>
          <p:cNvSpPr>
            <a:spLocks noGrp="1"/>
          </p:cNvSpPr>
          <p:nvPr>
            <p:ph type="sldNum" sz="quarter" idx="10"/>
          </p:nvPr>
        </p:nvSpPr>
        <p:spPr/>
        <p:txBody>
          <a:bodyPr/>
          <a:lstStyle/>
          <a:p>
            <a:fld id="{0A3C37BE-C303-496D-B5CD-85F2937540FC}" type="slidenum">
              <a:rPr lang="en-US" altLang="zh-CN" smtClean="0">
                <a:solidFill>
                  <a:srgbClr val="514843"/>
                </a:solidFill>
              </a:rPr>
              <a:pPr/>
              <a:t>14</a:t>
            </a:fld>
            <a:endParaRPr altLang="en-US">
              <a:solidFill>
                <a:srgbClr val="514843"/>
              </a:solidFill>
            </a:endParaRPr>
          </a:p>
        </p:txBody>
      </p:sp>
    </p:spTree>
    <p:extLst>
      <p:ext uri="{BB962C8B-B14F-4D97-AF65-F5344CB8AC3E}">
        <p14:creationId xmlns:p14="http://schemas.microsoft.com/office/powerpoint/2010/main" val="3307212304"/>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矩形 6"/>
          <p:cNvSpPr/>
          <p:nvPr/>
        </p:nvSpPr>
        <p:spPr>
          <a:xfrm>
            <a:off x="0" y="5778124"/>
            <a:ext cx="9144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p>
        </p:txBody>
      </p:sp>
      <p:sp>
        <p:nvSpPr>
          <p:cNvPr id="8" name="矩形 7"/>
          <p:cNvSpPr/>
          <p:nvPr/>
        </p:nvSpPr>
        <p:spPr>
          <a:xfrm>
            <a:off x="0" y="0"/>
            <a:ext cx="9144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p>
        </p:txBody>
      </p:sp>
      <p:sp>
        <p:nvSpPr>
          <p:cNvPr id="2" name="标题 1"/>
          <p:cNvSpPr>
            <a:spLocks noGrp="1"/>
          </p:cNvSpPr>
          <p:nvPr>
            <p:ph type="ctrTitle"/>
          </p:nvPr>
        </p:nvSpPr>
        <p:spPr>
          <a:xfrm>
            <a:off x="828675" y="2292095"/>
            <a:ext cx="7572375" cy="2219691"/>
          </a:xfrm>
        </p:spPr>
        <p:txBody>
          <a:bodyPr rtlCol="0" anchor="ctr">
            <a:normAutofit/>
          </a:bodyPr>
          <a:lstStyle>
            <a:lvl1pPr algn="l" rtl="0">
              <a:defRPr sz="3300" cap="all" baseline="0"/>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828674" y="4511785"/>
            <a:ext cx="7572376" cy="955565"/>
          </a:xfrm>
        </p:spPr>
        <p:txBody>
          <a:bodyPr rtlCol="0">
            <a:normAutofit/>
          </a:bodyPr>
          <a:lstStyle>
            <a:lvl1pPr marL="0" indent="0" algn="l" rtl="0">
              <a:spcBef>
                <a:spcPts val="0"/>
              </a:spcBef>
              <a:buNone/>
              <a:defRPr sz="1350"/>
            </a:lvl1pPr>
            <a:lvl2pPr marL="342900" indent="0" algn="ctr" rtl="0">
              <a:buNone/>
              <a:defRPr sz="1500"/>
            </a:lvl2pPr>
            <a:lvl3pPr marL="685800" indent="0" algn="ctr" rtl="0">
              <a:buNone/>
              <a:defRPr sz="1350"/>
            </a:lvl3pPr>
            <a:lvl4pPr marL="1028700" indent="0" algn="ctr" rtl="0">
              <a:buNone/>
              <a:defRPr sz="1200"/>
            </a:lvl4pPr>
            <a:lvl5pPr marL="1371600" indent="0" algn="ctr" rtl="0">
              <a:buNone/>
              <a:defRPr sz="1200"/>
            </a:lvl5pPr>
            <a:lvl6pPr marL="1714500" indent="0" algn="ctr" rtl="0">
              <a:buNone/>
              <a:defRPr sz="1200"/>
            </a:lvl6pPr>
            <a:lvl7pPr marL="2057400" indent="0" algn="ctr" rtl="0">
              <a:buNone/>
              <a:defRPr sz="1200"/>
            </a:lvl7pPr>
            <a:lvl8pPr marL="2400300" indent="0" algn="ctr" rtl="0">
              <a:buNone/>
              <a:defRPr sz="1200"/>
            </a:lvl8pPr>
            <a:lvl9pPr marL="2743200" indent="0" algn="ctr" rtl="0">
              <a:buNone/>
              <a:defRPr sz="1200"/>
            </a:lvl9pPr>
          </a:lstStyle>
          <a:p>
            <a:pPr rtl="0"/>
            <a:r>
              <a:rPr lang="zh-CN" altLang="en-US" noProof="0"/>
              <a:t>单击以编辑母版副标题样式</a:t>
            </a:r>
            <a:endParaRPr lang="zh-CN" altLang="en-US" noProof="0" dirty="0"/>
          </a:p>
        </p:txBody>
      </p:sp>
      <p:sp>
        <p:nvSpPr>
          <p:cNvPr id="4" name="日期占位符 3"/>
          <p:cNvSpPr>
            <a:spLocks noGrp="1"/>
          </p:cNvSpPr>
          <p:nvPr>
            <p:ph type="dt" sz="half" idx="10"/>
          </p:nvPr>
        </p:nvSpPr>
        <p:spPr/>
        <p:txBody>
          <a:bodyPr rtlCol="0"/>
          <a:lstStyle>
            <a:lvl1pPr>
              <a:defRPr/>
            </a:lvl1pPr>
          </a:lstStyle>
          <a:p>
            <a:fld id="{A7392AAC-879E-4B39-8824-AF6B730A809E}" type="datetime1">
              <a:rPr lang="zh-CN" altLang="en-US" smtClean="0"/>
              <a:pPr/>
              <a:t>2018/6/11</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pic>
        <p:nvPicPr>
          <p:cNvPr id="11" name="图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993334" y="0"/>
            <a:ext cx="1310643" cy="2292094"/>
          </a:xfrm>
          <a:prstGeom prst="rect">
            <a:avLst/>
          </a:prstGeom>
        </p:spPr>
      </p:pic>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9BA78444-6099-4C0A-A3A9-C6F3C5D7F289}" type="datetime1">
              <a:rPr lang="zh-CN" altLang="en-US" smtClean="0"/>
              <a:pPr/>
              <a:t>2018/6/11</a:t>
            </a:fld>
            <a:endParaRPr lang="zh-CN" altLang="en-US" dirty="0"/>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包含图片的标题幻灯片">
    <p:spTree>
      <p:nvGrpSpPr>
        <p:cNvPr id="1" name=""/>
        <p:cNvGrpSpPr/>
        <p:nvPr/>
      </p:nvGrpSpPr>
      <p:grpSpPr>
        <a:xfrm>
          <a:off x="0" y="0"/>
          <a:ext cx="0" cy="0"/>
          <a:chOff x="0" y="0"/>
          <a:chExt cx="0" cy="0"/>
        </a:xfrm>
      </p:grpSpPr>
      <p:grpSp>
        <p:nvGrpSpPr>
          <p:cNvPr id="13" name="组 12"/>
          <p:cNvGrpSpPr/>
          <p:nvPr/>
        </p:nvGrpSpPr>
        <p:grpSpPr>
          <a:xfrm rot="10800000">
            <a:off x="0" y="5645511"/>
            <a:ext cx="9144000" cy="63125"/>
            <a:chOff x="507492" y="1501519"/>
            <a:chExt cx="8129016" cy="63125"/>
          </a:xfrm>
        </p:grpSpPr>
        <p:cxnSp>
          <p:nvCxnSpPr>
            <p:cNvPr id="17" name="直接连接符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14" name="组 13"/>
          <p:cNvGrpSpPr/>
          <p:nvPr/>
        </p:nvGrpSpPr>
        <p:grpSpPr>
          <a:xfrm>
            <a:off x="0" y="1143001"/>
            <a:ext cx="9144000" cy="63125"/>
            <a:chOff x="507492" y="1501519"/>
            <a:chExt cx="8129016" cy="63125"/>
          </a:xfrm>
        </p:grpSpPr>
        <p:cxnSp>
          <p:nvCxnSpPr>
            <p:cNvPr id="15" name="直接连接符​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矩形 6"/>
          <p:cNvSpPr/>
          <p:nvPr/>
        </p:nvSpPr>
        <p:spPr>
          <a:xfrm>
            <a:off x="0" y="5778124"/>
            <a:ext cx="9144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latin typeface="微软雅黑" panose="020B0503020204020204" pitchFamily="34" charset="-122"/>
              <a:ea typeface="微软雅黑" panose="020B0503020204020204" pitchFamily="34" charset="-122"/>
            </a:endParaRPr>
          </a:p>
        </p:txBody>
      </p:sp>
      <p:sp>
        <p:nvSpPr>
          <p:cNvPr id="8" name="矩形 7"/>
          <p:cNvSpPr/>
          <p:nvPr/>
        </p:nvSpPr>
        <p:spPr>
          <a:xfrm>
            <a:off x="0" y="0"/>
            <a:ext cx="9144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latin typeface="微软雅黑" panose="020B0503020204020204" pitchFamily="34" charset="-122"/>
              <a:ea typeface="微软雅黑" panose="020B0503020204020204" pitchFamily="34" charset="-122"/>
            </a:endParaRPr>
          </a:p>
        </p:txBody>
      </p:sp>
      <p:sp>
        <p:nvSpPr>
          <p:cNvPr id="2" name="标题 1"/>
          <p:cNvSpPr>
            <a:spLocks noGrp="1"/>
          </p:cNvSpPr>
          <p:nvPr>
            <p:ph type="ctrTitle"/>
          </p:nvPr>
        </p:nvSpPr>
        <p:spPr>
          <a:xfrm>
            <a:off x="828675" y="2292095"/>
            <a:ext cx="4300538" cy="2219691"/>
          </a:xfrm>
        </p:spPr>
        <p:txBody>
          <a:bodyPr rtlCol="0" anchor="ctr">
            <a:normAutofit/>
          </a:bodyPr>
          <a:lstStyle>
            <a:lvl1pPr algn="l" rtl="0">
              <a:defRPr sz="3300" cap="all" baseline="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828675" y="4511785"/>
            <a:ext cx="4300538" cy="955565"/>
          </a:xfrm>
        </p:spPr>
        <p:txBody>
          <a:bodyPr rtlCol="0">
            <a:normAutofit/>
          </a:bodyPr>
          <a:lstStyle>
            <a:lvl1pPr marL="0" indent="0" algn="l" rtl="0">
              <a:spcBef>
                <a:spcPts val="0"/>
              </a:spcBef>
              <a:buNone/>
              <a:defRPr sz="1350">
                <a:latin typeface="微软雅黑" panose="020B0503020204020204" pitchFamily="34" charset="-122"/>
                <a:ea typeface="微软雅黑" panose="020B0503020204020204" pitchFamily="34" charset="-122"/>
              </a:defRPr>
            </a:lvl1pPr>
            <a:lvl2pPr marL="342900" indent="0" algn="ctr" rtl="0">
              <a:buNone/>
              <a:defRPr sz="1500"/>
            </a:lvl2pPr>
            <a:lvl3pPr marL="685800" indent="0" algn="ctr" rtl="0">
              <a:buNone/>
              <a:defRPr sz="1350"/>
            </a:lvl3pPr>
            <a:lvl4pPr marL="1028700" indent="0" algn="ctr" rtl="0">
              <a:buNone/>
              <a:defRPr sz="1200"/>
            </a:lvl4pPr>
            <a:lvl5pPr marL="1371600" indent="0" algn="ctr" rtl="0">
              <a:buNone/>
              <a:defRPr sz="1200"/>
            </a:lvl5pPr>
            <a:lvl6pPr marL="1714500" indent="0" algn="ctr" rtl="0">
              <a:buNone/>
              <a:defRPr sz="1200"/>
            </a:lvl6pPr>
            <a:lvl7pPr marL="2057400" indent="0" algn="ctr" rtl="0">
              <a:buNone/>
              <a:defRPr sz="1200"/>
            </a:lvl7pPr>
            <a:lvl8pPr marL="2400300" indent="0" algn="ctr" rtl="0">
              <a:buNone/>
              <a:defRPr sz="1200"/>
            </a:lvl8pPr>
            <a:lvl9pPr marL="2743200" indent="0" algn="ctr" rtl="0">
              <a:buNone/>
              <a:defRPr sz="1200"/>
            </a:lvl9pPr>
          </a:lstStyle>
          <a:p>
            <a:pPr rtl="0"/>
            <a:r>
              <a:rPr lang="zh-CN" altLang="en-US" noProof="0"/>
              <a:t>单击以编辑母版副标题样式</a:t>
            </a:r>
            <a:endParaRPr lang="zh-CN" altLang="en-US" noProof="0" dirty="0"/>
          </a:p>
        </p:txBody>
      </p:sp>
      <p:pic>
        <p:nvPicPr>
          <p:cNvPr id="10" name="图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994410" y="0"/>
            <a:ext cx="1310643" cy="2292094"/>
          </a:xfrm>
          <a:prstGeom prst="rect">
            <a:avLst/>
          </a:prstGeom>
        </p:spPr>
      </p:pic>
      <p:sp>
        <p:nvSpPr>
          <p:cNvPr id="11" name="图片占位符 10"/>
          <p:cNvSpPr>
            <a:spLocks noGrp="1"/>
          </p:cNvSpPr>
          <p:nvPr>
            <p:ph type="pic" sz="quarter" idx="13"/>
          </p:nvPr>
        </p:nvSpPr>
        <p:spPr>
          <a:xfrm>
            <a:off x="5235798" y="1310656"/>
            <a:ext cx="3908203" cy="4208604"/>
          </a:xfrm>
          <a:solidFill>
            <a:schemeClr val="tx1">
              <a:lumMod val="20000"/>
              <a:lumOff val="80000"/>
            </a:schemeClr>
          </a:solidFill>
        </p:spPr>
        <p:txBody>
          <a:bodyPr tIns="1005840" rtlCol="0"/>
          <a:lstStyle>
            <a:lvl1pPr marL="0" indent="0" algn="ctr" rtl="0">
              <a:buNone/>
              <a:defRPr>
                <a:latin typeface="微软雅黑" panose="020B0503020204020204" pitchFamily="34" charset="-122"/>
                <a:ea typeface="微软雅黑" panose="020B0503020204020204" pitchFamily="34" charset="-122"/>
              </a:defRPr>
            </a:lvl1pPr>
          </a:lstStyle>
          <a:p>
            <a:pPr rtl="0"/>
            <a:r>
              <a:rPr lang="zh-CN" altLang="en-US" noProof="0"/>
              <a:t>单击图标添加图片</a:t>
            </a:r>
            <a:endParaRPr lang="zh-CN" altLang="en-US" noProof="0" dirty="0"/>
          </a:p>
        </p:txBody>
      </p:sp>
      <p:sp>
        <p:nvSpPr>
          <p:cNvPr id="19" name="说明文字"/>
          <p:cNvSpPr/>
          <p:nvPr/>
        </p:nvSpPr>
        <p:spPr>
          <a:xfrm>
            <a:off x="9258300" y="0"/>
            <a:ext cx="971550" cy="6858000"/>
          </a:xfrm>
          <a:prstGeom prst="roundRect">
            <a:avLst>
              <a:gd name="adj" fmla="val 9717"/>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rtl="0"/>
            <a:r>
              <a:rPr lang="zh-CN" altLang="en-US" sz="900" b="1" i="1" noProof="0" dirty="0">
                <a:latin typeface="微软雅黑" panose="020B0503020204020204" pitchFamily="34" charset="-122"/>
                <a:ea typeface="微软雅黑" panose="020B0503020204020204" pitchFamily="34" charset="-122"/>
                <a:cs typeface="Arial" pitchFamily="34" charset="0"/>
              </a:rPr>
              <a:t>注意：</a:t>
            </a:r>
          </a:p>
          <a:p>
            <a:pPr rtl="0"/>
            <a:r>
              <a:rPr lang="zh-CN" altLang="en-US" sz="900" i="1" noProof="0" dirty="0">
                <a:latin typeface="微软雅黑" panose="020B0503020204020204" pitchFamily="34" charset="-122"/>
                <a:ea typeface="微软雅黑" panose="020B0503020204020204" pitchFamily="34" charset="-122"/>
                <a:cs typeface="Arial" pitchFamily="34" charset="0"/>
              </a:rPr>
              <a:t>若要更改此幻灯片上的图像，请选择该图片，并将其删除。然后单击占位符中的图片图标以插入自己的图像。</a:t>
            </a:r>
          </a:p>
        </p:txBody>
      </p:sp>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grpSp>
        <p:nvGrpSpPr>
          <p:cNvPr id="8" name="组 7"/>
          <p:cNvGrpSpPr/>
          <p:nvPr/>
        </p:nvGrpSpPr>
        <p:grpSpPr>
          <a:xfrm>
            <a:off x="0" y="2514601"/>
            <a:ext cx="9144000" cy="3194035"/>
            <a:chOff x="647402" y="2514600"/>
            <a:chExt cx="10838688" cy="3194035"/>
          </a:xfrm>
        </p:grpSpPr>
        <p:grpSp>
          <p:nvGrpSpPr>
            <p:cNvPr id="9" name="组 8"/>
            <p:cNvGrpSpPr/>
            <p:nvPr/>
          </p:nvGrpSpPr>
          <p:grpSpPr>
            <a:xfrm>
              <a:off x="647402" y="2514600"/>
              <a:ext cx="10838688" cy="63125"/>
              <a:chOff x="507492" y="1501519"/>
              <a:chExt cx="8129016" cy="63125"/>
            </a:xfrm>
          </p:grpSpPr>
          <p:cxnSp>
            <p:nvCxnSpPr>
              <p:cNvPr id="14" name="直接连接符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矩形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latin typeface="微软雅黑" panose="020B0503020204020204" pitchFamily="34" charset="-122"/>
                <a:ea typeface="微软雅黑" panose="020B0503020204020204" pitchFamily="34" charset="-122"/>
              </a:endParaRPr>
            </a:p>
          </p:txBody>
        </p:sp>
        <p:grpSp>
          <p:nvGrpSpPr>
            <p:cNvPr id="11" name="组 10"/>
            <p:cNvGrpSpPr/>
            <p:nvPr/>
          </p:nvGrpSpPr>
          <p:grpSpPr>
            <a:xfrm rot="10800000">
              <a:off x="647402" y="5645510"/>
              <a:ext cx="10838688" cy="63125"/>
              <a:chOff x="507492" y="1501519"/>
              <a:chExt cx="8129016" cy="63125"/>
            </a:xfrm>
          </p:grpSpPr>
          <p:cxnSp>
            <p:nvCxnSpPr>
              <p:cNvPr id="12" name="直接连接符​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sp>
        <p:nvSpPr>
          <p:cNvPr id="2" name="标题 1"/>
          <p:cNvSpPr>
            <a:spLocks noGrp="1"/>
          </p:cNvSpPr>
          <p:nvPr>
            <p:ph type="title"/>
          </p:nvPr>
        </p:nvSpPr>
        <p:spPr>
          <a:xfrm>
            <a:off x="828675" y="2971806"/>
            <a:ext cx="7553324" cy="1684150"/>
          </a:xfrm>
        </p:spPr>
        <p:txBody>
          <a:bodyPr rtlCol="0" anchor="ctr">
            <a:normAutofit/>
          </a:bodyPr>
          <a:lstStyle>
            <a:lvl1pPr algn="l" rtl="0">
              <a:defRPr sz="3300" cap="all" baseline="0">
                <a:solidFill>
                  <a:schemeClr val="bg1"/>
                </a:solidFill>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828675" y="4655956"/>
            <a:ext cx="7553324" cy="509750"/>
          </a:xfrm>
        </p:spPr>
        <p:txBody>
          <a:bodyPr rtlCol="0">
            <a:normAutofit/>
          </a:bodyPr>
          <a:lstStyle>
            <a:lvl1pPr marL="0" indent="0" algn="l" rtl="0">
              <a:spcBef>
                <a:spcPts val="0"/>
              </a:spcBef>
              <a:buNone/>
              <a:defRPr sz="1200">
                <a:solidFill>
                  <a:schemeClr val="bg1"/>
                </a:solidFill>
                <a:latin typeface="微软雅黑" panose="020B0503020204020204" pitchFamily="34" charset="-122"/>
                <a:ea typeface="微软雅黑" panose="020B0503020204020204" pitchFamily="34" charset="-122"/>
              </a:defRPr>
            </a:lvl1pPr>
            <a:lvl2pPr marL="342900" indent="0" algn="l" rtl="0">
              <a:buNone/>
              <a:defRPr sz="1500">
                <a:solidFill>
                  <a:schemeClr val="tx1">
                    <a:tint val="75000"/>
                  </a:schemeClr>
                </a:solidFill>
              </a:defRPr>
            </a:lvl2pPr>
            <a:lvl3pPr marL="685800" indent="0" algn="l" rtl="0">
              <a:buNone/>
              <a:defRPr sz="1350">
                <a:solidFill>
                  <a:schemeClr val="tx1">
                    <a:tint val="75000"/>
                  </a:schemeClr>
                </a:solidFill>
              </a:defRPr>
            </a:lvl3pPr>
            <a:lvl4pPr marL="1028700" indent="0" algn="l" rtl="0">
              <a:buNone/>
              <a:defRPr sz="1200">
                <a:solidFill>
                  <a:schemeClr val="tx1">
                    <a:tint val="75000"/>
                  </a:schemeClr>
                </a:solidFill>
              </a:defRPr>
            </a:lvl4pPr>
            <a:lvl5pPr marL="1371600" indent="0" algn="l" rtl="0">
              <a:buNone/>
              <a:defRPr sz="1200">
                <a:solidFill>
                  <a:schemeClr val="tx1">
                    <a:tint val="75000"/>
                  </a:schemeClr>
                </a:solidFill>
              </a:defRPr>
            </a:lvl5pPr>
            <a:lvl6pPr marL="1714500" indent="0" algn="l" rtl="0">
              <a:buNone/>
              <a:defRPr sz="1200">
                <a:solidFill>
                  <a:schemeClr val="tx1">
                    <a:tint val="75000"/>
                  </a:schemeClr>
                </a:solidFill>
              </a:defRPr>
            </a:lvl6pPr>
            <a:lvl7pPr marL="2057400" indent="0" algn="l" rtl="0">
              <a:buNone/>
              <a:defRPr sz="1200">
                <a:solidFill>
                  <a:schemeClr val="tx1">
                    <a:tint val="75000"/>
                  </a:schemeClr>
                </a:solidFill>
              </a:defRPr>
            </a:lvl7pPr>
            <a:lvl8pPr marL="2400300" indent="0" algn="l" rtl="0">
              <a:buNone/>
              <a:defRPr sz="1200">
                <a:solidFill>
                  <a:schemeClr val="tx1">
                    <a:tint val="75000"/>
                  </a:schemeClr>
                </a:solidFill>
              </a:defRPr>
            </a:lvl8pPr>
            <a:lvl9pPr marL="2743200" indent="0" algn="l" rtl="0">
              <a:buNone/>
              <a:defRPr sz="1200">
                <a:solidFill>
                  <a:schemeClr val="tx1">
                    <a:tint val="75000"/>
                  </a:schemeClr>
                </a:solidFill>
              </a:defRPr>
            </a:lvl9pPr>
          </a:lstStyle>
          <a:p>
            <a:pPr lvl="0" rtl="0"/>
            <a:r>
              <a:rPr lang="zh-CN" altLang="en-US" noProof="0"/>
              <a:t>编辑母版文本样式</a:t>
            </a:r>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AF5F6A19-70BF-4380-9A40-68C9536408C6}" type="datetime1">
              <a:rPr lang="zh-CN" altLang="en-US" smtClean="0"/>
              <a:pPr/>
              <a:t>2018/6/11</a:t>
            </a:fld>
            <a:endParaRPr lang="zh-CN" altLang="en-US" dirty="0"/>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pic>
        <p:nvPicPr>
          <p:cNvPr id="7" name="图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994410" y="0"/>
            <a:ext cx="1337391" cy="2971806"/>
          </a:xfrm>
          <a:prstGeom prst="rect">
            <a:avLst/>
          </a:prstGeom>
        </p:spPr>
      </p:pic>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sz="half" idx="1"/>
          </p:nvPr>
        </p:nvSpPr>
        <p:spPr>
          <a:xfrm>
            <a:off x="828675" y="1600201"/>
            <a:ext cx="3686175" cy="4571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vl9pPr algn="l" rtl="0">
              <a:defRPr/>
            </a:lvl9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内容占位符 3"/>
          <p:cNvSpPr>
            <a:spLocks noGrp="1"/>
          </p:cNvSpPr>
          <p:nvPr>
            <p:ph sz="half" idx="2"/>
          </p:nvPr>
        </p:nvSpPr>
        <p:spPr>
          <a:xfrm>
            <a:off x="4629150" y="1600201"/>
            <a:ext cx="3686175" cy="4571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r>
              <a:rPr lang="zh-CN" altLang="en-US" dirty="0"/>
              <a:t>​</a:t>
            </a:r>
            <a:fld id="{6017EB90-196C-4C15-BD31-13E0E0436C73}" type="datetime1">
              <a:rPr lang="zh-CN" altLang="en-US" smtClean="0"/>
              <a:pPr/>
              <a:t>2018/6/11</a:t>
            </a:fld>
            <a:r>
              <a:rPr lang="zh-CN" altLang="en-US" dirty="0"/>
              <a:t>​</a:t>
            </a:r>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828675" y="1600201"/>
            <a:ext cx="3689604" cy="823911"/>
          </a:xfrm>
        </p:spPr>
        <p:txBody>
          <a:bodyPr rtlCol="0" anchor="ctr"/>
          <a:lstStyle>
            <a:lvl1pPr marL="0" indent="0" algn="l" rtl="0">
              <a:spcBef>
                <a:spcPts val="0"/>
              </a:spcBef>
              <a:buNone/>
              <a:defRPr sz="1800" b="1">
                <a:latin typeface="微软雅黑" panose="020B0503020204020204" pitchFamily="34" charset="-122"/>
                <a:ea typeface="微软雅黑" panose="020B0503020204020204" pitchFamily="34" charset="-122"/>
              </a:defRPr>
            </a:lvl1pPr>
            <a:lvl2pPr marL="342900" indent="0" algn="l" rtl="0">
              <a:buNone/>
              <a:defRPr sz="1500" b="1"/>
            </a:lvl2pPr>
            <a:lvl3pPr marL="685800" indent="0" algn="l" rtl="0">
              <a:buNone/>
              <a:defRPr sz="1350" b="1"/>
            </a:lvl3pPr>
            <a:lvl4pPr marL="1028700" indent="0" algn="l" rtl="0">
              <a:buNone/>
              <a:defRPr sz="1200" b="1"/>
            </a:lvl4pPr>
            <a:lvl5pPr marL="1371600" indent="0" algn="l" rtl="0">
              <a:buNone/>
              <a:defRPr sz="1200" b="1"/>
            </a:lvl5pPr>
            <a:lvl6pPr marL="1714500" indent="0" algn="l" rtl="0">
              <a:buNone/>
              <a:defRPr sz="1200" b="1"/>
            </a:lvl6pPr>
            <a:lvl7pPr marL="2057400" indent="0" algn="l" rtl="0">
              <a:buNone/>
              <a:defRPr sz="1200" b="1"/>
            </a:lvl7pPr>
            <a:lvl8pPr marL="2400300" indent="0" algn="l" rtl="0">
              <a:buNone/>
              <a:defRPr sz="1200" b="1"/>
            </a:lvl8pPr>
            <a:lvl9pPr marL="2743200" indent="0" algn="l" rtl="0">
              <a:buNone/>
              <a:defRPr sz="1200" b="1"/>
            </a:lvl9pPr>
          </a:lstStyle>
          <a:p>
            <a:pPr lvl="0" rtl="0"/>
            <a:r>
              <a:rPr lang="zh-CN" altLang="en-US" noProof="0"/>
              <a:t>编辑母版文本样式</a:t>
            </a:r>
          </a:p>
        </p:txBody>
      </p:sp>
      <p:sp>
        <p:nvSpPr>
          <p:cNvPr id="4" name="内容占位符 3"/>
          <p:cNvSpPr>
            <a:spLocks noGrp="1"/>
          </p:cNvSpPr>
          <p:nvPr>
            <p:ph sz="half" idx="2"/>
          </p:nvPr>
        </p:nvSpPr>
        <p:spPr>
          <a:xfrm>
            <a:off x="828675" y="2424112"/>
            <a:ext cx="3689604" cy="3748088"/>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5" name="文本占位符 4"/>
          <p:cNvSpPr>
            <a:spLocks noGrp="1"/>
          </p:cNvSpPr>
          <p:nvPr>
            <p:ph type="body" sz="quarter" idx="3"/>
          </p:nvPr>
        </p:nvSpPr>
        <p:spPr>
          <a:xfrm>
            <a:off x="4624583" y="1600201"/>
            <a:ext cx="3689604" cy="823911"/>
          </a:xfrm>
        </p:spPr>
        <p:txBody>
          <a:bodyPr rtlCol="0" anchor="ctr"/>
          <a:lstStyle>
            <a:lvl1pPr marL="0" indent="0" algn="l" rtl="0">
              <a:spcBef>
                <a:spcPts val="0"/>
              </a:spcBef>
              <a:buNone/>
              <a:defRPr sz="1800" b="1">
                <a:latin typeface="微软雅黑" panose="020B0503020204020204" pitchFamily="34" charset="-122"/>
                <a:ea typeface="微软雅黑" panose="020B0503020204020204" pitchFamily="34" charset="-122"/>
              </a:defRPr>
            </a:lvl1pPr>
            <a:lvl2pPr marL="342900" indent="0" algn="l" rtl="0">
              <a:buNone/>
              <a:defRPr sz="1500" b="1"/>
            </a:lvl2pPr>
            <a:lvl3pPr marL="685800" indent="0" algn="l" rtl="0">
              <a:buNone/>
              <a:defRPr sz="1350" b="1"/>
            </a:lvl3pPr>
            <a:lvl4pPr marL="1028700" indent="0" algn="l" rtl="0">
              <a:buNone/>
              <a:defRPr sz="1200" b="1"/>
            </a:lvl4pPr>
            <a:lvl5pPr marL="1371600" indent="0" algn="l" rtl="0">
              <a:buNone/>
              <a:defRPr sz="1200" b="1"/>
            </a:lvl5pPr>
            <a:lvl6pPr marL="1714500" indent="0" algn="l" rtl="0">
              <a:buNone/>
              <a:defRPr sz="1200" b="1"/>
            </a:lvl6pPr>
            <a:lvl7pPr marL="2057400" indent="0" algn="l" rtl="0">
              <a:buNone/>
              <a:defRPr sz="1200" b="1"/>
            </a:lvl7pPr>
            <a:lvl8pPr marL="2400300" indent="0" algn="l" rtl="0">
              <a:buNone/>
              <a:defRPr sz="1200" b="1"/>
            </a:lvl8pPr>
            <a:lvl9pPr marL="2743200" indent="0" algn="l" rtl="0">
              <a:buNone/>
              <a:defRPr sz="1200" b="1"/>
            </a:lvl9pPr>
          </a:lstStyle>
          <a:p>
            <a:pPr lvl="0" rtl="0"/>
            <a:r>
              <a:rPr lang="zh-CN" altLang="en-US" noProof="0"/>
              <a:t>编辑母版文本样式</a:t>
            </a:r>
          </a:p>
        </p:txBody>
      </p:sp>
      <p:sp>
        <p:nvSpPr>
          <p:cNvPr id="6" name="内容占位符 5"/>
          <p:cNvSpPr>
            <a:spLocks noGrp="1"/>
          </p:cNvSpPr>
          <p:nvPr>
            <p:ph sz="quarter" idx="4"/>
          </p:nvPr>
        </p:nvSpPr>
        <p:spPr>
          <a:xfrm>
            <a:off x="4624583" y="2424112"/>
            <a:ext cx="3689604" cy="3748088"/>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7" name="日期占位符 6"/>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C2EC0F41-B48F-4298-A7F6-618EB9D22195}" type="datetime1">
              <a:rPr lang="zh-CN" altLang="en-US" smtClean="0"/>
              <a:pPr/>
              <a:t>2018/6/11</a:t>
            </a:fld>
            <a:endParaRPr lang="zh-CN" altLang="en-US" dirty="0"/>
          </a:p>
        </p:txBody>
      </p:sp>
      <p:sp>
        <p:nvSpPr>
          <p:cNvPr id="8" name="页脚占位符 7"/>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9" name="灯片编号占位符 8"/>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日期占位符 2"/>
          <p:cNvSpPr>
            <a:spLocks noGrp="1"/>
          </p:cNvSpPr>
          <p:nvPr>
            <p:ph type="dt" sz="half" idx="10"/>
          </p:nvPr>
        </p:nvSpPr>
        <p:spPr/>
        <p:txBody>
          <a:bodyPr rtlCol="0"/>
          <a:lstStyle>
            <a:lvl1pPr>
              <a:defRPr/>
            </a:lvl1pPr>
          </a:lstStyle>
          <a:p>
            <a:fld id="{7DB2D836-56E8-4B15-857C-14B1A5B3B67B}" type="datetime1">
              <a:rPr lang="zh-CN" altLang="en-US" smtClean="0"/>
              <a:pPr/>
              <a:t>2018/6/11</a:t>
            </a:fld>
            <a:endParaRPr lang="zh-CN" altLang="en-US" dirty="0"/>
          </a:p>
        </p:txBody>
      </p:sp>
      <p:sp>
        <p:nvSpPr>
          <p:cNvPr id="4" name="页脚占位符 3"/>
          <p:cNvSpPr>
            <a:spLocks noGrp="1"/>
          </p:cNvSpPr>
          <p:nvPr>
            <p:ph type="ftr" sz="quarter" idx="11"/>
          </p:nvPr>
        </p:nvSpPr>
        <p:spPr/>
        <p:txBody>
          <a:bodyPr rtlCol="0"/>
          <a:lstStyle/>
          <a:p>
            <a:pPr rtl="0"/>
            <a:endParaRPr lang="zh-CN" altLang="en-US" noProof="0" dirty="0"/>
          </a:p>
        </p:txBody>
      </p:sp>
      <p:sp>
        <p:nvSpPr>
          <p:cNvPr id="5" name="灯片编号占位符 4"/>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rtlCol="0"/>
          <a:lstStyle>
            <a:lvl1pPr>
              <a:defRPr/>
            </a:lvl1pPr>
          </a:lstStyle>
          <a:p>
            <a:fld id="{038D929F-7D8C-4CC3-8AC7-BB9B8FE2DEBF}" type="datetime1">
              <a:rPr lang="zh-CN" altLang="en-US" smtClean="0"/>
              <a:pPr/>
              <a:t>2018/6/11</a:t>
            </a:fld>
            <a:endParaRPr lang="zh-CN" altLang="en-US" dirty="0"/>
          </a:p>
        </p:txBody>
      </p:sp>
      <p:sp>
        <p:nvSpPr>
          <p:cNvPr id="3" name="页脚占位符 2"/>
          <p:cNvSpPr>
            <a:spLocks noGrp="1"/>
          </p:cNvSpPr>
          <p:nvPr>
            <p:ph type="ftr" sz="quarter" idx="11"/>
          </p:nvPr>
        </p:nvSpPr>
        <p:spPr/>
        <p:txBody>
          <a:bodyPr rtlCol="0"/>
          <a:lstStyle/>
          <a:p>
            <a:pPr rtl="0"/>
            <a:endParaRPr lang="zh-CN" altLang="en-US" noProof="0" dirty="0"/>
          </a:p>
        </p:txBody>
      </p:sp>
      <p:sp>
        <p:nvSpPr>
          <p:cNvPr id="4" name="灯片编号占位符 3"/>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带题注的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chor="b"/>
          <a:lstStyle>
            <a:lvl1pPr algn="l" rtl="0">
              <a:defRPr sz="2400"/>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a:xfrm>
            <a:off x="4231386" y="1600200"/>
            <a:ext cx="4083939" cy="4572001"/>
          </a:xfrm>
        </p:spPr>
        <p:txBody>
          <a:bodyPr rtlCol="0">
            <a:normAutofit/>
          </a:bodyPr>
          <a:lstStyle>
            <a:lvl1pPr algn="l" rtl="0">
              <a:defRPr sz="1500"/>
            </a:lvl1pPr>
            <a:lvl2pPr algn="l" rtl="0">
              <a:defRPr sz="1200"/>
            </a:lvl2pPr>
            <a:lvl3pPr algn="l" rtl="0">
              <a:defRPr sz="1200"/>
            </a:lvl3pPr>
            <a:lvl4pPr algn="l" rtl="0">
              <a:defRPr sz="1050"/>
            </a:lvl4pPr>
            <a:lvl5pPr algn="l" rtl="0">
              <a:defRPr sz="1050"/>
            </a:lvl5pPr>
            <a:lvl6pPr algn="l" rtl="0">
              <a:defRPr sz="1050"/>
            </a:lvl6pPr>
            <a:lvl7pPr algn="l" rtl="0">
              <a:defRPr sz="1050"/>
            </a:lvl7pPr>
            <a:lvl8pPr algn="l" rtl="0">
              <a:defRPr sz="1050"/>
            </a:lvl8pPr>
            <a:lvl9pPr algn="l" rtl="0">
              <a:defRPr sz="1050"/>
            </a:lvl9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文本占位符 3"/>
          <p:cNvSpPr>
            <a:spLocks noGrp="1"/>
          </p:cNvSpPr>
          <p:nvPr>
            <p:ph type="body" sz="half" idx="2"/>
          </p:nvPr>
        </p:nvSpPr>
        <p:spPr>
          <a:xfrm>
            <a:off x="828675" y="1600200"/>
            <a:ext cx="3288411" cy="4572000"/>
          </a:xfrm>
        </p:spPr>
        <p:txBody>
          <a:bodyPr rtlCol="0">
            <a:normAutofit/>
          </a:bodyPr>
          <a:lstStyle>
            <a:lvl1pPr marL="0" indent="0" algn="l" rtl="0">
              <a:spcBef>
                <a:spcPts val="900"/>
              </a:spcBef>
              <a:buNone/>
              <a:defRPr sz="1350"/>
            </a:lvl1pPr>
            <a:lvl2pPr marL="342900" indent="0" algn="l" rtl="0">
              <a:buNone/>
              <a:defRPr sz="1050"/>
            </a:lvl2pPr>
            <a:lvl3pPr marL="685800" indent="0" algn="l" rtl="0">
              <a:buNone/>
              <a:defRPr sz="900"/>
            </a:lvl3pPr>
            <a:lvl4pPr marL="1028700" indent="0" algn="l" rtl="0">
              <a:buNone/>
              <a:defRPr sz="750"/>
            </a:lvl4pPr>
            <a:lvl5pPr marL="1371600" indent="0" algn="l" rtl="0">
              <a:buNone/>
              <a:defRPr sz="750"/>
            </a:lvl5pPr>
            <a:lvl6pPr marL="1714500" indent="0" algn="l" rtl="0">
              <a:buNone/>
              <a:defRPr sz="750"/>
            </a:lvl6pPr>
            <a:lvl7pPr marL="2057400" indent="0" algn="l" rtl="0">
              <a:buNone/>
              <a:defRPr sz="750"/>
            </a:lvl7pPr>
            <a:lvl8pPr marL="2400300" indent="0" algn="l" rtl="0">
              <a:buNone/>
              <a:defRPr sz="750"/>
            </a:lvl8pPr>
            <a:lvl9pPr marL="2743200" indent="0" algn="l" rtl="0">
              <a:buNone/>
              <a:defRPr sz="750"/>
            </a:lvl9pPr>
          </a:lstStyle>
          <a:p>
            <a:pPr lvl="0" rtl="0"/>
            <a:r>
              <a:rPr lang="zh-CN" altLang="en-US" noProof="0"/>
              <a:t>编辑母版文本样式</a:t>
            </a:r>
          </a:p>
        </p:txBody>
      </p:sp>
      <p:sp>
        <p:nvSpPr>
          <p:cNvPr id="5" name="日期占位符 4"/>
          <p:cNvSpPr>
            <a:spLocks noGrp="1"/>
          </p:cNvSpPr>
          <p:nvPr>
            <p:ph type="dt" sz="half" idx="10"/>
          </p:nvPr>
        </p:nvSpPr>
        <p:spPr/>
        <p:txBody>
          <a:bodyPr rtlCol="0"/>
          <a:lstStyle>
            <a:lvl1pPr>
              <a:defRPr/>
            </a:lvl1pPr>
          </a:lstStyle>
          <a:p>
            <a:fld id="{F7892ACC-8BC8-4C9E-9D2B-0669DA5038B6}" type="datetime1">
              <a:rPr lang="zh-CN" altLang="en-US" smtClean="0"/>
              <a:pPr/>
              <a:t>2018/6/11</a:t>
            </a:fld>
            <a:endParaRPr lang="zh-CN" altLang="en-US" dirty="0"/>
          </a:p>
        </p:txBody>
      </p:sp>
      <p:sp>
        <p:nvSpPr>
          <p:cNvPr id="6" name="页脚占位符 5"/>
          <p:cNvSpPr>
            <a:spLocks noGrp="1"/>
          </p:cNvSpPr>
          <p:nvPr>
            <p:ph type="ftr" sz="quarter" idx="11"/>
          </p:nvPr>
        </p:nvSpPr>
        <p:spPr/>
        <p:txBody>
          <a:bodyPr rtlCol="0"/>
          <a:lstStyle/>
          <a:p>
            <a:pPr rtl="0"/>
            <a:endParaRPr lang="zh-CN" altLang="en-US" noProof="0" dirty="0"/>
          </a:p>
        </p:txBody>
      </p:sp>
      <p:sp>
        <p:nvSpPr>
          <p:cNvPr id="7" name="灯片编号占位符 6"/>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带题注的图片">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chor="b"/>
          <a:lstStyle>
            <a:lvl1pPr algn="l" rtl="0">
              <a:defRPr sz="240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图片占位符 2"/>
          <p:cNvSpPr>
            <a:spLocks noGrp="1"/>
          </p:cNvSpPr>
          <p:nvPr>
            <p:ph type="pic" idx="1"/>
          </p:nvPr>
        </p:nvSpPr>
        <p:spPr>
          <a:xfrm>
            <a:off x="3491003" y="1600200"/>
            <a:ext cx="4823184" cy="4572001"/>
          </a:xfrm>
        </p:spPr>
        <p:txBody>
          <a:bodyPr tIns="1188720" rtlCol="0">
            <a:normAutofit/>
          </a:bodyPr>
          <a:lstStyle>
            <a:lvl1pPr marL="0" indent="0" algn="ctr" rtl="0">
              <a:buNone/>
              <a:defRPr sz="1500">
                <a:latin typeface="微软雅黑" panose="020B0503020204020204" pitchFamily="34" charset="-122"/>
                <a:ea typeface="微软雅黑" panose="020B0503020204020204" pitchFamily="34" charset="-122"/>
              </a:defRPr>
            </a:lvl1pPr>
            <a:lvl2pPr marL="342900" indent="0" algn="l" rtl="0">
              <a:buNone/>
              <a:defRPr sz="2100"/>
            </a:lvl2pPr>
            <a:lvl3pPr marL="685800" indent="0" algn="l" rtl="0">
              <a:buNone/>
              <a:defRPr sz="1800"/>
            </a:lvl3pPr>
            <a:lvl4pPr marL="1028700" indent="0" algn="l" rtl="0">
              <a:buNone/>
              <a:defRPr sz="1500"/>
            </a:lvl4pPr>
            <a:lvl5pPr marL="1371600" indent="0" algn="l" rtl="0">
              <a:buNone/>
              <a:defRPr sz="1500"/>
            </a:lvl5pPr>
            <a:lvl6pPr marL="1714500" indent="0" algn="l" rtl="0">
              <a:buNone/>
              <a:defRPr sz="1500"/>
            </a:lvl6pPr>
            <a:lvl7pPr marL="2057400" indent="0" algn="l" rtl="0">
              <a:buNone/>
              <a:defRPr sz="1500"/>
            </a:lvl7pPr>
            <a:lvl8pPr marL="2400300" indent="0" algn="l" rtl="0">
              <a:buNone/>
              <a:defRPr sz="1500"/>
            </a:lvl8pPr>
            <a:lvl9pPr marL="2743200" indent="0" algn="l" rtl="0">
              <a:buNone/>
              <a:defRPr sz="1500"/>
            </a:lvl9pPr>
          </a:lstStyle>
          <a:p>
            <a:pPr rtl="0"/>
            <a:r>
              <a:rPr lang="zh-CN" altLang="en-US" noProof="0"/>
              <a:t>单击图标添加图片</a:t>
            </a:r>
            <a:endParaRPr lang="zh-CN" altLang="en-US" noProof="0" dirty="0"/>
          </a:p>
        </p:txBody>
      </p:sp>
      <p:sp>
        <p:nvSpPr>
          <p:cNvPr id="4" name="文本占位符 3"/>
          <p:cNvSpPr>
            <a:spLocks noGrp="1"/>
          </p:cNvSpPr>
          <p:nvPr>
            <p:ph type="body" sz="half" idx="2"/>
          </p:nvPr>
        </p:nvSpPr>
        <p:spPr>
          <a:xfrm>
            <a:off x="828675" y="1600200"/>
            <a:ext cx="2547747" cy="4572000"/>
          </a:xfrm>
        </p:spPr>
        <p:txBody>
          <a:bodyPr rtlCol="0">
            <a:normAutofit/>
          </a:bodyPr>
          <a:lstStyle>
            <a:lvl1pPr marL="0" indent="0" algn="l" rtl="0">
              <a:spcBef>
                <a:spcPts val="900"/>
              </a:spcBef>
              <a:buNone/>
              <a:defRPr sz="1350">
                <a:latin typeface="微软雅黑" panose="020B0503020204020204" pitchFamily="34" charset="-122"/>
                <a:ea typeface="微软雅黑" panose="020B0503020204020204" pitchFamily="34" charset="-122"/>
              </a:defRPr>
            </a:lvl1pPr>
            <a:lvl2pPr marL="342900" indent="0" algn="l" rtl="0">
              <a:buNone/>
              <a:defRPr sz="1050"/>
            </a:lvl2pPr>
            <a:lvl3pPr marL="685800" indent="0" algn="l" rtl="0">
              <a:buNone/>
              <a:defRPr sz="900"/>
            </a:lvl3pPr>
            <a:lvl4pPr marL="1028700" indent="0" algn="l" rtl="0">
              <a:buNone/>
              <a:defRPr sz="750"/>
            </a:lvl4pPr>
            <a:lvl5pPr marL="1371600" indent="0" algn="l" rtl="0">
              <a:buNone/>
              <a:defRPr sz="750"/>
            </a:lvl5pPr>
            <a:lvl6pPr marL="1714500" indent="0" algn="l" rtl="0">
              <a:buNone/>
              <a:defRPr sz="750"/>
            </a:lvl6pPr>
            <a:lvl7pPr marL="2057400" indent="0" algn="l" rtl="0">
              <a:buNone/>
              <a:defRPr sz="750"/>
            </a:lvl7pPr>
            <a:lvl8pPr marL="2400300" indent="0" algn="l" rtl="0">
              <a:buNone/>
              <a:defRPr sz="750"/>
            </a:lvl8pPr>
            <a:lvl9pPr marL="2743200" indent="0" algn="l" rtl="0">
              <a:buNone/>
              <a:defRPr sz="750"/>
            </a:lvl9pPr>
          </a:lstStyle>
          <a:p>
            <a:pPr lvl="0" rtl="0"/>
            <a:r>
              <a:rPr lang="zh-CN" altLang="en-US" noProof="0"/>
              <a:t>编辑母版文本样式</a:t>
            </a:r>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7118C275-B304-48F5-8C4F-015CBCF4E7C1}" type="datetime1">
              <a:rPr lang="zh-CN" altLang="en-US" smtClean="0"/>
              <a:pPr/>
              <a:t>2018/6/11</a:t>
            </a:fld>
            <a:r>
              <a:rPr lang="zh-CN" altLang="en-US" dirty="0"/>
              <a:t>​</a:t>
            </a:r>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p:txBody>
          <a:bodyPr vert="eaVert" rtlCol="0"/>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fld id="{98791AA9-DDCB-4BA8-AD1D-963A3AA00622}" type="datetime1">
              <a:rPr lang="zh-CN" altLang="en-US" smtClean="0"/>
              <a:pPr/>
              <a:t>2018/6/11</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垂直标题 1"/>
          <p:cNvSpPr>
            <a:spLocks noGrp="1"/>
          </p:cNvSpPr>
          <p:nvPr>
            <p:ph type="title" orient="vert"/>
          </p:nvPr>
        </p:nvSpPr>
        <p:spPr>
          <a:xfrm>
            <a:off x="7029450" y="365125"/>
            <a:ext cx="1285875" cy="5811838"/>
          </a:xfrm>
        </p:spPr>
        <p:txBody>
          <a:bodyPr vert="eaVert"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a:xfrm>
            <a:off x="828675" y="365125"/>
            <a:ext cx="6074172" cy="5811838"/>
          </a:xfrm>
        </p:spPr>
        <p:txBody>
          <a:bodyPr vert="eaVert" rtlCol="0"/>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fld id="{9170426F-E661-472B-BE42-25E072CD46D9}" type="datetime1">
              <a:rPr lang="zh-CN" altLang="en-US" smtClean="0"/>
              <a:pPr/>
              <a:t>2018/6/11</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grpSp>
        <p:nvGrpSpPr>
          <p:cNvPr id="7" name="组 6"/>
          <p:cNvGrpSpPr/>
          <p:nvPr/>
        </p:nvGrpSpPr>
        <p:grpSpPr>
          <a:xfrm rot="5400000">
            <a:off x="4181447" y="3239394"/>
            <a:ext cx="5632704" cy="63302"/>
            <a:chOff x="1073150" y="1219201"/>
            <a:chExt cx="10058400" cy="63125"/>
          </a:xfrm>
        </p:grpSpPr>
        <p:cxnSp>
          <p:nvCxnSpPr>
            <p:cNvPr id="8" name="直接连接符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28675" y="76200"/>
            <a:ext cx="7485512" cy="1096962"/>
          </a:xfrm>
          <a:prstGeom prst="rect">
            <a:avLst/>
          </a:prstGeom>
        </p:spPr>
        <p:txBody>
          <a:bodyPr vert="horz" lIns="0" tIns="45720" rIns="0" bIns="45720" rtlCol="0" anchor="b">
            <a:normAutofit/>
          </a:bodyPr>
          <a:lstStyle/>
          <a:p>
            <a:pPr rtl="0"/>
            <a:r>
              <a:rPr lang="zh-CN" altLang="en-US" noProof="0" dirty="0"/>
              <a:t>单击此处编辑母版标题样式</a:t>
            </a:r>
          </a:p>
        </p:txBody>
      </p:sp>
      <p:sp>
        <p:nvSpPr>
          <p:cNvPr id="3" name="文本占位符 2"/>
          <p:cNvSpPr>
            <a:spLocks noGrp="1"/>
          </p:cNvSpPr>
          <p:nvPr>
            <p:ph type="body" idx="1"/>
          </p:nvPr>
        </p:nvSpPr>
        <p:spPr>
          <a:xfrm>
            <a:off x="828675" y="1600200"/>
            <a:ext cx="7486650" cy="4572000"/>
          </a:xfrm>
          <a:prstGeom prst="rect">
            <a:avLst/>
          </a:prstGeom>
        </p:spPr>
        <p:txBody>
          <a:bodyPr vert="horz" lIns="0" tIns="45720" rIns="0" bIns="45720" rtlCol="0">
            <a:normAutofit/>
          </a:bodyPr>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a:p>
            <a:pPr lvl="5" rtl="0"/>
            <a:r>
              <a:rPr lang="zh-CN" altLang="en-US" noProof="0" dirty="0"/>
              <a:t>第六级</a:t>
            </a:r>
          </a:p>
          <a:p>
            <a:pPr lvl="6" rtl="0"/>
            <a:r>
              <a:rPr lang="zh-CN" altLang="en-US" noProof="0" dirty="0"/>
              <a:t>第七级</a:t>
            </a:r>
          </a:p>
          <a:p>
            <a:pPr lvl="7" rtl="0"/>
            <a:r>
              <a:rPr lang="zh-CN" altLang="en-US" noProof="0" dirty="0"/>
              <a:t>第八级</a:t>
            </a:r>
          </a:p>
          <a:p>
            <a:pPr lvl="8" rtl="0"/>
            <a:r>
              <a:rPr lang="zh-CN" altLang="en-US" noProof="0" dirty="0"/>
              <a:t>第九级</a:t>
            </a:r>
          </a:p>
        </p:txBody>
      </p:sp>
      <p:sp>
        <p:nvSpPr>
          <p:cNvPr id="4" name="日期占位符 3"/>
          <p:cNvSpPr>
            <a:spLocks noGrp="1"/>
          </p:cNvSpPr>
          <p:nvPr>
            <p:ph type="dt" sz="half" idx="2"/>
          </p:nvPr>
        </p:nvSpPr>
        <p:spPr>
          <a:xfrm>
            <a:off x="828675" y="6356352"/>
            <a:ext cx="1372169" cy="365125"/>
          </a:xfrm>
          <a:prstGeom prst="rect">
            <a:avLst/>
          </a:prstGeom>
        </p:spPr>
        <p:txBody>
          <a:bodyPr vert="horz" lIns="0" tIns="45720" rIns="0" bIns="45720" rtlCol="0" anchor="ctr"/>
          <a:lstStyle>
            <a:lvl1pPr algn="l" rtl="0">
              <a:defRPr sz="900">
                <a:solidFill>
                  <a:schemeClr val="tx1">
                    <a:lumMod val="60000"/>
                    <a:lumOff val="40000"/>
                  </a:schemeClr>
                </a:solidFill>
                <a:latin typeface="微软雅黑" panose="020B0503020204020204" pitchFamily="34" charset="-122"/>
                <a:ea typeface="微软雅黑" panose="020B0503020204020204" pitchFamily="34" charset="-122"/>
              </a:defRPr>
            </a:lvl1pPr>
          </a:lstStyle>
          <a:p>
            <a:r>
              <a:rPr lang="zh-CN" altLang="en-US" dirty="0"/>
              <a:t>​</a:t>
            </a:r>
            <a:fld id="{660B6A15-7713-4A08-BBFD-F297CCC2B976}" type="datetime1">
              <a:rPr lang="zh-CN" altLang="en-US" smtClean="0"/>
              <a:pPr/>
              <a:t>2018/6/11</a:t>
            </a:fld>
            <a:r>
              <a:rPr lang="zh-CN" altLang="en-US" dirty="0"/>
              <a:t>​</a:t>
            </a:r>
          </a:p>
        </p:txBody>
      </p:sp>
      <p:sp>
        <p:nvSpPr>
          <p:cNvPr id="5" name="页脚占位符 4"/>
          <p:cNvSpPr>
            <a:spLocks noGrp="1"/>
          </p:cNvSpPr>
          <p:nvPr>
            <p:ph type="ftr" sz="quarter" idx="3"/>
          </p:nvPr>
        </p:nvSpPr>
        <p:spPr>
          <a:xfrm>
            <a:off x="2200844" y="6356350"/>
            <a:ext cx="4742312" cy="365126"/>
          </a:xfrm>
          <a:prstGeom prst="rect">
            <a:avLst/>
          </a:prstGeom>
        </p:spPr>
        <p:txBody>
          <a:bodyPr vert="horz" lIns="0" tIns="45720" rIns="0" bIns="45720" rtlCol="0" anchor="ctr"/>
          <a:lstStyle>
            <a:lvl1pPr algn="ctr" rtl="0">
              <a:defRPr sz="900">
                <a:solidFill>
                  <a:schemeClr val="tx1">
                    <a:lumMod val="60000"/>
                    <a:lumOff val="40000"/>
                  </a:schemeClr>
                </a:solidFill>
                <a:latin typeface="微软雅黑" panose="020B0503020204020204" pitchFamily="34" charset="-122"/>
                <a:ea typeface="微软雅黑" panose="020B0503020204020204" pitchFamily="34" charset="-122"/>
              </a:defRPr>
            </a:lvl1pPr>
          </a:lstStyle>
          <a:p>
            <a:endParaRPr lang="zh-CN" altLang="en-US" noProof="0" dirty="0"/>
          </a:p>
        </p:txBody>
      </p:sp>
      <p:sp>
        <p:nvSpPr>
          <p:cNvPr id="6" name="幻灯片编号占位符 5"/>
          <p:cNvSpPr>
            <a:spLocks noGrp="1"/>
          </p:cNvSpPr>
          <p:nvPr>
            <p:ph type="sldNum" sz="quarter" idx="4"/>
          </p:nvPr>
        </p:nvSpPr>
        <p:spPr>
          <a:xfrm>
            <a:off x="6942587" y="6356352"/>
            <a:ext cx="1371600" cy="365125"/>
          </a:xfrm>
          <a:prstGeom prst="rect">
            <a:avLst/>
          </a:prstGeom>
        </p:spPr>
        <p:txBody>
          <a:bodyPr vert="horz" lIns="0" tIns="45720" rIns="0" bIns="45720" rtlCol="0" anchor="ctr"/>
          <a:lstStyle>
            <a:lvl1pPr algn="l" rtl="0">
              <a:defRPr sz="900">
                <a:solidFill>
                  <a:schemeClr val="tx1">
                    <a:lumMod val="60000"/>
                    <a:lumOff val="40000"/>
                  </a:schemeClr>
                </a:solidFill>
                <a:latin typeface="微软雅黑" panose="020B0503020204020204" pitchFamily="34" charset="-122"/>
                <a:ea typeface="微软雅黑" panose="020B0503020204020204" pitchFamily="34" charset="-122"/>
              </a:defRPr>
            </a:lvl1pPr>
          </a:lstStyle>
          <a:p>
            <a:pPr algn="r"/>
            <a:fld id="{0FF54DE5-C571-48E8-A5BC-B369434E2F44}" type="slidenum">
              <a:rPr lang="en-US" altLang="zh-CN" noProof="0" smtClean="0"/>
              <a:pPr algn="r"/>
              <a:t>‹#›</a:t>
            </a:fld>
            <a:endParaRPr lang="zh-CN" altLang="en-US" noProof="0" dirty="0"/>
          </a:p>
        </p:txBody>
      </p:sp>
      <p:grpSp>
        <p:nvGrpSpPr>
          <p:cNvPr id="15" name="组 14"/>
          <p:cNvGrpSpPr/>
          <p:nvPr/>
        </p:nvGrpSpPr>
        <p:grpSpPr>
          <a:xfrm>
            <a:off x="827532" y="1219202"/>
            <a:ext cx="7488936" cy="84403"/>
            <a:chOff x="1073150" y="1219201"/>
            <a:chExt cx="10058400" cy="63125"/>
          </a:xfrm>
        </p:grpSpPr>
        <p:cxnSp>
          <p:nvCxnSpPr>
            <p:cNvPr id="13" name="直接连接符​​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685800" rtl="0" eaLnBrk="1" latinLnBrk="0" hangingPunct="1">
        <a:lnSpc>
          <a:spcPct val="90000"/>
        </a:lnSpc>
        <a:spcBef>
          <a:spcPct val="0"/>
        </a:spcBef>
        <a:buNone/>
        <a:defRPr sz="2100" kern="1200">
          <a:solidFill>
            <a:schemeClr val="tx1"/>
          </a:solidFill>
          <a:latin typeface="微软雅黑" panose="020B0503020204020204" pitchFamily="34" charset="-122"/>
          <a:ea typeface="微软雅黑" panose="020B0503020204020204" pitchFamily="34" charset="-122"/>
          <a:cs typeface="+mj-cs"/>
        </a:defRPr>
      </a:lvl1pPr>
    </p:titleStyle>
    <p:bodyStyle>
      <a:lvl1pPr marL="171450" indent="-171450" algn="l" defTabSz="685800" rtl="0" eaLnBrk="1" latinLnBrk="0" hangingPunct="1">
        <a:lnSpc>
          <a:spcPct val="90000"/>
        </a:lnSpc>
        <a:spcBef>
          <a:spcPts val="1350"/>
        </a:spcBef>
        <a:buFont typeface="Wingdings" panose="05000000000000000000" pitchFamily="2" charset="2"/>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defTabSz="685800" rtl="0" eaLnBrk="1" latinLnBrk="0" hangingPunct="1">
        <a:lnSpc>
          <a:spcPct val="90000"/>
        </a:lnSpc>
        <a:spcBef>
          <a:spcPts val="450"/>
        </a:spcBef>
        <a:buFont typeface="Wingdings" panose="05000000000000000000" pitchFamily="2" charset="2"/>
        <a:buChar char="§"/>
        <a:defRPr sz="12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6pPr>
      <a:lvl7pPr marL="22288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7pPr>
      <a:lvl8pPr marL="25717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8pPr>
      <a:lvl9pPr marL="29146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9pPr>
    </p:bodyStyle>
    <p:otherStyle>
      <a:defPPr>
        <a:defRP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522" userDrawn="1">
          <p15:clr>
            <a:srgbClr val="F26B43"/>
          </p15:clr>
        </p15:guide>
        <p15:guide id="2" pos="5238" userDrawn="1">
          <p15:clr>
            <a:srgbClr val="F26B43"/>
          </p15:clr>
        </p15:guide>
        <p15:guide id="3" orient="horz" pos="1008" userDrawn="1">
          <p15:clr>
            <a:srgbClr val="F26B43"/>
          </p15:clr>
        </p15:guide>
        <p15:guide id="4" orient="horz" pos="388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jzhang@njust.edu.cn" TargetMode="External"/><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package" Target="../embeddings/Microsoft_Visio_Drawing.vsdx"/><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3.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package" Target="../embeddings/Microsoft_Visio_Drawing1.vsdx"/><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4.emf"/></Relationships>
</file>

<file path=ppt/slides/_rels/slide16.xml.rels><?xml version="1.0" encoding="UTF-8" standalone="yes"?>
<Relationships xmlns="http://schemas.openxmlformats.org/package/2006/relationships"><Relationship Id="rId8" Type="http://schemas.openxmlformats.org/officeDocument/2006/relationships/image" Target="../media/image7.wmf"/><Relationship Id="rId13" Type="http://schemas.openxmlformats.org/officeDocument/2006/relationships/oleObject" Target="../embeddings/oleObject6.bin"/><Relationship Id="rId18" Type="http://schemas.openxmlformats.org/officeDocument/2006/relationships/image" Target="../media/image12.wmf"/><Relationship Id="rId26" Type="http://schemas.openxmlformats.org/officeDocument/2006/relationships/image" Target="../media/image16.wmf"/><Relationship Id="rId3" Type="http://schemas.openxmlformats.org/officeDocument/2006/relationships/oleObject" Target="../embeddings/oleObject1.bin"/><Relationship Id="rId21" Type="http://schemas.openxmlformats.org/officeDocument/2006/relationships/oleObject" Target="../embeddings/oleObject10.bin"/><Relationship Id="rId7" Type="http://schemas.openxmlformats.org/officeDocument/2006/relationships/oleObject" Target="../embeddings/oleObject3.bin"/><Relationship Id="rId12" Type="http://schemas.openxmlformats.org/officeDocument/2006/relationships/image" Target="../media/image9.wmf"/><Relationship Id="rId17" Type="http://schemas.openxmlformats.org/officeDocument/2006/relationships/oleObject" Target="../embeddings/oleObject8.bin"/><Relationship Id="rId25" Type="http://schemas.openxmlformats.org/officeDocument/2006/relationships/oleObject" Target="../embeddings/oleObject12.bin"/><Relationship Id="rId2" Type="http://schemas.openxmlformats.org/officeDocument/2006/relationships/slideLayout" Target="../slideLayouts/slideLayout2.xml"/><Relationship Id="rId16" Type="http://schemas.openxmlformats.org/officeDocument/2006/relationships/image" Target="../media/image11.wmf"/><Relationship Id="rId20" Type="http://schemas.openxmlformats.org/officeDocument/2006/relationships/image" Target="../media/image13.wmf"/><Relationship Id="rId1" Type="http://schemas.openxmlformats.org/officeDocument/2006/relationships/vmlDrawing" Target="../drawings/vmlDrawing3.vml"/><Relationship Id="rId6" Type="http://schemas.openxmlformats.org/officeDocument/2006/relationships/image" Target="../media/image6.wmf"/><Relationship Id="rId11" Type="http://schemas.openxmlformats.org/officeDocument/2006/relationships/oleObject" Target="../embeddings/oleObject5.bin"/><Relationship Id="rId24" Type="http://schemas.openxmlformats.org/officeDocument/2006/relationships/image" Target="../media/image15.wmf"/><Relationship Id="rId5" Type="http://schemas.openxmlformats.org/officeDocument/2006/relationships/oleObject" Target="../embeddings/oleObject2.bin"/><Relationship Id="rId15" Type="http://schemas.openxmlformats.org/officeDocument/2006/relationships/oleObject" Target="../embeddings/oleObject7.bin"/><Relationship Id="rId23" Type="http://schemas.openxmlformats.org/officeDocument/2006/relationships/oleObject" Target="../embeddings/oleObject11.bin"/><Relationship Id="rId28" Type="http://schemas.openxmlformats.org/officeDocument/2006/relationships/image" Target="../media/image17.wmf"/><Relationship Id="rId10" Type="http://schemas.openxmlformats.org/officeDocument/2006/relationships/image" Target="../media/image8.wmf"/><Relationship Id="rId19" Type="http://schemas.openxmlformats.org/officeDocument/2006/relationships/oleObject" Target="../embeddings/oleObject9.bin"/><Relationship Id="rId4" Type="http://schemas.openxmlformats.org/officeDocument/2006/relationships/image" Target="../media/image5.wmf"/><Relationship Id="rId9" Type="http://schemas.openxmlformats.org/officeDocument/2006/relationships/oleObject" Target="../embeddings/oleObject4.bin"/><Relationship Id="rId14" Type="http://schemas.openxmlformats.org/officeDocument/2006/relationships/image" Target="../media/image10.wmf"/><Relationship Id="rId22" Type="http://schemas.openxmlformats.org/officeDocument/2006/relationships/image" Target="../media/image14.wmf"/><Relationship Id="rId27" Type="http://schemas.openxmlformats.org/officeDocument/2006/relationships/oleObject" Target="../embeddings/oleObject13.bin"/></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9.wmf"/><Relationship Id="rId5" Type="http://schemas.openxmlformats.org/officeDocument/2006/relationships/oleObject" Target="../embeddings/oleObject15.bin"/><Relationship Id="rId4" Type="http://schemas.openxmlformats.org/officeDocument/2006/relationships/image" Target="../media/image18.wmf"/></Relationships>
</file>

<file path=ppt/slides/_rels/slide18.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oleObject" Target="../embeddings/oleObject16.bin"/><Relationship Id="rId7"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21.wmf"/><Relationship Id="rId5" Type="http://schemas.openxmlformats.org/officeDocument/2006/relationships/oleObject" Target="../embeddings/oleObject17.bin"/><Relationship Id="rId10" Type="http://schemas.openxmlformats.org/officeDocument/2006/relationships/image" Target="../media/image23.wmf"/><Relationship Id="rId4" Type="http://schemas.openxmlformats.org/officeDocument/2006/relationships/image" Target="../media/image20.wmf"/><Relationship Id="rId9" Type="http://schemas.openxmlformats.org/officeDocument/2006/relationships/oleObject" Target="../embeddings/oleObject19.bin"/></Relationships>
</file>

<file path=ppt/slides/_rels/slide19.xml.rels><?xml version="1.0" encoding="UTF-8" standalone="yes"?>
<Relationships xmlns="http://schemas.openxmlformats.org/package/2006/relationships"><Relationship Id="rId8" Type="http://schemas.openxmlformats.org/officeDocument/2006/relationships/image" Target="../media/image26.wmf"/><Relationship Id="rId3" Type="http://schemas.openxmlformats.org/officeDocument/2006/relationships/oleObject" Target="../embeddings/oleObject20.bin"/><Relationship Id="rId7" Type="http://schemas.openxmlformats.org/officeDocument/2006/relationships/oleObject" Target="../embeddings/oleObject22.bin"/><Relationship Id="rId12" Type="http://schemas.openxmlformats.org/officeDocument/2006/relationships/image" Target="../media/image28.wmf"/><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25.wmf"/><Relationship Id="rId11" Type="http://schemas.openxmlformats.org/officeDocument/2006/relationships/oleObject" Target="../embeddings/oleObject24.bin"/><Relationship Id="rId5" Type="http://schemas.openxmlformats.org/officeDocument/2006/relationships/oleObject" Target="../embeddings/oleObject21.bin"/><Relationship Id="rId10" Type="http://schemas.openxmlformats.org/officeDocument/2006/relationships/image" Target="../media/image27.wmf"/><Relationship Id="rId4" Type="http://schemas.openxmlformats.org/officeDocument/2006/relationships/image" Target="../media/image24.wmf"/><Relationship Id="rId9" Type="http://schemas.openxmlformats.org/officeDocument/2006/relationships/oleObject" Target="../embeddings/oleObject23.bin"/></Relationships>
</file>

<file path=ppt/slides/_rels/slide20.xml.rels><?xml version="1.0" encoding="UTF-8" standalone="yes"?>
<Relationships xmlns="http://schemas.openxmlformats.org/package/2006/relationships"><Relationship Id="rId8" Type="http://schemas.openxmlformats.org/officeDocument/2006/relationships/image" Target="../media/image31.wmf"/><Relationship Id="rId3" Type="http://schemas.openxmlformats.org/officeDocument/2006/relationships/oleObject" Target="../embeddings/oleObject25.bin"/><Relationship Id="rId7" Type="http://schemas.openxmlformats.org/officeDocument/2006/relationships/oleObject" Target="../embeddings/oleObject27.bin"/><Relationship Id="rId12" Type="http://schemas.openxmlformats.org/officeDocument/2006/relationships/image" Target="../media/image33.w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30.wmf"/><Relationship Id="rId11" Type="http://schemas.openxmlformats.org/officeDocument/2006/relationships/oleObject" Target="../embeddings/oleObject29.bin"/><Relationship Id="rId5" Type="http://schemas.openxmlformats.org/officeDocument/2006/relationships/oleObject" Target="../embeddings/oleObject26.bin"/><Relationship Id="rId10" Type="http://schemas.openxmlformats.org/officeDocument/2006/relationships/image" Target="../media/image32.wmf"/><Relationship Id="rId4" Type="http://schemas.openxmlformats.org/officeDocument/2006/relationships/image" Target="../media/image29.wmf"/><Relationship Id="rId9" Type="http://schemas.openxmlformats.org/officeDocument/2006/relationships/oleObject" Target="../embeddings/oleObject28.bin"/></Relationships>
</file>

<file path=ppt/slides/_rels/slide2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37.wmf"/><Relationship Id="rId13" Type="http://schemas.openxmlformats.org/officeDocument/2006/relationships/oleObject" Target="../embeddings/oleObject35.bin"/><Relationship Id="rId3" Type="http://schemas.openxmlformats.org/officeDocument/2006/relationships/oleObject" Target="../embeddings/oleObject30.bin"/><Relationship Id="rId7" Type="http://schemas.openxmlformats.org/officeDocument/2006/relationships/oleObject" Target="../embeddings/oleObject32.bin"/><Relationship Id="rId12" Type="http://schemas.openxmlformats.org/officeDocument/2006/relationships/image" Target="../media/image39.wmf"/><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36.wmf"/><Relationship Id="rId11" Type="http://schemas.openxmlformats.org/officeDocument/2006/relationships/oleObject" Target="../embeddings/oleObject34.bin"/><Relationship Id="rId5" Type="http://schemas.openxmlformats.org/officeDocument/2006/relationships/oleObject" Target="../embeddings/oleObject31.bin"/><Relationship Id="rId15" Type="http://schemas.openxmlformats.org/officeDocument/2006/relationships/image" Target="../media/image41.png"/><Relationship Id="rId10" Type="http://schemas.openxmlformats.org/officeDocument/2006/relationships/image" Target="../media/image38.wmf"/><Relationship Id="rId4" Type="http://schemas.openxmlformats.org/officeDocument/2006/relationships/image" Target="../media/image35.wmf"/><Relationship Id="rId9" Type="http://schemas.openxmlformats.org/officeDocument/2006/relationships/oleObject" Target="../embeddings/oleObject33.bin"/><Relationship Id="rId14" Type="http://schemas.openxmlformats.org/officeDocument/2006/relationships/image" Target="../media/image40.wmf"/></Relationships>
</file>

<file path=ppt/slides/_rels/slide24.xml.rels><?xml version="1.0" encoding="UTF-8" standalone="yes"?>
<Relationships xmlns="http://schemas.openxmlformats.org/package/2006/relationships"><Relationship Id="rId8" Type="http://schemas.openxmlformats.org/officeDocument/2006/relationships/image" Target="../media/image44.wmf"/><Relationship Id="rId3" Type="http://schemas.openxmlformats.org/officeDocument/2006/relationships/oleObject" Target="../embeddings/oleObject36.bin"/><Relationship Id="rId7" Type="http://schemas.openxmlformats.org/officeDocument/2006/relationships/oleObject" Target="../embeddings/oleObject38.bin"/><Relationship Id="rId12" Type="http://schemas.openxmlformats.org/officeDocument/2006/relationships/image" Target="../media/image47.png"/><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43.wmf"/><Relationship Id="rId11" Type="http://schemas.openxmlformats.org/officeDocument/2006/relationships/image" Target="../media/image46.png"/><Relationship Id="rId5" Type="http://schemas.openxmlformats.org/officeDocument/2006/relationships/oleObject" Target="../embeddings/oleObject37.bin"/><Relationship Id="rId10" Type="http://schemas.openxmlformats.org/officeDocument/2006/relationships/image" Target="../media/image45.wmf"/><Relationship Id="rId4" Type="http://schemas.openxmlformats.org/officeDocument/2006/relationships/image" Target="../media/image42.wmf"/><Relationship Id="rId9" Type="http://schemas.openxmlformats.org/officeDocument/2006/relationships/oleObject" Target="../embeddings/oleObject39.bin"/></Relationships>
</file>

<file path=ppt/slides/_rels/slide25.xml.rels><?xml version="1.0" encoding="UTF-8" standalone="yes"?>
<Relationships xmlns="http://schemas.openxmlformats.org/package/2006/relationships"><Relationship Id="rId8" Type="http://schemas.openxmlformats.org/officeDocument/2006/relationships/image" Target="../media/image50.wmf"/><Relationship Id="rId3" Type="http://schemas.openxmlformats.org/officeDocument/2006/relationships/oleObject" Target="../embeddings/oleObject40.bin"/><Relationship Id="rId7" Type="http://schemas.openxmlformats.org/officeDocument/2006/relationships/oleObject" Target="../embeddings/oleObject42.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49.wmf"/><Relationship Id="rId5" Type="http://schemas.openxmlformats.org/officeDocument/2006/relationships/oleObject" Target="../embeddings/oleObject41.bin"/><Relationship Id="rId10" Type="http://schemas.openxmlformats.org/officeDocument/2006/relationships/image" Target="../media/image51.wmf"/><Relationship Id="rId4" Type="http://schemas.openxmlformats.org/officeDocument/2006/relationships/image" Target="../media/image48.wmf"/><Relationship Id="rId9" Type="http://schemas.openxmlformats.org/officeDocument/2006/relationships/oleObject" Target="../embeddings/oleObject43.bin"/></Relationships>
</file>

<file path=ppt/slides/_rels/slide26.xml.rels><?xml version="1.0" encoding="UTF-8" standalone="yes"?>
<Relationships xmlns="http://schemas.openxmlformats.org/package/2006/relationships"><Relationship Id="rId8" Type="http://schemas.openxmlformats.org/officeDocument/2006/relationships/image" Target="../media/image54.wmf"/><Relationship Id="rId13" Type="http://schemas.openxmlformats.org/officeDocument/2006/relationships/oleObject" Target="../embeddings/oleObject49.bin"/><Relationship Id="rId3" Type="http://schemas.openxmlformats.org/officeDocument/2006/relationships/oleObject" Target="../embeddings/oleObject44.bin"/><Relationship Id="rId7" Type="http://schemas.openxmlformats.org/officeDocument/2006/relationships/oleObject" Target="../embeddings/oleObject46.bin"/><Relationship Id="rId12" Type="http://schemas.openxmlformats.org/officeDocument/2006/relationships/image" Target="../media/image56.wmf"/><Relationship Id="rId2" Type="http://schemas.openxmlformats.org/officeDocument/2006/relationships/slideLayout" Target="../slideLayouts/slideLayout2.xml"/><Relationship Id="rId16" Type="http://schemas.openxmlformats.org/officeDocument/2006/relationships/image" Target="../media/image58.wmf"/><Relationship Id="rId1" Type="http://schemas.openxmlformats.org/officeDocument/2006/relationships/vmlDrawing" Target="../drawings/vmlDrawing11.vml"/><Relationship Id="rId6" Type="http://schemas.openxmlformats.org/officeDocument/2006/relationships/image" Target="../media/image53.wmf"/><Relationship Id="rId11" Type="http://schemas.openxmlformats.org/officeDocument/2006/relationships/oleObject" Target="../embeddings/oleObject48.bin"/><Relationship Id="rId5" Type="http://schemas.openxmlformats.org/officeDocument/2006/relationships/oleObject" Target="../embeddings/oleObject45.bin"/><Relationship Id="rId15" Type="http://schemas.openxmlformats.org/officeDocument/2006/relationships/oleObject" Target="../embeddings/oleObject50.bin"/><Relationship Id="rId10" Type="http://schemas.openxmlformats.org/officeDocument/2006/relationships/image" Target="../media/image55.wmf"/><Relationship Id="rId4" Type="http://schemas.openxmlformats.org/officeDocument/2006/relationships/image" Target="../media/image52.wmf"/><Relationship Id="rId9" Type="http://schemas.openxmlformats.org/officeDocument/2006/relationships/oleObject" Target="../embeddings/oleObject47.bin"/><Relationship Id="rId14" Type="http://schemas.openxmlformats.org/officeDocument/2006/relationships/image" Target="../media/image57.wmf"/></Relationships>
</file>

<file path=ppt/slides/_rels/slide2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64.wmf"/></Relationships>
</file>

<file path=ppt/slides/_rels/slide30.xml.rels><?xml version="1.0" encoding="UTF-8" standalone="yes"?>
<Relationships xmlns="http://schemas.openxmlformats.org/package/2006/relationships"><Relationship Id="rId8" Type="http://schemas.openxmlformats.org/officeDocument/2006/relationships/image" Target="../media/image66.wmf"/><Relationship Id="rId13" Type="http://schemas.openxmlformats.org/officeDocument/2006/relationships/oleObject" Target="../embeddings/oleObject56.bin"/><Relationship Id="rId18" Type="http://schemas.openxmlformats.org/officeDocument/2006/relationships/image" Target="../media/image71.wmf"/><Relationship Id="rId3" Type="http://schemas.openxmlformats.org/officeDocument/2006/relationships/image" Target="../media/image72.png"/><Relationship Id="rId7" Type="http://schemas.openxmlformats.org/officeDocument/2006/relationships/oleObject" Target="../embeddings/oleObject53.bin"/><Relationship Id="rId12" Type="http://schemas.openxmlformats.org/officeDocument/2006/relationships/image" Target="../media/image68.wmf"/><Relationship Id="rId17" Type="http://schemas.openxmlformats.org/officeDocument/2006/relationships/oleObject" Target="../embeddings/oleObject58.bin"/><Relationship Id="rId2" Type="http://schemas.openxmlformats.org/officeDocument/2006/relationships/slideLayout" Target="../slideLayouts/slideLayout2.xml"/><Relationship Id="rId16" Type="http://schemas.openxmlformats.org/officeDocument/2006/relationships/image" Target="../media/image70.wmf"/><Relationship Id="rId1" Type="http://schemas.openxmlformats.org/officeDocument/2006/relationships/vmlDrawing" Target="../drawings/vmlDrawing13.vml"/><Relationship Id="rId6" Type="http://schemas.openxmlformats.org/officeDocument/2006/relationships/image" Target="../media/image65.wmf"/><Relationship Id="rId11" Type="http://schemas.openxmlformats.org/officeDocument/2006/relationships/oleObject" Target="../embeddings/oleObject55.bin"/><Relationship Id="rId5" Type="http://schemas.openxmlformats.org/officeDocument/2006/relationships/oleObject" Target="../embeddings/oleObject52.bin"/><Relationship Id="rId15" Type="http://schemas.openxmlformats.org/officeDocument/2006/relationships/oleObject" Target="../embeddings/oleObject57.bin"/><Relationship Id="rId10" Type="http://schemas.openxmlformats.org/officeDocument/2006/relationships/image" Target="../media/image67.wmf"/><Relationship Id="rId19" Type="http://schemas.openxmlformats.org/officeDocument/2006/relationships/image" Target="../media/image74.png"/><Relationship Id="rId4" Type="http://schemas.openxmlformats.org/officeDocument/2006/relationships/image" Target="../media/image73.png"/><Relationship Id="rId9" Type="http://schemas.openxmlformats.org/officeDocument/2006/relationships/oleObject" Target="../embeddings/oleObject54.bin"/><Relationship Id="rId14" Type="http://schemas.openxmlformats.org/officeDocument/2006/relationships/image" Target="../media/image69.wmf"/></Relationships>
</file>

<file path=ppt/slides/_rels/slide31.xml.rels><?xml version="1.0" encoding="UTF-8" standalone="yes"?>
<Relationships xmlns="http://schemas.openxmlformats.org/package/2006/relationships"><Relationship Id="rId13" Type="http://schemas.openxmlformats.org/officeDocument/2006/relationships/oleObject" Target="../embeddings/oleObject64.bin"/><Relationship Id="rId18" Type="http://schemas.openxmlformats.org/officeDocument/2006/relationships/image" Target="../media/image81.wmf"/><Relationship Id="rId26" Type="http://schemas.openxmlformats.org/officeDocument/2006/relationships/oleObject" Target="../embeddings/oleObject71.bin"/><Relationship Id="rId3" Type="http://schemas.openxmlformats.org/officeDocument/2006/relationships/oleObject" Target="../embeddings/oleObject59.bin"/><Relationship Id="rId21" Type="http://schemas.openxmlformats.org/officeDocument/2006/relationships/oleObject" Target="../embeddings/oleObject68.bin"/><Relationship Id="rId7" Type="http://schemas.openxmlformats.org/officeDocument/2006/relationships/oleObject" Target="../embeddings/oleObject61.bin"/><Relationship Id="rId12" Type="http://schemas.openxmlformats.org/officeDocument/2006/relationships/image" Target="../media/image78.wmf"/><Relationship Id="rId17" Type="http://schemas.openxmlformats.org/officeDocument/2006/relationships/oleObject" Target="../embeddings/oleObject66.bin"/><Relationship Id="rId25" Type="http://schemas.openxmlformats.org/officeDocument/2006/relationships/image" Target="../media/image84.wmf"/><Relationship Id="rId33" Type="http://schemas.openxmlformats.org/officeDocument/2006/relationships/image" Target="../media/image87.wmf"/><Relationship Id="rId2" Type="http://schemas.openxmlformats.org/officeDocument/2006/relationships/slideLayout" Target="../slideLayouts/slideLayout2.xml"/><Relationship Id="rId16" Type="http://schemas.openxmlformats.org/officeDocument/2006/relationships/image" Target="../media/image80.wmf"/><Relationship Id="rId20" Type="http://schemas.openxmlformats.org/officeDocument/2006/relationships/image" Target="../media/image82.wmf"/><Relationship Id="rId29" Type="http://schemas.openxmlformats.org/officeDocument/2006/relationships/oleObject" Target="../embeddings/oleObject73.bin"/><Relationship Id="rId1" Type="http://schemas.openxmlformats.org/officeDocument/2006/relationships/vmlDrawing" Target="../drawings/vmlDrawing14.vml"/><Relationship Id="rId6" Type="http://schemas.openxmlformats.org/officeDocument/2006/relationships/image" Target="../media/image75.wmf"/><Relationship Id="rId11" Type="http://schemas.openxmlformats.org/officeDocument/2006/relationships/oleObject" Target="../embeddings/oleObject63.bin"/><Relationship Id="rId24" Type="http://schemas.openxmlformats.org/officeDocument/2006/relationships/oleObject" Target="../embeddings/oleObject70.bin"/><Relationship Id="rId32" Type="http://schemas.openxmlformats.org/officeDocument/2006/relationships/oleObject" Target="../embeddings/oleObject75.bin"/><Relationship Id="rId5" Type="http://schemas.openxmlformats.org/officeDocument/2006/relationships/oleObject" Target="../embeddings/oleObject60.bin"/><Relationship Id="rId15" Type="http://schemas.openxmlformats.org/officeDocument/2006/relationships/oleObject" Target="../embeddings/oleObject65.bin"/><Relationship Id="rId23" Type="http://schemas.openxmlformats.org/officeDocument/2006/relationships/oleObject" Target="../embeddings/oleObject69.bin"/><Relationship Id="rId28" Type="http://schemas.openxmlformats.org/officeDocument/2006/relationships/image" Target="../media/image85.wmf"/><Relationship Id="rId10" Type="http://schemas.openxmlformats.org/officeDocument/2006/relationships/image" Target="../media/image77.wmf"/><Relationship Id="rId19" Type="http://schemas.openxmlformats.org/officeDocument/2006/relationships/oleObject" Target="../embeddings/oleObject67.bin"/><Relationship Id="rId31" Type="http://schemas.openxmlformats.org/officeDocument/2006/relationships/image" Target="../media/image86.wmf"/><Relationship Id="rId4" Type="http://schemas.openxmlformats.org/officeDocument/2006/relationships/image" Target="../media/image65.wmf"/><Relationship Id="rId9" Type="http://schemas.openxmlformats.org/officeDocument/2006/relationships/oleObject" Target="../embeddings/oleObject62.bin"/><Relationship Id="rId14" Type="http://schemas.openxmlformats.org/officeDocument/2006/relationships/image" Target="../media/image79.wmf"/><Relationship Id="rId22" Type="http://schemas.openxmlformats.org/officeDocument/2006/relationships/image" Target="../media/image83.wmf"/><Relationship Id="rId27" Type="http://schemas.openxmlformats.org/officeDocument/2006/relationships/oleObject" Target="../embeddings/oleObject72.bin"/><Relationship Id="rId30" Type="http://schemas.openxmlformats.org/officeDocument/2006/relationships/oleObject" Target="../embeddings/oleObject74.bin"/><Relationship Id="rId8" Type="http://schemas.openxmlformats.org/officeDocument/2006/relationships/image" Target="../media/image76.wmf"/></Relationships>
</file>

<file path=ppt/slides/_rels/slide32.xml.rels><?xml version="1.0" encoding="UTF-8" standalone="yes"?>
<Relationships xmlns="http://schemas.openxmlformats.org/package/2006/relationships"><Relationship Id="rId8" Type="http://schemas.openxmlformats.org/officeDocument/2006/relationships/image" Target="../media/image90.wmf"/><Relationship Id="rId13" Type="http://schemas.openxmlformats.org/officeDocument/2006/relationships/oleObject" Target="../embeddings/oleObject81.bin"/><Relationship Id="rId18" Type="http://schemas.openxmlformats.org/officeDocument/2006/relationships/image" Target="../media/image95.wmf"/><Relationship Id="rId3" Type="http://schemas.openxmlformats.org/officeDocument/2006/relationships/oleObject" Target="../embeddings/oleObject76.bin"/><Relationship Id="rId7" Type="http://schemas.openxmlformats.org/officeDocument/2006/relationships/oleObject" Target="../embeddings/oleObject78.bin"/><Relationship Id="rId12" Type="http://schemas.openxmlformats.org/officeDocument/2006/relationships/image" Target="../media/image92.wmf"/><Relationship Id="rId17" Type="http://schemas.openxmlformats.org/officeDocument/2006/relationships/oleObject" Target="../embeddings/oleObject83.bin"/><Relationship Id="rId2" Type="http://schemas.openxmlformats.org/officeDocument/2006/relationships/slideLayout" Target="../slideLayouts/slideLayout2.xml"/><Relationship Id="rId16" Type="http://schemas.openxmlformats.org/officeDocument/2006/relationships/image" Target="../media/image94.wmf"/><Relationship Id="rId1" Type="http://schemas.openxmlformats.org/officeDocument/2006/relationships/vmlDrawing" Target="../drawings/vmlDrawing15.vml"/><Relationship Id="rId6" Type="http://schemas.openxmlformats.org/officeDocument/2006/relationships/image" Target="../media/image89.wmf"/><Relationship Id="rId11" Type="http://schemas.openxmlformats.org/officeDocument/2006/relationships/oleObject" Target="../embeddings/oleObject80.bin"/><Relationship Id="rId5" Type="http://schemas.openxmlformats.org/officeDocument/2006/relationships/oleObject" Target="../embeddings/oleObject77.bin"/><Relationship Id="rId15" Type="http://schemas.openxmlformats.org/officeDocument/2006/relationships/oleObject" Target="../embeddings/oleObject82.bin"/><Relationship Id="rId10" Type="http://schemas.openxmlformats.org/officeDocument/2006/relationships/image" Target="../media/image91.wmf"/><Relationship Id="rId4" Type="http://schemas.openxmlformats.org/officeDocument/2006/relationships/image" Target="../media/image88.wmf"/><Relationship Id="rId9" Type="http://schemas.openxmlformats.org/officeDocument/2006/relationships/oleObject" Target="../embeddings/oleObject79.bin"/><Relationship Id="rId14" Type="http://schemas.openxmlformats.org/officeDocument/2006/relationships/image" Target="../media/image93.wmf"/></Relationships>
</file>

<file path=ppt/slides/_rels/slide33.xml.rels><?xml version="1.0" encoding="UTF-8" standalone="yes"?>
<Relationships xmlns="http://schemas.openxmlformats.org/package/2006/relationships"><Relationship Id="rId8" Type="http://schemas.openxmlformats.org/officeDocument/2006/relationships/image" Target="../media/image98.wmf"/><Relationship Id="rId13" Type="http://schemas.openxmlformats.org/officeDocument/2006/relationships/oleObject" Target="../embeddings/oleObject89.bin"/><Relationship Id="rId3" Type="http://schemas.openxmlformats.org/officeDocument/2006/relationships/oleObject" Target="../embeddings/oleObject84.bin"/><Relationship Id="rId7" Type="http://schemas.openxmlformats.org/officeDocument/2006/relationships/oleObject" Target="../embeddings/oleObject86.bin"/><Relationship Id="rId12" Type="http://schemas.openxmlformats.org/officeDocument/2006/relationships/image" Target="../media/image100.wmf"/><Relationship Id="rId2" Type="http://schemas.openxmlformats.org/officeDocument/2006/relationships/slideLayout" Target="../slideLayouts/slideLayout2.xml"/><Relationship Id="rId16" Type="http://schemas.openxmlformats.org/officeDocument/2006/relationships/image" Target="../media/image102.wmf"/><Relationship Id="rId1" Type="http://schemas.openxmlformats.org/officeDocument/2006/relationships/vmlDrawing" Target="../drawings/vmlDrawing16.vml"/><Relationship Id="rId6" Type="http://schemas.openxmlformats.org/officeDocument/2006/relationships/image" Target="../media/image97.wmf"/><Relationship Id="rId11" Type="http://schemas.openxmlformats.org/officeDocument/2006/relationships/oleObject" Target="../embeddings/oleObject88.bin"/><Relationship Id="rId5" Type="http://schemas.openxmlformats.org/officeDocument/2006/relationships/oleObject" Target="../embeddings/oleObject85.bin"/><Relationship Id="rId15" Type="http://schemas.openxmlformats.org/officeDocument/2006/relationships/oleObject" Target="../embeddings/oleObject90.bin"/><Relationship Id="rId10" Type="http://schemas.openxmlformats.org/officeDocument/2006/relationships/image" Target="../media/image99.wmf"/><Relationship Id="rId4" Type="http://schemas.openxmlformats.org/officeDocument/2006/relationships/image" Target="../media/image96.wmf"/><Relationship Id="rId9" Type="http://schemas.openxmlformats.org/officeDocument/2006/relationships/oleObject" Target="../embeddings/oleObject87.bin"/><Relationship Id="rId14" Type="http://schemas.openxmlformats.org/officeDocument/2006/relationships/image" Target="../media/image101.wmf"/></Relationships>
</file>

<file path=ppt/slides/_rels/slide34.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oleObject" Target="../embeddings/oleObject91.bin"/><Relationship Id="rId7" Type="http://schemas.openxmlformats.org/officeDocument/2006/relationships/image" Target="../media/image105.png"/><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104.wmf"/><Relationship Id="rId5" Type="http://schemas.openxmlformats.org/officeDocument/2006/relationships/oleObject" Target="../embeddings/oleObject92.bin"/><Relationship Id="rId4" Type="http://schemas.openxmlformats.org/officeDocument/2006/relationships/image" Target="../media/image103.wmf"/></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95.bin"/><Relationship Id="rId13" Type="http://schemas.openxmlformats.org/officeDocument/2006/relationships/image" Target="../media/image111.wmf"/><Relationship Id="rId3" Type="http://schemas.openxmlformats.org/officeDocument/2006/relationships/image" Target="../media/image112.png"/><Relationship Id="rId7" Type="http://schemas.openxmlformats.org/officeDocument/2006/relationships/image" Target="../media/image108.wmf"/><Relationship Id="rId12" Type="http://schemas.openxmlformats.org/officeDocument/2006/relationships/oleObject" Target="../embeddings/oleObject97.bin"/><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oleObject" Target="../embeddings/oleObject94.bin"/><Relationship Id="rId11" Type="http://schemas.openxmlformats.org/officeDocument/2006/relationships/image" Target="../media/image110.wmf"/><Relationship Id="rId5" Type="http://schemas.openxmlformats.org/officeDocument/2006/relationships/image" Target="../media/image107.wmf"/><Relationship Id="rId10" Type="http://schemas.openxmlformats.org/officeDocument/2006/relationships/oleObject" Target="../embeddings/oleObject96.bin"/><Relationship Id="rId4" Type="http://schemas.openxmlformats.org/officeDocument/2006/relationships/oleObject" Target="../embeddings/oleObject93.bin"/><Relationship Id="rId9" Type="http://schemas.openxmlformats.org/officeDocument/2006/relationships/image" Target="../media/image109.wmf"/><Relationship Id="rId14" Type="http://schemas.openxmlformats.org/officeDocument/2006/relationships/image" Target="../media/image11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98.bin"/><Relationship Id="rId2" Type="http://schemas.openxmlformats.org/officeDocument/2006/relationships/slideLayout" Target="../slideLayouts/slideLayout2.xml"/><Relationship Id="rId1" Type="http://schemas.openxmlformats.org/officeDocument/2006/relationships/vmlDrawing" Target="../drawings/vmlDrawing19.vml"/><Relationship Id="rId5" Type="http://schemas.openxmlformats.org/officeDocument/2006/relationships/image" Target="../media/image119.png"/><Relationship Id="rId4" Type="http://schemas.openxmlformats.org/officeDocument/2006/relationships/image" Target="../media/image118.w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image" Target="../media/image122.wmf"/><Relationship Id="rId3" Type="http://schemas.openxmlformats.org/officeDocument/2006/relationships/oleObject" Target="../embeddings/oleObject99.bin"/><Relationship Id="rId7" Type="http://schemas.openxmlformats.org/officeDocument/2006/relationships/oleObject" Target="../embeddings/oleObject101.bin"/><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image" Target="../media/image121.wmf"/><Relationship Id="rId5" Type="http://schemas.openxmlformats.org/officeDocument/2006/relationships/oleObject" Target="../embeddings/oleObject100.bin"/><Relationship Id="rId4" Type="http://schemas.openxmlformats.org/officeDocument/2006/relationships/image" Target="../media/image120.wmf"/></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02.bin"/><Relationship Id="rId2" Type="http://schemas.openxmlformats.org/officeDocument/2006/relationships/slideLayout" Target="../slideLayouts/slideLayout2.xml"/><Relationship Id="rId1" Type="http://schemas.openxmlformats.org/officeDocument/2006/relationships/vmlDrawing" Target="../drawings/vmlDrawing21.vml"/><Relationship Id="rId4" Type="http://schemas.openxmlformats.org/officeDocument/2006/relationships/image" Target="../media/image123.w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ctrTitle"/>
          </p:nvPr>
        </p:nvSpPr>
        <p:spPr>
          <a:xfrm>
            <a:off x="828675" y="2576321"/>
            <a:ext cx="4300538" cy="1664768"/>
          </a:xfrm>
        </p:spPr>
        <p:txBody>
          <a:bodyPr rtlCol="0" anchor="ctr"/>
          <a:lstStyle/>
          <a:p>
            <a:pPr rtl="0"/>
            <a:r>
              <a:rPr lang="en-US" altLang="zh-CN" dirty="0"/>
              <a:t>Compilers</a:t>
            </a:r>
            <a:endParaRPr lang="en-US" dirty="0">
              <a:latin typeface="微软雅黑" panose="020B0503020204020204" pitchFamily="34" charset="-122"/>
              <a:ea typeface="微软雅黑" panose="020B0503020204020204" pitchFamily="34" charset="-122"/>
            </a:endParaRPr>
          </a:p>
        </p:txBody>
      </p:sp>
      <p:sp>
        <p:nvSpPr>
          <p:cNvPr id="7" name="副标题 6"/>
          <p:cNvSpPr>
            <a:spLocks noGrp="1"/>
          </p:cNvSpPr>
          <p:nvPr>
            <p:ph type="subTitle" idx="1"/>
          </p:nvPr>
        </p:nvSpPr>
        <p:spPr>
          <a:xfrm>
            <a:off x="828675" y="3879543"/>
            <a:ext cx="4300538" cy="2121762"/>
          </a:xfrm>
        </p:spPr>
        <p:txBody>
          <a:bodyPr rtlCol="0">
            <a:normAutofit/>
          </a:bodyPr>
          <a:lstStyle/>
          <a:p>
            <a:pPr rtl="0"/>
            <a:r>
              <a:rPr lang="en-US" sz="2000" dirty="0"/>
              <a:t>Principles, Techniques, &amp; Tools</a:t>
            </a:r>
          </a:p>
          <a:p>
            <a:pPr rtl="0"/>
            <a:endParaRPr lang="en-US" sz="2000" dirty="0">
              <a:latin typeface="微软雅黑" panose="020B0503020204020204" pitchFamily="34" charset="-122"/>
              <a:ea typeface="微软雅黑" panose="020B0503020204020204" pitchFamily="34" charset="-122"/>
            </a:endParaRPr>
          </a:p>
          <a:p>
            <a:pPr rtl="0"/>
            <a:endParaRPr lang="en-US" sz="2000" dirty="0">
              <a:latin typeface="微软雅黑" panose="020B0503020204020204" pitchFamily="34" charset="-122"/>
              <a:ea typeface="微软雅黑" panose="020B0503020204020204" pitchFamily="34" charset="-122"/>
            </a:endParaRPr>
          </a:p>
          <a:p>
            <a:pPr rtl="0"/>
            <a:r>
              <a:rPr lang="en-US" sz="2000" dirty="0">
                <a:latin typeface="微软雅黑" panose="020B0503020204020204" pitchFamily="34" charset="-122"/>
                <a:ea typeface="微软雅黑" panose="020B0503020204020204" pitchFamily="34" charset="-122"/>
              </a:rPr>
              <a:t>Taught by Jing Zhang </a:t>
            </a:r>
          </a:p>
          <a:p>
            <a:pPr rtl="0"/>
            <a:r>
              <a:rPr lang="en-US" sz="2000" dirty="0">
                <a:latin typeface="微软雅黑" panose="020B0503020204020204" pitchFamily="34" charset="-122"/>
                <a:ea typeface="微软雅黑" panose="020B0503020204020204" pitchFamily="34" charset="-122"/>
              </a:rPr>
              <a:t>(</a:t>
            </a:r>
            <a:r>
              <a:rPr lang="en-US" sz="2000" dirty="0">
                <a:latin typeface="微软雅黑" panose="020B0503020204020204" pitchFamily="34" charset="-122"/>
                <a:ea typeface="微软雅黑" panose="020B0503020204020204" pitchFamily="34" charset="-122"/>
                <a:hlinkClick r:id="rId3"/>
              </a:rPr>
              <a:t>jzhang@njust.edu.cn</a:t>
            </a:r>
            <a:r>
              <a:rPr lang="en-US" sz="2000" dirty="0">
                <a:latin typeface="微软雅黑" panose="020B0503020204020204" pitchFamily="34" charset="-122"/>
                <a:ea typeface="微软雅黑" panose="020B0503020204020204" pitchFamily="34" charset="-122"/>
              </a:rPr>
              <a:t>)</a:t>
            </a:r>
          </a:p>
          <a:p>
            <a:pPr rtl="0"/>
            <a:r>
              <a:rPr lang="en-US" sz="2000" dirty="0"/>
              <a:t>http:// jz81.github.io</a:t>
            </a:r>
          </a:p>
          <a:p>
            <a:pPr rtl="0"/>
            <a:endParaRPr lang="en-US" sz="2000" dirty="0">
              <a:latin typeface="微软雅黑" panose="020B0503020204020204" pitchFamily="34" charset="-122"/>
              <a:ea typeface="微软雅黑" panose="020B0503020204020204" pitchFamily="34" charset="-122"/>
            </a:endParaRPr>
          </a:p>
        </p:txBody>
      </p:sp>
      <p:pic>
        <p:nvPicPr>
          <p:cNvPr id="4" name="图片占位符 3" descr="桌上一本打开的书，书架在背景中模糊显示" title="示例图片"/>
          <p:cNvPicPr>
            <a:picLocks noGrp="1" noChangeAspect="1"/>
          </p:cNvPicPr>
          <p:nvPr>
            <p:ph type="pic" sz="quarter" idx="13"/>
          </p:nvPr>
        </p:nvPicPr>
        <p:blipFill>
          <a:blip r:embed="rId4" cstate="print">
            <a:extLst>
              <a:ext uri="{28A0092B-C50C-407E-A947-70E740481C1C}">
                <a14:useLocalDpi xmlns:a14="http://schemas.microsoft.com/office/drawing/2010/main" val="0"/>
              </a:ext>
            </a:extLst>
          </a:blip>
          <a:srcRect l="8805" r="8805"/>
          <a:stretch>
            <a:fillRect/>
          </a:stretch>
        </p:blipFill>
        <p:spPr/>
      </p:pic>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en-US" altLang="zh-CN" dirty="0"/>
              <a:t>Course Review</a:t>
            </a:r>
            <a:endParaRPr lang="en-US" dirty="0"/>
          </a:p>
        </p:txBody>
      </p:sp>
      <p:sp>
        <p:nvSpPr>
          <p:cNvPr id="3" name="文本占位符 2"/>
          <p:cNvSpPr>
            <a:spLocks noGrp="1"/>
          </p:cNvSpPr>
          <p:nvPr>
            <p:ph type="body" idx="1"/>
          </p:nvPr>
        </p:nvSpPr>
        <p:spPr/>
        <p:txBody>
          <a:bodyPr rtlCol="0"/>
          <a:lstStyle/>
          <a:p>
            <a:pPr rtl="0"/>
            <a:endParaRPr lang="en-US"/>
          </a:p>
        </p:txBody>
      </p:sp>
    </p:spTree>
    <p:extLst>
      <p:ext uri="{BB962C8B-B14F-4D97-AF65-F5344CB8AC3E}">
        <p14:creationId xmlns:p14="http://schemas.microsoft.com/office/powerpoint/2010/main" val="132884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Definition of Compiler</a:t>
            </a:r>
            <a:endParaRPr lang="zh-CN" altLang="en-US" dirty="0"/>
          </a:p>
        </p:txBody>
      </p:sp>
      <p:sp>
        <p:nvSpPr>
          <p:cNvPr id="3" name="内容占位符 2"/>
          <p:cNvSpPr>
            <a:spLocks noGrp="1"/>
          </p:cNvSpPr>
          <p:nvPr>
            <p:ph idx="1"/>
          </p:nvPr>
        </p:nvSpPr>
        <p:spPr>
          <a:xfrm>
            <a:off x="828675" y="1600200"/>
            <a:ext cx="7486650" cy="2376996"/>
          </a:xfrm>
        </p:spPr>
        <p:txBody>
          <a:bodyPr>
            <a:normAutofit/>
          </a:bodyPr>
          <a:lstStyle/>
          <a:p>
            <a:r>
              <a:rPr lang="en-US" altLang="zh-CN" sz="2000" dirty="0"/>
              <a:t>What is a compiler?</a:t>
            </a:r>
          </a:p>
          <a:p>
            <a:pPr lvl="1"/>
            <a:r>
              <a:rPr lang="en-US" altLang="zh-CN" sz="1700" dirty="0"/>
              <a:t>All the software running on all the computers was written in some program language. Before a program can be run, it first must be translated into a form in which it can be executed by a computer.</a:t>
            </a:r>
          </a:p>
          <a:p>
            <a:pPr lvl="1"/>
            <a:r>
              <a:rPr lang="en-US" altLang="zh-CN" sz="1700" dirty="0"/>
              <a:t>The software system that do this translation are called </a:t>
            </a:r>
            <a:r>
              <a:rPr lang="en-US" altLang="zh-CN" sz="1700" dirty="0">
                <a:solidFill>
                  <a:srgbClr val="FF0000"/>
                </a:solidFill>
              </a:rPr>
              <a:t>compiler</a:t>
            </a:r>
            <a:r>
              <a:rPr lang="en-US" altLang="zh-CN" sz="1700" dirty="0"/>
              <a:t>.</a:t>
            </a:r>
          </a:p>
          <a:p>
            <a:pPr lvl="1"/>
            <a:r>
              <a:rPr lang="en-US" altLang="zh-CN" sz="1700" dirty="0"/>
              <a:t>Simply stated, a compiler is a program that can read a program in one language – the source language – and translate it into an equivalent program in another  language – the target language.</a:t>
            </a:r>
          </a:p>
          <a:p>
            <a:pPr lvl="1"/>
            <a:endParaRPr lang="en-US" altLang="zh-CN" sz="1700" dirty="0"/>
          </a:p>
          <a:p>
            <a:endParaRPr lang="en-US" altLang="zh-CN" dirty="0"/>
          </a:p>
          <a:p>
            <a:endParaRPr lang="zh-CN" altLang="en-US" dirty="0"/>
          </a:p>
        </p:txBody>
      </p:sp>
      <p:sp>
        <p:nvSpPr>
          <p:cNvPr id="4" name="矩形 3"/>
          <p:cNvSpPr/>
          <p:nvPr/>
        </p:nvSpPr>
        <p:spPr>
          <a:xfrm>
            <a:off x="3551067" y="4216894"/>
            <a:ext cx="2059620" cy="7812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Compiler</a:t>
            </a:r>
            <a:endParaRPr lang="zh-CN" altLang="en-US" dirty="0"/>
          </a:p>
        </p:txBody>
      </p:sp>
      <p:cxnSp>
        <p:nvCxnSpPr>
          <p:cNvPr id="6" name="直接箭头连接符 5"/>
          <p:cNvCxnSpPr>
            <a:cxnSpLocks/>
          </p:cNvCxnSpPr>
          <p:nvPr/>
        </p:nvCxnSpPr>
        <p:spPr>
          <a:xfrm>
            <a:off x="2290439" y="4607511"/>
            <a:ext cx="1260628"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a:cxnSpLocks/>
          </p:cNvCxnSpPr>
          <p:nvPr/>
        </p:nvCxnSpPr>
        <p:spPr>
          <a:xfrm>
            <a:off x="5610686" y="4607511"/>
            <a:ext cx="861135"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1824825" y="4183147"/>
            <a:ext cx="1673215" cy="369332"/>
          </a:xfrm>
          <a:prstGeom prst="rect">
            <a:avLst/>
          </a:prstGeom>
          <a:noFill/>
        </p:spPr>
        <p:txBody>
          <a:bodyPr wrap="none" rtlCol="0">
            <a:spAutoFit/>
          </a:bodyPr>
          <a:lstStyle/>
          <a:p>
            <a:r>
              <a:rPr lang="en-US" altLang="zh-CN" dirty="0">
                <a:solidFill>
                  <a:srgbClr val="0070C0"/>
                </a:solidFill>
              </a:rPr>
              <a:t>Source Program</a:t>
            </a:r>
            <a:endParaRPr lang="zh-CN" altLang="en-US" dirty="0">
              <a:solidFill>
                <a:srgbClr val="0070C0"/>
              </a:solidFill>
            </a:endParaRPr>
          </a:p>
        </p:txBody>
      </p:sp>
      <p:sp>
        <p:nvSpPr>
          <p:cNvPr id="12" name="文本框 11"/>
          <p:cNvSpPr txBox="1"/>
          <p:nvPr/>
        </p:nvSpPr>
        <p:spPr>
          <a:xfrm>
            <a:off x="5610686" y="4219567"/>
            <a:ext cx="1717779" cy="369332"/>
          </a:xfrm>
          <a:prstGeom prst="rect">
            <a:avLst/>
          </a:prstGeom>
          <a:noFill/>
        </p:spPr>
        <p:txBody>
          <a:bodyPr wrap="square" rtlCol="0">
            <a:spAutoFit/>
          </a:bodyPr>
          <a:lstStyle/>
          <a:p>
            <a:r>
              <a:rPr lang="en-US" altLang="zh-CN" dirty="0">
                <a:solidFill>
                  <a:srgbClr val="00B050"/>
                </a:solidFill>
              </a:rPr>
              <a:t>Target Program</a:t>
            </a:r>
            <a:endParaRPr lang="zh-CN" altLang="en-US" dirty="0">
              <a:solidFill>
                <a:srgbClr val="00B050"/>
              </a:solidFill>
            </a:endParaRPr>
          </a:p>
        </p:txBody>
      </p:sp>
      <p:sp>
        <p:nvSpPr>
          <p:cNvPr id="14" name="矩形 13"/>
          <p:cNvSpPr/>
          <p:nvPr/>
        </p:nvSpPr>
        <p:spPr>
          <a:xfrm>
            <a:off x="3541621" y="5372471"/>
            <a:ext cx="2059620" cy="7812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Target Program</a:t>
            </a:r>
            <a:endParaRPr lang="zh-CN" altLang="en-US" dirty="0"/>
          </a:p>
        </p:txBody>
      </p:sp>
      <p:cxnSp>
        <p:nvCxnSpPr>
          <p:cNvPr id="16" name="直接箭头连接符 15"/>
          <p:cNvCxnSpPr>
            <a:cxnSpLocks/>
          </p:cNvCxnSpPr>
          <p:nvPr/>
        </p:nvCxnSpPr>
        <p:spPr>
          <a:xfrm>
            <a:off x="5625481" y="5763088"/>
            <a:ext cx="861135"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cxnSpLocks/>
          </p:cNvCxnSpPr>
          <p:nvPr/>
        </p:nvCxnSpPr>
        <p:spPr>
          <a:xfrm>
            <a:off x="2280993" y="5764568"/>
            <a:ext cx="1260628"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2580756" y="5372471"/>
            <a:ext cx="679994" cy="369332"/>
          </a:xfrm>
          <a:prstGeom prst="rect">
            <a:avLst/>
          </a:prstGeom>
          <a:noFill/>
        </p:spPr>
        <p:txBody>
          <a:bodyPr wrap="none" rtlCol="0">
            <a:spAutoFit/>
          </a:bodyPr>
          <a:lstStyle/>
          <a:p>
            <a:r>
              <a:rPr lang="en-US" altLang="zh-CN" dirty="0">
                <a:solidFill>
                  <a:srgbClr val="0070C0"/>
                </a:solidFill>
              </a:rPr>
              <a:t>input</a:t>
            </a:r>
            <a:endParaRPr lang="zh-CN" altLang="en-US" dirty="0">
              <a:solidFill>
                <a:srgbClr val="0070C0"/>
              </a:solidFill>
            </a:endParaRPr>
          </a:p>
        </p:txBody>
      </p:sp>
      <p:sp>
        <p:nvSpPr>
          <p:cNvPr id="19" name="文本框 18"/>
          <p:cNvSpPr txBox="1"/>
          <p:nvPr/>
        </p:nvSpPr>
        <p:spPr>
          <a:xfrm>
            <a:off x="5625481" y="5387217"/>
            <a:ext cx="939555" cy="369332"/>
          </a:xfrm>
          <a:prstGeom prst="rect">
            <a:avLst/>
          </a:prstGeom>
          <a:noFill/>
        </p:spPr>
        <p:txBody>
          <a:bodyPr wrap="square" rtlCol="0">
            <a:spAutoFit/>
          </a:bodyPr>
          <a:lstStyle/>
          <a:p>
            <a:r>
              <a:rPr lang="en-US" altLang="zh-CN" dirty="0">
                <a:solidFill>
                  <a:srgbClr val="00B050"/>
                </a:solidFill>
              </a:rPr>
              <a:t>output</a:t>
            </a:r>
            <a:endParaRPr lang="zh-CN" altLang="en-US" dirty="0">
              <a:solidFill>
                <a:srgbClr val="00B050"/>
              </a:solidFill>
            </a:endParaRPr>
          </a:p>
        </p:txBody>
      </p:sp>
    </p:spTree>
    <p:extLst>
      <p:ext uri="{BB962C8B-B14F-4D97-AF65-F5344CB8AC3E}">
        <p14:creationId xmlns:p14="http://schemas.microsoft.com/office/powerpoint/2010/main" val="3751904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Interpreter</a:t>
            </a:r>
            <a:endParaRPr lang="zh-CN" altLang="en-US" dirty="0"/>
          </a:p>
        </p:txBody>
      </p:sp>
      <p:sp>
        <p:nvSpPr>
          <p:cNvPr id="3" name="内容占位符 2"/>
          <p:cNvSpPr>
            <a:spLocks noGrp="1"/>
          </p:cNvSpPr>
          <p:nvPr>
            <p:ph idx="1"/>
          </p:nvPr>
        </p:nvSpPr>
        <p:spPr/>
        <p:txBody>
          <a:bodyPr>
            <a:normAutofit/>
          </a:bodyPr>
          <a:lstStyle/>
          <a:p>
            <a:r>
              <a:rPr lang="en-US" altLang="zh-CN" sz="2000" dirty="0"/>
              <a:t>An </a:t>
            </a:r>
            <a:r>
              <a:rPr lang="en-US" altLang="zh-CN" sz="2000" dirty="0">
                <a:solidFill>
                  <a:srgbClr val="FF0000"/>
                </a:solidFill>
              </a:rPr>
              <a:t>interpreter </a:t>
            </a:r>
            <a:r>
              <a:rPr lang="en-US" altLang="zh-CN" sz="2000" dirty="0"/>
              <a:t>is another common kind of language processor. It directly execute the operations specified in the source program on inputs supplied by the user</a:t>
            </a:r>
          </a:p>
          <a:p>
            <a:endParaRPr lang="en-US" altLang="zh-CN" sz="2000" dirty="0">
              <a:solidFill>
                <a:srgbClr val="FF0000"/>
              </a:solidFill>
            </a:endParaRPr>
          </a:p>
          <a:p>
            <a:endParaRPr lang="en-US" altLang="zh-CN" sz="2000" dirty="0">
              <a:solidFill>
                <a:srgbClr val="FF0000"/>
              </a:solidFill>
            </a:endParaRPr>
          </a:p>
          <a:p>
            <a:endParaRPr lang="en-US" altLang="zh-CN" sz="2000" dirty="0">
              <a:solidFill>
                <a:srgbClr val="FF0000"/>
              </a:solidFill>
            </a:endParaRPr>
          </a:p>
          <a:p>
            <a:r>
              <a:rPr lang="en-US" altLang="zh-CN" sz="2000" dirty="0"/>
              <a:t>A hybrid compiler</a:t>
            </a:r>
          </a:p>
          <a:p>
            <a:pPr marL="0" indent="0">
              <a:buNone/>
            </a:pPr>
            <a:endParaRPr lang="en-US" altLang="zh-CN" sz="2000" dirty="0"/>
          </a:p>
        </p:txBody>
      </p:sp>
      <p:sp>
        <p:nvSpPr>
          <p:cNvPr id="4" name="矩形 3"/>
          <p:cNvSpPr/>
          <p:nvPr/>
        </p:nvSpPr>
        <p:spPr>
          <a:xfrm>
            <a:off x="3284737" y="2894121"/>
            <a:ext cx="2059620" cy="7812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Compiler</a:t>
            </a:r>
            <a:endParaRPr lang="zh-CN" altLang="en-US" dirty="0"/>
          </a:p>
        </p:txBody>
      </p:sp>
      <p:cxnSp>
        <p:nvCxnSpPr>
          <p:cNvPr id="5" name="直接箭头连接符 4"/>
          <p:cNvCxnSpPr>
            <a:cxnSpLocks/>
          </p:cNvCxnSpPr>
          <p:nvPr/>
        </p:nvCxnSpPr>
        <p:spPr>
          <a:xfrm>
            <a:off x="2024109" y="3284738"/>
            <a:ext cx="1260628"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a:cxnSpLocks/>
          </p:cNvCxnSpPr>
          <p:nvPr/>
        </p:nvCxnSpPr>
        <p:spPr>
          <a:xfrm>
            <a:off x="5344356" y="3284738"/>
            <a:ext cx="861135"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1558495" y="2860374"/>
            <a:ext cx="1673215" cy="369332"/>
          </a:xfrm>
          <a:prstGeom prst="rect">
            <a:avLst/>
          </a:prstGeom>
          <a:noFill/>
        </p:spPr>
        <p:txBody>
          <a:bodyPr wrap="none" rtlCol="0">
            <a:spAutoFit/>
          </a:bodyPr>
          <a:lstStyle/>
          <a:p>
            <a:r>
              <a:rPr lang="en-US" altLang="zh-CN" dirty="0">
                <a:solidFill>
                  <a:srgbClr val="0070C0"/>
                </a:solidFill>
              </a:rPr>
              <a:t>Source Program</a:t>
            </a:r>
            <a:endParaRPr lang="zh-CN" altLang="en-US" dirty="0">
              <a:solidFill>
                <a:srgbClr val="0070C0"/>
              </a:solidFill>
            </a:endParaRPr>
          </a:p>
        </p:txBody>
      </p:sp>
      <p:sp>
        <p:nvSpPr>
          <p:cNvPr id="8" name="文本框 7"/>
          <p:cNvSpPr txBox="1"/>
          <p:nvPr/>
        </p:nvSpPr>
        <p:spPr>
          <a:xfrm>
            <a:off x="5344356" y="2896794"/>
            <a:ext cx="1717779" cy="369332"/>
          </a:xfrm>
          <a:prstGeom prst="rect">
            <a:avLst/>
          </a:prstGeom>
          <a:noFill/>
        </p:spPr>
        <p:txBody>
          <a:bodyPr wrap="square" rtlCol="0">
            <a:spAutoFit/>
          </a:bodyPr>
          <a:lstStyle/>
          <a:p>
            <a:r>
              <a:rPr lang="en-US" altLang="zh-CN" dirty="0">
                <a:solidFill>
                  <a:srgbClr val="00B050"/>
                </a:solidFill>
              </a:rPr>
              <a:t>output</a:t>
            </a:r>
            <a:endParaRPr lang="zh-CN" altLang="en-US" dirty="0">
              <a:solidFill>
                <a:srgbClr val="00B050"/>
              </a:solidFill>
            </a:endParaRPr>
          </a:p>
        </p:txBody>
      </p:sp>
      <p:cxnSp>
        <p:nvCxnSpPr>
          <p:cNvPr id="9" name="直接箭头连接符 8"/>
          <p:cNvCxnSpPr>
            <a:cxnSpLocks/>
          </p:cNvCxnSpPr>
          <p:nvPr/>
        </p:nvCxnSpPr>
        <p:spPr>
          <a:xfrm>
            <a:off x="2432482" y="3561425"/>
            <a:ext cx="852255"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1802840" y="3367881"/>
            <a:ext cx="679994" cy="369332"/>
          </a:xfrm>
          <a:prstGeom prst="rect">
            <a:avLst/>
          </a:prstGeom>
          <a:noFill/>
        </p:spPr>
        <p:txBody>
          <a:bodyPr wrap="none" rtlCol="0">
            <a:spAutoFit/>
          </a:bodyPr>
          <a:lstStyle/>
          <a:p>
            <a:r>
              <a:rPr lang="en-US" altLang="zh-CN" dirty="0">
                <a:solidFill>
                  <a:srgbClr val="0070C0"/>
                </a:solidFill>
              </a:rPr>
              <a:t>input</a:t>
            </a:r>
            <a:endParaRPr lang="zh-CN" altLang="en-US" dirty="0">
              <a:solidFill>
                <a:srgbClr val="0070C0"/>
              </a:solidFill>
            </a:endParaRPr>
          </a:p>
        </p:txBody>
      </p:sp>
      <p:sp>
        <p:nvSpPr>
          <p:cNvPr id="12" name="矩形 11"/>
          <p:cNvSpPr/>
          <p:nvPr/>
        </p:nvSpPr>
        <p:spPr>
          <a:xfrm>
            <a:off x="3551067" y="4216894"/>
            <a:ext cx="2059620" cy="7812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Translator</a:t>
            </a:r>
            <a:endParaRPr lang="zh-CN" altLang="en-US" dirty="0"/>
          </a:p>
        </p:txBody>
      </p:sp>
      <p:cxnSp>
        <p:nvCxnSpPr>
          <p:cNvPr id="13" name="直接箭头连接符 12"/>
          <p:cNvCxnSpPr>
            <a:cxnSpLocks/>
          </p:cNvCxnSpPr>
          <p:nvPr/>
        </p:nvCxnSpPr>
        <p:spPr>
          <a:xfrm>
            <a:off x="2290439" y="4607511"/>
            <a:ext cx="1260628"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a:cxnSpLocks/>
            <a:stCxn id="12" idx="2"/>
            <a:endCxn id="17" idx="0"/>
          </p:cNvCxnSpPr>
          <p:nvPr/>
        </p:nvCxnSpPr>
        <p:spPr>
          <a:xfrm flipH="1">
            <a:off x="4571431" y="4998129"/>
            <a:ext cx="9446" cy="374342"/>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1824825" y="4183147"/>
            <a:ext cx="1673215" cy="369332"/>
          </a:xfrm>
          <a:prstGeom prst="rect">
            <a:avLst/>
          </a:prstGeom>
          <a:noFill/>
        </p:spPr>
        <p:txBody>
          <a:bodyPr wrap="none" rtlCol="0">
            <a:spAutoFit/>
          </a:bodyPr>
          <a:lstStyle/>
          <a:p>
            <a:r>
              <a:rPr lang="en-US" altLang="zh-CN" dirty="0">
                <a:solidFill>
                  <a:srgbClr val="0070C0"/>
                </a:solidFill>
              </a:rPr>
              <a:t>Source Program</a:t>
            </a:r>
            <a:endParaRPr lang="zh-CN" altLang="en-US" dirty="0">
              <a:solidFill>
                <a:srgbClr val="0070C0"/>
              </a:solidFill>
            </a:endParaRPr>
          </a:p>
        </p:txBody>
      </p:sp>
      <p:sp>
        <p:nvSpPr>
          <p:cNvPr id="16" name="文本框 15"/>
          <p:cNvSpPr txBox="1"/>
          <p:nvPr/>
        </p:nvSpPr>
        <p:spPr>
          <a:xfrm>
            <a:off x="4730321" y="4966890"/>
            <a:ext cx="2331814" cy="369332"/>
          </a:xfrm>
          <a:prstGeom prst="rect">
            <a:avLst/>
          </a:prstGeom>
          <a:noFill/>
        </p:spPr>
        <p:txBody>
          <a:bodyPr wrap="square" rtlCol="0">
            <a:spAutoFit/>
          </a:bodyPr>
          <a:lstStyle/>
          <a:p>
            <a:r>
              <a:rPr lang="en-US" altLang="zh-CN" dirty="0">
                <a:solidFill>
                  <a:srgbClr val="7030A0"/>
                </a:solidFill>
              </a:rPr>
              <a:t>Intermediate program</a:t>
            </a:r>
            <a:endParaRPr lang="zh-CN" altLang="en-US" dirty="0">
              <a:solidFill>
                <a:srgbClr val="7030A0"/>
              </a:solidFill>
            </a:endParaRPr>
          </a:p>
        </p:txBody>
      </p:sp>
      <p:sp>
        <p:nvSpPr>
          <p:cNvPr id="17" name="矩形 16"/>
          <p:cNvSpPr/>
          <p:nvPr/>
        </p:nvSpPr>
        <p:spPr>
          <a:xfrm>
            <a:off x="3541621" y="5372471"/>
            <a:ext cx="2059620" cy="7812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Target Program</a:t>
            </a:r>
            <a:endParaRPr lang="zh-CN" altLang="en-US" dirty="0"/>
          </a:p>
        </p:txBody>
      </p:sp>
      <p:cxnSp>
        <p:nvCxnSpPr>
          <p:cNvPr id="18" name="直接箭头连接符 17"/>
          <p:cNvCxnSpPr>
            <a:cxnSpLocks/>
          </p:cNvCxnSpPr>
          <p:nvPr/>
        </p:nvCxnSpPr>
        <p:spPr>
          <a:xfrm>
            <a:off x="5625481" y="5763088"/>
            <a:ext cx="861135"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cxnSpLocks/>
          </p:cNvCxnSpPr>
          <p:nvPr/>
        </p:nvCxnSpPr>
        <p:spPr>
          <a:xfrm>
            <a:off x="2280993" y="6039776"/>
            <a:ext cx="1260628"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2580756" y="5673832"/>
            <a:ext cx="679994" cy="369332"/>
          </a:xfrm>
          <a:prstGeom prst="rect">
            <a:avLst/>
          </a:prstGeom>
          <a:noFill/>
        </p:spPr>
        <p:txBody>
          <a:bodyPr wrap="none" rtlCol="0">
            <a:spAutoFit/>
          </a:bodyPr>
          <a:lstStyle/>
          <a:p>
            <a:r>
              <a:rPr lang="en-US" altLang="zh-CN" dirty="0">
                <a:solidFill>
                  <a:srgbClr val="0070C0"/>
                </a:solidFill>
              </a:rPr>
              <a:t>input</a:t>
            </a:r>
            <a:endParaRPr lang="zh-CN" altLang="en-US" dirty="0">
              <a:solidFill>
                <a:srgbClr val="0070C0"/>
              </a:solidFill>
            </a:endParaRPr>
          </a:p>
        </p:txBody>
      </p:sp>
      <p:sp>
        <p:nvSpPr>
          <p:cNvPr id="21" name="文本框 20"/>
          <p:cNvSpPr txBox="1"/>
          <p:nvPr/>
        </p:nvSpPr>
        <p:spPr>
          <a:xfrm>
            <a:off x="5625481" y="5387217"/>
            <a:ext cx="939555" cy="369332"/>
          </a:xfrm>
          <a:prstGeom prst="rect">
            <a:avLst/>
          </a:prstGeom>
          <a:noFill/>
        </p:spPr>
        <p:txBody>
          <a:bodyPr wrap="square" rtlCol="0">
            <a:spAutoFit/>
          </a:bodyPr>
          <a:lstStyle/>
          <a:p>
            <a:r>
              <a:rPr lang="en-US" altLang="zh-CN" dirty="0">
                <a:solidFill>
                  <a:srgbClr val="00B050"/>
                </a:solidFill>
              </a:rPr>
              <a:t>output</a:t>
            </a:r>
            <a:endParaRPr lang="zh-CN" altLang="en-US" dirty="0">
              <a:solidFill>
                <a:srgbClr val="00B050"/>
              </a:solidFill>
            </a:endParaRPr>
          </a:p>
        </p:txBody>
      </p:sp>
    </p:spTree>
    <p:extLst>
      <p:ext uri="{BB962C8B-B14F-4D97-AF65-F5344CB8AC3E}">
        <p14:creationId xmlns:p14="http://schemas.microsoft.com/office/powerpoint/2010/main" val="3979160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Structure of a Compiler</a:t>
            </a:r>
            <a:endParaRPr lang="zh-CN" altLang="en-US" dirty="0"/>
          </a:p>
        </p:txBody>
      </p:sp>
      <p:sp>
        <p:nvSpPr>
          <p:cNvPr id="4" name="Rectangle 2"/>
          <p:cNvSpPr>
            <a:spLocks noChangeArrowheads="1"/>
          </p:cNvSpPr>
          <p:nvPr/>
        </p:nvSpPr>
        <p:spPr bwMode="auto">
          <a:xfrm>
            <a:off x="587829" y="197031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809406552"/>
              </p:ext>
            </p:extLst>
          </p:nvPr>
        </p:nvGraphicFramePr>
        <p:xfrm>
          <a:off x="587829" y="1970315"/>
          <a:ext cx="7822830" cy="3614056"/>
        </p:xfrm>
        <a:graphic>
          <a:graphicData uri="http://schemas.openxmlformats.org/presentationml/2006/ole">
            <mc:AlternateContent xmlns:mc="http://schemas.openxmlformats.org/markup-compatibility/2006">
              <mc:Choice xmlns:v="urn:schemas-microsoft-com:vml" Requires="v">
                <p:oleObj spid="_x0000_s2071" name="Visio" r:id="rId3" imgW="4676926" imgH="2162060" progId="Visio.Drawing.15">
                  <p:embed/>
                </p:oleObj>
              </mc:Choice>
              <mc:Fallback>
                <p:oleObj name="Visio" r:id="rId3" imgW="4676926" imgH="2162060"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7829" y="1970315"/>
                        <a:ext cx="7822830" cy="3614056"/>
                      </a:xfrm>
                      <a:prstGeom prst="rect">
                        <a:avLst/>
                      </a:prstGeom>
                      <a:noFill/>
                    </p:spPr>
                  </p:pic>
                </p:oleObj>
              </mc:Fallback>
            </mc:AlternateContent>
          </a:graphicData>
        </a:graphic>
      </p:graphicFrame>
    </p:spTree>
    <p:extLst>
      <p:ext uri="{BB962C8B-B14F-4D97-AF65-F5344CB8AC3E}">
        <p14:creationId xmlns:p14="http://schemas.microsoft.com/office/powerpoint/2010/main" val="3147378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The Running of a Program</a:t>
            </a:r>
            <a:endParaRPr lang="zh-CN" altLang="en-US" dirty="0"/>
          </a:p>
        </p:txBody>
      </p:sp>
      <p:sp>
        <p:nvSpPr>
          <p:cNvPr id="3" name="内容占位符 2"/>
          <p:cNvSpPr>
            <a:spLocks noGrp="1"/>
          </p:cNvSpPr>
          <p:nvPr>
            <p:ph idx="1"/>
          </p:nvPr>
        </p:nvSpPr>
        <p:spPr>
          <a:xfrm>
            <a:off x="828675" y="1600200"/>
            <a:ext cx="7486650" cy="3646714"/>
          </a:xfrm>
        </p:spPr>
        <p:txBody>
          <a:bodyPr/>
          <a:lstStyle/>
          <a:p>
            <a:r>
              <a:rPr lang="en-US" altLang="zh-CN" dirty="0"/>
              <a:t>Not all programming languages need compilers to run on a machine. There are different kinds of executions of programming languages, such as</a:t>
            </a:r>
          </a:p>
          <a:p>
            <a:pPr marL="0" indent="0">
              <a:buNone/>
            </a:pPr>
            <a:r>
              <a:rPr lang="en-US" altLang="zh-CN" dirty="0"/>
              <a:t>(1) Compiling execution</a:t>
            </a:r>
          </a:p>
          <a:p>
            <a:pPr marL="0" indent="0">
              <a:buNone/>
            </a:pPr>
            <a:r>
              <a:rPr lang="en-US" altLang="zh-CN" dirty="0"/>
              <a:t>      C </a:t>
            </a:r>
          </a:p>
          <a:p>
            <a:pPr marL="0" indent="0">
              <a:buNone/>
            </a:pPr>
            <a:r>
              <a:rPr lang="en-US" altLang="zh-CN" dirty="0"/>
              <a:t>      C++</a:t>
            </a:r>
          </a:p>
          <a:p>
            <a:pPr marL="0" indent="0">
              <a:buNone/>
            </a:pPr>
            <a:r>
              <a:rPr lang="en-US" altLang="zh-CN" dirty="0"/>
              <a:t>      PASCAL</a:t>
            </a:r>
          </a:p>
          <a:p>
            <a:pPr marL="0" indent="0">
              <a:buNone/>
            </a:pPr>
            <a:r>
              <a:rPr lang="en-US" altLang="zh-CN" dirty="0"/>
              <a:t>(2) Interpretive execution</a:t>
            </a:r>
          </a:p>
          <a:p>
            <a:pPr marL="0" indent="0">
              <a:buNone/>
            </a:pPr>
            <a:r>
              <a:rPr lang="en-US" altLang="zh-CN" dirty="0"/>
              <a:t>     BASIC</a:t>
            </a:r>
          </a:p>
          <a:p>
            <a:pPr marL="0" indent="0">
              <a:buNone/>
            </a:pPr>
            <a:r>
              <a:rPr lang="en-US" altLang="zh-CN" dirty="0"/>
              <a:t>     Java</a:t>
            </a:r>
          </a:p>
          <a:p>
            <a:pPr marL="0" indent="0">
              <a:buNone/>
            </a:pPr>
            <a:r>
              <a:rPr lang="en-US" altLang="zh-CN" dirty="0"/>
              <a:t>     Python</a:t>
            </a:r>
          </a:p>
          <a:p>
            <a:endParaRPr lang="zh-CN" altLang="en-US" dirty="0"/>
          </a:p>
        </p:txBody>
      </p:sp>
    </p:spTree>
    <p:extLst>
      <p:ext uri="{BB962C8B-B14F-4D97-AF65-F5344CB8AC3E}">
        <p14:creationId xmlns:p14="http://schemas.microsoft.com/office/powerpoint/2010/main" val="1407350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Parameter Passing Mechanisms</a:t>
            </a:r>
            <a:endParaRPr lang="zh-CN" altLang="en-US" dirty="0"/>
          </a:p>
        </p:txBody>
      </p:sp>
      <p:sp>
        <p:nvSpPr>
          <p:cNvPr id="3" name="内容占位符 2"/>
          <p:cNvSpPr>
            <a:spLocks noGrp="1"/>
          </p:cNvSpPr>
          <p:nvPr>
            <p:ph idx="1"/>
          </p:nvPr>
        </p:nvSpPr>
        <p:spPr>
          <a:xfrm>
            <a:off x="828675" y="1600201"/>
            <a:ext cx="7486650" cy="3733800"/>
          </a:xfrm>
        </p:spPr>
        <p:txBody>
          <a:bodyPr>
            <a:normAutofit lnSpcReduction="10000"/>
          </a:bodyPr>
          <a:lstStyle/>
          <a:p>
            <a:pPr marL="0" lvl="0" indent="0">
              <a:buNone/>
            </a:pPr>
            <a:r>
              <a:rPr lang="en-US" altLang="zh-CN" sz="2000" dirty="0">
                <a:solidFill>
                  <a:srgbClr val="514843"/>
                </a:solidFill>
              </a:rPr>
              <a:t>How the </a:t>
            </a:r>
            <a:r>
              <a:rPr lang="en-US" altLang="zh-CN" sz="2000" dirty="0">
                <a:solidFill>
                  <a:srgbClr val="00B050"/>
                </a:solidFill>
              </a:rPr>
              <a:t>actual parameters </a:t>
            </a:r>
            <a:r>
              <a:rPr lang="en-US" altLang="zh-CN" sz="2000" dirty="0">
                <a:solidFill>
                  <a:srgbClr val="514843"/>
                </a:solidFill>
              </a:rPr>
              <a:t>(the parameters used in the call of a procedure) are associated with the </a:t>
            </a:r>
            <a:r>
              <a:rPr lang="en-US" altLang="zh-CN" sz="2000" i="1" dirty="0">
                <a:solidFill>
                  <a:srgbClr val="00B050"/>
                </a:solidFill>
              </a:rPr>
              <a:t>formal parameters </a:t>
            </a:r>
            <a:r>
              <a:rPr lang="en-US" altLang="zh-CN" sz="2000" dirty="0">
                <a:solidFill>
                  <a:srgbClr val="514843"/>
                </a:solidFill>
              </a:rPr>
              <a:t>(those used in the procedure definition).</a:t>
            </a:r>
          </a:p>
          <a:p>
            <a:r>
              <a:rPr lang="en-US" altLang="zh-CN" sz="2000" dirty="0"/>
              <a:t>Call by Value: </a:t>
            </a:r>
          </a:p>
          <a:p>
            <a:pPr lvl="1"/>
            <a:r>
              <a:rPr lang="en-US" altLang="zh-CN" sz="1700" dirty="0"/>
              <a:t>In </a:t>
            </a:r>
            <a:r>
              <a:rPr lang="en-US" altLang="zh-CN" sz="1700" i="1" dirty="0"/>
              <a:t>call-by-value</a:t>
            </a:r>
            <a:r>
              <a:rPr lang="en-US" altLang="zh-CN" sz="1700" dirty="0"/>
              <a:t>, the actual parameter is evaluated (if it is an expression) or copied (if it is a variable) .</a:t>
            </a:r>
          </a:p>
          <a:p>
            <a:r>
              <a:rPr lang="en-US" altLang="zh-CN" sz="2000" dirty="0"/>
              <a:t>Call by Reference:</a:t>
            </a:r>
          </a:p>
          <a:p>
            <a:pPr lvl="1"/>
            <a:r>
              <a:rPr lang="en-US" altLang="zh-CN" sz="1700" dirty="0"/>
              <a:t>In </a:t>
            </a:r>
            <a:r>
              <a:rPr lang="en-US" altLang="zh-CN" sz="1700" i="1" dirty="0"/>
              <a:t>call-by-reference</a:t>
            </a:r>
            <a:r>
              <a:rPr lang="en-US" altLang="zh-CN" sz="1700" dirty="0"/>
              <a:t>, the address of the actual parameter is passed to the </a:t>
            </a:r>
            <a:r>
              <a:rPr lang="en-US" altLang="zh-CN" sz="1700" dirty="0" err="1"/>
              <a:t>callee</a:t>
            </a:r>
            <a:r>
              <a:rPr lang="en-US" altLang="zh-CN" sz="1700" dirty="0"/>
              <a:t> as the value of the corresponding formal parameter.</a:t>
            </a:r>
          </a:p>
          <a:p>
            <a:r>
              <a:rPr lang="en-US" altLang="zh-CN" sz="2000" dirty="0"/>
              <a:t>Call by Name</a:t>
            </a:r>
          </a:p>
          <a:p>
            <a:pPr lvl="1"/>
            <a:r>
              <a:rPr lang="en-US" altLang="zh-CN" sz="1700" dirty="0"/>
              <a:t>the actual parameter were substituted literally for the formal parameter in the code of the </a:t>
            </a:r>
            <a:r>
              <a:rPr lang="en-US" altLang="zh-CN" sz="1700" dirty="0" err="1"/>
              <a:t>callee</a:t>
            </a:r>
            <a:r>
              <a:rPr lang="en-US" altLang="zh-CN" sz="1700" dirty="0"/>
              <a:t>, as if the formal parameter were a macro standing for the actual parameter</a:t>
            </a:r>
          </a:p>
        </p:txBody>
      </p:sp>
      <p:sp>
        <p:nvSpPr>
          <p:cNvPr id="4" name="矩形 3"/>
          <p:cNvSpPr/>
          <p:nvPr/>
        </p:nvSpPr>
        <p:spPr>
          <a:xfrm>
            <a:off x="914400" y="5460164"/>
            <a:ext cx="4572000" cy="923330"/>
          </a:xfrm>
          <a:prstGeom prst="rect">
            <a:avLst/>
          </a:prstGeom>
        </p:spPr>
        <p:txBody>
          <a:bodyPr>
            <a:spAutoFit/>
          </a:bodyPr>
          <a:lstStyle/>
          <a:p>
            <a:pPr marL="495935" indent="-497205" algn="just">
              <a:spcAft>
                <a:spcPts val="0"/>
              </a:spcAft>
            </a:pPr>
            <a:r>
              <a:rPr lang="en-US" altLang="zh-CN" kern="100" dirty="0" err="1">
                <a:latin typeface="Courier New" panose="02070309020205020404" pitchFamily="49" charset="0"/>
                <a:ea typeface="黑体" panose="02010609060101010101" pitchFamily="49" charset="-122"/>
              </a:rPr>
              <a:t>int</a:t>
            </a:r>
            <a:r>
              <a:rPr lang="en-US" altLang="zh-CN" kern="100" dirty="0">
                <a:latin typeface="Courier New" panose="02070309020205020404" pitchFamily="49" charset="0"/>
                <a:ea typeface="黑体" panose="02010609060101010101" pitchFamily="49" charset="-122"/>
              </a:rPr>
              <a:t> function (</a:t>
            </a:r>
            <a:r>
              <a:rPr lang="en-US" altLang="zh-CN" kern="100" dirty="0" err="1">
                <a:latin typeface="Courier New" panose="02070309020205020404" pitchFamily="49" charset="0"/>
                <a:ea typeface="黑体" panose="02010609060101010101" pitchFamily="49" charset="-122"/>
              </a:rPr>
              <a:t>int</a:t>
            </a:r>
            <a:r>
              <a:rPr lang="en-US" altLang="zh-CN" kern="100" dirty="0">
                <a:latin typeface="Courier New" panose="02070309020205020404" pitchFamily="49" charset="0"/>
                <a:ea typeface="黑体" panose="02010609060101010101" pitchFamily="49" charset="-122"/>
              </a:rPr>
              <a:t> a, </a:t>
            </a:r>
            <a:r>
              <a:rPr lang="en-US" altLang="zh-CN" kern="100" dirty="0" err="1">
                <a:latin typeface="Courier New" panose="02070309020205020404" pitchFamily="49" charset="0"/>
                <a:ea typeface="黑体" panose="02010609060101010101" pitchFamily="49" charset="-122"/>
              </a:rPr>
              <a:t>int</a:t>
            </a:r>
            <a:r>
              <a:rPr lang="en-US" altLang="zh-CN" kern="100" dirty="0">
                <a:latin typeface="Courier New" panose="02070309020205020404" pitchFamily="49" charset="0"/>
                <a:ea typeface="黑体" panose="02010609060101010101" pitchFamily="49" charset="-122"/>
              </a:rPr>
              <a:t> b) {</a:t>
            </a:r>
            <a:endParaRPr lang="zh-CN" altLang="zh-CN" kern="100" dirty="0">
              <a:latin typeface="Times New Roman" panose="02020603050405020304" pitchFamily="18" charset="0"/>
              <a:ea typeface="宋体" panose="02010600030101010101" pitchFamily="2" charset="-122"/>
            </a:endParaRPr>
          </a:p>
          <a:p>
            <a:pPr marL="495935" indent="-497205"/>
            <a:r>
              <a:rPr lang="en-US" altLang="zh-CN" kern="100" dirty="0">
                <a:latin typeface="Courier New" panose="02070309020205020404" pitchFamily="49" charset="0"/>
                <a:ea typeface="黑体" panose="02010609060101010101" pitchFamily="49" charset="-122"/>
              </a:rPr>
              <a:t>			return b = </a:t>
            </a:r>
            <a:r>
              <a:rPr lang="en-US" altLang="zh-CN" kern="100" dirty="0" err="1">
                <a:latin typeface="Courier New" panose="02070309020205020404" pitchFamily="49" charset="0"/>
                <a:ea typeface="黑体" panose="02010609060101010101" pitchFamily="49" charset="-122"/>
              </a:rPr>
              <a:t>a+b</a:t>
            </a:r>
            <a:r>
              <a:rPr lang="en-US" altLang="zh-CN" kern="100" dirty="0">
                <a:latin typeface="Courier New" panose="02070309020205020404" pitchFamily="49" charset="0"/>
                <a:ea typeface="黑体" panose="02010609060101010101" pitchFamily="49" charset="-122"/>
              </a:rPr>
              <a:t>*2;</a:t>
            </a:r>
            <a:endParaRPr lang="zh-CN" altLang="zh-CN" kern="100" dirty="0">
              <a:latin typeface="Times New Roman" panose="02020603050405020304" pitchFamily="18" charset="0"/>
              <a:ea typeface="宋体" panose="02010600030101010101" pitchFamily="2" charset="-122"/>
            </a:endParaRPr>
          </a:p>
          <a:p>
            <a:pPr marL="495935" indent="-497205"/>
            <a:r>
              <a:rPr lang="en-US" altLang="zh-CN" kern="100" dirty="0">
                <a:latin typeface="Courier New" panose="02070309020205020404" pitchFamily="49" charset="0"/>
                <a:ea typeface="黑体" panose="02010609060101010101" pitchFamily="49" charset="-122"/>
              </a:rPr>
              <a:t>	}</a:t>
            </a:r>
            <a:endParaRPr lang="zh-CN" altLang="zh-CN" kern="1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193102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400" dirty="0"/>
              <a:t>The Construction of a Lexical Analyzer</a:t>
            </a:r>
            <a:endParaRPr lang="zh-CN" altLang="en-US" dirty="0"/>
          </a:p>
        </p:txBody>
      </p:sp>
      <p:sp>
        <p:nvSpPr>
          <p:cNvPr id="3" name="内容占位符 2"/>
          <p:cNvSpPr>
            <a:spLocks noGrp="1"/>
          </p:cNvSpPr>
          <p:nvPr>
            <p:ph idx="1"/>
          </p:nvPr>
        </p:nvSpPr>
        <p:spPr>
          <a:xfrm>
            <a:off x="828675" y="1444336"/>
            <a:ext cx="7486650" cy="3595256"/>
          </a:xfrm>
        </p:spPr>
        <p:txBody>
          <a:bodyPr>
            <a:normAutofit/>
          </a:bodyPr>
          <a:lstStyle/>
          <a:p>
            <a:pPr>
              <a:lnSpc>
                <a:spcPct val="100000"/>
              </a:lnSpc>
            </a:pPr>
            <a:r>
              <a:rPr lang="en-US" altLang="zh-CN" sz="2000" dirty="0">
                <a:solidFill>
                  <a:srgbClr val="7030A0"/>
                </a:solidFill>
              </a:rPr>
              <a:t>Lexical Analyzer </a:t>
            </a:r>
            <a:r>
              <a:rPr lang="en-US" altLang="zh-CN" sz="2000" dirty="0"/>
              <a:t>reads input stream and then generate the sequence of tokens that are required by a parser. </a:t>
            </a:r>
            <a:endParaRPr lang="zh-CN" altLang="en-US" sz="2000" dirty="0"/>
          </a:p>
        </p:txBody>
      </p:sp>
      <p:sp>
        <p:nvSpPr>
          <p:cNvPr id="4" name="矩形 3"/>
          <p:cNvSpPr/>
          <p:nvPr/>
        </p:nvSpPr>
        <p:spPr>
          <a:xfrm>
            <a:off x="1845133" y="2280062"/>
            <a:ext cx="1747157" cy="849086"/>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altLang="zh-CN" dirty="0"/>
              <a:t>Lexical Analyzer</a:t>
            </a:r>
            <a:endParaRPr lang="zh-CN" altLang="en-US" dirty="0"/>
          </a:p>
        </p:txBody>
      </p:sp>
      <p:sp>
        <p:nvSpPr>
          <p:cNvPr id="5" name="矩形 4"/>
          <p:cNvSpPr/>
          <p:nvPr/>
        </p:nvSpPr>
        <p:spPr>
          <a:xfrm>
            <a:off x="4991479" y="2246783"/>
            <a:ext cx="1747157" cy="849086"/>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altLang="zh-CN" dirty="0"/>
              <a:t>Parser</a:t>
            </a:r>
            <a:endParaRPr lang="zh-CN" altLang="en-US" dirty="0"/>
          </a:p>
        </p:txBody>
      </p:sp>
      <p:cxnSp>
        <p:nvCxnSpPr>
          <p:cNvPr id="6" name="直接箭头连接符 5"/>
          <p:cNvCxnSpPr/>
          <p:nvPr/>
        </p:nvCxnSpPr>
        <p:spPr>
          <a:xfrm flipH="1" flipV="1">
            <a:off x="3592290" y="2867891"/>
            <a:ext cx="1399189" cy="1"/>
          </a:xfrm>
          <a:prstGeom prst="straightConnector1">
            <a:avLst/>
          </a:prstGeom>
          <a:ln w="25400">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3423561" y="3918362"/>
            <a:ext cx="1747157" cy="849086"/>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altLang="zh-CN" dirty="0"/>
              <a:t>Symbol Table</a:t>
            </a:r>
            <a:endParaRPr lang="zh-CN" altLang="en-US" dirty="0"/>
          </a:p>
        </p:txBody>
      </p:sp>
      <p:cxnSp>
        <p:nvCxnSpPr>
          <p:cNvPr id="8" name="直接箭头连接符 7"/>
          <p:cNvCxnSpPr/>
          <p:nvPr/>
        </p:nvCxnSpPr>
        <p:spPr>
          <a:xfrm flipV="1">
            <a:off x="5170718" y="3150919"/>
            <a:ext cx="704850" cy="767443"/>
          </a:xfrm>
          <a:prstGeom prst="straightConnector1">
            <a:avLst/>
          </a:prstGeom>
          <a:ln w="2540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flipH="1" flipV="1">
            <a:off x="3118758" y="3150919"/>
            <a:ext cx="304803" cy="767443"/>
          </a:xfrm>
          <a:prstGeom prst="straightConnector1">
            <a:avLst/>
          </a:prstGeom>
          <a:ln w="2540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0" name="TextBox 20"/>
          <p:cNvSpPr txBox="1"/>
          <p:nvPr/>
        </p:nvSpPr>
        <p:spPr>
          <a:xfrm>
            <a:off x="3512309" y="2966253"/>
            <a:ext cx="1569660" cy="369332"/>
          </a:xfrm>
          <a:prstGeom prst="rect">
            <a:avLst/>
          </a:prstGeom>
          <a:noFill/>
        </p:spPr>
        <p:txBody>
          <a:bodyPr wrap="none" rtlCol="0">
            <a:spAutoFit/>
          </a:bodyPr>
          <a:lstStyle/>
          <a:p>
            <a:r>
              <a:rPr lang="en-US" altLang="zh-CN" i="1" dirty="0" err="1"/>
              <a:t>getNextToken</a:t>
            </a:r>
            <a:endParaRPr lang="zh-CN" altLang="en-US" i="1" dirty="0"/>
          </a:p>
        </p:txBody>
      </p:sp>
      <p:sp>
        <p:nvSpPr>
          <p:cNvPr id="11" name="TextBox 21"/>
          <p:cNvSpPr txBox="1"/>
          <p:nvPr/>
        </p:nvSpPr>
        <p:spPr>
          <a:xfrm>
            <a:off x="3915455" y="2090344"/>
            <a:ext cx="761747" cy="369332"/>
          </a:xfrm>
          <a:prstGeom prst="rect">
            <a:avLst/>
          </a:prstGeom>
          <a:noFill/>
        </p:spPr>
        <p:txBody>
          <a:bodyPr wrap="none" rtlCol="0">
            <a:spAutoFit/>
          </a:bodyPr>
          <a:lstStyle/>
          <a:p>
            <a:r>
              <a:rPr lang="en-US" altLang="zh-CN" dirty="0"/>
              <a:t>token</a:t>
            </a:r>
            <a:endParaRPr lang="zh-CN" altLang="en-US" dirty="0"/>
          </a:p>
        </p:txBody>
      </p:sp>
      <p:cxnSp>
        <p:nvCxnSpPr>
          <p:cNvPr id="12" name="直接箭头连接符 11"/>
          <p:cNvCxnSpPr/>
          <p:nvPr/>
        </p:nvCxnSpPr>
        <p:spPr>
          <a:xfrm>
            <a:off x="3627264" y="2459676"/>
            <a:ext cx="1374726" cy="1"/>
          </a:xfrm>
          <a:prstGeom prst="straightConnector1">
            <a:avLst/>
          </a:prstGeom>
          <a:ln w="25400">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16" name="内容占位符 2"/>
          <p:cNvSpPr txBox="1">
            <a:spLocks/>
          </p:cNvSpPr>
          <p:nvPr/>
        </p:nvSpPr>
        <p:spPr>
          <a:xfrm>
            <a:off x="828675" y="5408924"/>
            <a:ext cx="7486650" cy="676398"/>
          </a:xfrm>
          <a:prstGeom prst="rect">
            <a:avLst/>
          </a:prstGeom>
        </p:spPr>
        <p:txBody>
          <a:bodyPr vert="horz" lIns="0" tIns="45720" rIns="0" bIns="45720" rtlCol="0">
            <a:normAutofit/>
          </a:bodyPr>
          <a:lstStyle>
            <a:lvl1pPr marL="171450" indent="-171450" algn="l" defTabSz="685800" rtl="0" eaLnBrk="1" latinLnBrk="0" hangingPunct="1">
              <a:lnSpc>
                <a:spcPct val="90000"/>
              </a:lnSpc>
              <a:spcBef>
                <a:spcPts val="1350"/>
              </a:spcBef>
              <a:buFont typeface="Wingdings" panose="05000000000000000000" pitchFamily="2" charset="2"/>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defTabSz="685800" rtl="0" eaLnBrk="1" latinLnBrk="0" hangingPunct="1">
              <a:lnSpc>
                <a:spcPct val="90000"/>
              </a:lnSpc>
              <a:spcBef>
                <a:spcPts val="450"/>
              </a:spcBef>
              <a:buFont typeface="Wingdings" panose="05000000000000000000" pitchFamily="2" charset="2"/>
              <a:buChar char="§"/>
              <a:defRPr sz="12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6pPr>
            <a:lvl7pPr marL="22288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7pPr>
            <a:lvl8pPr marL="25717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8pPr>
            <a:lvl9pPr marL="29146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9pPr>
          </a:lstStyle>
          <a:p>
            <a:pPr>
              <a:lnSpc>
                <a:spcPct val="100000"/>
              </a:lnSpc>
            </a:pPr>
            <a:endParaRPr lang="zh-CN" altLang="en-US" sz="2000" dirty="0"/>
          </a:p>
        </p:txBody>
      </p:sp>
      <p:sp>
        <p:nvSpPr>
          <p:cNvPr id="17" name="内容占位符 2"/>
          <p:cNvSpPr txBox="1">
            <a:spLocks/>
          </p:cNvSpPr>
          <p:nvPr/>
        </p:nvSpPr>
        <p:spPr>
          <a:xfrm>
            <a:off x="933877" y="4960179"/>
            <a:ext cx="7486650" cy="1901906"/>
          </a:xfrm>
          <a:prstGeom prst="rect">
            <a:avLst/>
          </a:prstGeom>
        </p:spPr>
        <p:txBody>
          <a:bodyPr vert="horz" lIns="0" tIns="45720" rIns="0" bIns="45720" rtlCol="0">
            <a:normAutofit/>
          </a:bodyPr>
          <a:lstStyle>
            <a:lvl1pPr marL="171450" indent="-171450" algn="l" defTabSz="685800" rtl="0" eaLnBrk="1" latinLnBrk="0" hangingPunct="1">
              <a:lnSpc>
                <a:spcPct val="90000"/>
              </a:lnSpc>
              <a:spcBef>
                <a:spcPts val="1350"/>
              </a:spcBef>
              <a:buFont typeface="Wingdings" panose="05000000000000000000" pitchFamily="2" charset="2"/>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defTabSz="685800" rtl="0" eaLnBrk="1" latinLnBrk="0" hangingPunct="1">
              <a:lnSpc>
                <a:spcPct val="90000"/>
              </a:lnSpc>
              <a:spcBef>
                <a:spcPts val="450"/>
              </a:spcBef>
              <a:buFont typeface="Wingdings" panose="05000000000000000000" pitchFamily="2" charset="2"/>
              <a:buChar char="§"/>
              <a:defRPr sz="12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6pPr>
            <a:lvl7pPr marL="22288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7pPr>
            <a:lvl8pPr marL="25717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8pPr>
            <a:lvl9pPr marL="29146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9pPr>
          </a:lstStyle>
          <a:p>
            <a:pPr>
              <a:lnSpc>
                <a:spcPct val="100000"/>
              </a:lnSpc>
            </a:pPr>
            <a:r>
              <a:rPr lang="en-US" altLang="zh-CN" sz="1400" dirty="0">
                <a:solidFill>
                  <a:schemeClr val="tx2"/>
                </a:solidFill>
              </a:rPr>
              <a:t>Sometimes, lexical analyzers are divided into a cascade of two processes:</a:t>
            </a:r>
          </a:p>
          <a:p>
            <a:pPr>
              <a:lnSpc>
                <a:spcPct val="100000"/>
              </a:lnSpc>
            </a:pPr>
            <a:r>
              <a:rPr lang="en-US" altLang="zh-CN" sz="1400" dirty="0">
                <a:solidFill>
                  <a:schemeClr val="tx2"/>
                </a:solidFill>
              </a:rPr>
              <a:t>a) </a:t>
            </a:r>
            <a:r>
              <a:rPr lang="en-US" altLang="zh-CN" sz="1400" b="1" i="1" dirty="0">
                <a:solidFill>
                  <a:srgbClr val="7030A0"/>
                </a:solidFill>
              </a:rPr>
              <a:t>Scanning</a:t>
            </a:r>
            <a:r>
              <a:rPr lang="en-US" altLang="zh-CN" sz="1400" dirty="0">
                <a:solidFill>
                  <a:schemeClr val="tx2"/>
                </a:solidFill>
              </a:rPr>
              <a:t> consists of the simple processes that do not require tokenization of the input, such as deletion of comments and compaction of consecutive whitespace characters into one.</a:t>
            </a:r>
          </a:p>
          <a:p>
            <a:pPr>
              <a:lnSpc>
                <a:spcPct val="100000"/>
              </a:lnSpc>
            </a:pPr>
            <a:r>
              <a:rPr lang="en-US" altLang="zh-CN" sz="1400" dirty="0">
                <a:solidFill>
                  <a:schemeClr val="tx2"/>
                </a:solidFill>
              </a:rPr>
              <a:t>b</a:t>
            </a:r>
            <a:r>
              <a:rPr lang="en-US" altLang="zh-CN" sz="1400" b="1" i="1" dirty="0">
                <a:solidFill>
                  <a:srgbClr val="7030A0"/>
                </a:solidFill>
              </a:rPr>
              <a:t>) Lexical analysis </a:t>
            </a:r>
            <a:r>
              <a:rPr lang="en-US" altLang="zh-CN" sz="1400" dirty="0">
                <a:solidFill>
                  <a:schemeClr val="tx2"/>
                </a:solidFill>
              </a:rPr>
              <a:t>proper is the more complex portion, where the scanner produces the sequence of tokens as output.</a:t>
            </a:r>
            <a:endParaRPr lang="zh-CN" altLang="en-US" sz="1400" dirty="0">
              <a:solidFill>
                <a:schemeClr val="tx2"/>
              </a:solidFill>
            </a:endParaRPr>
          </a:p>
        </p:txBody>
      </p:sp>
    </p:spTree>
    <p:extLst>
      <p:ext uri="{BB962C8B-B14F-4D97-AF65-F5344CB8AC3E}">
        <p14:creationId xmlns:p14="http://schemas.microsoft.com/office/powerpoint/2010/main" val="3042364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3.1 The Construction of a Lexical Analyzer-token</a:t>
            </a:r>
            <a:endParaRPr lang="zh-CN" altLang="en-US" dirty="0"/>
          </a:p>
        </p:txBody>
      </p:sp>
      <p:sp>
        <p:nvSpPr>
          <p:cNvPr id="4" name="内容占位符 2"/>
          <p:cNvSpPr>
            <a:spLocks noGrp="1"/>
          </p:cNvSpPr>
          <p:nvPr>
            <p:ph idx="1"/>
          </p:nvPr>
        </p:nvSpPr>
        <p:spPr>
          <a:xfrm>
            <a:off x="828675" y="1600200"/>
            <a:ext cx="7486650" cy="1683327"/>
          </a:xfrm>
        </p:spPr>
        <p:txBody>
          <a:bodyPr>
            <a:normAutofit/>
          </a:bodyPr>
          <a:lstStyle/>
          <a:p>
            <a:r>
              <a:rPr lang="en-US" altLang="zh-CN" sz="2400" dirty="0"/>
              <a:t>Output of a lexical analyzer</a:t>
            </a:r>
            <a:r>
              <a:rPr lang="zh-CN" altLang="en-US" sz="2400" dirty="0"/>
              <a:t>：</a:t>
            </a:r>
            <a:r>
              <a:rPr lang="en-US" altLang="zh-CN" sz="2400" dirty="0"/>
              <a:t>token</a:t>
            </a:r>
          </a:p>
          <a:p>
            <a:pPr lvl="1"/>
            <a:r>
              <a:rPr lang="en-US" altLang="zh-CN" sz="2000" dirty="0"/>
              <a:t>Token is a 2-tuple</a:t>
            </a:r>
          </a:p>
          <a:p>
            <a:pPr marL="457200" lvl="1" indent="0">
              <a:buNone/>
            </a:pPr>
            <a:r>
              <a:rPr lang="en-US" altLang="zh-CN" sz="2000" dirty="0"/>
              <a:t>&lt;name</a:t>
            </a:r>
            <a:r>
              <a:rPr lang="zh-CN" altLang="en-US" sz="2000" dirty="0"/>
              <a:t>，</a:t>
            </a:r>
            <a:r>
              <a:rPr lang="en-US" altLang="zh-CN" sz="2000" dirty="0"/>
              <a:t>attribute&gt;</a:t>
            </a:r>
          </a:p>
          <a:p>
            <a:pPr marL="457200" lvl="1" indent="0">
              <a:buNone/>
            </a:pPr>
            <a:r>
              <a:rPr lang="en-US" altLang="zh-CN" sz="2000" b="1" dirty="0"/>
              <a:t>attribute</a:t>
            </a:r>
            <a:r>
              <a:rPr lang="zh-CN" altLang="en-US" sz="2000" b="1" dirty="0"/>
              <a:t>：</a:t>
            </a:r>
            <a:r>
              <a:rPr lang="en-US" altLang="zh-CN" sz="2000" dirty="0"/>
              <a:t>a point to an entry in Symbol Table</a:t>
            </a:r>
            <a:endParaRPr lang="zh-CN" altLang="en-US" sz="2000" dirty="0"/>
          </a:p>
        </p:txBody>
      </p:sp>
      <p:graphicFrame>
        <p:nvGraphicFramePr>
          <p:cNvPr id="5" name="图示 4"/>
          <p:cNvGraphicFramePr/>
          <p:nvPr>
            <p:extLst/>
          </p:nvPr>
        </p:nvGraphicFramePr>
        <p:xfrm>
          <a:off x="827537" y="3188030"/>
          <a:ext cx="7942390" cy="35348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80645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Token-Example</a:t>
            </a:r>
            <a:endParaRPr lang="zh-CN" altLang="en-US" dirty="0"/>
          </a:p>
        </p:txBody>
      </p:sp>
      <p:sp>
        <p:nvSpPr>
          <p:cNvPr id="4" name="矩形 3"/>
          <p:cNvSpPr/>
          <p:nvPr/>
        </p:nvSpPr>
        <p:spPr>
          <a:xfrm>
            <a:off x="828675" y="1889650"/>
            <a:ext cx="5138057" cy="923330"/>
          </a:xfrm>
          <a:prstGeom prst="rect">
            <a:avLst/>
          </a:prstGeom>
        </p:spPr>
        <p:txBody>
          <a:bodyPr wrap="square">
            <a:spAutoFit/>
          </a:bodyPr>
          <a:lstStyle/>
          <a:p>
            <a:pPr marL="495935" indent="-497205" algn="just">
              <a:spcAft>
                <a:spcPts val="0"/>
              </a:spcAft>
            </a:pPr>
            <a:r>
              <a:rPr lang="en-US" altLang="zh-CN" kern="100" dirty="0" err="1">
                <a:latin typeface="Courier New" panose="02070309020205020404" pitchFamily="49" charset="0"/>
                <a:ea typeface="黑体" panose="02010609060101010101" pitchFamily="49" charset="-122"/>
              </a:rPr>
              <a:t>int</a:t>
            </a:r>
            <a:r>
              <a:rPr lang="en-US" altLang="zh-CN" kern="100" dirty="0">
                <a:latin typeface="Courier New" panose="02070309020205020404" pitchFamily="49" charset="0"/>
                <a:ea typeface="黑体" panose="02010609060101010101" pitchFamily="49" charset="-122"/>
              </a:rPr>
              <a:t> function (</a:t>
            </a:r>
            <a:r>
              <a:rPr lang="en-US" altLang="zh-CN" kern="100" dirty="0" err="1">
                <a:latin typeface="Courier New" panose="02070309020205020404" pitchFamily="49" charset="0"/>
                <a:ea typeface="黑体" panose="02010609060101010101" pitchFamily="49" charset="-122"/>
              </a:rPr>
              <a:t>int</a:t>
            </a:r>
            <a:r>
              <a:rPr lang="en-US" altLang="zh-CN" kern="100" dirty="0">
                <a:latin typeface="Courier New" panose="02070309020205020404" pitchFamily="49" charset="0"/>
                <a:ea typeface="黑体" panose="02010609060101010101" pitchFamily="49" charset="-122"/>
              </a:rPr>
              <a:t> a, </a:t>
            </a:r>
            <a:r>
              <a:rPr lang="en-US" altLang="zh-CN" kern="100" dirty="0" err="1">
                <a:latin typeface="Courier New" panose="02070309020205020404" pitchFamily="49" charset="0"/>
                <a:ea typeface="黑体" panose="02010609060101010101" pitchFamily="49" charset="-122"/>
              </a:rPr>
              <a:t>int</a:t>
            </a:r>
            <a:r>
              <a:rPr lang="en-US" altLang="zh-CN" kern="100" dirty="0">
                <a:latin typeface="Courier New" panose="02070309020205020404" pitchFamily="49" charset="0"/>
                <a:ea typeface="黑体" panose="02010609060101010101" pitchFamily="49" charset="-122"/>
              </a:rPr>
              <a:t> b) {</a:t>
            </a:r>
            <a:endParaRPr lang="zh-CN" altLang="zh-CN" kern="100" dirty="0">
              <a:latin typeface="Times New Roman" panose="02020603050405020304" pitchFamily="18" charset="0"/>
              <a:ea typeface="宋体" panose="02010600030101010101" pitchFamily="2" charset="-122"/>
            </a:endParaRPr>
          </a:p>
          <a:p>
            <a:pPr marL="495935" indent="-497205"/>
            <a:r>
              <a:rPr lang="en-US" altLang="zh-CN" kern="100" dirty="0">
                <a:latin typeface="Courier New" panose="02070309020205020404" pitchFamily="49" charset="0"/>
                <a:ea typeface="黑体" panose="02010609060101010101" pitchFamily="49" charset="-122"/>
              </a:rPr>
              <a:t>			return b = </a:t>
            </a:r>
            <a:r>
              <a:rPr lang="en-US" altLang="zh-CN" kern="100" dirty="0" err="1">
                <a:latin typeface="Courier New" panose="02070309020205020404" pitchFamily="49" charset="0"/>
                <a:ea typeface="黑体" panose="02010609060101010101" pitchFamily="49" charset="-122"/>
              </a:rPr>
              <a:t>a+b</a:t>
            </a:r>
            <a:r>
              <a:rPr lang="en-US" altLang="zh-CN" kern="100" dirty="0">
                <a:latin typeface="Courier New" panose="02070309020205020404" pitchFamily="49" charset="0"/>
                <a:ea typeface="黑体" panose="02010609060101010101" pitchFamily="49" charset="-122"/>
              </a:rPr>
              <a:t>*2;</a:t>
            </a:r>
            <a:endParaRPr lang="zh-CN" altLang="zh-CN" kern="100" dirty="0">
              <a:latin typeface="Times New Roman" panose="02020603050405020304" pitchFamily="18" charset="0"/>
              <a:ea typeface="宋体" panose="02010600030101010101" pitchFamily="2" charset="-122"/>
            </a:endParaRPr>
          </a:p>
          <a:p>
            <a:pPr marL="495935" indent="-497205"/>
            <a:r>
              <a:rPr lang="en-US" altLang="zh-CN" kern="100" dirty="0">
                <a:latin typeface="Courier New" panose="02070309020205020404" pitchFamily="49" charset="0"/>
                <a:ea typeface="黑体" panose="02010609060101010101" pitchFamily="49" charset="-122"/>
              </a:rPr>
              <a:t>	}</a:t>
            </a:r>
            <a:endParaRPr lang="zh-CN" altLang="zh-CN" kern="1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351377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DFA and NFA – definition</a:t>
            </a:r>
            <a:endParaRPr lang="zh-CN" altLang="en-US" dirty="0"/>
          </a:p>
        </p:txBody>
      </p:sp>
      <p:sp>
        <p:nvSpPr>
          <p:cNvPr id="4" name="内容占位符 4"/>
          <p:cNvSpPr>
            <a:spLocks noGrp="1"/>
          </p:cNvSpPr>
          <p:nvPr>
            <p:ph sz="half" idx="1"/>
          </p:nvPr>
        </p:nvSpPr>
        <p:spPr>
          <a:xfrm>
            <a:off x="828675" y="1600201"/>
            <a:ext cx="3686175" cy="4571999"/>
          </a:xfrm>
        </p:spPr>
        <p:txBody>
          <a:bodyPr>
            <a:noAutofit/>
          </a:bodyPr>
          <a:lstStyle/>
          <a:p>
            <a:r>
              <a:rPr lang="en-US" altLang="zh-CN" sz="2000" b="1" dirty="0"/>
              <a:t>DFA</a:t>
            </a:r>
            <a:r>
              <a:rPr lang="zh-CN" altLang="en-US" sz="2000" b="1" dirty="0"/>
              <a:t> </a:t>
            </a:r>
            <a:endParaRPr lang="en-US" altLang="zh-CN" sz="2000" b="1" dirty="0"/>
          </a:p>
          <a:p>
            <a:pPr marL="0" indent="0">
              <a:buNone/>
            </a:pPr>
            <a:r>
              <a:rPr lang="en-US" altLang="zh-CN" sz="2000" dirty="0">
                <a:latin typeface="Times New Roman" panose="02020603050405020304" pitchFamily="18" charset="0"/>
                <a:cs typeface="Times New Roman" panose="02020603050405020304" pitchFamily="18" charset="0"/>
              </a:rPr>
              <a:t>M={S, </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 </a:t>
            </a:r>
            <a:r>
              <a:rPr lang="el-GR" altLang="zh-CN" sz="2000" dirty="0">
                <a:latin typeface="Times New Roman" panose="02020603050405020304" pitchFamily="18" charset="0"/>
                <a:ea typeface="Cambria Math"/>
                <a:cs typeface="Times New Roman" panose="02020603050405020304" pitchFamily="18" charset="0"/>
              </a:rPr>
              <a:t>δ</a:t>
            </a:r>
            <a:r>
              <a:rPr lang="en-US" altLang="zh-CN" sz="2000" dirty="0">
                <a:latin typeface="Times New Roman" panose="02020603050405020304" pitchFamily="18" charset="0"/>
                <a:ea typeface="Cambria Math"/>
                <a:cs typeface="Times New Roman" panose="02020603050405020304" pitchFamily="18" charset="0"/>
              </a:rPr>
              <a:t>, s</a:t>
            </a:r>
            <a:r>
              <a:rPr lang="en-US" altLang="zh-CN" sz="2000" baseline="-25000" dirty="0">
                <a:latin typeface="Times New Roman" panose="02020603050405020304" pitchFamily="18" charset="0"/>
                <a:ea typeface="Cambria Math"/>
                <a:cs typeface="Times New Roman" panose="02020603050405020304" pitchFamily="18" charset="0"/>
              </a:rPr>
              <a:t>0</a:t>
            </a:r>
            <a:r>
              <a:rPr lang="en-US" altLang="zh-CN" sz="2000" dirty="0">
                <a:latin typeface="Times New Roman" panose="02020603050405020304" pitchFamily="18" charset="0"/>
                <a:ea typeface="Cambria Math"/>
                <a:cs typeface="Times New Roman" panose="02020603050405020304" pitchFamily="18" charset="0"/>
              </a:rPr>
              <a:t>, F</a:t>
            </a:r>
            <a:r>
              <a:rPr lang="en-US" altLang="zh-CN" sz="2000" dirty="0">
                <a:latin typeface="Times New Roman" panose="02020603050405020304" pitchFamily="18" charset="0"/>
                <a:cs typeface="Times New Roman" panose="02020603050405020304" pitchFamily="18" charset="0"/>
              </a:rPr>
              <a:t>}</a:t>
            </a:r>
          </a:p>
          <a:p>
            <a:pPr marL="457200" indent="-457200">
              <a:buAutoNum type="arabicParenBoth"/>
            </a:pPr>
            <a:r>
              <a:rPr lang="en-US" altLang="zh-CN" sz="2000" dirty="0">
                <a:latin typeface="Times New Roman" panose="02020603050405020304" pitchFamily="18" charset="0"/>
                <a:cs typeface="Times New Roman" panose="02020603050405020304" pitchFamily="18" charset="0"/>
              </a:rPr>
              <a:t>S: a set of finite state</a:t>
            </a:r>
          </a:p>
          <a:p>
            <a:pPr marL="457200" indent="-457200">
              <a:buAutoNum type="arabicParenBoth"/>
            </a:pP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 is finite alphabet, where each element is a input symbol.</a:t>
            </a:r>
          </a:p>
          <a:p>
            <a:pPr marL="457200" indent="-457200">
              <a:buAutoNum type="arabicParenBoth"/>
            </a:pPr>
            <a:r>
              <a:rPr lang="zh-CN" altLang="en-US" sz="2000" dirty="0">
                <a:solidFill>
                  <a:srgbClr val="00B050"/>
                </a:solidFill>
                <a:latin typeface="Times New Roman" panose="02020603050405020304" pitchFamily="18" charset="0"/>
                <a:cs typeface="Times New Roman" panose="02020603050405020304" pitchFamily="18" charset="0"/>
              </a:rPr>
              <a:t> </a:t>
            </a:r>
            <a:r>
              <a:rPr lang="el-GR" altLang="zh-CN" sz="2000" dirty="0">
                <a:solidFill>
                  <a:srgbClr val="00B050"/>
                </a:solidFill>
                <a:latin typeface="Times New Roman" panose="02020603050405020304" pitchFamily="18" charset="0"/>
                <a:ea typeface="Cambria Math"/>
                <a:cs typeface="Times New Roman" panose="02020603050405020304" pitchFamily="18" charset="0"/>
              </a:rPr>
              <a:t>δ</a:t>
            </a:r>
            <a:r>
              <a:rPr lang="en-US" altLang="zh-CN" sz="2000" dirty="0">
                <a:solidFill>
                  <a:srgbClr val="00B050"/>
                </a:solidFill>
                <a:latin typeface="Times New Roman" panose="02020603050405020304" pitchFamily="18" charset="0"/>
                <a:ea typeface="Cambria Math"/>
                <a:cs typeface="Times New Roman" panose="02020603050405020304" pitchFamily="18" charset="0"/>
              </a:rPr>
              <a:t> is a mapping from S</a:t>
            </a:r>
            <a:r>
              <a:rPr lang="zh-CN" altLang="en-US" sz="2000" dirty="0">
                <a:solidFill>
                  <a:srgbClr val="00B050"/>
                </a:solidFill>
                <a:latin typeface="Times New Roman" panose="02020603050405020304" pitchFamily="18" charset="0"/>
                <a:cs typeface="Times New Roman" panose="02020603050405020304" pitchFamily="18" charset="0"/>
              </a:rPr>
              <a:t> </a:t>
            </a:r>
            <a:r>
              <a:rPr lang="en-US" altLang="zh-CN" sz="2000" dirty="0">
                <a:solidFill>
                  <a:srgbClr val="00B050"/>
                </a:solidFill>
                <a:latin typeface="Times New Roman" panose="02020603050405020304" pitchFamily="18" charset="0"/>
                <a:cs typeface="Times New Roman" panose="02020603050405020304" pitchFamily="18" charset="0"/>
              </a:rPr>
              <a:t>×</a:t>
            </a:r>
            <a:r>
              <a:rPr lang="zh-CN" altLang="en-US" sz="2000" dirty="0">
                <a:solidFill>
                  <a:srgbClr val="00B050"/>
                </a:solidFill>
                <a:latin typeface="Times New Roman" panose="02020603050405020304" pitchFamily="18" charset="0"/>
                <a:cs typeface="Times New Roman" panose="02020603050405020304" pitchFamily="18" charset="0"/>
              </a:rPr>
              <a:t>∑ </a:t>
            </a:r>
            <a:r>
              <a:rPr lang="en-US" altLang="zh-CN" sz="2000" dirty="0">
                <a:solidFill>
                  <a:srgbClr val="00B050"/>
                </a:solidFill>
                <a:latin typeface="Times New Roman" panose="02020603050405020304" pitchFamily="18" charset="0"/>
                <a:cs typeface="Times New Roman" panose="02020603050405020304" pitchFamily="18" charset="0"/>
              </a:rPr>
              <a:t>to one state in S.</a:t>
            </a:r>
            <a:r>
              <a:rPr lang="el-GR" altLang="zh-CN" sz="2000" dirty="0">
                <a:solidFill>
                  <a:srgbClr val="00B050"/>
                </a:solidFill>
                <a:latin typeface="Times New Roman" panose="02020603050405020304" pitchFamily="18" charset="0"/>
                <a:ea typeface="Cambria Math"/>
                <a:cs typeface="Times New Roman" panose="02020603050405020304" pitchFamily="18" charset="0"/>
              </a:rPr>
              <a:t> δ</a:t>
            </a:r>
            <a:r>
              <a:rPr lang="en-US" altLang="zh-CN" sz="2000" dirty="0">
                <a:solidFill>
                  <a:srgbClr val="00B050"/>
                </a:solidFill>
                <a:latin typeface="Times New Roman" panose="02020603050405020304" pitchFamily="18" charset="0"/>
                <a:ea typeface="Cambria Math"/>
                <a:cs typeface="Times New Roman" panose="02020603050405020304" pitchFamily="18" charset="0"/>
              </a:rPr>
              <a:t>(s, a)=s’</a:t>
            </a:r>
            <a:r>
              <a:rPr lang="zh-CN" altLang="en-US" sz="2000" dirty="0">
                <a:solidFill>
                  <a:srgbClr val="00B050"/>
                </a:solidFill>
                <a:latin typeface="Times New Roman" panose="02020603050405020304" pitchFamily="18" charset="0"/>
                <a:ea typeface="Cambria Math"/>
                <a:cs typeface="Times New Roman" panose="02020603050405020304" pitchFamily="18" charset="0"/>
              </a:rPr>
              <a:t> ：</a:t>
            </a:r>
            <a:r>
              <a:rPr lang="en-US" altLang="zh-CN" sz="2000" dirty="0">
                <a:solidFill>
                  <a:srgbClr val="00B050"/>
                </a:solidFill>
                <a:latin typeface="Times New Roman" panose="02020603050405020304" pitchFamily="18" charset="0"/>
                <a:ea typeface="Cambria Math"/>
                <a:cs typeface="Times New Roman" panose="02020603050405020304" pitchFamily="18" charset="0"/>
              </a:rPr>
              <a:t>when current state is s</a:t>
            </a:r>
            <a:r>
              <a:rPr lang="zh-CN" altLang="en-US" sz="2000" dirty="0">
                <a:solidFill>
                  <a:srgbClr val="00B050"/>
                </a:solidFill>
                <a:latin typeface="Times New Roman" panose="02020603050405020304" pitchFamily="18" charset="0"/>
                <a:ea typeface="Cambria Math"/>
                <a:cs typeface="Times New Roman" panose="02020603050405020304" pitchFamily="18" charset="0"/>
              </a:rPr>
              <a:t>，</a:t>
            </a:r>
            <a:r>
              <a:rPr lang="en-US" altLang="zh-CN" sz="2000" dirty="0">
                <a:solidFill>
                  <a:srgbClr val="00B050"/>
                </a:solidFill>
                <a:latin typeface="Times New Roman" panose="02020603050405020304" pitchFamily="18" charset="0"/>
                <a:ea typeface="Cambria Math"/>
                <a:cs typeface="Times New Roman" panose="02020603050405020304" pitchFamily="18" charset="0"/>
              </a:rPr>
              <a:t>if the input symbol is a , then the transition of the next state is s’</a:t>
            </a:r>
          </a:p>
          <a:p>
            <a:pPr marL="457200" indent="-457200">
              <a:buAutoNum type="arabicParenBoth"/>
            </a:pPr>
            <a:r>
              <a:rPr lang="en-US" altLang="zh-CN" sz="2000" dirty="0">
                <a:solidFill>
                  <a:srgbClr val="00B050"/>
                </a:solidFill>
                <a:latin typeface="Times New Roman" panose="02020603050405020304" pitchFamily="18" charset="0"/>
                <a:ea typeface="Cambria Math"/>
                <a:cs typeface="Times New Roman" panose="02020603050405020304" pitchFamily="18" charset="0"/>
              </a:rPr>
              <a:t>s</a:t>
            </a:r>
            <a:r>
              <a:rPr lang="en-US" altLang="zh-CN" sz="2000" baseline="-25000" dirty="0">
                <a:solidFill>
                  <a:srgbClr val="00B050"/>
                </a:solidFill>
                <a:latin typeface="Times New Roman" panose="02020603050405020304" pitchFamily="18" charset="0"/>
                <a:ea typeface="Cambria Math"/>
                <a:cs typeface="Times New Roman" panose="02020603050405020304" pitchFamily="18" charset="0"/>
              </a:rPr>
              <a:t>0</a:t>
            </a:r>
            <a:r>
              <a:rPr lang="en-US" altLang="zh-CN" sz="2000" dirty="0">
                <a:solidFill>
                  <a:srgbClr val="00B050"/>
                </a:solidFill>
                <a:latin typeface="Cambria Math"/>
                <a:ea typeface="Cambria Math"/>
                <a:cs typeface="Times New Roman" panose="02020603050405020304" pitchFamily="18" charset="0"/>
              </a:rPr>
              <a:t>∊S is a unique start state</a:t>
            </a:r>
          </a:p>
          <a:p>
            <a:pPr marL="457200" indent="-457200">
              <a:buAutoNum type="arabicParenBoth"/>
            </a:pPr>
            <a:r>
              <a:rPr lang="en-US" altLang="zh-CN" sz="2000" dirty="0">
                <a:latin typeface="Cambria Math"/>
                <a:ea typeface="Cambria Math"/>
                <a:cs typeface="Times New Roman" panose="02020603050405020304" pitchFamily="18" charset="0"/>
              </a:rPr>
              <a:t>F⊆S</a:t>
            </a:r>
            <a:r>
              <a:rPr lang="zh-CN" altLang="en-US" sz="2000" dirty="0">
                <a:latin typeface="Cambria Math"/>
                <a:ea typeface="Cambria Math"/>
                <a:cs typeface="Times New Roman" panose="02020603050405020304" pitchFamily="18" charset="0"/>
              </a:rPr>
              <a:t> </a:t>
            </a:r>
            <a:r>
              <a:rPr lang="en-US" altLang="zh-CN" sz="2000" dirty="0">
                <a:latin typeface="Cambria Math"/>
                <a:ea typeface="Cambria Math"/>
                <a:cs typeface="Times New Roman" panose="02020603050405020304" pitchFamily="18" charset="0"/>
              </a:rPr>
              <a:t>is a set of final states</a:t>
            </a:r>
            <a:r>
              <a:rPr lang="zh-CN" altLang="en-US" sz="2000" dirty="0">
                <a:latin typeface="Cambria Math"/>
                <a:ea typeface="Cambria Math"/>
                <a:cs typeface="Times New Roman" panose="02020603050405020304" pitchFamily="18" charset="0"/>
              </a:rPr>
              <a:t>（</a:t>
            </a:r>
            <a:r>
              <a:rPr lang="en-US" altLang="zh-CN" sz="2000" dirty="0">
                <a:latin typeface="Cambria Math"/>
                <a:ea typeface="Cambria Math"/>
                <a:cs typeface="Times New Roman" panose="02020603050405020304" pitchFamily="18" charset="0"/>
              </a:rPr>
              <a:t>can be empty </a:t>
            </a:r>
            <a:r>
              <a:rPr lang="zh-CN" altLang="en-US" sz="2000" dirty="0">
                <a:latin typeface="Cambria Math"/>
                <a:ea typeface="Cambria Math"/>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p:txBody>
      </p:sp>
      <p:sp>
        <p:nvSpPr>
          <p:cNvPr id="5" name="内容占位符 4"/>
          <p:cNvSpPr txBox="1">
            <a:spLocks/>
          </p:cNvSpPr>
          <p:nvPr/>
        </p:nvSpPr>
        <p:spPr>
          <a:xfrm>
            <a:off x="4901418" y="1600200"/>
            <a:ext cx="3686175" cy="4571999"/>
          </a:xfrm>
          <a:prstGeom prst="rect">
            <a:avLst/>
          </a:prstGeom>
        </p:spPr>
        <p:txBody>
          <a:bodyPr vert="horz" lIns="0" tIns="45720" rIns="0" bIns="45720" rtlCol="0">
            <a:normAutofit/>
          </a:bodyPr>
          <a:lstStyle>
            <a:lvl1pPr marL="171450" indent="-171450" algn="l" defTabSz="685800" rtl="0" eaLnBrk="1" latinLnBrk="0" hangingPunct="1">
              <a:lnSpc>
                <a:spcPct val="90000"/>
              </a:lnSpc>
              <a:spcBef>
                <a:spcPts val="1350"/>
              </a:spcBef>
              <a:buFont typeface="Wingdings" panose="05000000000000000000" pitchFamily="2" charset="2"/>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defTabSz="685800" rtl="0" eaLnBrk="1" latinLnBrk="0" hangingPunct="1">
              <a:lnSpc>
                <a:spcPct val="90000"/>
              </a:lnSpc>
              <a:spcBef>
                <a:spcPts val="450"/>
              </a:spcBef>
              <a:buFont typeface="Wingdings" panose="05000000000000000000" pitchFamily="2" charset="2"/>
              <a:buChar char="§"/>
              <a:defRPr sz="12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6pPr>
            <a:lvl7pPr marL="22288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7pPr>
            <a:lvl8pPr marL="25717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8pPr>
            <a:lvl9pPr marL="29146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9pPr>
          </a:lstStyle>
          <a:p>
            <a:r>
              <a:rPr lang="en-US" altLang="zh-CN" sz="2000" b="1" dirty="0"/>
              <a:t>NFA</a:t>
            </a:r>
          </a:p>
          <a:p>
            <a:pPr marL="0" indent="0">
              <a:buFont typeface="Wingdings" panose="05000000000000000000" pitchFamily="2" charset="2"/>
              <a:buNone/>
            </a:pPr>
            <a:r>
              <a:rPr lang="en-US" altLang="zh-CN" sz="2000" dirty="0">
                <a:latin typeface="Times New Roman" panose="02020603050405020304" pitchFamily="18" charset="0"/>
                <a:cs typeface="Times New Roman" panose="02020603050405020304" pitchFamily="18" charset="0"/>
              </a:rPr>
              <a:t>M={S, </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 </a:t>
            </a:r>
            <a:r>
              <a:rPr lang="el-GR" altLang="zh-CN" sz="2000" dirty="0">
                <a:latin typeface="Times New Roman" panose="02020603050405020304" pitchFamily="18" charset="0"/>
                <a:ea typeface="Cambria Math"/>
                <a:cs typeface="Times New Roman" panose="02020603050405020304" pitchFamily="18" charset="0"/>
              </a:rPr>
              <a:t>δ</a:t>
            </a:r>
            <a:r>
              <a:rPr lang="en-US" altLang="zh-CN" sz="2000" dirty="0">
                <a:latin typeface="Times New Roman" panose="02020603050405020304" pitchFamily="18" charset="0"/>
                <a:ea typeface="Cambria Math"/>
                <a:cs typeface="Times New Roman" panose="02020603050405020304" pitchFamily="18" charset="0"/>
              </a:rPr>
              <a:t>, S</a:t>
            </a:r>
            <a:r>
              <a:rPr lang="en-US" altLang="zh-CN" sz="2000" baseline="-25000" dirty="0">
                <a:latin typeface="Times New Roman" panose="02020603050405020304" pitchFamily="18" charset="0"/>
                <a:ea typeface="Cambria Math"/>
                <a:cs typeface="Times New Roman" panose="02020603050405020304" pitchFamily="18" charset="0"/>
              </a:rPr>
              <a:t>0</a:t>
            </a:r>
            <a:r>
              <a:rPr lang="en-US" altLang="zh-CN" sz="2000" dirty="0">
                <a:latin typeface="Times New Roman" panose="02020603050405020304" pitchFamily="18" charset="0"/>
                <a:ea typeface="Cambria Math"/>
                <a:cs typeface="Times New Roman" panose="02020603050405020304" pitchFamily="18" charset="0"/>
              </a:rPr>
              <a:t>, F</a:t>
            </a:r>
            <a:r>
              <a:rPr lang="en-US" altLang="zh-CN" sz="2000" dirty="0">
                <a:latin typeface="Times New Roman" panose="02020603050405020304" pitchFamily="18" charset="0"/>
                <a:cs typeface="Times New Roman" panose="02020603050405020304" pitchFamily="18" charset="0"/>
              </a:rPr>
              <a:t>}</a:t>
            </a:r>
          </a:p>
          <a:p>
            <a:pPr marL="457200" indent="-457200">
              <a:buFont typeface="Wingdings" panose="05000000000000000000" pitchFamily="2" charset="2"/>
              <a:buAutoNum type="arabicParenBoth"/>
            </a:pPr>
            <a:r>
              <a:rPr lang="en-US" altLang="zh-CN" sz="2000" dirty="0">
                <a:latin typeface="Times New Roman" panose="02020603050405020304" pitchFamily="18" charset="0"/>
                <a:cs typeface="Times New Roman" panose="02020603050405020304" pitchFamily="18" charset="0"/>
              </a:rPr>
              <a:t>S: a set of finite state</a:t>
            </a:r>
          </a:p>
          <a:p>
            <a:pPr marL="457200" indent="-457200">
              <a:buAutoNum type="arabicParenBoth"/>
            </a:pP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 is finite alphabet, where each element is a input letter.</a:t>
            </a:r>
          </a:p>
          <a:p>
            <a:pPr marL="457200" indent="-457200">
              <a:buFont typeface="Wingdings" panose="05000000000000000000" pitchFamily="2" charset="2"/>
              <a:buAutoNum type="arabicParenBoth"/>
            </a:pPr>
            <a:r>
              <a:rPr lang="el-GR" altLang="zh-CN" sz="2000" dirty="0">
                <a:solidFill>
                  <a:srgbClr val="00B0F0"/>
                </a:solidFill>
                <a:latin typeface="Times New Roman" panose="02020603050405020304" pitchFamily="18" charset="0"/>
                <a:ea typeface="Cambria Math"/>
                <a:cs typeface="Times New Roman" panose="02020603050405020304" pitchFamily="18" charset="0"/>
              </a:rPr>
              <a:t>δ</a:t>
            </a:r>
            <a:r>
              <a:rPr lang="en-US" altLang="zh-CN" sz="2000" dirty="0">
                <a:solidFill>
                  <a:srgbClr val="00B0F0"/>
                </a:solidFill>
                <a:latin typeface="Times New Roman" panose="02020603050405020304" pitchFamily="18" charset="0"/>
                <a:ea typeface="Cambria Math"/>
                <a:cs typeface="Times New Roman" panose="02020603050405020304" pitchFamily="18" charset="0"/>
              </a:rPr>
              <a:t> is a mapping from S</a:t>
            </a:r>
            <a:r>
              <a:rPr lang="zh-CN" altLang="en-US" sz="2000" dirty="0">
                <a:solidFill>
                  <a:srgbClr val="00B0F0"/>
                </a:solidFill>
                <a:latin typeface="Times New Roman" panose="02020603050405020304" pitchFamily="18" charset="0"/>
                <a:cs typeface="Times New Roman" panose="02020603050405020304" pitchFamily="18" charset="0"/>
              </a:rPr>
              <a:t> </a:t>
            </a:r>
            <a:r>
              <a:rPr lang="en-US" altLang="zh-CN" sz="2000" dirty="0">
                <a:solidFill>
                  <a:srgbClr val="00B0F0"/>
                </a:solidFill>
                <a:latin typeface="Times New Roman" panose="02020603050405020304" pitchFamily="18" charset="0"/>
                <a:cs typeface="Times New Roman" panose="02020603050405020304" pitchFamily="18" charset="0"/>
              </a:rPr>
              <a:t>×</a:t>
            </a:r>
            <a:r>
              <a:rPr lang="zh-CN" altLang="en-US" sz="2000" dirty="0">
                <a:solidFill>
                  <a:srgbClr val="00B0F0"/>
                </a:solidFill>
                <a:latin typeface="Times New Roman" panose="02020603050405020304" pitchFamily="18" charset="0"/>
                <a:cs typeface="Times New Roman" panose="02020603050405020304" pitchFamily="18" charset="0"/>
              </a:rPr>
              <a:t>∑* </a:t>
            </a:r>
            <a:r>
              <a:rPr lang="en-US" altLang="zh-CN" sz="2000" dirty="0">
                <a:solidFill>
                  <a:srgbClr val="00B0F0"/>
                </a:solidFill>
                <a:latin typeface="Times New Roman" panose="02020603050405020304" pitchFamily="18" charset="0"/>
                <a:cs typeface="Times New Roman" panose="02020603050405020304" pitchFamily="18" charset="0"/>
              </a:rPr>
              <a:t>to a subset of S</a:t>
            </a:r>
            <a:r>
              <a:rPr lang="zh-CN" altLang="en-US" sz="2000" dirty="0">
                <a:solidFill>
                  <a:srgbClr val="00B0F0"/>
                </a:solidFill>
                <a:latin typeface="Times New Roman" panose="02020603050405020304" pitchFamily="18" charset="0"/>
                <a:cs typeface="Times New Roman" panose="02020603050405020304" pitchFamily="18" charset="0"/>
              </a:rPr>
              <a:t>，</a:t>
            </a:r>
            <a:r>
              <a:rPr lang="en-US" altLang="zh-CN" sz="2000" dirty="0">
                <a:solidFill>
                  <a:srgbClr val="00B0F0"/>
                </a:solidFill>
                <a:latin typeface="Times New Roman" panose="02020603050405020304" pitchFamily="18" charset="0"/>
                <a:cs typeface="Times New Roman" panose="02020603050405020304" pitchFamily="18" charset="0"/>
              </a:rPr>
              <a:t>i.e., </a:t>
            </a:r>
            <a:r>
              <a:rPr lang="el-GR" altLang="zh-CN" sz="2000" dirty="0">
                <a:solidFill>
                  <a:srgbClr val="00B0F0"/>
                </a:solidFill>
                <a:latin typeface="Times New Roman" panose="02020603050405020304" pitchFamily="18" charset="0"/>
                <a:ea typeface="Cambria Math"/>
                <a:cs typeface="Times New Roman" panose="02020603050405020304" pitchFamily="18" charset="0"/>
              </a:rPr>
              <a:t> δ</a:t>
            </a:r>
            <a:r>
              <a:rPr lang="en-US" altLang="zh-CN" sz="2000" dirty="0">
                <a:solidFill>
                  <a:srgbClr val="00B0F0"/>
                </a:solidFill>
                <a:latin typeface="Times New Roman" panose="02020603050405020304" pitchFamily="18" charset="0"/>
                <a:ea typeface="Cambria Math"/>
                <a:cs typeface="Times New Roman" panose="02020603050405020304" pitchFamily="18" charset="0"/>
              </a:rPr>
              <a:t>: S</a:t>
            </a:r>
            <a:r>
              <a:rPr lang="zh-CN" altLang="en-US" sz="2000" dirty="0">
                <a:solidFill>
                  <a:srgbClr val="00B0F0"/>
                </a:solidFill>
                <a:latin typeface="Times New Roman" panose="02020603050405020304" pitchFamily="18" charset="0"/>
                <a:cs typeface="Times New Roman" panose="02020603050405020304" pitchFamily="18" charset="0"/>
              </a:rPr>
              <a:t> </a:t>
            </a:r>
            <a:r>
              <a:rPr lang="en-US" altLang="zh-CN" sz="2000" dirty="0">
                <a:solidFill>
                  <a:srgbClr val="00B0F0"/>
                </a:solidFill>
                <a:latin typeface="Times New Roman" panose="02020603050405020304" pitchFamily="18" charset="0"/>
                <a:cs typeface="Times New Roman" panose="02020603050405020304" pitchFamily="18" charset="0"/>
              </a:rPr>
              <a:t>×</a:t>
            </a:r>
            <a:r>
              <a:rPr lang="zh-CN" altLang="en-US" sz="2000" dirty="0">
                <a:solidFill>
                  <a:srgbClr val="00B0F0"/>
                </a:solidFill>
                <a:latin typeface="Times New Roman" panose="02020603050405020304" pitchFamily="18" charset="0"/>
                <a:cs typeface="Times New Roman" panose="02020603050405020304" pitchFamily="18" charset="0"/>
              </a:rPr>
              <a:t>∑*</a:t>
            </a:r>
            <a:r>
              <a:rPr lang="en-US" altLang="zh-CN" sz="2000" i="1" dirty="0">
                <a:solidFill>
                  <a:srgbClr val="00B0F0"/>
                </a:solidFill>
                <a:latin typeface="Times New Roman" panose="02020603050405020304" pitchFamily="18" charset="0"/>
                <a:ea typeface="Cambria Math"/>
                <a:cs typeface="Times New Roman" panose="02020603050405020304" pitchFamily="18" charset="0"/>
              </a:rPr>
              <a:t> →2</a:t>
            </a:r>
            <a:r>
              <a:rPr lang="en-US" altLang="zh-CN" sz="2000" i="1" baseline="30000" dirty="0">
                <a:solidFill>
                  <a:srgbClr val="00B0F0"/>
                </a:solidFill>
                <a:latin typeface="Times New Roman" panose="02020603050405020304" pitchFamily="18" charset="0"/>
                <a:ea typeface="Cambria Math"/>
                <a:cs typeface="Times New Roman" panose="02020603050405020304" pitchFamily="18" charset="0"/>
              </a:rPr>
              <a:t>S</a:t>
            </a:r>
            <a:endParaRPr lang="en-US" altLang="zh-CN" sz="2000" dirty="0">
              <a:solidFill>
                <a:srgbClr val="00B0F0"/>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AutoNum type="arabicParenBoth"/>
            </a:pPr>
            <a:r>
              <a:rPr lang="en-US" altLang="zh-CN" sz="2000" dirty="0">
                <a:solidFill>
                  <a:srgbClr val="00B0F0"/>
                </a:solidFill>
                <a:latin typeface="Times New Roman" panose="02020603050405020304" pitchFamily="18" charset="0"/>
                <a:ea typeface="Cambria Math"/>
                <a:cs typeface="Times New Roman" panose="02020603050405020304" pitchFamily="18" charset="0"/>
              </a:rPr>
              <a:t>S</a:t>
            </a:r>
            <a:r>
              <a:rPr lang="en-US" altLang="zh-CN" sz="2000" baseline="-25000" dirty="0">
                <a:solidFill>
                  <a:srgbClr val="00B0F0"/>
                </a:solidFill>
                <a:latin typeface="Times New Roman" panose="02020603050405020304" pitchFamily="18" charset="0"/>
                <a:ea typeface="Cambria Math"/>
                <a:cs typeface="Times New Roman" panose="02020603050405020304" pitchFamily="18" charset="0"/>
              </a:rPr>
              <a:t>0</a:t>
            </a:r>
            <a:r>
              <a:rPr lang="en-US" altLang="zh-CN" sz="2000" dirty="0">
                <a:solidFill>
                  <a:srgbClr val="00B0F0"/>
                </a:solidFill>
                <a:latin typeface="Cambria Math"/>
                <a:ea typeface="Cambria Math"/>
                <a:cs typeface="Times New Roman" panose="02020603050405020304" pitchFamily="18" charset="0"/>
              </a:rPr>
              <a:t> ⊆ S</a:t>
            </a:r>
            <a:r>
              <a:rPr lang="zh-CN" altLang="en-US" sz="2000" dirty="0">
                <a:solidFill>
                  <a:srgbClr val="00B0F0"/>
                </a:solidFill>
                <a:latin typeface="Cambria Math"/>
                <a:ea typeface="Cambria Math"/>
                <a:cs typeface="Times New Roman" panose="02020603050405020304" pitchFamily="18" charset="0"/>
              </a:rPr>
              <a:t> </a:t>
            </a:r>
            <a:r>
              <a:rPr lang="en-US" altLang="zh-CN" sz="2000" dirty="0">
                <a:solidFill>
                  <a:srgbClr val="00B0F0"/>
                </a:solidFill>
                <a:latin typeface="Cambria Math"/>
                <a:ea typeface="Cambria Math"/>
                <a:cs typeface="Times New Roman" panose="02020603050405020304" pitchFamily="18" charset="0"/>
              </a:rPr>
              <a:t>is a non-empty set of start states</a:t>
            </a:r>
          </a:p>
          <a:p>
            <a:pPr marL="457200" indent="-457200">
              <a:buFont typeface="Wingdings" panose="05000000000000000000" pitchFamily="2" charset="2"/>
              <a:buAutoNum type="arabicParenBoth"/>
            </a:pPr>
            <a:r>
              <a:rPr lang="en-US" altLang="zh-CN" sz="2000" dirty="0">
                <a:latin typeface="Cambria Math"/>
                <a:ea typeface="Cambria Math"/>
                <a:cs typeface="Times New Roman" panose="02020603050405020304" pitchFamily="18" charset="0"/>
              </a:rPr>
              <a:t>F⊆S</a:t>
            </a:r>
            <a:r>
              <a:rPr lang="zh-CN" altLang="en-US" sz="2000" dirty="0">
                <a:latin typeface="Cambria Math"/>
                <a:ea typeface="Cambria Math"/>
                <a:cs typeface="Times New Roman" panose="02020603050405020304" pitchFamily="18" charset="0"/>
              </a:rPr>
              <a:t> </a:t>
            </a:r>
            <a:r>
              <a:rPr lang="en-US" altLang="zh-CN" sz="2000" dirty="0">
                <a:latin typeface="Cambria Math"/>
                <a:ea typeface="Cambria Math"/>
                <a:cs typeface="Times New Roman" panose="02020603050405020304" pitchFamily="18" charset="0"/>
              </a:rPr>
              <a:t>is a set of final states (can be empty).</a:t>
            </a:r>
            <a:endParaRPr lang="en-US" altLang="zh-C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1093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3.5 DFA and NFA – Example</a:t>
            </a:r>
            <a:endParaRPr lang="zh-CN" altLang="en-US" dirty="0"/>
          </a:p>
        </p:txBody>
      </p:sp>
      <p:sp>
        <p:nvSpPr>
          <p:cNvPr id="3" name="内容占位符 2"/>
          <p:cNvSpPr>
            <a:spLocks noGrp="1"/>
          </p:cNvSpPr>
          <p:nvPr>
            <p:ph idx="1"/>
          </p:nvPr>
        </p:nvSpPr>
        <p:spPr/>
        <p:txBody>
          <a:bodyPr>
            <a:normAutofit/>
          </a:bodyPr>
          <a:lstStyle/>
          <a:p>
            <a:r>
              <a:rPr lang="en-US" altLang="zh-CN" sz="2000" dirty="0"/>
              <a:t>Recognize strings on </a:t>
            </a:r>
            <a:r>
              <a:rPr lang="zh-CN" altLang="en-US" sz="2000" dirty="0">
                <a:latin typeface="Cambria Math"/>
              </a:rPr>
              <a:t>∑</a:t>
            </a:r>
            <a:r>
              <a:rPr lang="en-US" altLang="zh-CN" sz="2000" dirty="0">
                <a:latin typeface="Cambria Math"/>
              </a:rPr>
              <a:t>={a, b} </a:t>
            </a:r>
            <a:r>
              <a:rPr lang="en-US" altLang="zh-CN" sz="2000" dirty="0"/>
              <a:t>that include two consecutive a or two consecutive b</a:t>
            </a:r>
            <a:endParaRPr lang="zh-CN" altLang="en-US" sz="2000" dirty="0"/>
          </a:p>
        </p:txBody>
      </p:sp>
      <p:sp>
        <p:nvSpPr>
          <p:cNvPr id="4" name="内容占位符 5"/>
          <p:cNvSpPr txBox="1">
            <a:spLocks/>
          </p:cNvSpPr>
          <p:nvPr/>
        </p:nvSpPr>
        <p:spPr>
          <a:xfrm>
            <a:off x="826807" y="2152059"/>
            <a:ext cx="7486650" cy="489857"/>
          </a:xfrm>
          <a:prstGeom prst="rect">
            <a:avLst/>
          </a:prstGeom>
        </p:spPr>
        <p:txBody>
          <a:bodyPr vert="horz" lIns="0" tIns="45720" rIns="0" bIns="45720" rtlCol="0">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lang="zh-CN" sz="2000" kern="1200">
                <a:solidFill>
                  <a:schemeClr val="tx1"/>
                </a:solidFill>
                <a:latin typeface="Microsoft YaHei UI" panose="020B0503020204020204" pitchFamily="34" charset="-122"/>
                <a:ea typeface="Microsoft YaHei UI" panose="020B0503020204020204" pitchFamily="34" charset="-122"/>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lang="zh-CN" sz="1600" kern="1200">
                <a:solidFill>
                  <a:schemeClr val="tx1"/>
                </a:solidFill>
                <a:latin typeface="Microsoft YaHei UI" panose="020B0503020204020204" pitchFamily="34" charset="-122"/>
                <a:ea typeface="Microsoft YaHei UI" panose="020B0503020204020204" pitchFamily="34" charset="-122"/>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9pPr>
          </a:lstStyle>
          <a:p>
            <a:r>
              <a:rPr lang="en-US" altLang="zh-CN" dirty="0">
                <a:latin typeface="Cambria Math"/>
              </a:rPr>
              <a:t>DFA</a:t>
            </a:r>
            <a:endParaRPr lang="zh-CN" altLang="en-US" dirty="0">
              <a:latin typeface="Cambria Math"/>
            </a:endParaRPr>
          </a:p>
        </p:txBody>
      </p:sp>
      <p:grpSp>
        <p:nvGrpSpPr>
          <p:cNvPr id="5" name="组合 4"/>
          <p:cNvGrpSpPr/>
          <p:nvPr/>
        </p:nvGrpSpPr>
        <p:grpSpPr>
          <a:xfrm>
            <a:off x="2661595" y="2073954"/>
            <a:ext cx="3583128" cy="2068057"/>
            <a:chOff x="2661595" y="2073954"/>
            <a:chExt cx="3583128" cy="2068057"/>
          </a:xfrm>
        </p:grpSpPr>
        <p:sp>
          <p:nvSpPr>
            <p:cNvPr id="6" name="椭圆 5"/>
            <p:cNvSpPr/>
            <p:nvPr/>
          </p:nvSpPr>
          <p:spPr>
            <a:xfrm>
              <a:off x="3940666" y="2149928"/>
              <a:ext cx="522514" cy="55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sp>
          <p:nvSpPr>
            <p:cNvPr id="7" name="弧形 6"/>
            <p:cNvSpPr/>
            <p:nvPr/>
          </p:nvSpPr>
          <p:spPr>
            <a:xfrm rot="18233383">
              <a:off x="3480591" y="2430929"/>
              <a:ext cx="1860064" cy="1146113"/>
            </a:xfrm>
            <a:prstGeom prst="arc">
              <a:avLst>
                <a:gd name="adj1" fmla="val 10758434"/>
                <a:gd name="adj2" fmla="val 19520976"/>
              </a:avLst>
            </a:prstGeom>
            <a:ln>
              <a:solidFill>
                <a:schemeClr val="accent1"/>
              </a:solidFill>
              <a:headEnd type="stealth"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弧形 7"/>
            <p:cNvSpPr/>
            <p:nvPr/>
          </p:nvSpPr>
          <p:spPr>
            <a:xfrm rot="2955178">
              <a:off x="4129406" y="2471056"/>
              <a:ext cx="1406978" cy="805541"/>
            </a:xfrm>
            <a:prstGeom prst="arc">
              <a:avLst>
                <a:gd name="adj1" fmla="val 11014732"/>
                <a:gd name="adj2" fmla="val 18874635"/>
              </a:avLst>
            </a:prstGeom>
            <a:ln>
              <a:solidFill>
                <a:schemeClr val="accent1"/>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9" name="组合 8"/>
            <p:cNvGrpSpPr/>
            <p:nvPr/>
          </p:nvGrpSpPr>
          <p:grpSpPr>
            <a:xfrm>
              <a:off x="2661595" y="2242847"/>
              <a:ext cx="3583128" cy="1899164"/>
              <a:chOff x="2661595" y="2242847"/>
              <a:chExt cx="3583128" cy="1899164"/>
            </a:xfrm>
          </p:grpSpPr>
          <p:sp>
            <p:nvSpPr>
              <p:cNvPr id="10" name="椭圆 9"/>
              <p:cNvSpPr/>
              <p:nvPr/>
            </p:nvSpPr>
            <p:spPr>
              <a:xfrm>
                <a:off x="2661595" y="2906486"/>
                <a:ext cx="522514" cy="55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a:t>
                </a:r>
                <a:endParaRPr lang="zh-CN" altLang="en-US" dirty="0"/>
              </a:p>
            </p:txBody>
          </p:sp>
          <p:sp>
            <p:nvSpPr>
              <p:cNvPr id="11" name="椭圆 10"/>
              <p:cNvSpPr/>
              <p:nvPr/>
            </p:nvSpPr>
            <p:spPr>
              <a:xfrm>
                <a:off x="3940666" y="3586840"/>
                <a:ext cx="522514" cy="55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12" name="同心圆 11"/>
              <p:cNvSpPr/>
              <p:nvPr/>
            </p:nvSpPr>
            <p:spPr>
              <a:xfrm>
                <a:off x="5110881" y="2873826"/>
                <a:ext cx="620485" cy="555171"/>
              </a:xfrm>
              <a:prstGeom prst="don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3</a:t>
                </a:r>
                <a:endParaRPr lang="zh-CN" altLang="en-US" dirty="0">
                  <a:solidFill>
                    <a:schemeClr val="tx1"/>
                  </a:solidFill>
                </a:endParaRPr>
              </a:p>
            </p:txBody>
          </p:sp>
          <p:sp>
            <p:nvSpPr>
              <p:cNvPr id="13" name="弧形 12"/>
              <p:cNvSpPr/>
              <p:nvPr/>
            </p:nvSpPr>
            <p:spPr>
              <a:xfrm rot="20959810">
                <a:off x="2934176" y="2271202"/>
                <a:ext cx="1145722" cy="879152"/>
              </a:xfrm>
              <a:prstGeom prst="arc">
                <a:avLst>
                  <a:gd name="adj1" fmla="val 10549658"/>
                  <a:gd name="adj2" fmla="val 19869875"/>
                </a:avLst>
              </a:prstGeom>
              <a:ln>
                <a:solidFill>
                  <a:schemeClr val="accent1"/>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弧形 13"/>
              <p:cNvSpPr/>
              <p:nvPr/>
            </p:nvSpPr>
            <p:spPr>
              <a:xfrm rot="13449588">
                <a:off x="2921238" y="2978097"/>
                <a:ext cx="1279071" cy="1146113"/>
              </a:xfrm>
              <a:prstGeom prst="arc">
                <a:avLst>
                  <a:gd name="adj1" fmla="val 11097107"/>
                  <a:gd name="adj2" fmla="val 19520976"/>
                </a:avLst>
              </a:prstGeom>
              <a:ln>
                <a:solidFill>
                  <a:schemeClr val="accent1"/>
                </a:solidFill>
                <a:headEnd type="stealth"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 name="弧形 14"/>
              <p:cNvSpPr/>
              <p:nvPr/>
            </p:nvSpPr>
            <p:spPr>
              <a:xfrm rot="6133254">
                <a:off x="3741459" y="2969474"/>
                <a:ext cx="1144069" cy="605590"/>
              </a:xfrm>
              <a:prstGeom prst="arc">
                <a:avLst>
                  <a:gd name="adj1" fmla="val 10392476"/>
                  <a:gd name="adj2" fmla="val 20518722"/>
                </a:avLst>
              </a:prstGeom>
              <a:ln>
                <a:solidFill>
                  <a:schemeClr val="accent1"/>
                </a:solidFill>
                <a:headEnd type="stealth"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弧形 15"/>
              <p:cNvSpPr/>
              <p:nvPr/>
            </p:nvSpPr>
            <p:spPr>
              <a:xfrm rot="8733925">
                <a:off x="4395725" y="3309698"/>
                <a:ext cx="935027" cy="573056"/>
              </a:xfrm>
              <a:prstGeom prst="arc">
                <a:avLst>
                  <a:gd name="adj1" fmla="val 11620110"/>
                  <a:gd name="adj2" fmla="val 21195134"/>
                </a:avLst>
              </a:prstGeom>
              <a:ln>
                <a:solidFill>
                  <a:schemeClr val="accent1"/>
                </a:solidFill>
                <a:headEnd type="stealth"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弧形 16"/>
              <p:cNvSpPr/>
              <p:nvPr/>
            </p:nvSpPr>
            <p:spPr>
              <a:xfrm rot="8733925">
                <a:off x="5610861" y="2666666"/>
                <a:ext cx="362981" cy="573056"/>
              </a:xfrm>
              <a:prstGeom prst="arc">
                <a:avLst>
                  <a:gd name="adj1" fmla="val 2969480"/>
                  <a:gd name="adj2" fmla="val 18590008"/>
                </a:avLst>
              </a:prstGeom>
              <a:ln>
                <a:solidFill>
                  <a:schemeClr val="accent1"/>
                </a:solidFill>
                <a:headEnd type="stealth"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TextBox 20"/>
              <p:cNvSpPr txBox="1"/>
              <p:nvPr/>
            </p:nvSpPr>
            <p:spPr>
              <a:xfrm>
                <a:off x="3092833" y="2242847"/>
                <a:ext cx="316112" cy="369332"/>
              </a:xfrm>
              <a:prstGeom prst="rect">
                <a:avLst/>
              </a:prstGeom>
              <a:noFill/>
            </p:spPr>
            <p:txBody>
              <a:bodyPr wrap="none" rtlCol="0">
                <a:spAutoFit/>
              </a:bodyPr>
              <a:lstStyle/>
              <a:p>
                <a:r>
                  <a:rPr lang="en-US" altLang="zh-CN" dirty="0"/>
                  <a:t>a</a:t>
                </a:r>
                <a:endParaRPr lang="zh-CN" altLang="en-US" dirty="0"/>
              </a:p>
            </p:txBody>
          </p:sp>
          <p:sp>
            <p:nvSpPr>
              <p:cNvPr id="19" name="TextBox 21"/>
              <p:cNvSpPr txBox="1"/>
              <p:nvPr/>
            </p:nvSpPr>
            <p:spPr>
              <a:xfrm>
                <a:off x="3127114" y="3679759"/>
                <a:ext cx="316112" cy="369332"/>
              </a:xfrm>
              <a:prstGeom prst="rect">
                <a:avLst/>
              </a:prstGeom>
              <a:noFill/>
            </p:spPr>
            <p:txBody>
              <a:bodyPr wrap="none" rtlCol="0">
                <a:spAutoFit/>
              </a:bodyPr>
              <a:lstStyle/>
              <a:p>
                <a:r>
                  <a:rPr lang="en-US" altLang="zh-CN" dirty="0"/>
                  <a:t>b</a:t>
                </a:r>
                <a:endParaRPr lang="zh-CN" altLang="en-US" dirty="0"/>
              </a:p>
            </p:txBody>
          </p:sp>
          <p:sp>
            <p:nvSpPr>
              <p:cNvPr id="20" name="TextBox 22"/>
              <p:cNvSpPr txBox="1"/>
              <p:nvPr/>
            </p:nvSpPr>
            <p:spPr>
              <a:xfrm>
                <a:off x="4572460" y="2999405"/>
                <a:ext cx="316112" cy="369332"/>
              </a:xfrm>
              <a:prstGeom prst="rect">
                <a:avLst/>
              </a:prstGeom>
              <a:noFill/>
            </p:spPr>
            <p:txBody>
              <a:bodyPr wrap="none" rtlCol="0">
                <a:spAutoFit/>
              </a:bodyPr>
              <a:lstStyle/>
              <a:p>
                <a:r>
                  <a:rPr lang="en-US" altLang="zh-CN" dirty="0"/>
                  <a:t>a</a:t>
                </a:r>
                <a:endParaRPr lang="zh-CN" altLang="en-US" dirty="0"/>
              </a:p>
            </p:txBody>
          </p:sp>
          <p:sp>
            <p:nvSpPr>
              <p:cNvPr id="21" name="TextBox 23"/>
              <p:cNvSpPr txBox="1"/>
              <p:nvPr/>
            </p:nvSpPr>
            <p:spPr>
              <a:xfrm>
                <a:off x="3443226" y="2939139"/>
                <a:ext cx="316112" cy="369332"/>
              </a:xfrm>
              <a:prstGeom prst="rect">
                <a:avLst/>
              </a:prstGeom>
              <a:noFill/>
            </p:spPr>
            <p:txBody>
              <a:bodyPr wrap="none" rtlCol="0">
                <a:spAutoFit/>
              </a:bodyPr>
              <a:lstStyle/>
              <a:p>
                <a:r>
                  <a:rPr lang="en-US" altLang="zh-CN" dirty="0"/>
                  <a:t>b</a:t>
                </a:r>
                <a:endParaRPr lang="zh-CN" altLang="en-US" dirty="0"/>
              </a:p>
            </p:txBody>
          </p:sp>
          <p:sp>
            <p:nvSpPr>
              <p:cNvPr id="22" name="TextBox 24"/>
              <p:cNvSpPr txBox="1"/>
              <p:nvPr/>
            </p:nvSpPr>
            <p:spPr>
              <a:xfrm>
                <a:off x="5012129" y="2242847"/>
                <a:ext cx="316112" cy="369332"/>
              </a:xfrm>
              <a:prstGeom prst="rect">
                <a:avLst/>
              </a:prstGeom>
              <a:noFill/>
            </p:spPr>
            <p:txBody>
              <a:bodyPr wrap="none" rtlCol="0">
                <a:spAutoFit/>
              </a:bodyPr>
              <a:lstStyle/>
              <a:p>
                <a:r>
                  <a:rPr lang="en-US" altLang="zh-CN" dirty="0"/>
                  <a:t>a</a:t>
                </a:r>
                <a:endParaRPr lang="zh-CN" altLang="en-US" dirty="0"/>
              </a:p>
            </p:txBody>
          </p:sp>
          <p:sp>
            <p:nvSpPr>
              <p:cNvPr id="23" name="TextBox 25"/>
              <p:cNvSpPr txBox="1"/>
              <p:nvPr/>
            </p:nvSpPr>
            <p:spPr>
              <a:xfrm>
                <a:off x="5044787" y="3677871"/>
                <a:ext cx="316112" cy="369332"/>
              </a:xfrm>
              <a:prstGeom prst="rect">
                <a:avLst/>
              </a:prstGeom>
              <a:noFill/>
            </p:spPr>
            <p:txBody>
              <a:bodyPr wrap="none" rtlCol="0">
                <a:spAutoFit/>
              </a:bodyPr>
              <a:lstStyle/>
              <a:p>
                <a:r>
                  <a:rPr lang="en-US" altLang="zh-CN" dirty="0"/>
                  <a:t>b</a:t>
                </a:r>
                <a:endParaRPr lang="zh-CN" altLang="en-US" dirty="0"/>
              </a:p>
            </p:txBody>
          </p:sp>
          <p:sp>
            <p:nvSpPr>
              <p:cNvPr id="24" name="弧形 23"/>
              <p:cNvSpPr/>
              <p:nvPr/>
            </p:nvSpPr>
            <p:spPr>
              <a:xfrm rot="2955178">
                <a:off x="5439937" y="3283947"/>
                <a:ext cx="520136" cy="422693"/>
              </a:xfrm>
              <a:prstGeom prst="arc">
                <a:avLst>
                  <a:gd name="adj1" fmla="val 13813867"/>
                  <a:gd name="adj2" fmla="val 8441562"/>
                </a:avLst>
              </a:prstGeom>
              <a:ln>
                <a:solidFill>
                  <a:schemeClr val="accent1"/>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5" name="TextBox 29"/>
              <p:cNvSpPr txBox="1"/>
              <p:nvPr/>
            </p:nvSpPr>
            <p:spPr>
              <a:xfrm>
                <a:off x="5928611" y="2693041"/>
                <a:ext cx="316112" cy="369332"/>
              </a:xfrm>
              <a:prstGeom prst="rect">
                <a:avLst/>
              </a:prstGeom>
              <a:noFill/>
            </p:spPr>
            <p:txBody>
              <a:bodyPr wrap="none" rtlCol="0">
                <a:spAutoFit/>
              </a:bodyPr>
              <a:lstStyle/>
              <a:p>
                <a:r>
                  <a:rPr lang="en-US" altLang="zh-CN" dirty="0"/>
                  <a:t>a</a:t>
                </a:r>
                <a:endParaRPr lang="zh-CN" altLang="en-US" dirty="0"/>
              </a:p>
            </p:txBody>
          </p:sp>
          <p:sp>
            <p:nvSpPr>
              <p:cNvPr id="26" name="TextBox 30"/>
              <p:cNvSpPr txBox="1"/>
              <p:nvPr/>
            </p:nvSpPr>
            <p:spPr>
              <a:xfrm>
                <a:off x="5871817" y="3445324"/>
                <a:ext cx="316112" cy="369332"/>
              </a:xfrm>
              <a:prstGeom prst="rect">
                <a:avLst/>
              </a:prstGeom>
              <a:noFill/>
            </p:spPr>
            <p:txBody>
              <a:bodyPr wrap="none" rtlCol="0">
                <a:spAutoFit/>
              </a:bodyPr>
              <a:lstStyle/>
              <a:p>
                <a:r>
                  <a:rPr lang="en-US" altLang="zh-CN" dirty="0"/>
                  <a:t>b</a:t>
                </a:r>
                <a:endParaRPr lang="zh-CN" altLang="en-US" dirty="0"/>
              </a:p>
            </p:txBody>
          </p:sp>
        </p:grpSp>
      </p:grpSp>
      <p:cxnSp>
        <p:nvCxnSpPr>
          <p:cNvPr id="27" name="直接箭头连接符 26"/>
          <p:cNvCxnSpPr>
            <a:endCxn id="10" idx="2"/>
          </p:cNvCxnSpPr>
          <p:nvPr/>
        </p:nvCxnSpPr>
        <p:spPr>
          <a:xfrm>
            <a:off x="2122714" y="3184071"/>
            <a:ext cx="538881" cy="1"/>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28" name="TextBox 74"/>
          <p:cNvSpPr txBox="1"/>
          <p:nvPr/>
        </p:nvSpPr>
        <p:spPr>
          <a:xfrm>
            <a:off x="2032368" y="2819319"/>
            <a:ext cx="670376" cy="369332"/>
          </a:xfrm>
          <a:prstGeom prst="rect">
            <a:avLst/>
          </a:prstGeom>
          <a:noFill/>
        </p:spPr>
        <p:txBody>
          <a:bodyPr wrap="none" rtlCol="0">
            <a:spAutoFit/>
          </a:bodyPr>
          <a:lstStyle/>
          <a:p>
            <a:r>
              <a:rPr lang="en-US" altLang="zh-CN" dirty="0"/>
              <a:t>start</a:t>
            </a:r>
            <a:endParaRPr lang="zh-CN" altLang="en-US" dirty="0"/>
          </a:p>
        </p:txBody>
      </p:sp>
      <p:sp>
        <p:nvSpPr>
          <p:cNvPr id="29" name="椭圆 28"/>
          <p:cNvSpPr/>
          <p:nvPr/>
        </p:nvSpPr>
        <p:spPr>
          <a:xfrm>
            <a:off x="4582936" y="4670033"/>
            <a:ext cx="522514" cy="55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3</a:t>
            </a:r>
            <a:endParaRPr lang="zh-CN" altLang="en-US" dirty="0"/>
          </a:p>
        </p:txBody>
      </p:sp>
      <p:sp>
        <p:nvSpPr>
          <p:cNvPr id="30" name="弧形 29"/>
          <p:cNvSpPr/>
          <p:nvPr/>
        </p:nvSpPr>
        <p:spPr>
          <a:xfrm rot="2955178">
            <a:off x="4771676" y="4991161"/>
            <a:ext cx="1406978" cy="805541"/>
          </a:xfrm>
          <a:prstGeom prst="arc">
            <a:avLst>
              <a:gd name="adj1" fmla="val 11014732"/>
              <a:gd name="adj2" fmla="val 18874635"/>
            </a:avLst>
          </a:prstGeom>
          <a:ln>
            <a:solidFill>
              <a:schemeClr val="accent1"/>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1" name="椭圆 30"/>
          <p:cNvSpPr/>
          <p:nvPr/>
        </p:nvSpPr>
        <p:spPr>
          <a:xfrm>
            <a:off x="3303865" y="5426591"/>
            <a:ext cx="522514" cy="55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sp>
        <p:nvSpPr>
          <p:cNvPr id="32" name="椭圆 31"/>
          <p:cNvSpPr/>
          <p:nvPr/>
        </p:nvSpPr>
        <p:spPr>
          <a:xfrm>
            <a:off x="4582936" y="6106945"/>
            <a:ext cx="522514" cy="55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4</a:t>
            </a:r>
            <a:endParaRPr lang="zh-CN" altLang="en-US" dirty="0"/>
          </a:p>
        </p:txBody>
      </p:sp>
      <p:sp>
        <p:nvSpPr>
          <p:cNvPr id="33" name="弧形 32"/>
          <p:cNvSpPr/>
          <p:nvPr/>
        </p:nvSpPr>
        <p:spPr>
          <a:xfrm rot="20959810">
            <a:off x="3576446" y="4791307"/>
            <a:ext cx="1145722" cy="879152"/>
          </a:xfrm>
          <a:prstGeom prst="arc">
            <a:avLst>
              <a:gd name="adj1" fmla="val 10549658"/>
              <a:gd name="adj2" fmla="val 19869875"/>
            </a:avLst>
          </a:prstGeom>
          <a:ln>
            <a:solidFill>
              <a:schemeClr val="accent1"/>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4" name="弧形 33"/>
          <p:cNvSpPr/>
          <p:nvPr/>
        </p:nvSpPr>
        <p:spPr>
          <a:xfrm rot="13449588">
            <a:off x="3563508" y="5498202"/>
            <a:ext cx="1279071" cy="1146113"/>
          </a:xfrm>
          <a:prstGeom prst="arc">
            <a:avLst>
              <a:gd name="adj1" fmla="val 11097107"/>
              <a:gd name="adj2" fmla="val 19520976"/>
            </a:avLst>
          </a:prstGeom>
          <a:ln>
            <a:solidFill>
              <a:schemeClr val="accent1"/>
            </a:solidFill>
            <a:headEnd type="stealth"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5" name="弧形 34"/>
          <p:cNvSpPr/>
          <p:nvPr/>
        </p:nvSpPr>
        <p:spPr>
          <a:xfrm rot="8733925">
            <a:off x="5037995" y="5829803"/>
            <a:ext cx="935027" cy="573056"/>
          </a:xfrm>
          <a:prstGeom prst="arc">
            <a:avLst>
              <a:gd name="adj1" fmla="val 11620110"/>
              <a:gd name="adj2" fmla="val 21195134"/>
            </a:avLst>
          </a:prstGeom>
          <a:ln>
            <a:solidFill>
              <a:schemeClr val="accent1"/>
            </a:solidFill>
            <a:headEnd type="stealth"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6" name="弧形 35"/>
          <p:cNvSpPr/>
          <p:nvPr/>
        </p:nvSpPr>
        <p:spPr>
          <a:xfrm rot="8733925">
            <a:off x="7164205" y="5172717"/>
            <a:ext cx="362981" cy="573056"/>
          </a:xfrm>
          <a:prstGeom prst="arc">
            <a:avLst>
              <a:gd name="adj1" fmla="val 2969480"/>
              <a:gd name="adj2" fmla="val 18590008"/>
            </a:avLst>
          </a:prstGeom>
          <a:ln>
            <a:solidFill>
              <a:schemeClr val="accent1"/>
            </a:solidFill>
            <a:headEnd type="stealth"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7" name="TextBox 90"/>
          <p:cNvSpPr txBox="1"/>
          <p:nvPr/>
        </p:nvSpPr>
        <p:spPr>
          <a:xfrm>
            <a:off x="3735103" y="4762952"/>
            <a:ext cx="316112" cy="369332"/>
          </a:xfrm>
          <a:prstGeom prst="rect">
            <a:avLst/>
          </a:prstGeom>
          <a:noFill/>
        </p:spPr>
        <p:txBody>
          <a:bodyPr wrap="none" rtlCol="0">
            <a:spAutoFit/>
          </a:bodyPr>
          <a:lstStyle/>
          <a:p>
            <a:r>
              <a:rPr lang="en-US" altLang="zh-CN" dirty="0"/>
              <a:t>a</a:t>
            </a:r>
            <a:endParaRPr lang="zh-CN" altLang="en-US" dirty="0"/>
          </a:p>
        </p:txBody>
      </p:sp>
      <p:sp>
        <p:nvSpPr>
          <p:cNvPr id="38" name="TextBox 91"/>
          <p:cNvSpPr txBox="1"/>
          <p:nvPr/>
        </p:nvSpPr>
        <p:spPr>
          <a:xfrm>
            <a:off x="3769384" y="6199864"/>
            <a:ext cx="316112" cy="369332"/>
          </a:xfrm>
          <a:prstGeom prst="rect">
            <a:avLst/>
          </a:prstGeom>
          <a:noFill/>
        </p:spPr>
        <p:txBody>
          <a:bodyPr wrap="none" rtlCol="0">
            <a:spAutoFit/>
          </a:bodyPr>
          <a:lstStyle/>
          <a:p>
            <a:r>
              <a:rPr lang="en-US" altLang="zh-CN" dirty="0"/>
              <a:t>b</a:t>
            </a:r>
            <a:endParaRPr lang="zh-CN" altLang="en-US" dirty="0"/>
          </a:p>
        </p:txBody>
      </p:sp>
      <p:sp>
        <p:nvSpPr>
          <p:cNvPr id="39" name="TextBox 94"/>
          <p:cNvSpPr txBox="1"/>
          <p:nvPr/>
        </p:nvSpPr>
        <p:spPr>
          <a:xfrm>
            <a:off x="5654399" y="4762952"/>
            <a:ext cx="316112" cy="369332"/>
          </a:xfrm>
          <a:prstGeom prst="rect">
            <a:avLst/>
          </a:prstGeom>
          <a:noFill/>
        </p:spPr>
        <p:txBody>
          <a:bodyPr wrap="none" rtlCol="0">
            <a:spAutoFit/>
          </a:bodyPr>
          <a:lstStyle/>
          <a:p>
            <a:r>
              <a:rPr lang="en-US" altLang="zh-CN" dirty="0"/>
              <a:t>a</a:t>
            </a:r>
            <a:endParaRPr lang="zh-CN" altLang="en-US" dirty="0"/>
          </a:p>
        </p:txBody>
      </p:sp>
      <p:sp>
        <p:nvSpPr>
          <p:cNvPr id="40" name="TextBox 95"/>
          <p:cNvSpPr txBox="1"/>
          <p:nvPr/>
        </p:nvSpPr>
        <p:spPr>
          <a:xfrm>
            <a:off x="5687057" y="6197976"/>
            <a:ext cx="316112" cy="369332"/>
          </a:xfrm>
          <a:prstGeom prst="rect">
            <a:avLst/>
          </a:prstGeom>
          <a:noFill/>
        </p:spPr>
        <p:txBody>
          <a:bodyPr wrap="none" rtlCol="0">
            <a:spAutoFit/>
          </a:bodyPr>
          <a:lstStyle/>
          <a:p>
            <a:r>
              <a:rPr lang="en-US" altLang="zh-CN" dirty="0"/>
              <a:t>b</a:t>
            </a:r>
            <a:endParaRPr lang="zh-CN" altLang="en-US" dirty="0"/>
          </a:p>
        </p:txBody>
      </p:sp>
      <p:sp>
        <p:nvSpPr>
          <p:cNvPr id="41" name="弧形 40"/>
          <p:cNvSpPr/>
          <p:nvPr/>
        </p:nvSpPr>
        <p:spPr>
          <a:xfrm rot="2955178">
            <a:off x="7005104" y="5843708"/>
            <a:ext cx="520136" cy="422693"/>
          </a:xfrm>
          <a:prstGeom prst="arc">
            <a:avLst>
              <a:gd name="adj1" fmla="val 13813867"/>
              <a:gd name="adj2" fmla="val 8441562"/>
            </a:avLst>
          </a:prstGeom>
          <a:ln>
            <a:solidFill>
              <a:schemeClr val="accent1"/>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2" name="TextBox 98"/>
          <p:cNvSpPr txBox="1"/>
          <p:nvPr/>
        </p:nvSpPr>
        <p:spPr>
          <a:xfrm>
            <a:off x="7436984" y="5072928"/>
            <a:ext cx="316112" cy="369332"/>
          </a:xfrm>
          <a:prstGeom prst="rect">
            <a:avLst/>
          </a:prstGeom>
          <a:noFill/>
        </p:spPr>
        <p:txBody>
          <a:bodyPr wrap="none" rtlCol="0">
            <a:spAutoFit/>
          </a:bodyPr>
          <a:lstStyle/>
          <a:p>
            <a:r>
              <a:rPr lang="en-US" altLang="zh-CN" dirty="0"/>
              <a:t>a</a:t>
            </a:r>
            <a:endParaRPr lang="zh-CN" altLang="en-US" dirty="0"/>
          </a:p>
        </p:txBody>
      </p:sp>
      <p:sp>
        <p:nvSpPr>
          <p:cNvPr id="43" name="TextBox 99"/>
          <p:cNvSpPr txBox="1"/>
          <p:nvPr/>
        </p:nvSpPr>
        <p:spPr>
          <a:xfrm>
            <a:off x="7436984" y="5819365"/>
            <a:ext cx="316112" cy="369332"/>
          </a:xfrm>
          <a:prstGeom prst="rect">
            <a:avLst/>
          </a:prstGeom>
          <a:noFill/>
        </p:spPr>
        <p:txBody>
          <a:bodyPr wrap="none" rtlCol="0">
            <a:spAutoFit/>
          </a:bodyPr>
          <a:lstStyle/>
          <a:p>
            <a:r>
              <a:rPr lang="en-US" altLang="zh-CN" dirty="0"/>
              <a:t>b</a:t>
            </a:r>
            <a:endParaRPr lang="zh-CN" altLang="en-US" dirty="0"/>
          </a:p>
        </p:txBody>
      </p:sp>
      <p:sp>
        <p:nvSpPr>
          <p:cNvPr id="44" name="椭圆 43"/>
          <p:cNvSpPr/>
          <p:nvPr/>
        </p:nvSpPr>
        <p:spPr>
          <a:xfrm>
            <a:off x="5649172" y="5393933"/>
            <a:ext cx="522514" cy="55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45" name="椭圆 44"/>
          <p:cNvSpPr/>
          <p:nvPr/>
        </p:nvSpPr>
        <p:spPr>
          <a:xfrm>
            <a:off x="2220702" y="5453476"/>
            <a:ext cx="522514" cy="55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5</a:t>
            </a:r>
            <a:endParaRPr lang="zh-CN" altLang="en-US" dirty="0"/>
          </a:p>
        </p:txBody>
      </p:sp>
      <p:sp>
        <p:nvSpPr>
          <p:cNvPr id="46" name="同心圆 45"/>
          <p:cNvSpPr/>
          <p:nvPr/>
        </p:nvSpPr>
        <p:spPr>
          <a:xfrm>
            <a:off x="6672143" y="5393931"/>
            <a:ext cx="620485" cy="555171"/>
          </a:xfrm>
          <a:prstGeom prst="don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6</a:t>
            </a:r>
            <a:endParaRPr lang="zh-CN" altLang="en-US" dirty="0">
              <a:solidFill>
                <a:schemeClr val="tx1"/>
              </a:solidFill>
            </a:endParaRPr>
          </a:p>
        </p:txBody>
      </p:sp>
      <p:sp>
        <p:nvSpPr>
          <p:cNvPr id="47" name="弧形 46"/>
          <p:cNvSpPr/>
          <p:nvPr/>
        </p:nvSpPr>
        <p:spPr>
          <a:xfrm rot="5702527">
            <a:off x="2301805" y="5121660"/>
            <a:ext cx="329482" cy="429727"/>
          </a:xfrm>
          <a:prstGeom prst="arc">
            <a:avLst>
              <a:gd name="adj1" fmla="val 2969480"/>
              <a:gd name="adj2" fmla="val 18590008"/>
            </a:avLst>
          </a:prstGeom>
          <a:ln>
            <a:solidFill>
              <a:schemeClr val="accent1"/>
            </a:solidFill>
            <a:headEnd type="stealth"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8" name="弧形 47"/>
          <p:cNvSpPr/>
          <p:nvPr/>
        </p:nvSpPr>
        <p:spPr>
          <a:xfrm rot="5400000">
            <a:off x="2214554" y="5953569"/>
            <a:ext cx="450237" cy="422693"/>
          </a:xfrm>
          <a:prstGeom prst="arc">
            <a:avLst>
              <a:gd name="adj1" fmla="val 13813867"/>
              <a:gd name="adj2" fmla="val 8441562"/>
            </a:avLst>
          </a:prstGeom>
          <a:ln>
            <a:solidFill>
              <a:schemeClr val="accent1"/>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9" name="TextBox 106"/>
          <p:cNvSpPr txBox="1"/>
          <p:nvPr/>
        </p:nvSpPr>
        <p:spPr>
          <a:xfrm>
            <a:off x="2308490" y="4865078"/>
            <a:ext cx="316112" cy="369332"/>
          </a:xfrm>
          <a:prstGeom prst="rect">
            <a:avLst/>
          </a:prstGeom>
          <a:noFill/>
        </p:spPr>
        <p:txBody>
          <a:bodyPr wrap="none" rtlCol="0">
            <a:spAutoFit/>
          </a:bodyPr>
          <a:lstStyle/>
          <a:p>
            <a:r>
              <a:rPr lang="en-US" altLang="zh-CN" dirty="0"/>
              <a:t>a</a:t>
            </a:r>
            <a:endParaRPr lang="zh-CN" altLang="en-US" dirty="0"/>
          </a:p>
        </p:txBody>
      </p:sp>
      <p:sp>
        <p:nvSpPr>
          <p:cNvPr id="50" name="TextBox 107"/>
          <p:cNvSpPr txBox="1"/>
          <p:nvPr/>
        </p:nvSpPr>
        <p:spPr>
          <a:xfrm>
            <a:off x="2308395" y="6317660"/>
            <a:ext cx="316112" cy="369332"/>
          </a:xfrm>
          <a:prstGeom prst="rect">
            <a:avLst/>
          </a:prstGeom>
          <a:noFill/>
        </p:spPr>
        <p:txBody>
          <a:bodyPr wrap="none" rtlCol="0">
            <a:spAutoFit/>
          </a:bodyPr>
          <a:lstStyle/>
          <a:p>
            <a:r>
              <a:rPr lang="en-US" altLang="zh-CN" dirty="0"/>
              <a:t>b</a:t>
            </a:r>
            <a:endParaRPr lang="zh-CN" altLang="en-US" dirty="0"/>
          </a:p>
        </p:txBody>
      </p:sp>
      <p:cxnSp>
        <p:nvCxnSpPr>
          <p:cNvPr id="51" name="直接箭头连接符 50"/>
          <p:cNvCxnSpPr>
            <a:endCxn id="31" idx="2"/>
          </p:cNvCxnSpPr>
          <p:nvPr/>
        </p:nvCxnSpPr>
        <p:spPr>
          <a:xfrm flipV="1">
            <a:off x="2764984" y="5704177"/>
            <a:ext cx="538881" cy="43210"/>
          </a:xfrm>
          <a:prstGeom prst="straightConnector1">
            <a:avLst/>
          </a:prstGeom>
          <a:ln>
            <a:solidFill>
              <a:schemeClr val="accent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p:nvPr/>
        </p:nvCxnSpPr>
        <p:spPr>
          <a:xfrm flipV="1">
            <a:off x="6168288" y="5660966"/>
            <a:ext cx="538881" cy="43210"/>
          </a:xfrm>
          <a:prstGeom prst="straightConnector1">
            <a:avLst/>
          </a:prstGeom>
          <a:ln>
            <a:solidFill>
              <a:schemeClr val="accent1"/>
            </a:solidFill>
            <a:tailEnd type="stealth" w="lg" len="lg"/>
          </a:ln>
        </p:spPr>
        <p:style>
          <a:lnRef idx="1">
            <a:schemeClr val="accent1"/>
          </a:lnRef>
          <a:fillRef idx="0">
            <a:schemeClr val="accent1"/>
          </a:fillRef>
          <a:effectRef idx="0">
            <a:schemeClr val="accent1"/>
          </a:effectRef>
          <a:fontRef idx="minor">
            <a:schemeClr val="tx1"/>
          </a:fontRef>
        </p:style>
      </p:cxnSp>
      <p:sp>
        <p:nvSpPr>
          <p:cNvPr id="53" name="TextBox 112"/>
          <p:cNvSpPr txBox="1"/>
          <p:nvPr/>
        </p:nvSpPr>
        <p:spPr>
          <a:xfrm>
            <a:off x="2854600" y="5334390"/>
            <a:ext cx="287258" cy="369332"/>
          </a:xfrm>
          <a:prstGeom prst="rect">
            <a:avLst/>
          </a:prstGeom>
          <a:noFill/>
        </p:spPr>
        <p:txBody>
          <a:bodyPr wrap="none" rtlCol="0">
            <a:spAutoFit/>
          </a:bodyPr>
          <a:lstStyle/>
          <a:p>
            <a:r>
              <a:rPr lang="el-GR" altLang="zh-CN" dirty="0">
                <a:latin typeface="Cambria Math"/>
                <a:ea typeface="Cambria Math"/>
              </a:rPr>
              <a:t>ε</a:t>
            </a:r>
            <a:endParaRPr lang="zh-CN" altLang="en-US" dirty="0"/>
          </a:p>
        </p:txBody>
      </p:sp>
      <p:sp>
        <p:nvSpPr>
          <p:cNvPr id="54" name="TextBox 113"/>
          <p:cNvSpPr txBox="1"/>
          <p:nvPr/>
        </p:nvSpPr>
        <p:spPr>
          <a:xfrm>
            <a:off x="6270720" y="5378055"/>
            <a:ext cx="287258" cy="369332"/>
          </a:xfrm>
          <a:prstGeom prst="rect">
            <a:avLst/>
          </a:prstGeom>
          <a:noFill/>
        </p:spPr>
        <p:txBody>
          <a:bodyPr wrap="none" rtlCol="0">
            <a:spAutoFit/>
          </a:bodyPr>
          <a:lstStyle/>
          <a:p>
            <a:r>
              <a:rPr lang="el-GR" altLang="zh-CN" dirty="0">
                <a:latin typeface="Cambria Math"/>
                <a:ea typeface="Cambria Math"/>
              </a:rPr>
              <a:t>ε</a:t>
            </a:r>
            <a:endParaRPr lang="zh-CN" altLang="en-US" dirty="0"/>
          </a:p>
        </p:txBody>
      </p:sp>
      <p:sp>
        <p:nvSpPr>
          <p:cNvPr id="55" name="TextBox 114"/>
          <p:cNvSpPr txBox="1"/>
          <p:nvPr/>
        </p:nvSpPr>
        <p:spPr>
          <a:xfrm>
            <a:off x="1449637" y="5393931"/>
            <a:ext cx="670376" cy="369332"/>
          </a:xfrm>
          <a:prstGeom prst="rect">
            <a:avLst/>
          </a:prstGeom>
          <a:noFill/>
        </p:spPr>
        <p:txBody>
          <a:bodyPr wrap="none" rtlCol="0">
            <a:spAutoFit/>
          </a:bodyPr>
          <a:lstStyle/>
          <a:p>
            <a:r>
              <a:rPr lang="en-US" altLang="zh-CN" dirty="0"/>
              <a:t>start</a:t>
            </a:r>
            <a:endParaRPr lang="zh-CN" altLang="en-US" dirty="0"/>
          </a:p>
        </p:txBody>
      </p:sp>
      <p:cxnSp>
        <p:nvCxnSpPr>
          <p:cNvPr id="56" name="直接箭头连接符 55"/>
          <p:cNvCxnSpPr/>
          <p:nvPr/>
        </p:nvCxnSpPr>
        <p:spPr>
          <a:xfrm>
            <a:off x="1681821" y="5752829"/>
            <a:ext cx="538881" cy="1"/>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57" name="内容占位符 5"/>
          <p:cNvSpPr txBox="1">
            <a:spLocks/>
          </p:cNvSpPr>
          <p:nvPr/>
        </p:nvSpPr>
        <p:spPr>
          <a:xfrm>
            <a:off x="826807" y="4202985"/>
            <a:ext cx="7486650" cy="489857"/>
          </a:xfrm>
          <a:prstGeom prst="rect">
            <a:avLst/>
          </a:prstGeom>
        </p:spPr>
        <p:txBody>
          <a:bodyPr vert="horz" lIns="0" tIns="45720" rIns="0" bIns="45720" rtlCol="0">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lang="zh-CN" sz="2000" kern="1200">
                <a:solidFill>
                  <a:schemeClr val="tx1"/>
                </a:solidFill>
                <a:latin typeface="Microsoft YaHei UI" panose="020B0503020204020204" pitchFamily="34" charset="-122"/>
                <a:ea typeface="Microsoft YaHei UI" panose="020B0503020204020204" pitchFamily="34" charset="-122"/>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lang="zh-CN" sz="1600" kern="1200">
                <a:solidFill>
                  <a:schemeClr val="tx1"/>
                </a:solidFill>
                <a:latin typeface="Microsoft YaHei UI" panose="020B0503020204020204" pitchFamily="34" charset="-122"/>
                <a:ea typeface="Microsoft YaHei UI" panose="020B0503020204020204" pitchFamily="34" charset="-122"/>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9pPr>
          </a:lstStyle>
          <a:p>
            <a:r>
              <a:rPr lang="en-US" altLang="zh-CN" dirty="0">
                <a:latin typeface="Cambria Math"/>
              </a:rPr>
              <a:t>NFA</a:t>
            </a:r>
            <a:endParaRPr lang="zh-CN" altLang="en-US" dirty="0">
              <a:latin typeface="Cambria Math"/>
            </a:endParaRPr>
          </a:p>
        </p:txBody>
      </p:sp>
    </p:spTree>
    <p:extLst>
      <p:ext uri="{BB962C8B-B14F-4D97-AF65-F5344CB8AC3E}">
        <p14:creationId xmlns:p14="http://schemas.microsoft.com/office/powerpoint/2010/main" val="3937499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3.6 Convert NFA to DFA</a:t>
            </a:r>
            <a:r>
              <a:rPr lang="zh-CN" altLang="en-US" dirty="0"/>
              <a:t>（</a:t>
            </a:r>
            <a:r>
              <a:rPr lang="en-US" altLang="zh-CN" dirty="0"/>
              <a:t>subset construction</a:t>
            </a:r>
            <a:r>
              <a:rPr lang="zh-CN" altLang="en-US" dirty="0"/>
              <a:t>）</a:t>
            </a:r>
          </a:p>
        </p:txBody>
      </p:sp>
      <p:sp>
        <p:nvSpPr>
          <p:cNvPr id="3" name="内容占位符 2"/>
          <p:cNvSpPr>
            <a:spLocks noGrp="1"/>
          </p:cNvSpPr>
          <p:nvPr>
            <p:ph idx="1"/>
          </p:nvPr>
        </p:nvSpPr>
        <p:spPr/>
        <p:txBody>
          <a:bodyPr/>
          <a:lstStyle/>
          <a:p>
            <a:r>
              <a:rPr lang="en-US" altLang="zh-CN" b="1" dirty="0"/>
              <a:t>Auxiliary Functions</a:t>
            </a:r>
          </a:p>
          <a:p>
            <a:r>
              <a:rPr lang="en-US" altLang="zh-CN" dirty="0">
                <a:latin typeface="Cambria Math"/>
                <a:ea typeface="Cambria Math"/>
              </a:rPr>
              <a:t>For a state set </a:t>
            </a:r>
            <a:r>
              <a:rPr lang="en-US" altLang="zh-CN" i="1" dirty="0">
                <a:latin typeface="Cambria Math"/>
                <a:ea typeface="Cambria Math"/>
              </a:rPr>
              <a:t>I</a:t>
            </a:r>
            <a:r>
              <a:rPr lang="en-US" altLang="zh-CN" dirty="0">
                <a:latin typeface="Cambria Math"/>
                <a:ea typeface="Cambria Math"/>
              </a:rPr>
              <a:t>, </a:t>
            </a:r>
            <a:r>
              <a:rPr lang="el-GR" altLang="zh-CN" i="1" dirty="0">
                <a:latin typeface="Cambria Math"/>
                <a:ea typeface="Cambria Math"/>
              </a:rPr>
              <a:t>ε</a:t>
            </a:r>
            <a:r>
              <a:rPr lang="en-US" altLang="zh-CN" i="1" dirty="0">
                <a:latin typeface="Cambria Math"/>
                <a:ea typeface="Cambria Math"/>
              </a:rPr>
              <a:t>_CLOSURE(I) </a:t>
            </a:r>
            <a:r>
              <a:rPr lang="en-US" altLang="zh-CN" dirty="0">
                <a:latin typeface="Cambria Math"/>
                <a:ea typeface="Cambria Math"/>
              </a:rPr>
              <a:t>is defined as</a:t>
            </a:r>
            <a:r>
              <a:rPr lang="zh-CN" altLang="en-US" dirty="0">
                <a:latin typeface="Cambria Math"/>
                <a:ea typeface="Cambria Math"/>
              </a:rPr>
              <a:t>：</a:t>
            </a:r>
            <a:endParaRPr lang="en-US" altLang="zh-CN" dirty="0">
              <a:latin typeface="Cambria Math"/>
              <a:ea typeface="Cambria Math"/>
            </a:endParaRPr>
          </a:p>
          <a:p>
            <a:pPr lvl="1"/>
            <a:r>
              <a:rPr lang="zh-CN" altLang="en-US" sz="2000" dirty="0">
                <a:latin typeface="Cambria Math"/>
              </a:rPr>
              <a:t>（</a:t>
            </a:r>
            <a:r>
              <a:rPr lang="en-US" altLang="zh-CN" sz="2000" dirty="0">
                <a:latin typeface="Cambria Math"/>
              </a:rPr>
              <a:t>1</a:t>
            </a:r>
            <a:r>
              <a:rPr lang="zh-CN" altLang="en-US" sz="2000" dirty="0">
                <a:latin typeface="Cambria Math"/>
              </a:rPr>
              <a:t>）</a:t>
            </a:r>
            <a:r>
              <a:rPr lang="en-US" altLang="zh-CN" sz="2000" dirty="0">
                <a:latin typeface="Cambria Math"/>
                <a:ea typeface="Cambria Math"/>
              </a:rPr>
              <a:t>a state </a:t>
            </a:r>
            <a:r>
              <a:rPr lang="en-US" altLang="zh-CN" sz="2000" i="1" dirty="0">
                <a:latin typeface="Cambria Math"/>
                <a:ea typeface="Cambria Math"/>
              </a:rPr>
              <a:t>q∊</a:t>
            </a:r>
            <a:r>
              <a:rPr lang="el-GR" altLang="zh-CN" sz="2000" i="1" dirty="0">
                <a:latin typeface="Cambria Math"/>
                <a:ea typeface="Cambria Math"/>
              </a:rPr>
              <a:t> ε</a:t>
            </a:r>
            <a:r>
              <a:rPr lang="en-US" altLang="zh-CN" sz="2000" i="1" dirty="0">
                <a:latin typeface="Cambria Math"/>
                <a:ea typeface="Cambria Math"/>
              </a:rPr>
              <a:t>_CLOSURE(I), </a:t>
            </a:r>
            <a:r>
              <a:rPr lang="en-US" altLang="zh-CN" sz="2000" dirty="0">
                <a:latin typeface="Cambria Math"/>
                <a:ea typeface="Cambria Math"/>
              </a:rPr>
              <a:t>if </a:t>
            </a:r>
            <a:r>
              <a:rPr lang="en-US" altLang="zh-CN" sz="2000" i="1" dirty="0" err="1">
                <a:latin typeface="Cambria Math"/>
              </a:rPr>
              <a:t>q</a:t>
            </a:r>
            <a:r>
              <a:rPr lang="en-US" altLang="zh-CN" sz="2000" i="1" dirty="0" err="1">
                <a:latin typeface="Cambria Math"/>
                <a:ea typeface="Cambria Math"/>
              </a:rPr>
              <a:t>∊I</a:t>
            </a:r>
            <a:endParaRPr lang="en-US" altLang="zh-CN" sz="2000" i="1" dirty="0">
              <a:latin typeface="Cambria Math"/>
              <a:ea typeface="Cambria Math"/>
            </a:endParaRPr>
          </a:p>
          <a:p>
            <a:pPr lvl="1"/>
            <a:r>
              <a:rPr lang="zh-CN" altLang="en-US" sz="2000" dirty="0">
                <a:latin typeface="Cambria Math"/>
              </a:rPr>
              <a:t>（</a:t>
            </a:r>
            <a:r>
              <a:rPr lang="en-US" altLang="zh-CN" sz="2000" dirty="0">
                <a:latin typeface="Cambria Math"/>
              </a:rPr>
              <a:t>2</a:t>
            </a:r>
            <a:r>
              <a:rPr lang="zh-CN" altLang="en-US" sz="2000" dirty="0">
                <a:latin typeface="Cambria Math"/>
              </a:rPr>
              <a:t>）</a:t>
            </a:r>
            <a:r>
              <a:rPr lang="en-US" altLang="zh-CN" sz="2000" dirty="0">
                <a:latin typeface="Cambria Math"/>
              </a:rPr>
              <a:t> a state</a:t>
            </a:r>
            <a:r>
              <a:rPr lang="en-US" altLang="zh-CN" sz="2000" dirty="0">
                <a:latin typeface="Cambria Math"/>
                <a:ea typeface="Cambria Math"/>
              </a:rPr>
              <a:t> </a:t>
            </a:r>
            <a:r>
              <a:rPr lang="en-US" altLang="zh-CN" sz="2000" i="1" dirty="0">
                <a:latin typeface="Cambria Math"/>
                <a:ea typeface="Cambria Math"/>
              </a:rPr>
              <a:t>r∊</a:t>
            </a:r>
            <a:r>
              <a:rPr lang="el-GR" altLang="zh-CN" sz="2000" i="1" dirty="0">
                <a:latin typeface="Cambria Math"/>
                <a:ea typeface="Cambria Math"/>
              </a:rPr>
              <a:t> ε</a:t>
            </a:r>
            <a:r>
              <a:rPr lang="en-US" altLang="zh-CN" sz="2000" i="1" dirty="0">
                <a:latin typeface="Cambria Math"/>
                <a:ea typeface="Cambria Math"/>
              </a:rPr>
              <a:t>_CLOSURE(I), </a:t>
            </a:r>
            <a:r>
              <a:rPr lang="en-US" altLang="zh-CN" sz="2000" dirty="0">
                <a:latin typeface="Cambria Math"/>
                <a:ea typeface="Cambria Math"/>
              </a:rPr>
              <a:t>if </a:t>
            </a:r>
            <a:r>
              <a:rPr lang="en-US" altLang="zh-CN" sz="2000" dirty="0">
                <a:latin typeface="Cambria Math"/>
              </a:rPr>
              <a:t> </a:t>
            </a:r>
            <a:r>
              <a:rPr lang="en-US" altLang="zh-CN" sz="2000" i="1" dirty="0">
                <a:latin typeface="Cambria Math"/>
              </a:rPr>
              <a:t>r</a:t>
            </a:r>
            <a:r>
              <a:rPr lang="en-US" altLang="zh-CN" sz="2000" dirty="0">
                <a:latin typeface="Cambria Math"/>
              </a:rPr>
              <a:t> is a state reachable from some state </a:t>
            </a:r>
            <a:r>
              <a:rPr lang="en-US" altLang="zh-CN" sz="2000" i="1" dirty="0">
                <a:latin typeface="Cambria Math"/>
              </a:rPr>
              <a:t>q</a:t>
            </a:r>
            <a:r>
              <a:rPr lang="en-US" altLang="zh-CN" sz="2000" dirty="0">
                <a:latin typeface="Cambria Math"/>
                <a:ea typeface="Cambria Math"/>
              </a:rPr>
              <a:t> in </a:t>
            </a:r>
            <a:r>
              <a:rPr lang="en-US" altLang="zh-CN" sz="2000" i="1" dirty="0">
                <a:latin typeface="Cambria Math"/>
                <a:ea typeface="Cambria Math"/>
              </a:rPr>
              <a:t>I</a:t>
            </a:r>
            <a:r>
              <a:rPr lang="en-US" altLang="zh-CN" sz="2000" dirty="0">
                <a:latin typeface="Cambria Math"/>
                <a:ea typeface="Cambria Math"/>
              </a:rPr>
              <a:t> </a:t>
            </a:r>
            <a:r>
              <a:rPr lang="en-US" altLang="zh-CN" sz="2000">
                <a:latin typeface="Cambria Math"/>
                <a:ea typeface="Cambria Math"/>
              </a:rPr>
              <a:t>on </a:t>
            </a:r>
            <a:r>
              <a:rPr lang="el-GR" altLang="zh-CN" sz="2000">
                <a:latin typeface="Cambria Math"/>
                <a:ea typeface="Cambria Math"/>
              </a:rPr>
              <a:t>ε</a:t>
            </a:r>
            <a:r>
              <a:rPr lang="en-US" altLang="zh-CN" sz="2000" dirty="0">
                <a:latin typeface="Cambria Math"/>
                <a:ea typeface="Cambria Math"/>
              </a:rPr>
              <a:t>-transition alone. (i.e., one or more </a:t>
            </a:r>
            <a:r>
              <a:rPr lang="el-GR" altLang="zh-CN" sz="2000" dirty="0">
                <a:latin typeface="Cambria Math"/>
                <a:ea typeface="Cambria Math"/>
              </a:rPr>
              <a:t>ε</a:t>
            </a:r>
            <a:r>
              <a:rPr lang="en-US" altLang="zh-CN" sz="2000" dirty="0">
                <a:latin typeface="Cambria Math"/>
                <a:ea typeface="Cambria Math"/>
              </a:rPr>
              <a:t>-edge)</a:t>
            </a:r>
          </a:p>
          <a:p>
            <a:r>
              <a:rPr lang="en-US" altLang="zh-CN" dirty="0">
                <a:latin typeface="Cambria Math"/>
                <a:ea typeface="Cambria Math"/>
              </a:rPr>
              <a:t>a-transition set of the state set</a:t>
            </a:r>
            <a:r>
              <a:rPr lang="en-US" altLang="zh-CN" i="1" dirty="0">
                <a:latin typeface="Cambria Math"/>
                <a:ea typeface="Cambria Math"/>
              </a:rPr>
              <a:t> I</a:t>
            </a:r>
            <a:r>
              <a:rPr lang="en-US" altLang="zh-CN" dirty="0">
                <a:latin typeface="Cambria Math"/>
                <a:ea typeface="Cambria Math"/>
              </a:rPr>
              <a:t>, notated as </a:t>
            </a:r>
            <a:r>
              <a:rPr lang="en-US" altLang="zh-CN" i="1" dirty="0">
                <a:latin typeface="Cambria Math"/>
                <a:ea typeface="Cambria Math"/>
              </a:rPr>
              <a:t>move(I, a)</a:t>
            </a:r>
            <a:r>
              <a:rPr lang="en-US" altLang="zh-CN" dirty="0">
                <a:latin typeface="Cambria Math"/>
                <a:ea typeface="Cambria Math"/>
              </a:rPr>
              <a:t>, is defined as:</a:t>
            </a:r>
          </a:p>
          <a:p>
            <a:pPr lvl="1"/>
            <a:r>
              <a:rPr lang="en-US" altLang="zh-CN" sz="2000" dirty="0">
                <a:latin typeface="Cambria Math"/>
              </a:rPr>
              <a:t>For any state </a:t>
            </a:r>
            <a:r>
              <a:rPr lang="en-US" altLang="zh-CN" sz="2000" i="1" dirty="0" err="1">
                <a:latin typeface="Cambria Math"/>
              </a:rPr>
              <a:t>q</a:t>
            </a:r>
            <a:r>
              <a:rPr lang="en-US" altLang="zh-CN" sz="2000" i="1" dirty="0" err="1">
                <a:latin typeface="Cambria Math"/>
                <a:ea typeface="Cambria Math"/>
              </a:rPr>
              <a:t>∊I</a:t>
            </a:r>
            <a:r>
              <a:rPr lang="zh-CN" altLang="en-US" sz="2000" dirty="0">
                <a:latin typeface="Cambria Math"/>
                <a:ea typeface="Cambria Math"/>
              </a:rPr>
              <a:t>，</a:t>
            </a:r>
            <a:r>
              <a:rPr lang="en-US" altLang="zh-CN" sz="2000" i="1" dirty="0">
                <a:latin typeface="Cambria Math"/>
                <a:ea typeface="Cambria Math"/>
              </a:rPr>
              <a:t>r∊ move(I, a), </a:t>
            </a:r>
            <a:r>
              <a:rPr lang="en-US" altLang="zh-CN" sz="2000" dirty="0">
                <a:latin typeface="Cambria Math"/>
                <a:ea typeface="Cambria Math"/>
              </a:rPr>
              <a:t>if</a:t>
            </a:r>
            <a:r>
              <a:rPr lang="en-US" altLang="zh-CN" sz="2000" i="1" dirty="0">
                <a:latin typeface="Cambria Math"/>
                <a:ea typeface="Cambria Math"/>
              </a:rPr>
              <a:t> r </a:t>
            </a:r>
            <a:r>
              <a:rPr lang="en-US" altLang="zh-CN" sz="2000" dirty="0">
                <a:latin typeface="Cambria Math"/>
                <a:ea typeface="Cambria Math"/>
              </a:rPr>
              <a:t>is a state to which there is a transition on input symbol </a:t>
            </a:r>
            <a:r>
              <a:rPr lang="en-US" altLang="zh-CN" sz="2000" i="1" dirty="0">
                <a:latin typeface="Cambria Math"/>
                <a:ea typeface="Cambria Math"/>
              </a:rPr>
              <a:t>a</a:t>
            </a:r>
            <a:r>
              <a:rPr lang="en-US" altLang="zh-CN" sz="2000" dirty="0">
                <a:latin typeface="Cambria Math"/>
                <a:ea typeface="Cambria Math"/>
              </a:rPr>
              <a:t> from </a:t>
            </a:r>
            <a:r>
              <a:rPr lang="en-US" altLang="zh-CN" sz="2000" i="1" dirty="0">
                <a:latin typeface="Cambria Math"/>
                <a:ea typeface="Cambria Math"/>
              </a:rPr>
              <a:t>q</a:t>
            </a:r>
            <a:r>
              <a:rPr lang="en-US" altLang="zh-CN" sz="2000" dirty="0">
                <a:latin typeface="Cambria Math"/>
                <a:ea typeface="Cambria Math"/>
              </a:rPr>
              <a:t>. </a:t>
            </a:r>
          </a:p>
          <a:p>
            <a:r>
              <a:rPr lang="en-US" altLang="zh-CN" dirty="0">
                <a:latin typeface="Cambria Math"/>
                <a:ea typeface="Cambria Math"/>
              </a:rPr>
              <a:t>Denote </a:t>
            </a:r>
            <a:r>
              <a:rPr lang="en-US" altLang="zh-CN" i="1" dirty="0" err="1">
                <a:latin typeface="Cambria Math"/>
                <a:ea typeface="Cambria Math"/>
              </a:rPr>
              <a:t>I</a:t>
            </a:r>
            <a:r>
              <a:rPr lang="en-US" altLang="zh-CN" i="1" baseline="-25000" dirty="0" err="1">
                <a:latin typeface="Cambria Math"/>
                <a:ea typeface="Cambria Math"/>
              </a:rPr>
              <a:t>a</a:t>
            </a:r>
            <a:r>
              <a:rPr lang="en-US" altLang="zh-CN" i="1" dirty="0">
                <a:latin typeface="Cambria Math"/>
                <a:ea typeface="Cambria Math"/>
              </a:rPr>
              <a:t>=</a:t>
            </a:r>
            <a:r>
              <a:rPr lang="el-GR" altLang="zh-CN" i="1" dirty="0">
                <a:latin typeface="Cambria Math"/>
                <a:ea typeface="Cambria Math"/>
              </a:rPr>
              <a:t>ε</a:t>
            </a:r>
            <a:r>
              <a:rPr lang="en-US" altLang="zh-CN" i="1" dirty="0">
                <a:latin typeface="Cambria Math"/>
                <a:ea typeface="Cambria Math"/>
              </a:rPr>
              <a:t>_CLOSURE(move(I, a))</a:t>
            </a:r>
          </a:p>
        </p:txBody>
      </p:sp>
    </p:spTree>
    <p:extLst>
      <p:ext uri="{BB962C8B-B14F-4D97-AF65-F5344CB8AC3E}">
        <p14:creationId xmlns:p14="http://schemas.microsoft.com/office/powerpoint/2010/main" val="2795189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3.6 Convert NFA to DFA</a:t>
            </a:r>
            <a:r>
              <a:rPr lang="zh-CN" altLang="en-US" dirty="0"/>
              <a:t>（</a:t>
            </a:r>
            <a:r>
              <a:rPr lang="en-US" altLang="zh-CN" dirty="0"/>
              <a:t>subset construction</a:t>
            </a:r>
            <a:r>
              <a:rPr lang="zh-CN" altLang="en-US" dirty="0"/>
              <a:t>）</a:t>
            </a:r>
          </a:p>
        </p:txBody>
      </p:sp>
      <p:sp>
        <p:nvSpPr>
          <p:cNvPr id="3" name="内容占位符 2"/>
          <p:cNvSpPr>
            <a:spLocks noGrp="1"/>
          </p:cNvSpPr>
          <p:nvPr>
            <p:ph idx="1"/>
          </p:nvPr>
        </p:nvSpPr>
        <p:spPr>
          <a:xfrm>
            <a:off x="828675" y="1404253"/>
            <a:ext cx="7824006" cy="931100"/>
          </a:xfrm>
        </p:spPr>
        <p:txBody>
          <a:bodyPr>
            <a:normAutofit fontScale="92500"/>
          </a:bodyPr>
          <a:lstStyle/>
          <a:p>
            <a:pPr>
              <a:lnSpc>
                <a:spcPct val="100000"/>
              </a:lnSpc>
              <a:spcBef>
                <a:spcPts val="600"/>
              </a:spcBef>
            </a:pPr>
            <a:r>
              <a:rPr lang="en-US" altLang="zh-CN" dirty="0"/>
              <a:t>Alphabet </a:t>
            </a:r>
            <a:r>
              <a:rPr lang="zh-CN" altLang="en-US" dirty="0">
                <a:latin typeface="Cambria Math"/>
              </a:rPr>
              <a:t>∑</a:t>
            </a:r>
            <a:r>
              <a:rPr lang="en-US" altLang="zh-CN" dirty="0">
                <a:latin typeface="Cambria Math"/>
              </a:rPr>
              <a:t>={</a:t>
            </a:r>
            <a:r>
              <a:rPr lang="en-US" altLang="zh-CN" i="1" dirty="0">
                <a:latin typeface="Cambria Math"/>
              </a:rPr>
              <a:t>a</a:t>
            </a:r>
            <a:r>
              <a:rPr lang="en-US" altLang="zh-CN" i="1" baseline="-25000" dirty="0">
                <a:latin typeface="Cambria Math"/>
              </a:rPr>
              <a:t>1</a:t>
            </a:r>
            <a:r>
              <a:rPr lang="en-US" altLang="zh-CN" i="1" dirty="0">
                <a:latin typeface="Cambria Math"/>
              </a:rPr>
              <a:t>, a</a:t>
            </a:r>
            <a:r>
              <a:rPr lang="en-US" altLang="zh-CN" i="1" baseline="-25000" dirty="0">
                <a:latin typeface="Cambria Math"/>
              </a:rPr>
              <a:t>2</a:t>
            </a:r>
            <a:r>
              <a:rPr lang="en-US" altLang="zh-CN" i="1" dirty="0">
                <a:latin typeface="Cambria Math"/>
              </a:rPr>
              <a:t>, ..., </a:t>
            </a:r>
            <a:r>
              <a:rPr lang="en-US" altLang="zh-CN" i="1" dirty="0" err="1">
                <a:latin typeface="Cambria Math"/>
              </a:rPr>
              <a:t>a</a:t>
            </a:r>
            <a:r>
              <a:rPr lang="en-US" altLang="zh-CN" i="1" baseline="-25000" dirty="0" err="1">
                <a:latin typeface="Cambria Math"/>
              </a:rPr>
              <a:t>k</a:t>
            </a:r>
            <a:r>
              <a:rPr lang="en-US" altLang="zh-CN" dirty="0">
                <a:latin typeface="Cambria Math"/>
              </a:rPr>
              <a:t>}</a:t>
            </a:r>
            <a:r>
              <a:rPr lang="zh-CN" altLang="en-US" dirty="0">
                <a:latin typeface="Cambria Math"/>
              </a:rPr>
              <a:t>；</a:t>
            </a:r>
            <a:r>
              <a:rPr lang="en-US" altLang="zh-CN" dirty="0">
                <a:latin typeface="Cambria Math"/>
              </a:rPr>
              <a:t>Input</a:t>
            </a:r>
            <a:r>
              <a:rPr lang="zh-CN" altLang="en-US" dirty="0">
                <a:latin typeface="Cambria Math"/>
              </a:rPr>
              <a:t>：</a:t>
            </a:r>
            <a:r>
              <a:rPr lang="en-US" altLang="zh-CN" dirty="0">
                <a:latin typeface="Cambria Math"/>
              </a:rPr>
              <a:t>NFA</a:t>
            </a:r>
            <a:r>
              <a:rPr lang="zh-CN" altLang="en-US" dirty="0">
                <a:latin typeface="Cambria Math"/>
              </a:rPr>
              <a:t>；</a:t>
            </a:r>
            <a:r>
              <a:rPr lang="en-US" altLang="zh-CN" dirty="0">
                <a:latin typeface="Cambria Math"/>
              </a:rPr>
              <a:t>Output</a:t>
            </a:r>
            <a:r>
              <a:rPr lang="zh-CN" altLang="en-US" dirty="0">
                <a:latin typeface="Cambria Math"/>
              </a:rPr>
              <a:t>：</a:t>
            </a:r>
            <a:r>
              <a:rPr lang="en-US" altLang="zh-CN" dirty="0">
                <a:latin typeface="Cambria Math"/>
              </a:rPr>
              <a:t>DFA</a:t>
            </a:r>
          </a:p>
          <a:p>
            <a:pPr>
              <a:lnSpc>
                <a:spcPct val="100000"/>
              </a:lnSpc>
              <a:spcBef>
                <a:spcPts val="600"/>
              </a:spcBef>
            </a:pPr>
            <a:r>
              <a:rPr lang="en-US" altLang="zh-CN" b="1" dirty="0" err="1">
                <a:latin typeface="Cambria Math"/>
              </a:rPr>
              <a:t>Algo</a:t>
            </a:r>
            <a:r>
              <a:rPr lang="en-US" altLang="zh-CN" b="1" dirty="0">
                <a:latin typeface="Cambria Math"/>
                <a:sym typeface="Wingdings" panose="05000000000000000000" pitchFamily="2" charset="2"/>
              </a:rPr>
              <a:t>:</a:t>
            </a:r>
            <a:r>
              <a:rPr lang="en-US" altLang="zh-CN" sz="1800" dirty="0">
                <a:latin typeface="Cambria Math"/>
                <a:sym typeface="Wingdings" panose="05000000000000000000" pitchFamily="2" charset="2"/>
              </a:rPr>
              <a:t>  (1) construct a table with k+1 columns</a:t>
            </a:r>
            <a:r>
              <a:rPr lang="zh-CN" altLang="en-US" sz="1800" dirty="0">
                <a:latin typeface="Cambria Math"/>
                <a:sym typeface="Wingdings" panose="05000000000000000000" pitchFamily="2" charset="2"/>
              </a:rPr>
              <a:t>，</a:t>
            </a:r>
            <a:r>
              <a:rPr lang="en-US" altLang="zh-CN" sz="1800" dirty="0">
                <a:latin typeface="Cambria Math"/>
                <a:sym typeface="Wingdings" panose="05000000000000000000" pitchFamily="2" charset="2"/>
              </a:rPr>
              <a:t>where states in the zero-</a:t>
            </a:r>
            <a:r>
              <a:rPr lang="en-US" altLang="zh-CN" sz="1800" dirty="0" err="1">
                <a:latin typeface="Cambria Math"/>
                <a:sym typeface="Wingdings" panose="05000000000000000000" pitchFamily="2" charset="2"/>
              </a:rPr>
              <a:t>th</a:t>
            </a:r>
            <a:r>
              <a:rPr lang="en-US" altLang="zh-CN" sz="1800" dirty="0">
                <a:latin typeface="Cambria Math"/>
                <a:sym typeface="Wingdings" panose="05000000000000000000" pitchFamily="2" charset="2"/>
              </a:rPr>
              <a:t> column compose the states of the output DFA. Sets </a:t>
            </a:r>
            <a:r>
              <a:rPr lang="en-US" altLang="zh-CN" sz="1800" i="1" dirty="0">
                <a:latin typeface="Cambria Math"/>
                <a:sym typeface="Wingdings" panose="05000000000000000000" pitchFamily="2" charset="2"/>
              </a:rPr>
              <a:t>I</a:t>
            </a:r>
            <a:r>
              <a:rPr lang="en-US" altLang="zh-CN" sz="1800" i="1" baseline="-25000" dirty="0">
                <a:latin typeface="Cambria Math"/>
                <a:sym typeface="Wingdings" panose="05000000000000000000" pitchFamily="2" charset="2"/>
              </a:rPr>
              <a:t>a</a:t>
            </a:r>
            <a:r>
              <a:rPr lang="en-US" altLang="zh-CN" sz="1800" i="1" baseline="-40000" dirty="0">
                <a:latin typeface="Cambria Math"/>
                <a:sym typeface="Wingdings" panose="05000000000000000000" pitchFamily="2" charset="2"/>
              </a:rPr>
              <a:t>1</a:t>
            </a:r>
            <a:r>
              <a:rPr lang="en-US" altLang="zh-CN" sz="1800" i="1" dirty="0">
                <a:latin typeface="Cambria Math"/>
                <a:sym typeface="Wingdings" panose="05000000000000000000" pitchFamily="2" charset="2"/>
              </a:rPr>
              <a:t>…</a:t>
            </a:r>
            <a:r>
              <a:rPr lang="en-US" altLang="zh-CN" sz="1800" i="1" dirty="0" err="1">
                <a:latin typeface="Cambria Math"/>
                <a:sym typeface="Wingdings" panose="05000000000000000000" pitchFamily="2" charset="2"/>
              </a:rPr>
              <a:t>I</a:t>
            </a:r>
            <a:r>
              <a:rPr lang="en-US" altLang="zh-CN" sz="1800" i="1" baseline="-25000" dirty="0" err="1">
                <a:latin typeface="Cambria Math"/>
                <a:sym typeface="Wingdings" panose="05000000000000000000" pitchFamily="2" charset="2"/>
              </a:rPr>
              <a:t>a</a:t>
            </a:r>
            <a:r>
              <a:rPr lang="en-US" altLang="zh-CN" sz="1800" i="1" baseline="-40000" dirty="0" err="1">
                <a:latin typeface="Cambria Math"/>
                <a:sym typeface="Wingdings" panose="05000000000000000000" pitchFamily="2" charset="2"/>
              </a:rPr>
              <a:t>k</a:t>
            </a:r>
            <a:r>
              <a:rPr lang="zh-CN" altLang="en-US" sz="1800" dirty="0">
                <a:latin typeface="Cambria Math"/>
                <a:sym typeface="Wingdings" panose="05000000000000000000" pitchFamily="2" charset="2"/>
              </a:rPr>
              <a:t> </a:t>
            </a:r>
            <a:r>
              <a:rPr lang="en-US" altLang="zh-CN" sz="1800" dirty="0">
                <a:latin typeface="Cambria Math"/>
                <a:sym typeface="Wingdings" panose="05000000000000000000" pitchFamily="2" charset="2"/>
              </a:rPr>
              <a:t>are in the columns </a:t>
            </a:r>
            <a:r>
              <a:rPr lang="en-US" altLang="zh-CN" sz="1800" i="1" dirty="0">
                <a:latin typeface="Cambria Math"/>
                <a:sym typeface="Wingdings" panose="05000000000000000000" pitchFamily="2" charset="2"/>
              </a:rPr>
              <a:t>1</a:t>
            </a:r>
            <a:r>
              <a:rPr lang="en-US" altLang="zh-CN" sz="1800" dirty="0">
                <a:latin typeface="Cambria Math"/>
                <a:sym typeface="Wingdings" panose="05000000000000000000" pitchFamily="2" charset="2"/>
              </a:rPr>
              <a:t>…</a:t>
            </a:r>
            <a:r>
              <a:rPr lang="en-US" altLang="zh-CN" sz="1800" i="1" dirty="0">
                <a:latin typeface="Cambria Math"/>
                <a:sym typeface="Wingdings" panose="05000000000000000000" pitchFamily="2" charset="2"/>
              </a:rPr>
              <a:t>k</a:t>
            </a:r>
            <a:r>
              <a:rPr lang="en-US" altLang="zh-CN" sz="1800" dirty="0">
                <a:latin typeface="Cambria Math"/>
                <a:sym typeface="Wingdings" panose="05000000000000000000" pitchFamily="2" charset="2"/>
              </a:rPr>
              <a:t>:</a:t>
            </a:r>
            <a:endParaRPr lang="zh-CN" altLang="en-US" sz="1800" baseline="-40000" dirty="0"/>
          </a:p>
        </p:txBody>
      </p:sp>
      <p:graphicFrame>
        <p:nvGraphicFramePr>
          <p:cNvPr id="4" name="内容占位符 15" descr="示例表格（3 列，4 行）" title="表格"/>
          <p:cNvGraphicFramePr>
            <a:graphicFrameLocks/>
          </p:cNvGraphicFramePr>
          <p:nvPr>
            <p:extLst/>
          </p:nvPr>
        </p:nvGraphicFramePr>
        <p:xfrm>
          <a:off x="1208316" y="2492403"/>
          <a:ext cx="6923313" cy="1052912"/>
        </p:xfrm>
        <a:graphic>
          <a:graphicData uri="http://schemas.openxmlformats.org/drawingml/2006/table">
            <a:tbl>
              <a:tblPr firstRow="1" bandRow="1">
                <a:tableStyleId>{5C22544A-7EE6-4342-B048-85BDC9FD1C3A}</a:tableStyleId>
              </a:tblPr>
              <a:tblGrid>
                <a:gridCol w="1774242">
                  <a:extLst>
                    <a:ext uri="{9D8B030D-6E8A-4147-A177-3AD203B41FA5}">
                      <a16:colId xmlns:a16="http://schemas.microsoft.com/office/drawing/2014/main" val="20000"/>
                    </a:ext>
                  </a:extLst>
                </a:gridCol>
                <a:gridCol w="3107999">
                  <a:extLst>
                    <a:ext uri="{9D8B030D-6E8A-4147-A177-3AD203B41FA5}">
                      <a16:colId xmlns:a16="http://schemas.microsoft.com/office/drawing/2014/main" val="20001"/>
                    </a:ext>
                  </a:extLst>
                </a:gridCol>
                <a:gridCol w="1159329">
                  <a:extLst>
                    <a:ext uri="{9D8B030D-6E8A-4147-A177-3AD203B41FA5}">
                      <a16:colId xmlns:a16="http://schemas.microsoft.com/office/drawing/2014/main" val="20002"/>
                    </a:ext>
                  </a:extLst>
                </a:gridCol>
                <a:gridCol w="881743">
                  <a:extLst>
                    <a:ext uri="{9D8B030D-6E8A-4147-A177-3AD203B41FA5}">
                      <a16:colId xmlns:a16="http://schemas.microsoft.com/office/drawing/2014/main" val="20003"/>
                    </a:ext>
                  </a:extLst>
                </a:gridCol>
              </a:tblGrid>
              <a:tr h="328336">
                <a:tc>
                  <a:txBody>
                    <a:bodyPr/>
                    <a:lstStyle/>
                    <a:p>
                      <a:pPr algn="ctr"/>
                      <a:r>
                        <a:rPr lang="en-US" altLang="zh-CN" dirty="0">
                          <a:latin typeface="Microsoft YaHei UI" panose="020B0503020204020204" pitchFamily="34" charset="-122"/>
                          <a:ea typeface="Microsoft YaHei UI" panose="020B0503020204020204" pitchFamily="34" charset="-122"/>
                        </a:rPr>
                        <a:t>I</a:t>
                      </a:r>
                      <a:endParaRPr lang="zh-CN" dirty="0">
                        <a:latin typeface="Microsoft YaHei UI" panose="020B0503020204020204" pitchFamily="34" charset="-122"/>
                        <a:ea typeface="Microsoft YaHei UI" panose="020B0503020204020204" pitchFamily="34" charset="-122"/>
                      </a:endParaRPr>
                    </a:p>
                  </a:txBody>
                  <a:tcPr marL="68580" marR="68580" anchor="ctr"/>
                </a:tc>
                <a:tc>
                  <a:txBody>
                    <a:bodyPr/>
                    <a:lstStyle/>
                    <a:p>
                      <a:pPr algn="ctr"/>
                      <a:r>
                        <a:rPr lang="en-US" altLang="zh-CN" dirty="0">
                          <a:latin typeface="Cambria Math"/>
                          <a:sym typeface="Wingdings" panose="05000000000000000000" pitchFamily="2" charset="2"/>
                        </a:rPr>
                        <a:t>I</a:t>
                      </a:r>
                      <a:r>
                        <a:rPr lang="en-US" altLang="zh-CN" baseline="-25000" dirty="0">
                          <a:latin typeface="Cambria Math"/>
                          <a:sym typeface="Wingdings" panose="05000000000000000000" pitchFamily="2" charset="2"/>
                        </a:rPr>
                        <a:t>a</a:t>
                      </a:r>
                      <a:r>
                        <a:rPr lang="en-US" altLang="zh-CN" baseline="-40000" dirty="0">
                          <a:latin typeface="Cambria Math"/>
                          <a:sym typeface="Wingdings" panose="05000000000000000000" pitchFamily="2" charset="2"/>
                        </a:rPr>
                        <a:t>1</a:t>
                      </a:r>
                      <a:endParaRPr lang="zh-CN" dirty="0">
                        <a:latin typeface="Microsoft YaHei UI" panose="020B0503020204020204" pitchFamily="34" charset="-122"/>
                        <a:ea typeface="Microsoft YaHei UI" panose="020B0503020204020204" pitchFamily="34" charset="-122"/>
                      </a:endParaRPr>
                    </a:p>
                  </a:txBody>
                  <a:tcPr marL="68580" marR="68580" anchor="ctr"/>
                </a:tc>
                <a:tc>
                  <a:txBody>
                    <a:bodyPr/>
                    <a:lstStyle/>
                    <a:p>
                      <a:pPr algn="ctr"/>
                      <a:r>
                        <a:rPr lang="en-US" altLang="zh-CN" dirty="0">
                          <a:latin typeface="Microsoft YaHei UI" panose="020B0503020204020204" pitchFamily="34" charset="-122"/>
                          <a:ea typeface="Microsoft YaHei UI" panose="020B0503020204020204" pitchFamily="34" charset="-122"/>
                        </a:rPr>
                        <a:t>...</a:t>
                      </a:r>
                      <a:endParaRPr lang="zh-CN" dirty="0">
                        <a:latin typeface="Microsoft YaHei UI" panose="020B0503020204020204" pitchFamily="34" charset="-122"/>
                        <a:ea typeface="Microsoft YaHei UI" panose="020B0503020204020204" pitchFamily="34" charset="-122"/>
                      </a:endParaRPr>
                    </a:p>
                  </a:txBody>
                  <a:tcPr marL="68580" marR="68580" anchor="ctr"/>
                </a:tc>
                <a:tc>
                  <a:txBody>
                    <a:bodyPr/>
                    <a:lstStyle/>
                    <a:p>
                      <a:pPr algn="ctr"/>
                      <a:r>
                        <a:rPr lang="en-US" altLang="zh-CN" dirty="0" err="1">
                          <a:latin typeface="Cambria Math"/>
                          <a:sym typeface="Wingdings" panose="05000000000000000000" pitchFamily="2" charset="2"/>
                        </a:rPr>
                        <a:t>I</a:t>
                      </a:r>
                      <a:r>
                        <a:rPr lang="en-US" altLang="zh-CN" baseline="-25000" dirty="0" err="1">
                          <a:latin typeface="Cambria Math"/>
                          <a:sym typeface="Wingdings" panose="05000000000000000000" pitchFamily="2" charset="2"/>
                        </a:rPr>
                        <a:t>a</a:t>
                      </a:r>
                      <a:r>
                        <a:rPr lang="en-US" altLang="zh-CN" baseline="-40000" dirty="0" err="1">
                          <a:latin typeface="Cambria Math"/>
                          <a:sym typeface="Wingdings" panose="05000000000000000000" pitchFamily="2" charset="2"/>
                        </a:rPr>
                        <a:t>k</a:t>
                      </a:r>
                      <a:endParaRPr lang="zh-CN" dirty="0">
                        <a:latin typeface="Microsoft YaHei UI" panose="020B0503020204020204" pitchFamily="34" charset="-122"/>
                        <a:ea typeface="Microsoft YaHei UI" panose="020B0503020204020204" pitchFamily="34" charset="-122"/>
                      </a:endParaRPr>
                    </a:p>
                  </a:txBody>
                  <a:tcPr marL="68580" marR="68580" anchor="ctr"/>
                </a:tc>
                <a:extLst>
                  <a:ext uri="{0D108BD9-81ED-4DB2-BD59-A6C34878D82A}">
                    <a16:rowId xmlns:a16="http://schemas.microsoft.com/office/drawing/2014/main" val="10000"/>
                  </a:ext>
                </a:extLst>
              </a:tr>
              <a:tr h="355698">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l-GR" altLang="zh-CN" sz="2000" dirty="0">
                          <a:latin typeface="Cambria Math"/>
                          <a:ea typeface="Cambria Math"/>
                        </a:rPr>
                        <a:t>ε</a:t>
                      </a:r>
                      <a:r>
                        <a:rPr lang="en-US" altLang="zh-CN" sz="2000" dirty="0">
                          <a:latin typeface="Cambria Math"/>
                          <a:ea typeface="Cambria Math"/>
                        </a:rPr>
                        <a:t>_CLOSURE(X)</a:t>
                      </a:r>
                    </a:p>
                  </a:txBody>
                  <a:tcPr marL="68580" marR="68580" anchor="ct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l-GR" altLang="zh-CN" sz="2000" dirty="0">
                          <a:latin typeface="Cambria Math"/>
                          <a:ea typeface="Cambria Math"/>
                        </a:rPr>
                        <a:t>ε</a:t>
                      </a:r>
                      <a:r>
                        <a:rPr lang="en-US" altLang="zh-CN" sz="2000" dirty="0">
                          <a:latin typeface="Cambria Math"/>
                          <a:ea typeface="Cambria Math"/>
                        </a:rPr>
                        <a:t>_CLOSURE(move(I, </a:t>
                      </a:r>
                      <a:r>
                        <a:rPr lang="en-US" altLang="zh-CN" sz="2000" dirty="0">
                          <a:latin typeface="Cambria Math"/>
                        </a:rPr>
                        <a:t>a</a:t>
                      </a:r>
                      <a:r>
                        <a:rPr lang="en-US" altLang="zh-CN" sz="2000" baseline="-25000" dirty="0">
                          <a:latin typeface="Cambria Math"/>
                        </a:rPr>
                        <a:t>1</a:t>
                      </a:r>
                      <a:r>
                        <a:rPr lang="en-US" altLang="zh-CN" sz="2000" dirty="0">
                          <a:latin typeface="Cambria Math"/>
                          <a:ea typeface="Cambria Math"/>
                        </a:rPr>
                        <a:t>))</a:t>
                      </a:r>
                    </a:p>
                  </a:txBody>
                  <a:tcPr marL="68580" marR="68580" anchor="ctr"/>
                </a:tc>
                <a:tc>
                  <a:txBody>
                    <a:bodyPr/>
                    <a:lstStyle/>
                    <a:p>
                      <a:pPr algn="ctr"/>
                      <a:endParaRPr lang="zh-CN" dirty="0">
                        <a:latin typeface="Microsoft YaHei UI" panose="020B0503020204020204" pitchFamily="34" charset="-122"/>
                        <a:ea typeface="Microsoft YaHei UI" panose="020B0503020204020204" pitchFamily="34" charset="-122"/>
                      </a:endParaRPr>
                    </a:p>
                  </a:txBody>
                  <a:tcPr marL="68580" marR="68580" anchor="ctr"/>
                </a:tc>
                <a:tc>
                  <a:txBody>
                    <a:bodyPr/>
                    <a:lstStyle/>
                    <a:p>
                      <a:pPr algn="ctr"/>
                      <a:endParaRPr lang="zh-CN" dirty="0">
                        <a:latin typeface="Microsoft YaHei UI" panose="020B0503020204020204" pitchFamily="34" charset="-122"/>
                        <a:ea typeface="Microsoft YaHei UI" panose="020B0503020204020204" pitchFamily="34" charset="-122"/>
                      </a:endParaRPr>
                    </a:p>
                  </a:txBody>
                  <a:tcPr marL="68580" marR="68580" anchor="ctr"/>
                </a:tc>
                <a:extLst>
                  <a:ext uri="{0D108BD9-81ED-4DB2-BD59-A6C34878D82A}">
                    <a16:rowId xmlns:a16="http://schemas.microsoft.com/office/drawing/2014/main" val="10001"/>
                  </a:ext>
                </a:extLst>
              </a:tr>
              <a:tr h="328336">
                <a:tc>
                  <a:txBody>
                    <a:bodyPr/>
                    <a:lstStyle/>
                    <a:p>
                      <a:endParaRPr lang="zh-CN" dirty="0">
                        <a:latin typeface="Microsoft YaHei UI" panose="020B0503020204020204" pitchFamily="34" charset="-122"/>
                        <a:ea typeface="Microsoft YaHei UI" panose="020B0503020204020204" pitchFamily="34" charset="-122"/>
                      </a:endParaRPr>
                    </a:p>
                  </a:txBody>
                  <a:tcPr marL="68580" marR="68580" anchor="ctr"/>
                </a:tc>
                <a:tc>
                  <a:txBody>
                    <a:bodyPr/>
                    <a:lstStyle/>
                    <a:p>
                      <a:pPr algn="ctr"/>
                      <a:endParaRPr lang="zh-CN" dirty="0">
                        <a:latin typeface="Microsoft YaHei UI" panose="020B0503020204020204" pitchFamily="34" charset="-122"/>
                        <a:ea typeface="Microsoft YaHei UI" panose="020B0503020204020204" pitchFamily="34" charset="-122"/>
                      </a:endParaRPr>
                    </a:p>
                  </a:txBody>
                  <a:tcPr marL="68580" marR="68580" anchor="ctr"/>
                </a:tc>
                <a:tc>
                  <a:txBody>
                    <a:bodyPr/>
                    <a:lstStyle/>
                    <a:p>
                      <a:pPr algn="ctr"/>
                      <a:endParaRPr lang="zh-CN" dirty="0">
                        <a:latin typeface="Microsoft YaHei UI" panose="020B0503020204020204" pitchFamily="34" charset="-122"/>
                        <a:ea typeface="Microsoft YaHei UI" panose="020B0503020204020204" pitchFamily="34" charset="-122"/>
                      </a:endParaRPr>
                    </a:p>
                  </a:txBody>
                  <a:tcPr marL="68580" marR="68580" anchor="ctr"/>
                </a:tc>
                <a:tc>
                  <a:txBody>
                    <a:bodyPr/>
                    <a:lstStyle/>
                    <a:p>
                      <a:pPr algn="ctr"/>
                      <a:endParaRPr lang="zh-CN" dirty="0">
                        <a:latin typeface="Microsoft YaHei UI" panose="020B0503020204020204" pitchFamily="34" charset="-122"/>
                        <a:ea typeface="Microsoft YaHei UI" panose="020B0503020204020204" pitchFamily="34" charset="-122"/>
                      </a:endParaRPr>
                    </a:p>
                  </a:txBody>
                  <a:tcPr marL="68580" marR="68580" anchor="ctr"/>
                </a:tc>
                <a:extLst>
                  <a:ext uri="{0D108BD9-81ED-4DB2-BD59-A6C34878D82A}">
                    <a16:rowId xmlns:a16="http://schemas.microsoft.com/office/drawing/2014/main" val="10002"/>
                  </a:ext>
                </a:extLst>
              </a:tr>
            </a:tbl>
          </a:graphicData>
        </a:graphic>
      </p:graphicFrame>
      <p:sp>
        <p:nvSpPr>
          <p:cNvPr id="5" name="内容占位符 2"/>
          <p:cNvSpPr txBox="1">
            <a:spLocks/>
          </p:cNvSpPr>
          <p:nvPr/>
        </p:nvSpPr>
        <p:spPr>
          <a:xfrm>
            <a:off x="964746" y="3728327"/>
            <a:ext cx="7851708" cy="3113343"/>
          </a:xfrm>
          <a:prstGeom prst="rect">
            <a:avLst/>
          </a:prstGeom>
        </p:spPr>
        <p:txBody>
          <a:bodyPr vert="horz" lIns="0" tIns="45720" rIns="0" bIns="45720" rtlCol="0">
            <a:normAutofit fontScale="92500" lnSpcReduction="10000"/>
          </a:bodyPr>
          <a:lstStyle>
            <a:lvl1pPr marL="228600" indent="-228600" algn="l" defTabSz="914400" rtl="0" eaLnBrk="1" latinLnBrk="0" hangingPunct="1">
              <a:lnSpc>
                <a:spcPct val="90000"/>
              </a:lnSpc>
              <a:spcBef>
                <a:spcPts val="1800"/>
              </a:spcBef>
              <a:buFont typeface="Wingdings" panose="05000000000000000000" pitchFamily="2" charset="2"/>
              <a:buChar char="§"/>
              <a:defRPr lang="zh-CN" sz="2000" kern="1200">
                <a:solidFill>
                  <a:schemeClr val="tx1"/>
                </a:solidFill>
                <a:latin typeface="Microsoft YaHei UI" panose="020B0503020204020204" pitchFamily="34" charset="-122"/>
                <a:ea typeface="Microsoft YaHei UI" panose="020B0503020204020204" pitchFamily="34" charset="-122"/>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lang="zh-CN" sz="1600" kern="1200">
                <a:solidFill>
                  <a:schemeClr val="tx1"/>
                </a:solidFill>
                <a:latin typeface="Microsoft YaHei UI" panose="020B0503020204020204" pitchFamily="34" charset="-122"/>
                <a:ea typeface="Microsoft YaHei UI" panose="020B0503020204020204" pitchFamily="34" charset="-122"/>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lang="zh-CN" sz="1400" kern="1200">
                <a:solidFill>
                  <a:schemeClr val="tx1"/>
                </a:solidFill>
                <a:latin typeface="Microsoft YaHei UI" panose="020B0503020204020204" pitchFamily="34" charset="-122"/>
                <a:ea typeface="Microsoft YaHei UI" panose="020B0503020204020204" pitchFamily="34" charset="-122"/>
                <a:cs typeface="+mn-cs"/>
              </a:defRPr>
            </a:lvl9pPr>
          </a:lstStyle>
          <a:p>
            <a:pPr marL="228600" lvl="1">
              <a:lnSpc>
                <a:spcPct val="100000"/>
              </a:lnSpc>
            </a:pPr>
            <a:r>
              <a:rPr lang="en-US" altLang="en-US" sz="1800" dirty="0">
                <a:solidFill>
                  <a:srgbClr val="514843"/>
                </a:solidFill>
                <a:latin typeface="Cambria Math"/>
                <a:sym typeface="Wingdings" panose="05000000000000000000" pitchFamily="2" charset="2"/>
              </a:rPr>
              <a:t>(2) </a:t>
            </a:r>
            <a:r>
              <a:rPr lang="el-GR" altLang="zh-CN" sz="1800" dirty="0">
                <a:solidFill>
                  <a:srgbClr val="514843"/>
                </a:solidFill>
                <a:latin typeface="Cambria Math"/>
                <a:ea typeface="Cambria Math"/>
              </a:rPr>
              <a:t>ε</a:t>
            </a:r>
            <a:r>
              <a:rPr lang="en-US" altLang="zh-CN" sz="1800" dirty="0">
                <a:solidFill>
                  <a:srgbClr val="514843"/>
                </a:solidFill>
                <a:latin typeface="Cambria Math"/>
                <a:ea typeface="Cambria Math"/>
              </a:rPr>
              <a:t>_CLOSURE(X) is in row 1 column 0</a:t>
            </a:r>
            <a:r>
              <a:rPr altLang="en-US" sz="1800" dirty="0">
                <a:solidFill>
                  <a:srgbClr val="514843"/>
                </a:solidFill>
                <a:latin typeface="Cambria Math"/>
              </a:rPr>
              <a:t>，</a:t>
            </a:r>
            <a:r>
              <a:rPr lang="en-US" altLang="en-US" sz="1800" dirty="0">
                <a:solidFill>
                  <a:srgbClr val="514843"/>
                </a:solidFill>
                <a:latin typeface="Cambria Math"/>
              </a:rPr>
              <a:t>From this set , we construct sets </a:t>
            </a:r>
            <a:r>
              <a:rPr lang="en-US" altLang="zh-CN" sz="1800" i="1" dirty="0">
                <a:solidFill>
                  <a:srgbClr val="514843"/>
                </a:solidFill>
                <a:latin typeface="Cambria Math"/>
                <a:sym typeface="Wingdings" panose="05000000000000000000" pitchFamily="2" charset="2"/>
              </a:rPr>
              <a:t>I</a:t>
            </a:r>
            <a:r>
              <a:rPr lang="en-US" altLang="zh-CN" sz="1800" i="1" baseline="-25000" dirty="0">
                <a:solidFill>
                  <a:srgbClr val="514843"/>
                </a:solidFill>
                <a:latin typeface="Cambria Math"/>
                <a:sym typeface="Wingdings" panose="05000000000000000000" pitchFamily="2" charset="2"/>
              </a:rPr>
              <a:t>a</a:t>
            </a:r>
            <a:r>
              <a:rPr lang="en-US" altLang="zh-CN" sz="1800" i="1" baseline="-40000" dirty="0">
                <a:solidFill>
                  <a:srgbClr val="514843"/>
                </a:solidFill>
                <a:latin typeface="Cambria Math"/>
                <a:sym typeface="Wingdings" panose="05000000000000000000" pitchFamily="2" charset="2"/>
              </a:rPr>
              <a:t>1</a:t>
            </a:r>
            <a:r>
              <a:rPr lang="en-US" altLang="zh-CN" sz="1800" i="1" dirty="0">
                <a:solidFill>
                  <a:srgbClr val="514843"/>
                </a:solidFill>
                <a:latin typeface="Cambria Math"/>
                <a:sym typeface="Wingdings" panose="05000000000000000000" pitchFamily="2" charset="2"/>
              </a:rPr>
              <a:t>, ..., </a:t>
            </a:r>
            <a:r>
              <a:rPr lang="en-US" altLang="zh-CN" sz="1800" i="1" dirty="0" err="1">
                <a:solidFill>
                  <a:srgbClr val="514843"/>
                </a:solidFill>
                <a:latin typeface="Cambria Math"/>
                <a:sym typeface="Wingdings" panose="05000000000000000000" pitchFamily="2" charset="2"/>
              </a:rPr>
              <a:t>I</a:t>
            </a:r>
            <a:r>
              <a:rPr lang="en-US" altLang="zh-CN" sz="1800" i="1" baseline="-25000" dirty="0" err="1">
                <a:solidFill>
                  <a:srgbClr val="514843"/>
                </a:solidFill>
                <a:latin typeface="Cambria Math"/>
                <a:sym typeface="Wingdings" panose="05000000000000000000" pitchFamily="2" charset="2"/>
              </a:rPr>
              <a:t>a</a:t>
            </a:r>
            <a:r>
              <a:rPr lang="en-US" altLang="zh-CN" sz="1800" i="1" baseline="-40000" dirty="0" err="1">
                <a:solidFill>
                  <a:srgbClr val="514843"/>
                </a:solidFill>
                <a:latin typeface="Cambria Math"/>
                <a:sym typeface="Wingdings" panose="05000000000000000000" pitchFamily="2" charset="2"/>
              </a:rPr>
              <a:t>k</a:t>
            </a:r>
            <a:r>
              <a:rPr lang="en-US" altLang="zh-CN" sz="1800" i="1" dirty="0">
                <a:solidFill>
                  <a:srgbClr val="514843"/>
                </a:solidFill>
                <a:latin typeface="Cambria Math"/>
                <a:sym typeface="Wingdings" panose="05000000000000000000" pitchFamily="2" charset="2"/>
              </a:rPr>
              <a:t> </a:t>
            </a:r>
            <a:r>
              <a:rPr lang="en-US" altLang="zh-CN" sz="1800" dirty="0">
                <a:solidFill>
                  <a:srgbClr val="514843"/>
                </a:solidFill>
                <a:latin typeface="Cambria Math"/>
                <a:sym typeface="Wingdings" panose="05000000000000000000" pitchFamily="2" charset="2"/>
              </a:rPr>
              <a:t>for row 1</a:t>
            </a:r>
            <a:r>
              <a:rPr altLang="en-US" sz="1800" dirty="0">
                <a:solidFill>
                  <a:srgbClr val="514843"/>
                </a:solidFill>
                <a:latin typeface="Cambria Math"/>
                <a:sym typeface="Wingdings" panose="05000000000000000000" pitchFamily="2" charset="2"/>
              </a:rPr>
              <a:t>，</a:t>
            </a:r>
            <a:r>
              <a:rPr lang="en-US" altLang="en-US" sz="1800" dirty="0">
                <a:solidFill>
                  <a:srgbClr val="514843"/>
                </a:solidFill>
                <a:latin typeface="Cambria Math"/>
                <a:sym typeface="Wingdings" panose="05000000000000000000" pitchFamily="2" charset="2"/>
              </a:rPr>
              <a:t>and fill them in the corresponding positions . Once we fill a set, we exam all sets in column 0. If we cannot find the same set in column 0, we fill this set in the last empty position in column 0. </a:t>
            </a:r>
            <a:endParaRPr lang="en-US" altLang="zh-CN" sz="1800" dirty="0">
              <a:solidFill>
                <a:srgbClr val="514843"/>
              </a:solidFill>
              <a:latin typeface="Cambria Math"/>
              <a:sym typeface="Wingdings" panose="05000000000000000000" pitchFamily="2" charset="2"/>
            </a:endParaRPr>
          </a:p>
          <a:p>
            <a:pPr marL="228600" lvl="1">
              <a:lnSpc>
                <a:spcPct val="100000"/>
              </a:lnSpc>
            </a:pPr>
            <a:r>
              <a:rPr lang="en-US" altLang="en-US" sz="1800" dirty="0">
                <a:solidFill>
                  <a:srgbClr val="514843"/>
                </a:solidFill>
                <a:latin typeface="Cambria Math"/>
                <a:ea typeface="Cambria Math"/>
                <a:sym typeface="Wingdings" panose="05000000000000000000" pitchFamily="2" charset="2"/>
              </a:rPr>
              <a:t>(3) step (2) is continued until the sets in column 0 do not increase any more and the entire table is completed. </a:t>
            </a:r>
          </a:p>
          <a:p>
            <a:pPr marL="228600" lvl="1">
              <a:lnSpc>
                <a:spcPct val="100000"/>
              </a:lnSpc>
            </a:pPr>
            <a:r>
              <a:rPr lang="en-US" altLang="en-US" sz="1800" dirty="0">
                <a:solidFill>
                  <a:srgbClr val="514843"/>
                </a:solidFill>
                <a:latin typeface="Cambria Math"/>
                <a:ea typeface="Cambria Math"/>
                <a:sym typeface="Wingdings" panose="05000000000000000000" pitchFamily="2" charset="2"/>
              </a:rPr>
              <a:t>(4) For all sets in column 0, we re-assign sequential numbers (start from 0) on them.  For all sets in other columns,  they are then substituted with their sequential numbers . The numbers stand for the names of the states in DFA. The state that includes X is the unique initial state and those states that include Y are final states. </a:t>
            </a:r>
          </a:p>
          <a:p>
            <a:pPr marL="0" lvl="1" indent="0">
              <a:lnSpc>
                <a:spcPct val="100000"/>
              </a:lnSpc>
              <a:buNone/>
            </a:pPr>
            <a:r>
              <a:rPr lang="en-US" altLang="en-US" sz="1800" dirty="0">
                <a:solidFill>
                  <a:srgbClr val="514843"/>
                </a:solidFill>
                <a:latin typeface="Cambria Math"/>
                <a:ea typeface="Cambria Math"/>
                <a:sym typeface="Wingdings" panose="05000000000000000000" pitchFamily="2" charset="2"/>
              </a:rPr>
              <a:t>The final table are transition table for DFS. Algorithm done.</a:t>
            </a:r>
            <a:endParaRPr lang="en-US" altLang="zh-CN" sz="1800" dirty="0">
              <a:solidFill>
                <a:srgbClr val="514843"/>
              </a:solidFill>
              <a:latin typeface="Cambria Math"/>
              <a:ea typeface="Cambria Math"/>
              <a:sym typeface="Wingdings" panose="05000000000000000000" pitchFamily="2" charset="2"/>
            </a:endParaRPr>
          </a:p>
          <a:p>
            <a:pPr marL="228600" lvl="1">
              <a:lnSpc>
                <a:spcPct val="100000"/>
              </a:lnSpc>
            </a:pPr>
            <a:endParaRPr lang="en-US" altLang="zh-CN" sz="1800" dirty="0">
              <a:solidFill>
                <a:srgbClr val="514843"/>
              </a:solidFill>
              <a:latin typeface="Cambria Math"/>
              <a:ea typeface="Cambria Math"/>
            </a:endParaRPr>
          </a:p>
        </p:txBody>
      </p:sp>
      <p:sp>
        <p:nvSpPr>
          <p:cNvPr id="6" name="TextBox 5"/>
          <p:cNvSpPr txBox="1"/>
          <p:nvPr/>
        </p:nvSpPr>
        <p:spPr>
          <a:xfrm>
            <a:off x="1972062" y="2190753"/>
            <a:ext cx="319318" cy="369332"/>
          </a:xfrm>
          <a:prstGeom prst="rect">
            <a:avLst/>
          </a:prstGeom>
          <a:noFill/>
        </p:spPr>
        <p:txBody>
          <a:bodyPr wrap="none" rtlCol="0">
            <a:spAutoFit/>
          </a:bodyPr>
          <a:lstStyle/>
          <a:p>
            <a:r>
              <a:rPr lang="en-US" altLang="zh-CN" dirty="0">
                <a:solidFill>
                  <a:srgbClr val="514843"/>
                </a:solidFill>
              </a:rPr>
              <a:t>0</a:t>
            </a:r>
            <a:endParaRPr lang="zh-CN" altLang="en-US" dirty="0">
              <a:solidFill>
                <a:srgbClr val="514843"/>
              </a:solidFill>
            </a:endParaRPr>
          </a:p>
        </p:txBody>
      </p:sp>
      <p:sp>
        <p:nvSpPr>
          <p:cNvPr id="7" name="TextBox 6"/>
          <p:cNvSpPr txBox="1"/>
          <p:nvPr/>
        </p:nvSpPr>
        <p:spPr>
          <a:xfrm>
            <a:off x="3332808" y="2198873"/>
            <a:ext cx="319318" cy="369332"/>
          </a:xfrm>
          <a:prstGeom prst="rect">
            <a:avLst/>
          </a:prstGeom>
          <a:noFill/>
        </p:spPr>
        <p:txBody>
          <a:bodyPr wrap="none" rtlCol="0">
            <a:spAutoFit/>
          </a:bodyPr>
          <a:lstStyle/>
          <a:p>
            <a:r>
              <a:rPr lang="en-US" altLang="zh-CN" dirty="0">
                <a:solidFill>
                  <a:srgbClr val="514843"/>
                </a:solidFill>
              </a:rPr>
              <a:t>1</a:t>
            </a:r>
            <a:endParaRPr lang="zh-CN" altLang="en-US" dirty="0">
              <a:solidFill>
                <a:srgbClr val="514843"/>
              </a:solidFill>
            </a:endParaRPr>
          </a:p>
        </p:txBody>
      </p:sp>
      <p:sp>
        <p:nvSpPr>
          <p:cNvPr id="8" name="TextBox 7"/>
          <p:cNvSpPr txBox="1"/>
          <p:nvPr/>
        </p:nvSpPr>
        <p:spPr>
          <a:xfrm>
            <a:off x="7415044" y="2170134"/>
            <a:ext cx="300082" cy="369332"/>
          </a:xfrm>
          <a:prstGeom prst="rect">
            <a:avLst/>
          </a:prstGeom>
          <a:noFill/>
        </p:spPr>
        <p:txBody>
          <a:bodyPr wrap="none" rtlCol="0">
            <a:spAutoFit/>
          </a:bodyPr>
          <a:lstStyle/>
          <a:p>
            <a:r>
              <a:rPr lang="en-US" altLang="zh-CN" dirty="0">
                <a:solidFill>
                  <a:srgbClr val="514843"/>
                </a:solidFill>
              </a:rPr>
              <a:t>k</a:t>
            </a:r>
            <a:endParaRPr lang="zh-CN" altLang="en-US" dirty="0">
              <a:solidFill>
                <a:srgbClr val="514843"/>
              </a:solidFill>
            </a:endParaRPr>
          </a:p>
        </p:txBody>
      </p:sp>
      <p:sp>
        <p:nvSpPr>
          <p:cNvPr id="9" name="TextBox 8"/>
          <p:cNvSpPr txBox="1"/>
          <p:nvPr/>
        </p:nvSpPr>
        <p:spPr>
          <a:xfrm>
            <a:off x="841376" y="2498233"/>
            <a:ext cx="319318" cy="369332"/>
          </a:xfrm>
          <a:prstGeom prst="rect">
            <a:avLst/>
          </a:prstGeom>
          <a:noFill/>
        </p:spPr>
        <p:txBody>
          <a:bodyPr wrap="none" rtlCol="0">
            <a:spAutoFit/>
          </a:bodyPr>
          <a:lstStyle/>
          <a:p>
            <a:r>
              <a:rPr lang="en-US" altLang="zh-CN" dirty="0">
                <a:solidFill>
                  <a:srgbClr val="514843"/>
                </a:solidFill>
              </a:rPr>
              <a:t>0</a:t>
            </a:r>
            <a:endParaRPr lang="zh-CN" altLang="en-US" dirty="0">
              <a:solidFill>
                <a:srgbClr val="514843"/>
              </a:solidFill>
            </a:endParaRPr>
          </a:p>
        </p:txBody>
      </p:sp>
      <p:sp>
        <p:nvSpPr>
          <p:cNvPr id="10" name="TextBox 9"/>
          <p:cNvSpPr txBox="1"/>
          <p:nvPr/>
        </p:nvSpPr>
        <p:spPr>
          <a:xfrm>
            <a:off x="850800" y="2868362"/>
            <a:ext cx="319318" cy="369332"/>
          </a:xfrm>
          <a:prstGeom prst="rect">
            <a:avLst/>
          </a:prstGeom>
          <a:noFill/>
        </p:spPr>
        <p:txBody>
          <a:bodyPr wrap="none" rtlCol="0">
            <a:spAutoFit/>
          </a:bodyPr>
          <a:lstStyle/>
          <a:p>
            <a:r>
              <a:rPr lang="en-US" altLang="zh-CN" dirty="0">
                <a:solidFill>
                  <a:srgbClr val="514843"/>
                </a:solidFill>
              </a:rPr>
              <a:t>1</a:t>
            </a:r>
            <a:endParaRPr lang="zh-CN" altLang="en-US" dirty="0">
              <a:solidFill>
                <a:srgbClr val="514843"/>
              </a:solidFill>
            </a:endParaRPr>
          </a:p>
        </p:txBody>
      </p:sp>
      <p:sp>
        <p:nvSpPr>
          <p:cNvPr id="11" name="TextBox 10"/>
          <p:cNvSpPr txBox="1"/>
          <p:nvPr/>
        </p:nvSpPr>
        <p:spPr>
          <a:xfrm>
            <a:off x="872568" y="3233039"/>
            <a:ext cx="319318" cy="369332"/>
          </a:xfrm>
          <a:prstGeom prst="rect">
            <a:avLst/>
          </a:prstGeom>
          <a:noFill/>
        </p:spPr>
        <p:txBody>
          <a:bodyPr wrap="none" rtlCol="0">
            <a:spAutoFit/>
          </a:bodyPr>
          <a:lstStyle/>
          <a:p>
            <a:r>
              <a:rPr lang="en-US" altLang="zh-CN" dirty="0">
                <a:solidFill>
                  <a:srgbClr val="514843"/>
                </a:solidFill>
              </a:rPr>
              <a:t>2</a:t>
            </a:r>
            <a:endParaRPr lang="zh-CN" altLang="en-US" dirty="0">
              <a:solidFill>
                <a:srgbClr val="514843"/>
              </a:solidFill>
            </a:endParaRPr>
          </a:p>
        </p:txBody>
      </p:sp>
    </p:spTree>
    <p:extLst>
      <p:ext uri="{BB962C8B-B14F-4D97-AF65-F5344CB8AC3E}">
        <p14:creationId xmlns:p14="http://schemas.microsoft.com/office/powerpoint/2010/main" val="1262839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Example</a:t>
            </a:r>
            <a:endParaRPr lang="zh-CN" altLang="en-US" dirty="0"/>
          </a:p>
        </p:txBody>
      </p:sp>
      <p:sp>
        <p:nvSpPr>
          <p:cNvPr id="4" name="Rectangle 2"/>
          <p:cNvSpPr>
            <a:spLocks noChangeArrowheads="1"/>
          </p:cNvSpPr>
          <p:nvPr/>
        </p:nvSpPr>
        <p:spPr bwMode="auto">
          <a:xfrm>
            <a:off x="1186543" y="1817914"/>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292133997"/>
              </p:ext>
            </p:extLst>
          </p:nvPr>
        </p:nvGraphicFramePr>
        <p:xfrm>
          <a:off x="1023257" y="1687285"/>
          <a:ext cx="4369254" cy="1981200"/>
        </p:xfrm>
        <a:graphic>
          <a:graphicData uri="http://schemas.openxmlformats.org/presentationml/2006/ole">
            <mc:AlternateContent xmlns:mc="http://schemas.openxmlformats.org/markup-compatibility/2006">
              <mc:Choice xmlns:v="urn:schemas-microsoft-com:vml" Requires="v">
                <p:oleObj spid="_x0000_s3087" name="Visio" r:id="rId3" imgW="3314614" imgH="1504835" progId="Visio.Drawing.15">
                  <p:embed/>
                </p:oleObj>
              </mc:Choice>
              <mc:Fallback>
                <p:oleObj name="Visio" r:id="rId3" imgW="3314614" imgH="1504835"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3257" y="1687285"/>
                        <a:ext cx="4369254" cy="1981200"/>
                      </a:xfrm>
                      <a:prstGeom prst="rect">
                        <a:avLst/>
                      </a:prstGeom>
                      <a:noFill/>
                    </p:spPr>
                  </p:pic>
                </p:oleObj>
              </mc:Fallback>
            </mc:AlternateContent>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277731512"/>
              </p:ext>
            </p:extLst>
          </p:nvPr>
        </p:nvGraphicFramePr>
        <p:xfrm>
          <a:off x="1023257" y="3668485"/>
          <a:ext cx="6161314" cy="1489982"/>
        </p:xfrm>
        <a:graphic>
          <a:graphicData uri="http://schemas.openxmlformats.org/drawingml/2006/table">
            <a:tbl>
              <a:tblPr firstRow="1" firstCol="1" bandRow="1">
                <a:tableStyleId>{5C22544A-7EE6-4342-B048-85BDC9FD1C3A}</a:tableStyleId>
              </a:tblPr>
              <a:tblGrid>
                <a:gridCol w="1359517">
                  <a:extLst>
                    <a:ext uri="{9D8B030D-6E8A-4147-A177-3AD203B41FA5}">
                      <a16:colId xmlns:a16="http://schemas.microsoft.com/office/drawing/2014/main" val="20000"/>
                    </a:ext>
                  </a:extLst>
                </a:gridCol>
                <a:gridCol w="2336356">
                  <a:extLst>
                    <a:ext uri="{9D8B030D-6E8A-4147-A177-3AD203B41FA5}">
                      <a16:colId xmlns:a16="http://schemas.microsoft.com/office/drawing/2014/main" val="20001"/>
                    </a:ext>
                  </a:extLst>
                </a:gridCol>
                <a:gridCol w="2465441">
                  <a:extLst>
                    <a:ext uri="{9D8B030D-6E8A-4147-A177-3AD203B41FA5}">
                      <a16:colId xmlns:a16="http://schemas.microsoft.com/office/drawing/2014/main" val="20002"/>
                    </a:ext>
                  </a:extLst>
                </a:gridCol>
              </a:tblGrid>
              <a:tr h="389164">
                <a:tc>
                  <a:txBody>
                    <a:bodyPr/>
                    <a:lstStyle/>
                    <a:p>
                      <a:pPr algn="just">
                        <a:spcAft>
                          <a:spcPts val="0"/>
                        </a:spcAft>
                      </a:pPr>
                      <a:r>
                        <a:rPr lang="en-US" sz="1050" kern="100">
                          <a:effectLst/>
                        </a:rPr>
                        <a:t>I</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050" kern="100">
                          <a:effectLst/>
                        </a:rPr>
                        <a:t>I</a:t>
                      </a:r>
                      <a:r>
                        <a:rPr lang="en-US" sz="1050" kern="100" baseline="-25000">
                          <a:effectLst/>
                        </a:rPr>
                        <a:t>0</a:t>
                      </a:r>
                      <a:r>
                        <a:rPr lang="en-US" sz="1050" kern="100">
                          <a:effectLst/>
                        </a:rPr>
                        <a:t>=</a:t>
                      </a:r>
                      <a:r>
                        <a:rPr lang="en-US" sz="1050" kern="100">
                          <a:effectLst/>
                          <a:sym typeface="Symbol" panose="05050102010706020507" pitchFamily="18" charset="2"/>
                        </a:rPr>
                        <a:t></a:t>
                      </a:r>
                      <a:r>
                        <a:rPr lang="en-US" sz="1050" kern="100">
                          <a:effectLst/>
                        </a:rPr>
                        <a:t>_closure(move(I, 0))</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050" kern="100">
                          <a:effectLst/>
                        </a:rPr>
                        <a:t>I</a:t>
                      </a:r>
                      <a:r>
                        <a:rPr lang="en-US" sz="1050" kern="100" baseline="-25000">
                          <a:effectLst/>
                        </a:rPr>
                        <a:t>1</a:t>
                      </a:r>
                      <a:r>
                        <a:rPr lang="en-US" sz="1050" kern="100">
                          <a:effectLst/>
                        </a:rPr>
                        <a:t>=</a:t>
                      </a:r>
                      <a:r>
                        <a:rPr lang="en-US" sz="1050" kern="100">
                          <a:effectLst/>
                          <a:sym typeface="Symbol" panose="05050102010706020507" pitchFamily="18" charset="2"/>
                        </a:rPr>
                        <a:t></a:t>
                      </a:r>
                      <a:r>
                        <a:rPr lang="en-US" sz="1050" kern="100">
                          <a:effectLst/>
                        </a:rPr>
                        <a:t>_closure(move(I, 1))</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0000"/>
                  </a:ext>
                </a:extLst>
              </a:tr>
              <a:tr h="272143">
                <a:tc>
                  <a:txBody>
                    <a:bodyPr/>
                    <a:lstStyle/>
                    <a:p>
                      <a:pPr algn="just">
                        <a:spcAft>
                          <a:spcPts val="0"/>
                        </a:spcAft>
                      </a:pPr>
                      <a:r>
                        <a:rPr lang="en-US" sz="1050" kern="100">
                          <a:effectLst/>
                        </a:rPr>
                        <a:t>{X}</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050" kern="100">
                          <a:effectLst/>
                        </a:rPr>
                        <a:t> </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050" kern="100">
                          <a:effectLst/>
                        </a:rPr>
                        <a:t>{1, 2}</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0001"/>
                  </a:ext>
                </a:extLst>
              </a:tr>
              <a:tr h="239486">
                <a:tc>
                  <a:txBody>
                    <a:bodyPr/>
                    <a:lstStyle/>
                    <a:p>
                      <a:pPr algn="just">
                        <a:spcAft>
                          <a:spcPts val="0"/>
                        </a:spcAft>
                      </a:pPr>
                      <a:r>
                        <a:rPr lang="en-US" sz="1050" kern="100">
                          <a:effectLst/>
                        </a:rPr>
                        <a:t>{1, 2}</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050" kern="100">
                          <a:effectLst/>
                        </a:rPr>
                        <a:t>{1, 2}</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050" kern="100">
                          <a:effectLst/>
                        </a:rPr>
                        <a:t>{1, 2, 3}</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0002"/>
                  </a:ext>
                </a:extLst>
              </a:tr>
              <a:tr h="228600">
                <a:tc>
                  <a:txBody>
                    <a:bodyPr/>
                    <a:lstStyle/>
                    <a:p>
                      <a:pPr algn="just">
                        <a:spcAft>
                          <a:spcPts val="0"/>
                        </a:spcAft>
                      </a:pPr>
                      <a:r>
                        <a:rPr lang="en-US" sz="1050" kern="100">
                          <a:effectLst/>
                        </a:rPr>
                        <a:t>{1, 2, 3}</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050" kern="100">
                          <a:effectLst/>
                        </a:rPr>
                        <a:t>{1, 2, Y}</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050" kern="100">
                          <a:effectLst/>
                        </a:rPr>
                        <a:t>{1, 2}</a:t>
                      </a:r>
                      <a:endParaRPr lang="zh-CN" sz="105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0003"/>
                  </a:ext>
                </a:extLst>
              </a:tr>
              <a:tr h="360589">
                <a:tc>
                  <a:txBody>
                    <a:bodyPr/>
                    <a:lstStyle/>
                    <a:p>
                      <a:pPr algn="just">
                        <a:spcAft>
                          <a:spcPts val="0"/>
                        </a:spcAft>
                      </a:pPr>
                      <a:r>
                        <a:rPr lang="en-US" sz="1050" kern="100">
                          <a:effectLst/>
                        </a:rPr>
                        <a:t>{1, 2, Y}</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050" kern="100">
                          <a:effectLst/>
                        </a:rPr>
                        <a:t>{1, 2}</a:t>
                      </a:r>
                      <a:endParaRPr lang="zh-CN" sz="105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050" kern="100" dirty="0">
                          <a:effectLst/>
                        </a:rPr>
                        <a:t>{1, 2}</a:t>
                      </a:r>
                      <a:endParaRPr lang="zh-CN" sz="1050" kern="1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100281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Context-free Grammar – Derivations</a:t>
            </a:r>
            <a:endParaRPr lang="zh-CN" altLang="en-US" dirty="0"/>
          </a:p>
        </p:txBody>
      </p:sp>
      <p:sp>
        <p:nvSpPr>
          <p:cNvPr id="3" name="内容占位符 2"/>
          <p:cNvSpPr>
            <a:spLocks noGrp="1"/>
          </p:cNvSpPr>
          <p:nvPr>
            <p:ph idx="1"/>
          </p:nvPr>
        </p:nvSpPr>
        <p:spPr/>
        <p:txBody>
          <a:bodyPr>
            <a:normAutofit/>
          </a:bodyPr>
          <a:lstStyle/>
          <a:p>
            <a:r>
              <a:rPr lang="en-US" altLang="zh-CN" sz="2000" dirty="0"/>
              <a:t>A grammar derives strings by beginning with the start symbol and repeatedly replacing a nonterminal by the body of a production for that nonterminal. </a:t>
            </a:r>
          </a:p>
          <a:p>
            <a:r>
              <a:rPr lang="en-US" altLang="zh-CN" sz="2000" dirty="0"/>
              <a:t>Strictly, we call that          derives        in one step, i.e.,</a:t>
            </a:r>
          </a:p>
          <a:p>
            <a:pPr marL="0" indent="0">
              <a:buNone/>
            </a:pPr>
            <a:r>
              <a:rPr lang="en-US" altLang="zh-CN" sz="2000" dirty="0"/>
              <a:t>   if and only if            is a production, and                           . </a:t>
            </a:r>
          </a:p>
          <a:p>
            <a:pPr marL="0" indent="0">
              <a:buNone/>
            </a:pPr>
            <a:r>
              <a:rPr lang="en-US" altLang="zh-CN" sz="2000" dirty="0"/>
              <a:t>       means “derives in one step”. When a sequence of derivation steps                               rewrites             , we say </a:t>
            </a:r>
          </a:p>
          <a:p>
            <a:pPr marL="0" indent="0">
              <a:buNone/>
            </a:pPr>
            <a:r>
              <a:rPr lang="en-US" altLang="zh-CN" sz="2000" dirty="0"/>
              <a:t>                     . We use symbol”    and symbol to represent “derives in zero or more steps” and symbol        to represent “derives in one or more steps”.</a:t>
            </a:r>
          </a:p>
          <a:p>
            <a:pPr marL="0" indent="0">
              <a:buNone/>
            </a:pPr>
            <a:r>
              <a:rPr lang="en-US" altLang="zh-CN" sz="2000" dirty="0"/>
              <a:t>If            , where </a:t>
            </a:r>
            <a:r>
              <a:rPr lang="en-US" altLang="zh-CN" sz="2000" i="1" dirty="0"/>
              <a:t>S</a:t>
            </a:r>
            <a:r>
              <a:rPr lang="en-US" altLang="zh-CN" sz="2000" dirty="0"/>
              <a:t> is the start symbol of a grammar </a:t>
            </a:r>
            <a:r>
              <a:rPr lang="en-US" altLang="zh-CN" sz="2000" i="1" dirty="0"/>
              <a:t>G</a:t>
            </a:r>
            <a:r>
              <a:rPr lang="en-US" altLang="zh-CN" sz="2000" dirty="0"/>
              <a:t>, we say that    is a </a:t>
            </a:r>
            <a:r>
              <a:rPr lang="en-US" altLang="zh-CN" sz="2000" i="1" dirty="0">
                <a:solidFill>
                  <a:srgbClr val="FF0000"/>
                </a:solidFill>
              </a:rPr>
              <a:t>sentential form </a:t>
            </a:r>
            <a:r>
              <a:rPr lang="en-US" altLang="zh-CN" sz="2000" dirty="0"/>
              <a:t>of G.</a:t>
            </a:r>
            <a:endParaRPr lang="zh-CN" altLang="en-US" sz="2000" dirty="0"/>
          </a:p>
        </p:txBody>
      </p:sp>
      <p:graphicFrame>
        <p:nvGraphicFramePr>
          <p:cNvPr id="4" name="对象 3"/>
          <p:cNvGraphicFramePr>
            <a:graphicFrameLocks noChangeAspect="1"/>
          </p:cNvGraphicFramePr>
          <p:nvPr>
            <p:extLst/>
          </p:nvPr>
        </p:nvGraphicFramePr>
        <p:xfrm>
          <a:off x="2623053" y="3039555"/>
          <a:ext cx="780403" cy="356756"/>
        </p:xfrm>
        <a:graphic>
          <a:graphicData uri="http://schemas.openxmlformats.org/presentationml/2006/ole">
            <mc:AlternateContent xmlns:mc="http://schemas.openxmlformats.org/markup-compatibility/2006">
              <mc:Choice xmlns:v="urn:schemas-microsoft-com:vml" Requires="v">
                <p:oleObj spid="_x0000_s7312" name="Equation" r:id="rId3" imgW="444240" imgH="203040" progId="Equation.DSMT4">
                  <p:embed/>
                </p:oleObj>
              </mc:Choice>
              <mc:Fallback>
                <p:oleObj name="Equation" r:id="rId3" imgW="444240" imgH="203040" progId="Equation.DSMT4">
                  <p:embed/>
                  <p:pic>
                    <p:nvPicPr>
                      <p:cNvPr id="0" name=""/>
                      <p:cNvPicPr/>
                      <p:nvPr/>
                    </p:nvPicPr>
                    <p:blipFill>
                      <a:blip r:embed="rId4"/>
                      <a:stretch>
                        <a:fillRect/>
                      </a:stretch>
                    </p:blipFill>
                    <p:spPr>
                      <a:xfrm>
                        <a:off x="2623053" y="3039555"/>
                        <a:ext cx="780403" cy="356756"/>
                      </a:xfrm>
                      <a:prstGeom prst="rect">
                        <a:avLst/>
                      </a:prstGeom>
                    </p:spPr>
                  </p:pic>
                </p:oleObj>
              </mc:Fallback>
            </mc:AlternateContent>
          </a:graphicData>
        </a:graphic>
      </p:graphicFrame>
      <p:graphicFrame>
        <p:nvGraphicFramePr>
          <p:cNvPr id="5" name="对象 4"/>
          <p:cNvGraphicFramePr>
            <a:graphicFrameLocks noChangeAspect="1"/>
          </p:cNvGraphicFramePr>
          <p:nvPr>
            <p:extLst/>
          </p:nvPr>
        </p:nvGraphicFramePr>
        <p:xfrm>
          <a:off x="3403456" y="2591304"/>
          <a:ext cx="625475" cy="357187"/>
        </p:xfrm>
        <a:graphic>
          <a:graphicData uri="http://schemas.openxmlformats.org/presentationml/2006/ole">
            <mc:AlternateContent xmlns:mc="http://schemas.openxmlformats.org/markup-compatibility/2006">
              <mc:Choice xmlns:v="urn:schemas-microsoft-com:vml" Requires="v">
                <p:oleObj spid="_x0000_s7313" name="Equation" r:id="rId5" imgW="355320" imgH="203040" progId="Equation.DSMT4">
                  <p:embed/>
                </p:oleObj>
              </mc:Choice>
              <mc:Fallback>
                <p:oleObj name="Equation" r:id="rId5" imgW="355320" imgH="203040" progId="Equation.DSMT4">
                  <p:embed/>
                  <p:pic>
                    <p:nvPicPr>
                      <p:cNvPr id="0" name=""/>
                      <p:cNvPicPr/>
                      <p:nvPr/>
                    </p:nvPicPr>
                    <p:blipFill>
                      <a:blip r:embed="rId6"/>
                      <a:stretch>
                        <a:fillRect/>
                      </a:stretch>
                    </p:blipFill>
                    <p:spPr>
                      <a:xfrm>
                        <a:off x="3403456" y="2591304"/>
                        <a:ext cx="625475" cy="357187"/>
                      </a:xfrm>
                      <a:prstGeom prst="rect">
                        <a:avLst/>
                      </a:prstGeom>
                    </p:spPr>
                  </p:pic>
                </p:oleObj>
              </mc:Fallback>
            </mc:AlternateContent>
          </a:graphicData>
        </a:graphic>
      </p:graphicFrame>
      <p:graphicFrame>
        <p:nvGraphicFramePr>
          <p:cNvPr id="6" name="对象 5"/>
          <p:cNvGraphicFramePr>
            <a:graphicFrameLocks noChangeAspect="1"/>
          </p:cNvGraphicFramePr>
          <p:nvPr>
            <p:extLst/>
          </p:nvPr>
        </p:nvGraphicFramePr>
        <p:xfrm>
          <a:off x="5023716" y="2586827"/>
          <a:ext cx="536575" cy="357188"/>
        </p:xfrm>
        <a:graphic>
          <a:graphicData uri="http://schemas.openxmlformats.org/presentationml/2006/ole">
            <mc:AlternateContent xmlns:mc="http://schemas.openxmlformats.org/markup-compatibility/2006">
              <mc:Choice xmlns:v="urn:schemas-microsoft-com:vml" Requires="v">
                <p:oleObj spid="_x0000_s7314" name="Equation" r:id="rId7" imgW="304560" imgH="203040" progId="Equation.DSMT4">
                  <p:embed/>
                </p:oleObj>
              </mc:Choice>
              <mc:Fallback>
                <p:oleObj name="Equation" r:id="rId7" imgW="304560" imgH="203040" progId="Equation.DSMT4">
                  <p:embed/>
                  <p:pic>
                    <p:nvPicPr>
                      <p:cNvPr id="0" name=""/>
                      <p:cNvPicPr/>
                      <p:nvPr/>
                    </p:nvPicPr>
                    <p:blipFill>
                      <a:blip r:embed="rId8"/>
                      <a:stretch>
                        <a:fillRect/>
                      </a:stretch>
                    </p:blipFill>
                    <p:spPr>
                      <a:xfrm>
                        <a:off x="5023716" y="2586827"/>
                        <a:ext cx="536575" cy="357188"/>
                      </a:xfrm>
                      <a:prstGeom prst="rect">
                        <a:avLst/>
                      </a:prstGeom>
                    </p:spPr>
                  </p:pic>
                </p:oleObj>
              </mc:Fallback>
            </mc:AlternateContent>
          </a:graphicData>
        </a:graphic>
      </p:graphicFrame>
      <p:graphicFrame>
        <p:nvGraphicFramePr>
          <p:cNvPr id="7" name="对象 6"/>
          <p:cNvGraphicFramePr>
            <a:graphicFrameLocks noChangeAspect="1"/>
          </p:cNvGraphicFramePr>
          <p:nvPr>
            <p:extLst/>
          </p:nvPr>
        </p:nvGraphicFramePr>
        <p:xfrm>
          <a:off x="7497690" y="2586827"/>
          <a:ext cx="1452563" cy="357188"/>
        </p:xfrm>
        <a:graphic>
          <a:graphicData uri="http://schemas.openxmlformats.org/presentationml/2006/ole">
            <mc:AlternateContent xmlns:mc="http://schemas.openxmlformats.org/markup-compatibility/2006">
              <mc:Choice xmlns:v="urn:schemas-microsoft-com:vml" Requires="v">
                <p:oleObj spid="_x0000_s7315" name="Equation" r:id="rId9" imgW="825480" imgH="203040" progId="Equation.DSMT4">
                  <p:embed/>
                </p:oleObj>
              </mc:Choice>
              <mc:Fallback>
                <p:oleObj name="Equation" r:id="rId9" imgW="825480" imgH="203040" progId="Equation.DSMT4">
                  <p:embed/>
                  <p:pic>
                    <p:nvPicPr>
                      <p:cNvPr id="0" name=""/>
                      <p:cNvPicPr/>
                      <p:nvPr/>
                    </p:nvPicPr>
                    <p:blipFill>
                      <a:blip r:embed="rId10"/>
                      <a:stretch>
                        <a:fillRect/>
                      </a:stretch>
                    </p:blipFill>
                    <p:spPr>
                      <a:xfrm>
                        <a:off x="7497690" y="2586827"/>
                        <a:ext cx="1452563" cy="357188"/>
                      </a:xfrm>
                      <a:prstGeom prst="rect">
                        <a:avLst/>
                      </a:prstGeom>
                    </p:spPr>
                  </p:pic>
                </p:oleObj>
              </mc:Fallback>
            </mc:AlternateContent>
          </a:graphicData>
        </a:graphic>
      </p:graphicFrame>
      <p:graphicFrame>
        <p:nvGraphicFramePr>
          <p:cNvPr id="9" name="对象 8"/>
          <p:cNvGraphicFramePr>
            <a:graphicFrameLocks noChangeAspect="1"/>
          </p:cNvGraphicFramePr>
          <p:nvPr>
            <p:extLst/>
          </p:nvPr>
        </p:nvGraphicFramePr>
        <p:xfrm>
          <a:off x="5990936" y="3006001"/>
          <a:ext cx="1900238" cy="423863"/>
        </p:xfrm>
        <a:graphic>
          <a:graphicData uri="http://schemas.openxmlformats.org/presentationml/2006/ole">
            <mc:AlternateContent xmlns:mc="http://schemas.openxmlformats.org/markup-compatibility/2006">
              <mc:Choice xmlns:v="urn:schemas-microsoft-com:vml" Requires="v">
                <p:oleObj spid="_x0000_s7316" name="Equation" r:id="rId11" imgW="1079280" imgH="241200" progId="Equation.DSMT4">
                  <p:embed/>
                </p:oleObj>
              </mc:Choice>
              <mc:Fallback>
                <p:oleObj name="Equation" r:id="rId11" imgW="1079280" imgH="241200" progId="Equation.DSMT4">
                  <p:embed/>
                  <p:pic>
                    <p:nvPicPr>
                      <p:cNvPr id="0" name=""/>
                      <p:cNvPicPr/>
                      <p:nvPr/>
                    </p:nvPicPr>
                    <p:blipFill>
                      <a:blip r:embed="rId12"/>
                      <a:stretch>
                        <a:fillRect/>
                      </a:stretch>
                    </p:blipFill>
                    <p:spPr>
                      <a:xfrm>
                        <a:off x="5990936" y="3006001"/>
                        <a:ext cx="1900238" cy="423863"/>
                      </a:xfrm>
                      <a:prstGeom prst="rect">
                        <a:avLst/>
                      </a:prstGeom>
                    </p:spPr>
                  </p:pic>
                </p:oleObj>
              </mc:Fallback>
            </mc:AlternateContent>
          </a:graphicData>
        </a:graphic>
      </p:graphicFrame>
      <p:graphicFrame>
        <p:nvGraphicFramePr>
          <p:cNvPr id="10" name="对象 9"/>
          <p:cNvGraphicFramePr>
            <a:graphicFrameLocks noChangeAspect="1"/>
          </p:cNvGraphicFramePr>
          <p:nvPr>
            <p:extLst/>
          </p:nvPr>
        </p:nvGraphicFramePr>
        <p:xfrm>
          <a:off x="986558" y="3503613"/>
          <a:ext cx="334963" cy="268287"/>
        </p:xfrm>
        <a:graphic>
          <a:graphicData uri="http://schemas.openxmlformats.org/presentationml/2006/ole">
            <mc:AlternateContent xmlns:mc="http://schemas.openxmlformats.org/markup-compatibility/2006">
              <mc:Choice xmlns:v="urn:schemas-microsoft-com:vml" Requires="v">
                <p:oleObj spid="_x0000_s7317" name="Equation" r:id="rId13" imgW="190440" imgH="152280" progId="Equation.DSMT4">
                  <p:embed/>
                </p:oleObj>
              </mc:Choice>
              <mc:Fallback>
                <p:oleObj name="Equation" r:id="rId13" imgW="190440" imgH="152280" progId="Equation.DSMT4">
                  <p:embed/>
                  <p:pic>
                    <p:nvPicPr>
                      <p:cNvPr id="0" name=""/>
                      <p:cNvPicPr/>
                      <p:nvPr/>
                    </p:nvPicPr>
                    <p:blipFill>
                      <a:blip r:embed="rId14"/>
                      <a:stretch>
                        <a:fillRect/>
                      </a:stretch>
                    </p:blipFill>
                    <p:spPr>
                      <a:xfrm>
                        <a:off x="986558" y="3503613"/>
                        <a:ext cx="334963" cy="268287"/>
                      </a:xfrm>
                      <a:prstGeom prst="rect">
                        <a:avLst/>
                      </a:prstGeom>
                    </p:spPr>
                  </p:pic>
                </p:oleObj>
              </mc:Fallback>
            </mc:AlternateContent>
          </a:graphicData>
        </a:graphic>
      </p:graphicFrame>
      <p:graphicFrame>
        <p:nvGraphicFramePr>
          <p:cNvPr id="11" name="对象 10"/>
          <p:cNvGraphicFramePr>
            <a:graphicFrameLocks noChangeAspect="1"/>
          </p:cNvGraphicFramePr>
          <p:nvPr>
            <p:extLst/>
          </p:nvPr>
        </p:nvGraphicFramePr>
        <p:xfrm>
          <a:off x="2810741" y="3771900"/>
          <a:ext cx="2212975" cy="401637"/>
        </p:xfrm>
        <a:graphic>
          <a:graphicData uri="http://schemas.openxmlformats.org/presentationml/2006/ole">
            <mc:AlternateContent xmlns:mc="http://schemas.openxmlformats.org/markup-compatibility/2006">
              <mc:Choice xmlns:v="urn:schemas-microsoft-com:vml" Requires="v">
                <p:oleObj spid="_x0000_s7318" name="Equation" r:id="rId15" imgW="1257120" imgH="228600" progId="Equation.DSMT4">
                  <p:embed/>
                </p:oleObj>
              </mc:Choice>
              <mc:Fallback>
                <p:oleObj name="Equation" r:id="rId15" imgW="1257120" imgH="228600" progId="Equation.DSMT4">
                  <p:embed/>
                  <p:pic>
                    <p:nvPicPr>
                      <p:cNvPr id="0" name=""/>
                      <p:cNvPicPr/>
                      <p:nvPr/>
                    </p:nvPicPr>
                    <p:blipFill>
                      <a:blip r:embed="rId16"/>
                      <a:stretch>
                        <a:fillRect/>
                      </a:stretch>
                    </p:blipFill>
                    <p:spPr>
                      <a:xfrm>
                        <a:off x="2810741" y="3771900"/>
                        <a:ext cx="2212975" cy="401637"/>
                      </a:xfrm>
                      <a:prstGeom prst="rect">
                        <a:avLst/>
                      </a:prstGeom>
                    </p:spPr>
                  </p:pic>
                </p:oleObj>
              </mc:Fallback>
            </mc:AlternateContent>
          </a:graphicData>
        </a:graphic>
      </p:graphicFrame>
      <p:graphicFrame>
        <p:nvGraphicFramePr>
          <p:cNvPr id="12" name="对象 11"/>
          <p:cNvGraphicFramePr>
            <a:graphicFrameLocks noChangeAspect="1"/>
          </p:cNvGraphicFramePr>
          <p:nvPr>
            <p:extLst/>
          </p:nvPr>
        </p:nvGraphicFramePr>
        <p:xfrm>
          <a:off x="6031923" y="3771899"/>
          <a:ext cx="962025" cy="401638"/>
        </p:xfrm>
        <a:graphic>
          <a:graphicData uri="http://schemas.openxmlformats.org/presentationml/2006/ole">
            <mc:AlternateContent xmlns:mc="http://schemas.openxmlformats.org/markup-compatibility/2006">
              <mc:Choice xmlns:v="urn:schemas-microsoft-com:vml" Requires="v">
                <p:oleObj spid="_x0000_s7319" name="Equation" r:id="rId17" imgW="545760" imgH="228600" progId="Equation.DSMT4">
                  <p:embed/>
                </p:oleObj>
              </mc:Choice>
              <mc:Fallback>
                <p:oleObj name="Equation" r:id="rId17" imgW="545760" imgH="228600" progId="Equation.DSMT4">
                  <p:embed/>
                  <p:pic>
                    <p:nvPicPr>
                      <p:cNvPr id="0" name=""/>
                      <p:cNvPicPr/>
                      <p:nvPr/>
                    </p:nvPicPr>
                    <p:blipFill>
                      <a:blip r:embed="rId18"/>
                      <a:stretch>
                        <a:fillRect/>
                      </a:stretch>
                    </p:blipFill>
                    <p:spPr>
                      <a:xfrm>
                        <a:off x="6031923" y="3771899"/>
                        <a:ext cx="962025" cy="401638"/>
                      </a:xfrm>
                      <a:prstGeom prst="rect">
                        <a:avLst/>
                      </a:prstGeom>
                    </p:spPr>
                  </p:pic>
                </p:oleObj>
              </mc:Fallback>
            </mc:AlternateContent>
          </a:graphicData>
        </a:graphic>
      </p:graphicFrame>
      <p:graphicFrame>
        <p:nvGraphicFramePr>
          <p:cNvPr id="13" name="对象 12"/>
          <p:cNvGraphicFramePr>
            <a:graphicFrameLocks noChangeAspect="1"/>
          </p:cNvGraphicFramePr>
          <p:nvPr>
            <p:extLst/>
          </p:nvPr>
        </p:nvGraphicFramePr>
        <p:xfrm>
          <a:off x="828675" y="4173537"/>
          <a:ext cx="1522413" cy="401637"/>
        </p:xfrm>
        <a:graphic>
          <a:graphicData uri="http://schemas.openxmlformats.org/presentationml/2006/ole">
            <mc:AlternateContent xmlns:mc="http://schemas.openxmlformats.org/markup-compatibility/2006">
              <mc:Choice xmlns:v="urn:schemas-microsoft-com:vml" Requires="v">
                <p:oleObj spid="_x0000_s7320" name="Equation" r:id="rId19" imgW="863280" imgH="228600" progId="Equation.DSMT4">
                  <p:embed/>
                </p:oleObj>
              </mc:Choice>
              <mc:Fallback>
                <p:oleObj name="Equation" r:id="rId19" imgW="863280" imgH="228600" progId="Equation.DSMT4">
                  <p:embed/>
                  <p:pic>
                    <p:nvPicPr>
                      <p:cNvPr id="0" name=""/>
                      <p:cNvPicPr/>
                      <p:nvPr/>
                    </p:nvPicPr>
                    <p:blipFill>
                      <a:blip r:embed="rId20"/>
                      <a:stretch>
                        <a:fillRect/>
                      </a:stretch>
                    </p:blipFill>
                    <p:spPr>
                      <a:xfrm>
                        <a:off x="828675" y="4173537"/>
                        <a:ext cx="1522413" cy="401637"/>
                      </a:xfrm>
                      <a:prstGeom prst="rect">
                        <a:avLst/>
                      </a:prstGeom>
                    </p:spPr>
                  </p:pic>
                </p:oleObj>
              </mc:Fallback>
            </mc:AlternateContent>
          </a:graphicData>
        </a:graphic>
      </p:graphicFrame>
      <p:graphicFrame>
        <p:nvGraphicFramePr>
          <p:cNvPr id="14" name="对象 13"/>
          <p:cNvGraphicFramePr>
            <a:graphicFrameLocks noChangeAspect="1"/>
          </p:cNvGraphicFramePr>
          <p:nvPr>
            <p:extLst/>
          </p:nvPr>
        </p:nvGraphicFramePr>
        <p:xfrm>
          <a:off x="4495800" y="4195763"/>
          <a:ext cx="423863" cy="357187"/>
        </p:xfrm>
        <a:graphic>
          <a:graphicData uri="http://schemas.openxmlformats.org/presentationml/2006/ole">
            <mc:AlternateContent xmlns:mc="http://schemas.openxmlformats.org/markup-compatibility/2006">
              <mc:Choice xmlns:v="urn:schemas-microsoft-com:vml" Requires="v">
                <p:oleObj spid="_x0000_s7321" name="Equation" r:id="rId21" imgW="241200" imgH="203040" progId="Equation.DSMT4">
                  <p:embed/>
                </p:oleObj>
              </mc:Choice>
              <mc:Fallback>
                <p:oleObj name="Equation" r:id="rId21" imgW="241200" imgH="203040" progId="Equation.DSMT4">
                  <p:embed/>
                  <p:pic>
                    <p:nvPicPr>
                      <p:cNvPr id="0" name=""/>
                      <p:cNvPicPr/>
                      <p:nvPr/>
                    </p:nvPicPr>
                    <p:blipFill>
                      <a:blip r:embed="rId22"/>
                      <a:stretch>
                        <a:fillRect/>
                      </a:stretch>
                    </p:blipFill>
                    <p:spPr>
                      <a:xfrm>
                        <a:off x="4495800" y="4195763"/>
                        <a:ext cx="423863" cy="357187"/>
                      </a:xfrm>
                      <a:prstGeom prst="rect">
                        <a:avLst/>
                      </a:prstGeom>
                    </p:spPr>
                  </p:pic>
                </p:oleObj>
              </mc:Fallback>
            </mc:AlternateContent>
          </a:graphicData>
        </a:graphic>
      </p:graphicFrame>
      <p:graphicFrame>
        <p:nvGraphicFramePr>
          <p:cNvPr id="15" name="对象 14"/>
          <p:cNvGraphicFramePr>
            <a:graphicFrameLocks noChangeAspect="1"/>
          </p:cNvGraphicFramePr>
          <p:nvPr>
            <p:extLst/>
          </p:nvPr>
        </p:nvGraphicFramePr>
        <p:xfrm>
          <a:off x="6447559" y="4478478"/>
          <a:ext cx="446088" cy="357187"/>
        </p:xfrm>
        <a:graphic>
          <a:graphicData uri="http://schemas.openxmlformats.org/presentationml/2006/ole">
            <mc:AlternateContent xmlns:mc="http://schemas.openxmlformats.org/markup-compatibility/2006">
              <mc:Choice xmlns:v="urn:schemas-microsoft-com:vml" Requires="v">
                <p:oleObj spid="_x0000_s7322" name="Equation" r:id="rId23" imgW="253800" imgH="203040" progId="Equation.DSMT4">
                  <p:embed/>
                </p:oleObj>
              </mc:Choice>
              <mc:Fallback>
                <p:oleObj name="Equation" r:id="rId23" imgW="253800" imgH="203040" progId="Equation.DSMT4">
                  <p:embed/>
                  <p:pic>
                    <p:nvPicPr>
                      <p:cNvPr id="0" name=""/>
                      <p:cNvPicPr/>
                      <p:nvPr/>
                    </p:nvPicPr>
                    <p:blipFill>
                      <a:blip r:embed="rId24"/>
                      <a:stretch>
                        <a:fillRect/>
                      </a:stretch>
                    </p:blipFill>
                    <p:spPr>
                      <a:xfrm>
                        <a:off x="6447559" y="4478478"/>
                        <a:ext cx="446088" cy="357187"/>
                      </a:xfrm>
                      <a:prstGeom prst="rect">
                        <a:avLst/>
                      </a:prstGeom>
                    </p:spPr>
                  </p:pic>
                </p:oleObj>
              </mc:Fallback>
            </mc:AlternateContent>
          </a:graphicData>
        </a:graphic>
      </p:graphicFrame>
      <p:graphicFrame>
        <p:nvGraphicFramePr>
          <p:cNvPr id="16" name="对象 15"/>
          <p:cNvGraphicFramePr>
            <a:graphicFrameLocks noChangeAspect="1"/>
          </p:cNvGraphicFramePr>
          <p:nvPr>
            <p:extLst/>
          </p:nvPr>
        </p:nvGraphicFramePr>
        <p:xfrm>
          <a:off x="1030864" y="5195093"/>
          <a:ext cx="893762" cy="357187"/>
        </p:xfrm>
        <a:graphic>
          <a:graphicData uri="http://schemas.openxmlformats.org/presentationml/2006/ole">
            <mc:AlternateContent xmlns:mc="http://schemas.openxmlformats.org/markup-compatibility/2006">
              <mc:Choice xmlns:v="urn:schemas-microsoft-com:vml" Requires="v">
                <p:oleObj spid="_x0000_s7323" name="Equation" r:id="rId25" imgW="507960" imgH="203040" progId="Equation.DSMT4">
                  <p:embed/>
                </p:oleObj>
              </mc:Choice>
              <mc:Fallback>
                <p:oleObj name="Equation" r:id="rId25" imgW="507960" imgH="203040" progId="Equation.DSMT4">
                  <p:embed/>
                  <p:pic>
                    <p:nvPicPr>
                      <p:cNvPr id="0" name=""/>
                      <p:cNvPicPr/>
                      <p:nvPr/>
                    </p:nvPicPr>
                    <p:blipFill>
                      <a:blip r:embed="rId26"/>
                      <a:stretch>
                        <a:fillRect/>
                      </a:stretch>
                    </p:blipFill>
                    <p:spPr>
                      <a:xfrm>
                        <a:off x="1030864" y="5195093"/>
                        <a:ext cx="893762" cy="357187"/>
                      </a:xfrm>
                      <a:prstGeom prst="rect">
                        <a:avLst/>
                      </a:prstGeom>
                    </p:spPr>
                  </p:pic>
                </p:oleObj>
              </mc:Fallback>
            </mc:AlternateContent>
          </a:graphicData>
        </a:graphic>
      </p:graphicFrame>
      <p:graphicFrame>
        <p:nvGraphicFramePr>
          <p:cNvPr id="17" name="对象 16"/>
          <p:cNvGraphicFramePr>
            <a:graphicFrameLocks noChangeAspect="1"/>
          </p:cNvGraphicFramePr>
          <p:nvPr>
            <p:extLst/>
          </p:nvPr>
        </p:nvGraphicFramePr>
        <p:xfrm>
          <a:off x="1353413" y="5573857"/>
          <a:ext cx="266700" cy="244475"/>
        </p:xfrm>
        <a:graphic>
          <a:graphicData uri="http://schemas.openxmlformats.org/presentationml/2006/ole">
            <mc:AlternateContent xmlns:mc="http://schemas.openxmlformats.org/markup-compatibility/2006">
              <mc:Choice xmlns:v="urn:schemas-microsoft-com:vml" Requires="v">
                <p:oleObj spid="_x0000_s7324" name="Equation" r:id="rId27" imgW="152280" imgH="139680" progId="Equation.DSMT4">
                  <p:embed/>
                </p:oleObj>
              </mc:Choice>
              <mc:Fallback>
                <p:oleObj name="Equation" r:id="rId27" imgW="152280" imgH="139680" progId="Equation.DSMT4">
                  <p:embed/>
                  <p:pic>
                    <p:nvPicPr>
                      <p:cNvPr id="0" name=""/>
                      <p:cNvPicPr/>
                      <p:nvPr/>
                    </p:nvPicPr>
                    <p:blipFill>
                      <a:blip r:embed="rId28"/>
                      <a:stretch>
                        <a:fillRect/>
                      </a:stretch>
                    </p:blipFill>
                    <p:spPr>
                      <a:xfrm>
                        <a:off x="1353413" y="5573857"/>
                        <a:ext cx="266700" cy="244475"/>
                      </a:xfrm>
                      <a:prstGeom prst="rect">
                        <a:avLst/>
                      </a:prstGeom>
                    </p:spPr>
                  </p:pic>
                </p:oleObj>
              </mc:Fallback>
            </mc:AlternateContent>
          </a:graphicData>
        </a:graphic>
      </p:graphicFrame>
    </p:spTree>
    <p:extLst>
      <p:ext uri="{BB962C8B-B14F-4D97-AF65-F5344CB8AC3E}">
        <p14:creationId xmlns:p14="http://schemas.microsoft.com/office/powerpoint/2010/main" val="2653706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Context-free Grammar – Derivations</a:t>
            </a:r>
            <a:endParaRPr lang="zh-CN" altLang="en-US" dirty="0"/>
          </a:p>
        </p:txBody>
      </p:sp>
      <p:sp>
        <p:nvSpPr>
          <p:cNvPr id="3" name="内容占位符 2"/>
          <p:cNvSpPr>
            <a:spLocks noGrp="1"/>
          </p:cNvSpPr>
          <p:nvPr>
            <p:ph idx="1"/>
          </p:nvPr>
        </p:nvSpPr>
        <p:spPr/>
        <p:txBody>
          <a:bodyPr>
            <a:normAutofit/>
          </a:bodyPr>
          <a:lstStyle/>
          <a:p>
            <a:r>
              <a:rPr lang="en-US" altLang="zh-CN" sz="2000" dirty="0"/>
              <a:t>Note that a </a:t>
            </a:r>
            <a:r>
              <a:rPr lang="en-US" altLang="zh-CN" sz="2000" i="1" dirty="0">
                <a:solidFill>
                  <a:srgbClr val="FF0000"/>
                </a:solidFill>
              </a:rPr>
              <a:t>sentential form </a:t>
            </a:r>
            <a:r>
              <a:rPr lang="en-US" altLang="zh-CN" sz="2000" dirty="0"/>
              <a:t>may contain both </a:t>
            </a:r>
            <a:r>
              <a:rPr lang="en-US" altLang="zh-CN" sz="2000" dirty="0">
                <a:solidFill>
                  <a:srgbClr val="7030A0"/>
                </a:solidFill>
              </a:rPr>
              <a:t>terminals</a:t>
            </a:r>
            <a:r>
              <a:rPr lang="en-US" altLang="zh-CN" sz="2000" dirty="0"/>
              <a:t> and </a:t>
            </a:r>
            <a:r>
              <a:rPr lang="en-US" altLang="zh-CN" sz="2000" dirty="0" err="1">
                <a:solidFill>
                  <a:srgbClr val="7030A0"/>
                </a:solidFill>
              </a:rPr>
              <a:t>nonterminals</a:t>
            </a:r>
            <a:r>
              <a:rPr lang="en-US" altLang="zh-CN" sz="2000" dirty="0"/>
              <a:t>, and may be empty. A </a:t>
            </a:r>
            <a:r>
              <a:rPr lang="en-US" altLang="zh-CN" sz="2000" i="1" dirty="0">
                <a:solidFill>
                  <a:srgbClr val="FF0000"/>
                </a:solidFill>
              </a:rPr>
              <a:t>sentence</a:t>
            </a:r>
            <a:r>
              <a:rPr lang="en-US" altLang="zh-CN" sz="2000" dirty="0"/>
              <a:t> of </a:t>
            </a:r>
            <a:r>
              <a:rPr lang="en-US" altLang="zh-CN" sz="2000" i="1" dirty="0"/>
              <a:t>G</a:t>
            </a:r>
            <a:r>
              <a:rPr lang="en-US" altLang="zh-CN" sz="2000" dirty="0"/>
              <a:t> is a sentential form with no </a:t>
            </a:r>
            <a:r>
              <a:rPr lang="en-US" altLang="zh-CN" sz="2000" dirty="0" err="1"/>
              <a:t>nonterminals</a:t>
            </a:r>
            <a:r>
              <a:rPr lang="en-US" altLang="zh-CN" sz="2000" dirty="0"/>
              <a:t>. The language generated by a grammar </a:t>
            </a:r>
            <a:r>
              <a:rPr lang="en-US" altLang="zh-CN" sz="2000" i="1" dirty="0"/>
              <a:t>G</a:t>
            </a:r>
            <a:r>
              <a:rPr lang="en-US" altLang="zh-CN" sz="2000" dirty="0"/>
              <a:t> is its set of sentences, denoted by </a:t>
            </a:r>
            <a:r>
              <a:rPr lang="en-US" altLang="zh-CN" sz="2000" i="1" dirty="0"/>
              <a:t>L(G) </a:t>
            </a:r>
            <a:r>
              <a:rPr lang="en-US" altLang="zh-CN" sz="2000" dirty="0"/>
              <a:t>.</a:t>
            </a:r>
          </a:p>
          <a:p>
            <a:pPr marL="0" indent="0">
              <a:buNone/>
            </a:pPr>
            <a:endParaRPr lang="en-US" altLang="zh-CN" sz="2000" dirty="0"/>
          </a:p>
          <a:p>
            <a:r>
              <a:rPr lang="en-US" altLang="zh-CN" sz="2000" dirty="0"/>
              <a:t> Thus, a string of terminals </a:t>
            </a:r>
            <a:r>
              <a:rPr lang="en-US" altLang="zh-CN" sz="2000" i="1" dirty="0"/>
              <a:t>w</a:t>
            </a:r>
            <a:r>
              <a:rPr lang="en-US" altLang="zh-CN" sz="2000" dirty="0"/>
              <a:t> is in </a:t>
            </a:r>
            <a:r>
              <a:rPr lang="en-US" altLang="zh-CN" sz="2000" i="1" dirty="0"/>
              <a:t>L(G) </a:t>
            </a:r>
            <a:r>
              <a:rPr lang="en-US" altLang="zh-CN" sz="2000" dirty="0"/>
              <a:t>, if and only if </a:t>
            </a:r>
            <a:r>
              <a:rPr lang="en-US" altLang="zh-CN" sz="2000" i="1" dirty="0"/>
              <a:t>w</a:t>
            </a:r>
            <a:r>
              <a:rPr lang="en-US" altLang="zh-CN" sz="2000" dirty="0"/>
              <a:t> is a sentence of </a:t>
            </a:r>
            <a:r>
              <a:rPr lang="en-US" altLang="zh-CN" sz="2000" i="1" dirty="0"/>
              <a:t>G</a:t>
            </a:r>
            <a:r>
              <a:rPr lang="en-US" altLang="zh-CN" sz="2000" dirty="0"/>
              <a:t> (or             ). If two grammars generate the same language, the grammars are said to be equivalent.</a:t>
            </a:r>
            <a:endParaRPr lang="zh-CN" altLang="en-US" sz="2000" dirty="0"/>
          </a:p>
        </p:txBody>
      </p:sp>
      <p:graphicFrame>
        <p:nvGraphicFramePr>
          <p:cNvPr id="4" name="对象 3"/>
          <p:cNvGraphicFramePr>
            <a:graphicFrameLocks noChangeAspect="1"/>
          </p:cNvGraphicFramePr>
          <p:nvPr>
            <p:extLst/>
          </p:nvPr>
        </p:nvGraphicFramePr>
        <p:xfrm>
          <a:off x="3168587" y="3864480"/>
          <a:ext cx="893762" cy="357187"/>
        </p:xfrm>
        <a:graphic>
          <a:graphicData uri="http://schemas.openxmlformats.org/presentationml/2006/ole">
            <mc:AlternateContent xmlns:mc="http://schemas.openxmlformats.org/markup-compatibility/2006">
              <mc:Choice xmlns:v="urn:schemas-microsoft-com:vml" Requires="v">
                <p:oleObj spid="_x0000_s6167" name="Equation" r:id="rId3" imgW="507960" imgH="203040" progId="Equation.DSMT4">
                  <p:embed/>
                </p:oleObj>
              </mc:Choice>
              <mc:Fallback>
                <p:oleObj name="Equation" r:id="rId3" imgW="507960" imgH="203040" progId="Equation.DSMT4">
                  <p:embed/>
                  <p:pic>
                    <p:nvPicPr>
                      <p:cNvPr id="0" name=""/>
                      <p:cNvPicPr/>
                      <p:nvPr/>
                    </p:nvPicPr>
                    <p:blipFill>
                      <a:blip r:embed="rId4"/>
                      <a:stretch>
                        <a:fillRect/>
                      </a:stretch>
                    </p:blipFill>
                    <p:spPr>
                      <a:xfrm>
                        <a:off x="3168587" y="3864480"/>
                        <a:ext cx="893762" cy="357187"/>
                      </a:xfrm>
                      <a:prstGeom prst="rect">
                        <a:avLst/>
                      </a:prstGeom>
                    </p:spPr>
                  </p:pic>
                </p:oleObj>
              </mc:Fallback>
            </mc:AlternateContent>
          </a:graphicData>
        </a:graphic>
      </p:graphicFrame>
      <p:graphicFrame>
        <p:nvGraphicFramePr>
          <p:cNvPr id="5" name="对象 4"/>
          <p:cNvGraphicFramePr>
            <a:graphicFrameLocks noChangeAspect="1"/>
          </p:cNvGraphicFramePr>
          <p:nvPr>
            <p:extLst/>
          </p:nvPr>
        </p:nvGraphicFramePr>
        <p:xfrm>
          <a:off x="2459616" y="3049443"/>
          <a:ext cx="4121057" cy="566593"/>
        </p:xfrm>
        <a:graphic>
          <a:graphicData uri="http://schemas.openxmlformats.org/presentationml/2006/ole">
            <mc:AlternateContent xmlns:mc="http://schemas.openxmlformats.org/markup-compatibility/2006">
              <mc:Choice xmlns:v="urn:schemas-microsoft-com:vml" Requires="v">
                <p:oleObj spid="_x0000_s6168" name="Equation" r:id="rId5" imgW="1752480" imgH="241200" progId="Equation.DSMT4">
                  <p:embed/>
                </p:oleObj>
              </mc:Choice>
              <mc:Fallback>
                <p:oleObj name="Equation" r:id="rId5" imgW="1752480" imgH="241200" progId="Equation.DSMT4">
                  <p:embed/>
                  <p:pic>
                    <p:nvPicPr>
                      <p:cNvPr id="0" name=""/>
                      <p:cNvPicPr/>
                      <p:nvPr/>
                    </p:nvPicPr>
                    <p:blipFill>
                      <a:blip r:embed="rId6"/>
                      <a:stretch>
                        <a:fillRect/>
                      </a:stretch>
                    </p:blipFill>
                    <p:spPr>
                      <a:xfrm>
                        <a:off x="2459616" y="3049443"/>
                        <a:ext cx="4121057" cy="566593"/>
                      </a:xfrm>
                      <a:prstGeom prst="rect">
                        <a:avLst/>
                      </a:prstGeom>
                    </p:spPr>
                  </p:pic>
                </p:oleObj>
              </mc:Fallback>
            </mc:AlternateContent>
          </a:graphicData>
        </a:graphic>
      </p:graphicFrame>
    </p:spTree>
    <p:extLst>
      <p:ext uri="{BB962C8B-B14F-4D97-AF65-F5344CB8AC3E}">
        <p14:creationId xmlns:p14="http://schemas.microsoft.com/office/powerpoint/2010/main" val="2519963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Context-free Grammar – Derivations</a:t>
            </a:r>
            <a:endParaRPr lang="zh-CN" altLang="en-US" dirty="0"/>
          </a:p>
        </p:txBody>
      </p:sp>
      <p:sp>
        <p:nvSpPr>
          <p:cNvPr id="3" name="内容占位符 2"/>
          <p:cNvSpPr>
            <a:spLocks noGrp="1"/>
          </p:cNvSpPr>
          <p:nvPr>
            <p:ph idx="1"/>
          </p:nvPr>
        </p:nvSpPr>
        <p:spPr/>
        <p:txBody>
          <a:bodyPr/>
          <a:lstStyle/>
          <a:p>
            <a:r>
              <a:rPr lang="en-US" altLang="zh-CN" sz="2000" dirty="0"/>
              <a:t>We consider derivations in which the nonterminal to be replaced at each step is chosen as follows:</a:t>
            </a:r>
          </a:p>
          <a:p>
            <a:r>
              <a:rPr lang="en-US" altLang="zh-CN" sz="1600" dirty="0"/>
              <a:t>1. In </a:t>
            </a:r>
            <a:r>
              <a:rPr lang="en-US" altLang="zh-CN" sz="1600" i="1" dirty="0">
                <a:solidFill>
                  <a:srgbClr val="7030A0"/>
                </a:solidFill>
              </a:rPr>
              <a:t>leftmost</a:t>
            </a:r>
            <a:r>
              <a:rPr lang="en-US" altLang="zh-CN" sz="1600" dirty="0">
                <a:solidFill>
                  <a:srgbClr val="7030A0"/>
                </a:solidFill>
              </a:rPr>
              <a:t> </a:t>
            </a:r>
            <a:r>
              <a:rPr lang="en-US" altLang="zh-CN" sz="1600" dirty="0"/>
              <a:t>derivations, the leftmost nonterminal in each sentential is always chosen. If            is a step in which the </a:t>
            </a:r>
            <a:r>
              <a:rPr lang="en-US" altLang="zh-CN" sz="1600" b="1" dirty="0">
                <a:solidFill>
                  <a:srgbClr val="7030A0"/>
                </a:solidFill>
              </a:rPr>
              <a:t>leftmost</a:t>
            </a:r>
            <a:r>
              <a:rPr lang="en-US" altLang="zh-CN" sz="1600" dirty="0">
                <a:solidFill>
                  <a:srgbClr val="7030A0"/>
                </a:solidFill>
              </a:rPr>
              <a:t> </a:t>
            </a:r>
            <a:r>
              <a:rPr lang="en-US" altLang="zh-CN" sz="1600" dirty="0"/>
              <a:t>nonterminal in    is replaced, we write </a:t>
            </a:r>
          </a:p>
          <a:p>
            <a:r>
              <a:rPr lang="en-US" altLang="zh-CN" sz="1600" dirty="0"/>
              <a:t>2. In </a:t>
            </a:r>
            <a:r>
              <a:rPr lang="en-US" altLang="zh-CN" sz="1600" i="1" dirty="0">
                <a:solidFill>
                  <a:srgbClr val="7030A0"/>
                </a:solidFill>
              </a:rPr>
              <a:t>rightmost</a:t>
            </a:r>
            <a:r>
              <a:rPr lang="en-US" altLang="zh-CN" sz="1600" dirty="0">
                <a:solidFill>
                  <a:srgbClr val="7030A0"/>
                </a:solidFill>
              </a:rPr>
              <a:t> </a:t>
            </a:r>
            <a:r>
              <a:rPr lang="en-US" altLang="zh-CN" sz="1600" dirty="0"/>
              <a:t>derivations, the rightmost nonterminal is always chosen; we write                 in this case.</a:t>
            </a:r>
          </a:p>
          <a:p>
            <a:r>
              <a:rPr lang="en-US" altLang="zh-CN" sz="1600" dirty="0"/>
              <a:t>Rightmost derivations are sometimes called </a:t>
            </a:r>
            <a:r>
              <a:rPr lang="en-US" altLang="zh-CN" sz="1600" i="1" dirty="0">
                <a:solidFill>
                  <a:srgbClr val="00B050"/>
                </a:solidFill>
              </a:rPr>
              <a:t>canonical</a:t>
            </a:r>
            <a:r>
              <a:rPr lang="en-US" altLang="zh-CN" sz="1600" dirty="0">
                <a:solidFill>
                  <a:srgbClr val="00B050"/>
                </a:solidFill>
              </a:rPr>
              <a:t> </a:t>
            </a:r>
            <a:r>
              <a:rPr lang="en-US" altLang="zh-CN" sz="1600" dirty="0"/>
              <a:t>derivations.</a:t>
            </a:r>
          </a:p>
        </p:txBody>
      </p:sp>
      <p:graphicFrame>
        <p:nvGraphicFramePr>
          <p:cNvPr id="4" name="对象 3"/>
          <p:cNvGraphicFramePr>
            <a:graphicFrameLocks noChangeAspect="1"/>
          </p:cNvGraphicFramePr>
          <p:nvPr>
            <p:extLst/>
          </p:nvPr>
        </p:nvGraphicFramePr>
        <p:xfrm>
          <a:off x="2668299" y="2553712"/>
          <a:ext cx="677573" cy="292057"/>
        </p:xfrm>
        <a:graphic>
          <a:graphicData uri="http://schemas.openxmlformats.org/presentationml/2006/ole">
            <mc:AlternateContent xmlns:mc="http://schemas.openxmlformats.org/markup-compatibility/2006">
              <mc:Choice xmlns:v="urn:schemas-microsoft-com:vml" Requires="v">
                <p:oleObj spid="_x0000_s5165" name="Equation" r:id="rId3" imgW="469800" imgH="203040" progId="Equation.DSMT4">
                  <p:embed/>
                </p:oleObj>
              </mc:Choice>
              <mc:Fallback>
                <p:oleObj name="Equation" r:id="rId3" imgW="469800" imgH="203040" progId="Equation.DSMT4">
                  <p:embed/>
                  <p:pic>
                    <p:nvPicPr>
                      <p:cNvPr id="0" name=""/>
                      <p:cNvPicPr/>
                      <p:nvPr/>
                    </p:nvPicPr>
                    <p:blipFill>
                      <a:blip r:embed="rId4"/>
                      <a:stretch>
                        <a:fillRect/>
                      </a:stretch>
                    </p:blipFill>
                    <p:spPr>
                      <a:xfrm>
                        <a:off x="2668299" y="2553712"/>
                        <a:ext cx="677573" cy="292057"/>
                      </a:xfrm>
                      <a:prstGeom prst="rect">
                        <a:avLst/>
                      </a:prstGeom>
                    </p:spPr>
                  </p:pic>
                </p:oleObj>
              </mc:Fallback>
            </mc:AlternateContent>
          </a:graphicData>
        </a:graphic>
      </p:graphicFrame>
      <p:graphicFrame>
        <p:nvGraphicFramePr>
          <p:cNvPr id="6" name="对象 5"/>
          <p:cNvGraphicFramePr>
            <a:graphicFrameLocks noChangeAspect="1"/>
          </p:cNvGraphicFramePr>
          <p:nvPr>
            <p:extLst/>
          </p:nvPr>
        </p:nvGraphicFramePr>
        <p:xfrm>
          <a:off x="7819015" y="2589336"/>
          <a:ext cx="219075" cy="200025"/>
        </p:xfrm>
        <a:graphic>
          <a:graphicData uri="http://schemas.openxmlformats.org/presentationml/2006/ole">
            <mc:AlternateContent xmlns:mc="http://schemas.openxmlformats.org/markup-compatibility/2006">
              <mc:Choice xmlns:v="urn:schemas-microsoft-com:vml" Requires="v">
                <p:oleObj spid="_x0000_s5166" name="Equation" r:id="rId5" imgW="152280" imgH="139680" progId="Equation.DSMT4">
                  <p:embed/>
                </p:oleObj>
              </mc:Choice>
              <mc:Fallback>
                <p:oleObj name="Equation" r:id="rId5" imgW="152280" imgH="139680" progId="Equation.DSMT4">
                  <p:embed/>
                  <p:pic>
                    <p:nvPicPr>
                      <p:cNvPr id="0" name=""/>
                      <p:cNvPicPr/>
                      <p:nvPr/>
                    </p:nvPicPr>
                    <p:blipFill>
                      <a:blip r:embed="rId6"/>
                      <a:stretch>
                        <a:fillRect/>
                      </a:stretch>
                    </p:blipFill>
                    <p:spPr>
                      <a:xfrm>
                        <a:off x="7819015" y="2589336"/>
                        <a:ext cx="219075" cy="200025"/>
                      </a:xfrm>
                      <a:prstGeom prst="rect">
                        <a:avLst/>
                      </a:prstGeom>
                    </p:spPr>
                  </p:pic>
                </p:oleObj>
              </mc:Fallback>
            </mc:AlternateContent>
          </a:graphicData>
        </a:graphic>
      </p:graphicFrame>
      <p:graphicFrame>
        <p:nvGraphicFramePr>
          <p:cNvPr id="7" name="对象 6"/>
          <p:cNvGraphicFramePr>
            <a:graphicFrameLocks noChangeAspect="1"/>
          </p:cNvGraphicFramePr>
          <p:nvPr>
            <p:extLst/>
          </p:nvPr>
        </p:nvGraphicFramePr>
        <p:xfrm>
          <a:off x="2828060" y="2761384"/>
          <a:ext cx="842963" cy="328613"/>
        </p:xfrm>
        <a:graphic>
          <a:graphicData uri="http://schemas.openxmlformats.org/presentationml/2006/ole">
            <mc:AlternateContent xmlns:mc="http://schemas.openxmlformats.org/markup-compatibility/2006">
              <mc:Choice xmlns:v="urn:schemas-microsoft-com:vml" Requires="v">
                <p:oleObj spid="_x0000_s5167" name="Equation" r:id="rId7" imgW="583920" imgH="228600" progId="Equation.DSMT4">
                  <p:embed/>
                </p:oleObj>
              </mc:Choice>
              <mc:Fallback>
                <p:oleObj name="Equation" r:id="rId7" imgW="583920" imgH="228600" progId="Equation.DSMT4">
                  <p:embed/>
                  <p:pic>
                    <p:nvPicPr>
                      <p:cNvPr id="0" name=""/>
                      <p:cNvPicPr/>
                      <p:nvPr/>
                    </p:nvPicPr>
                    <p:blipFill>
                      <a:blip r:embed="rId8"/>
                      <a:stretch>
                        <a:fillRect/>
                      </a:stretch>
                    </p:blipFill>
                    <p:spPr>
                      <a:xfrm>
                        <a:off x="2828060" y="2761384"/>
                        <a:ext cx="842963" cy="328613"/>
                      </a:xfrm>
                      <a:prstGeom prst="rect">
                        <a:avLst/>
                      </a:prstGeom>
                    </p:spPr>
                  </p:pic>
                </p:oleObj>
              </mc:Fallback>
            </mc:AlternateContent>
          </a:graphicData>
        </a:graphic>
      </p:graphicFrame>
      <p:graphicFrame>
        <p:nvGraphicFramePr>
          <p:cNvPr id="8" name="对象 7"/>
          <p:cNvGraphicFramePr>
            <a:graphicFrameLocks noChangeAspect="1"/>
          </p:cNvGraphicFramePr>
          <p:nvPr>
            <p:extLst/>
          </p:nvPr>
        </p:nvGraphicFramePr>
        <p:xfrm>
          <a:off x="1620838" y="3370263"/>
          <a:ext cx="862012" cy="328612"/>
        </p:xfrm>
        <a:graphic>
          <a:graphicData uri="http://schemas.openxmlformats.org/presentationml/2006/ole">
            <mc:AlternateContent xmlns:mc="http://schemas.openxmlformats.org/markup-compatibility/2006">
              <mc:Choice xmlns:v="urn:schemas-microsoft-com:vml" Requires="v">
                <p:oleObj spid="_x0000_s5168" name="Equation" r:id="rId9" imgW="596880" imgH="228600" progId="Equation.DSMT4">
                  <p:embed/>
                </p:oleObj>
              </mc:Choice>
              <mc:Fallback>
                <p:oleObj name="Equation" r:id="rId9" imgW="596880" imgH="228600" progId="Equation.DSMT4">
                  <p:embed/>
                  <p:pic>
                    <p:nvPicPr>
                      <p:cNvPr id="0" name=""/>
                      <p:cNvPicPr/>
                      <p:nvPr/>
                    </p:nvPicPr>
                    <p:blipFill>
                      <a:blip r:embed="rId10"/>
                      <a:stretch>
                        <a:fillRect/>
                      </a:stretch>
                    </p:blipFill>
                    <p:spPr>
                      <a:xfrm>
                        <a:off x="1620838" y="3370263"/>
                        <a:ext cx="862012" cy="328612"/>
                      </a:xfrm>
                      <a:prstGeom prst="rect">
                        <a:avLst/>
                      </a:prstGeom>
                    </p:spPr>
                  </p:pic>
                </p:oleObj>
              </mc:Fallback>
            </mc:AlternateContent>
          </a:graphicData>
        </a:graphic>
      </p:graphicFrame>
    </p:spTree>
    <p:extLst>
      <p:ext uri="{BB962C8B-B14F-4D97-AF65-F5344CB8AC3E}">
        <p14:creationId xmlns:p14="http://schemas.microsoft.com/office/powerpoint/2010/main" val="2432825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Example</a:t>
            </a: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2828875553"/>
              </p:ext>
            </p:extLst>
          </p:nvPr>
        </p:nvGraphicFramePr>
        <p:xfrm>
          <a:off x="1215116" y="1816253"/>
          <a:ext cx="1288597" cy="630590"/>
        </p:xfrm>
        <a:graphic>
          <a:graphicData uri="http://schemas.openxmlformats.org/presentationml/2006/ole">
            <mc:AlternateContent xmlns:mc="http://schemas.openxmlformats.org/markup-compatibility/2006">
              <mc:Choice xmlns:v="urn:schemas-microsoft-com:vml" Requires="v">
                <p:oleObj spid="_x0000_s4170" name="Equation" r:id="rId3" imgW="901309" imgH="431613" progId="Equation.DSMT4">
                  <p:embed/>
                </p:oleObj>
              </mc:Choice>
              <mc:Fallback>
                <p:oleObj name="Equation" r:id="rId3" imgW="901309" imgH="431613" progId="Equation.DSMT4">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5116" y="1816253"/>
                        <a:ext cx="1288597" cy="630590"/>
                      </a:xfrm>
                      <a:prstGeom prst="rect">
                        <a:avLst/>
                      </a:prstGeom>
                      <a:noFill/>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832667416"/>
              </p:ext>
            </p:extLst>
          </p:nvPr>
        </p:nvGraphicFramePr>
        <p:xfrm>
          <a:off x="1377042" y="2895605"/>
          <a:ext cx="5532910" cy="381580"/>
        </p:xfrm>
        <a:graphic>
          <a:graphicData uri="http://schemas.openxmlformats.org/presentationml/2006/ole">
            <mc:AlternateContent xmlns:mc="http://schemas.openxmlformats.org/markup-compatibility/2006">
              <mc:Choice xmlns:v="urn:schemas-microsoft-com:vml" Requires="v">
                <p:oleObj spid="_x0000_s4171" name="Equation" r:id="rId5" imgW="3314700" imgH="228600" progId="Equation.DSMT4">
                  <p:embed/>
                </p:oleObj>
              </mc:Choice>
              <mc:Fallback>
                <p:oleObj name="Equation" r:id="rId5" imgW="3314700" imgH="2286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77042" y="2895605"/>
                        <a:ext cx="5532910" cy="381580"/>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289687031"/>
              </p:ext>
            </p:extLst>
          </p:nvPr>
        </p:nvGraphicFramePr>
        <p:xfrm>
          <a:off x="1377042" y="3611337"/>
          <a:ext cx="4807572" cy="324106"/>
        </p:xfrm>
        <a:graphic>
          <a:graphicData uri="http://schemas.openxmlformats.org/presentationml/2006/ole">
            <mc:AlternateContent xmlns:mc="http://schemas.openxmlformats.org/markup-compatibility/2006">
              <mc:Choice xmlns:v="urn:schemas-microsoft-com:vml" Requires="v">
                <p:oleObj spid="_x0000_s4172" name="Equation" r:id="rId7" imgW="3390900" imgH="228600" progId="Equation.DSMT4">
                  <p:embed/>
                </p:oleObj>
              </mc:Choice>
              <mc:Fallback>
                <p:oleObj name="Equation" r:id="rId7" imgW="3390900" imgH="2286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77042" y="3611337"/>
                        <a:ext cx="4807572" cy="324106"/>
                      </a:xfrm>
                      <a:prstGeom prst="rect">
                        <a:avLst/>
                      </a:prstGeom>
                      <a:noFill/>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1633920750"/>
              </p:ext>
            </p:extLst>
          </p:nvPr>
        </p:nvGraphicFramePr>
        <p:xfrm>
          <a:off x="1504380" y="4380001"/>
          <a:ext cx="4455089" cy="1079183"/>
        </p:xfrm>
        <a:graphic>
          <a:graphicData uri="http://schemas.openxmlformats.org/presentationml/2006/ole">
            <mc:AlternateContent xmlns:mc="http://schemas.openxmlformats.org/markup-compatibility/2006">
              <mc:Choice xmlns:v="urn:schemas-microsoft-com:vml" Requires="v">
                <p:oleObj spid="_x0000_s4173" name="Equation" r:id="rId9" imgW="3073400" imgH="736600" progId="Equation.DSMT4">
                  <p:embed/>
                </p:oleObj>
              </mc:Choice>
              <mc:Fallback>
                <p:oleObj name="Equation" r:id="rId9" imgW="3073400" imgH="736600" progId="Equation.DSMT4">
                  <p:embed/>
                  <p:pic>
                    <p:nvPicPr>
                      <p:cNvPr id="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04380" y="4380001"/>
                        <a:ext cx="4455089" cy="1079183"/>
                      </a:xfrm>
                      <a:prstGeom prst="rect">
                        <a:avLst/>
                      </a:prstGeom>
                      <a:noFill/>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1275252457"/>
              </p:ext>
            </p:extLst>
          </p:nvPr>
        </p:nvGraphicFramePr>
        <p:xfrm>
          <a:off x="1185792" y="5890584"/>
          <a:ext cx="3537904" cy="630789"/>
        </p:xfrm>
        <a:graphic>
          <a:graphicData uri="http://schemas.openxmlformats.org/presentationml/2006/ole">
            <mc:AlternateContent xmlns:mc="http://schemas.openxmlformats.org/markup-compatibility/2006">
              <mc:Choice xmlns:v="urn:schemas-microsoft-com:vml" Requires="v">
                <p:oleObj spid="_x0000_s4174" name="Equation" r:id="rId11" imgW="2463800" imgH="431800" progId="Equation.DSMT4">
                  <p:embed/>
                </p:oleObj>
              </mc:Choice>
              <mc:Fallback>
                <p:oleObj name="Equation" r:id="rId11" imgW="2463800" imgH="431800" progId="Equation.DSMT4">
                  <p:embed/>
                  <p:pic>
                    <p:nvPicPr>
                      <p:cNvPr id="0" name="Object 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85792" y="5890584"/>
                        <a:ext cx="3537904" cy="630789"/>
                      </a:xfrm>
                      <a:prstGeom prst="rect">
                        <a:avLst/>
                      </a:prstGeom>
                      <a:noFill/>
                    </p:spPr>
                  </p:pic>
                </p:oleObj>
              </mc:Fallback>
            </mc:AlternateContent>
          </a:graphicData>
        </a:graphic>
      </p:graphicFrame>
      <p:sp>
        <p:nvSpPr>
          <p:cNvPr id="13" name="Rectangle 10"/>
          <p:cNvSpPr>
            <a:spLocks noChangeArrowheads="1"/>
          </p:cNvSpPr>
          <p:nvPr/>
        </p:nvSpPr>
        <p:spPr bwMode="auto">
          <a:xfrm>
            <a:off x="576942" y="1401761"/>
            <a:ext cx="358140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5334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533400" algn="l"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等线" panose="02010600030101010101" pitchFamily="2" charset="-122"/>
                <a:ea typeface="黑体" panose="02010609060101010101" pitchFamily="49" charset="-122"/>
                <a:cs typeface="Times New Roman" panose="02020603050405020304" pitchFamily="18" charset="0"/>
              </a:rPr>
              <a:t>Consider grammar G1:</a:t>
            </a:r>
            <a:endParaRPr kumimoji="0" lang="en-US" altLang="zh-CN" sz="2000" b="0" i="0" u="none" strike="noStrike" cap="none" normalizeH="0" baseline="0" dirty="0">
              <a:ln>
                <a:noFill/>
              </a:ln>
              <a:solidFill>
                <a:schemeClr val="tx1"/>
              </a:solidFill>
              <a:effectLst/>
            </a:endParaRPr>
          </a:p>
          <a:p>
            <a:pPr marL="0" marR="0" lvl="0" indent="53340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14" name="Rectangle 11"/>
          <p:cNvSpPr>
            <a:spLocks noChangeArrowheads="1"/>
          </p:cNvSpPr>
          <p:nvPr/>
        </p:nvSpPr>
        <p:spPr bwMode="auto">
          <a:xfrm>
            <a:off x="1023256" y="2493361"/>
            <a:ext cx="550823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等线" panose="02010600030101010101" pitchFamily="2" charset="-122"/>
                <a:ea typeface="黑体" panose="02010609060101010101" pitchFamily="49" charset="-122"/>
                <a:cs typeface="Times New Roman" panose="02020603050405020304" pitchFamily="18" charset="0"/>
              </a:rPr>
              <a:t>(a) Write the leftmost derivation for sentence </a:t>
            </a:r>
            <a:r>
              <a:rPr kumimoji="0" lang="en-US" altLang="zh-CN" b="0" i="0" u="none" strike="noStrike" cap="none" normalizeH="0" baseline="0" dirty="0">
                <a:ln>
                  <a:noFill/>
                </a:ln>
                <a:solidFill>
                  <a:schemeClr val="tx1"/>
                </a:solidFill>
                <a:effectLst/>
                <a:latin typeface="Courier New" panose="02070309020205020404" pitchFamily="49" charset="0"/>
                <a:ea typeface="仿宋" panose="02010609060101010101" pitchFamily="49" charset="-122"/>
                <a:cs typeface="Courier New" panose="02070309020205020404" pitchFamily="49" charset="0"/>
              </a:rPr>
              <a:t>(a,^) </a:t>
            </a:r>
            <a:endParaRPr kumimoji="0" lang="en-US" altLang="zh-CN" b="0" i="0" u="none" strike="noStrike" cap="none" normalizeH="0" baseline="0" dirty="0">
              <a:ln>
                <a:noFill/>
              </a:ln>
              <a:solidFill>
                <a:schemeClr val="tx1"/>
              </a:solidFill>
              <a:effectLst/>
              <a:latin typeface="Arial" panose="020B0604020202020204" pitchFamily="34" charset="0"/>
            </a:endParaRPr>
          </a:p>
        </p:txBody>
      </p:sp>
      <p:sp>
        <p:nvSpPr>
          <p:cNvPr id="18" name="Rectangle 15"/>
          <p:cNvSpPr>
            <a:spLocks noChangeArrowheads="1"/>
          </p:cNvSpPr>
          <p:nvPr/>
        </p:nvSpPr>
        <p:spPr bwMode="auto">
          <a:xfrm>
            <a:off x="1023255" y="4010670"/>
            <a:ext cx="62007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等线" panose="02010600030101010101" pitchFamily="2" charset="-122"/>
                <a:ea typeface="黑体" panose="02010609060101010101" pitchFamily="49" charset="-122"/>
                <a:cs typeface="Times New Roman" panose="02020603050405020304" pitchFamily="18" charset="0"/>
              </a:rPr>
              <a:t>(c) Write the rightmost derivation for sentence </a:t>
            </a:r>
            <a:r>
              <a:rPr kumimoji="0" lang="en-US" altLang="zh-CN" b="0" i="0" u="none" strike="noStrike" cap="none" normalizeH="0" baseline="0" dirty="0">
                <a:ln>
                  <a:noFill/>
                </a:ln>
                <a:solidFill>
                  <a:schemeClr val="tx1"/>
                </a:solidFill>
                <a:effectLst/>
                <a:latin typeface="Courier New" panose="02070309020205020404" pitchFamily="49" charset="0"/>
                <a:ea typeface="仿宋" panose="02010609060101010101" pitchFamily="49" charset="-122"/>
                <a:cs typeface="Courier New" panose="02070309020205020404" pitchFamily="49" charset="0"/>
              </a:rPr>
              <a:t>(a, (^, a)</a:t>
            </a:r>
            <a:endParaRPr kumimoji="0" lang="en-US" altLang="zh-CN" b="0" i="0" u="none" strike="noStrike" cap="none" normalizeH="0" baseline="0" dirty="0">
              <a:ln>
                <a:noFill/>
              </a:ln>
              <a:solidFill>
                <a:schemeClr val="tx1"/>
              </a:solidFill>
              <a:effectLst/>
              <a:latin typeface="Arial" panose="020B0604020202020204" pitchFamily="34" charset="0"/>
            </a:endParaRPr>
          </a:p>
        </p:txBody>
      </p:sp>
      <p:sp>
        <p:nvSpPr>
          <p:cNvPr id="22" name="Rectangle 11"/>
          <p:cNvSpPr>
            <a:spLocks noChangeArrowheads="1"/>
          </p:cNvSpPr>
          <p:nvPr/>
        </p:nvSpPr>
        <p:spPr bwMode="auto">
          <a:xfrm>
            <a:off x="1023255" y="3214402"/>
            <a:ext cx="518282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等线" panose="02010600030101010101" pitchFamily="2" charset="-122"/>
                <a:ea typeface="黑体" panose="02010609060101010101" pitchFamily="49" charset="-122"/>
                <a:cs typeface="Times New Roman" panose="02020603050405020304" pitchFamily="18" charset="0"/>
              </a:rPr>
              <a:t>(b) Write the right derivation for sentence </a:t>
            </a:r>
            <a:r>
              <a:rPr kumimoji="0" lang="en-US" altLang="zh-CN" b="0" i="0" u="none" strike="noStrike" cap="none" normalizeH="0" baseline="0" dirty="0">
                <a:ln>
                  <a:noFill/>
                </a:ln>
                <a:solidFill>
                  <a:schemeClr val="tx1"/>
                </a:solidFill>
                <a:effectLst/>
                <a:latin typeface="Courier New" panose="02070309020205020404" pitchFamily="49" charset="0"/>
                <a:ea typeface="仿宋" panose="02010609060101010101" pitchFamily="49" charset="-122"/>
                <a:cs typeface="Courier New" panose="02070309020205020404" pitchFamily="49" charset="0"/>
              </a:rPr>
              <a:t>(a,^) </a:t>
            </a:r>
            <a:endParaRPr kumimoji="0" lang="en-US" altLang="zh-CN" b="0" i="0" u="none" strike="noStrike" cap="none" normalizeH="0" baseline="0" dirty="0">
              <a:ln>
                <a:noFill/>
              </a:ln>
              <a:solidFill>
                <a:schemeClr val="tx1"/>
              </a:solidFill>
              <a:effectLst/>
              <a:latin typeface="Arial" panose="020B0604020202020204" pitchFamily="34" charset="0"/>
            </a:endParaRPr>
          </a:p>
        </p:txBody>
      </p:sp>
      <p:sp>
        <p:nvSpPr>
          <p:cNvPr id="23" name="Rectangle 15"/>
          <p:cNvSpPr>
            <a:spLocks noChangeArrowheads="1"/>
          </p:cNvSpPr>
          <p:nvPr/>
        </p:nvSpPr>
        <p:spPr bwMode="auto">
          <a:xfrm>
            <a:off x="0" y="5442192"/>
            <a:ext cx="921598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en-US" altLang="zh-CN" b="0" i="0" u="none" strike="noStrike" cap="none" normalizeH="0" baseline="0" dirty="0">
                <a:ln>
                  <a:noFill/>
                </a:ln>
                <a:solidFill>
                  <a:schemeClr val="tx1"/>
                </a:solidFill>
                <a:effectLst/>
                <a:latin typeface="等线" panose="02010600030101010101" pitchFamily="2" charset="-122"/>
                <a:ea typeface="黑体" panose="02010609060101010101" pitchFamily="49" charset="-122"/>
                <a:cs typeface="Times New Roman" panose="02020603050405020304" pitchFamily="18" charset="0"/>
              </a:rPr>
              <a:t>(b) Write the handles </a:t>
            </a:r>
            <a:r>
              <a:rPr lang="en-US" altLang="zh-CN" dirty="0">
                <a:latin typeface="等线" panose="02010600030101010101" pitchFamily="2" charset="-122"/>
                <a:ea typeface="黑体" panose="02010609060101010101" pitchFamily="49" charset="-122"/>
                <a:cs typeface="Times New Roman" panose="02020603050405020304" pitchFamily="18" charset="0"/>
              </a:rPr>
              <a:t>of the of each step in the normal reduction of sentence </a:t>
            </a:r>
            <a:r>
              <a:rPr kumimoji="0" lang="en-US" altLang="zh-CN" b="0" i="0" u="none" strike="noStrike" cap="none" normalizeH="0" baseline="0" dirty="0">
                <a:ln>
                  <a:noFill/>
                </a:ln>
                <a:solidFill>
                  <a:schemeClr val="tx1"/>
                </a:solidFill>
                <a:effectLst/>
                <a:latin typeface="Courier New" panose="02070309020205020404" pitchFamily="49" charset="0"/>
                <a:ea typeface="仿宋" panose="02010609060101010101" pitchFamily="49" charset="-122"/>
                <a:cs typeface="Courier New" panose="02070309020205020404" pitchFamily="49" charset="0"/>
              </a:rPr>
              <a:t>(a, (^, a)</a:t>
            </a:r>
            <a:endParaRPr kumimoji="0" lang="en-US" altLang="zh-CN"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71761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Parse Tree</a:t>
            </a:r>
            <a:endParaRPr lang="zh-CN" altLang="en-US" dirty="0"/>
          </a:p>
        </p:txBody>
      </p:sp>
      <p:sp>
        <p:nvSpPr>
          <p:cNvPr id="3" name="内容占位符 2"/>
          <p:cNvSpPr>
            <a:spLocks noGrp="1"/>
          </p:cNvSpPr>
          <p:nvPr>
            <p:ph idx="1"/>
          </p:nvPr>
        </p:nvSpPr>
        <p:spPr>
          <a:xfrm>
            <a:off x="828675" y="1600200"/>
            <a:ext cx="7486650" cy="997527"/>
          </a:xfrm>
        </p:spPr>
        <p:txBody>
          <a:bodyPr/>
          <a:lstStyle/>
          <a:p>
            <a:r>
              <a:rPr lang="en-US" altLang="zh-CN" dirty="0"/>
              <a:t>A parse tree pictorially shows how the start symbol of a grammar derives a string in the language. If nonterminal </a:t>
            </a:r>
            <a:r>
              <a:rPr lang="en-US" altLang="zh-CN" i="1" dirty="0"/>
              <a:t>A</a:t>
            </a:r>
            <a:r>
              <a:rPr lang="en-US" altLang="zh-CN" dirty="0"/>
              <a:t> has a production              , then a parse tree may have an interior node labeled A with three children labeled X, Y, and Z, from left to right:</a:t>
            </a:r>
            <a:endParaRPr lang="zh-CN" altLang="en-US" dirty="0"/>
          </a:p>
        </p:txBody>
      </p:sp>
      <p:graphicFrame>
        <p:nvGraphicFramePr>
          <p:cNvPr id="4" name="对象 3"/>
          <p:cNvGraphicFramePr>
            <a:graphicFrameLocks noChangeAspect="1"/>
          </p:cNvGraphicFramePr>
          <p:nvPr>
            <p:extLst/>
          </p:nvPr>
        </p:nvGraphicFramePr>
        <p:xfrm>
          <a:off x="6192982" y="1839638"/>
          <a:ext cx="755424" cy="207371"/>
        </p:xfrm>
        <a:graphic>
          <a:graphicData uri="http://schemas.openxmlformats.org/presentationml/2006/ole">
            <mc:AlternateContent xmlns:mc="http://schemas.openxmlformats.org/markup-compatibility/2006">
              <mc:Choice xmlns:v="urn:schemas-microsoft-com:vml" Requires="v">
                <p:oleObj spid="_x0000_s8244" name="Equation" r:id="rId3" imgW="647640" imgH="177480" progId="Equation.DSMT4">
                  <p:embed/>
                </p:oleObj>
              </mc:Choice>
              <mc:Fallback>
                <p:oleObj name="Equation" r:id="rId3" imgW="647640" imgH="177480" progId="Equation.DSMT4">
                  <p:embed/>
                  <p:pic>
                    <p:nvPicPr>
                      <p:cNvPr id="0" name=""/>
                      <p:cNvPicPr/>
                      <p:nvPr/>
                    </p:nvPicPr>
                    <p:blipFill>
                      <a:blip r:embed="rId4"/>
                      <a:stretch>
                        <a:fillRect/>
                      </a:stretch>
                    </p:blipFill>
                    <p:spPr>
                      <a:xfrm>
                        <a:off x="6192982" y="1839638"/>
                        <a:ext cx="755424" cy="207371"/>
                      </a:xfrm>
                      <a:prstGeom prst="rect">
                        <a:avLst/>
                      </a:prstGeom>
                    </p:spPr>
                  </p:pic>
                </p:oleObj>
              </mc:Fallback>
            </mc:AlternateContent>
          </a:graphicData>
        </a:graphic>
      </p:graphicFrame>
      <p:sp>
        <p:nvSpPr>
          <p:cNvPr id="5" name="文本框 4"/>
          <p:cNvSpPr txBox="1"/>
          <p:nvPr/>
        </p:nvSpPr>
        <p:spPr>
          <a:xfrm>
            <a:off x="4571431" y="2306782"/>
            <a:ext cx="300082" cy="369332"/>
          </a:xfrm>
          <a:prstGeom prst="rect">
            <a:avLst/>
          </a:prstGeom>
          <a:noFill/>
        </p:spPr>
        <p:txBody>
          <a:bodyPr wrap="none" rtlCol="0">
            <a:spAutoFit/>
          </a:bodyPr>
          <a:lstStyle/>
          <a:p>
            <a:r>
              <a:rPr lang="en-US" altLang="zh-CN" dirty="0"/>
              <a:t>A</a:t>
            </a:r>
            <a:endParaRPr lang="zh-CN" altLang="en-US" dirty="0"/>
          </a:p>
        </p:txBody>
      </p:sp>
      <p:sp>
        <p:nvSpPr>
          <p:cNvPr id="6" name="文本框 5"/>
          <p:cNvSpPr txBox="1"/>
          <p:nvPr/>
        </p:nvSpPr>
        <p:spPr>
          <a:xfrm>
            <a:off x="4121159" y="2816240"/>
            <a:ext cx="300082" cy="369332"/>
          </a:xfrm>
          <a:prstGeom prst="rect">
            <a:avLst/>
          </a:prstGeom>
          <a:noFill/>
        </p:spPr>
        <p:txBody>
          <a:bodyPr wrap="none" rtlCol="0">
            <a:spAutoFit/>
          </a:bodyPr>
          <a:lstStyle/>
          <a:p>
            <a:r>
              <a:rPr lang="en-US" altLang="zh-CN" dirty="0"/>
              <a:t>X</a:t>
            </a:r>
            <a:endParaRPr lang="zh-CN" altLang="en-US" dirty="0"/>
          </a:p>
        </p:txBody>
      </p:sp>
      <p:sp>
        <p:nvSpPr>
          <p:cNvPr id="7" name="文本框 6"/>
          <p:cNvSpPr txBox="1"/>
          <p:nvPr/>
        </p:nvSpPr>
        <p:spPr>
          <a:xfrm>
            <a:off x="4571282" y="2789587"/>
            <a:ext cx="300082" cy="369332"/>
          </a:xfrm>
          <a:prstGeom prst="rect">
            <a:avLst/>
          </a:prstGeom>
          <a:noFill/>
        </p:spPr>
        <p:txBody>
          <a:bodyPr wrap="none" rtlCol="0">
            <a:spAutoFit/>
          </a:bodyPr>
          <a:lstStyle/>
          <a:p>
            <a:r>
              <a:rPr lang="en-US" altLang="zh-CN" dirty="0"/>
              <a:t>Y</a:t>
            </a:r>
            <a:endParaRPr lang="zh-CN" altLang="en-US" dirty="0"/>
          </a:p>
        </p:txBody>
      </p:sp>
      <p:sp>
        <p:nvSpPr>
          <p:cNvPr id="8" name="文本框 7"/>
          <p:cNvSpPr txBox="1"/>
          <p:nvPr/>
        </p:nvSpPr>
        <p:spPr>
          <a:xfrm>
            <a:off x="5021554" y="2801467"/>
            <a:ext cx="300082" cy="369332"/>
          </a:xfrm>
          <a:prstGeom prst="rect">
            <a:avLst/>
          </a:prstGeom>
          <a:noFill/>
        </p:spPr>
        <p:txBody>
          <a:bodyPr wrap="none" rtlCol="0">
            <a:spAutoFit/>
          </a:bodyPr>
          <a:lstStyle/>
          <a:p>
            <a:r>
              <a:rPr lang="en-US" altLang="zh-CN" dirty="0"/>
              <a:t>Z</a:t>
            </a:r>
            <a:endParaRPr lang="zh-CN" altLang="en-US" dirty="0"/>
          </a:p>
        </p:txBody>
      </p:sp>
      <p:cxnSp>
        <p:nvCxnSpPr>
          <p:cNvPr id="10" name="直接连接符 9"/>
          <p:cNvCxnSpPr>
            <a:stCxn id="5" idx="2"/>
          </p:cNvCxnSpPr>
          <p:nvPr/>
        </p:nvCxnSpPr>
        <p:spPr>
          <a:xfrm flipH="1">
            <a:off x="4271200" y="2676114"/>
            <a:ext cx="450272" cy="20580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4721472" y="2697254"/>
            <a:ext cx="0" cy="18466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4721323" y="2676114"/>
            <a:ext cx="450272" cy="22694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828675" y="3444905"/>
            <a:ext cx="7485512" cy="2320635"/>
          </a:xfrm>
          <a:prstGeom prst="rect">
            <a:avLst/>
          </a:prstGeom>
        </p:spPr>
        <p:txBody>
          <a:bodyPr wrap="square">
            <a:spAutoFit/>
          </a:bodyPr>
          <a:lstStyle/>
          <a:p>
            <a:pPr marL="171450" indent="-171450" defTabSz="685800">
              <a:lnSpc>
                <a:spcPct val="90000"/>
              </a:lnSpc>
              <a:spcBef>
                <a:spcPts val="1350"/>
              </a:spcBef>
              <a:buFont typeface="Wingdings" panose="05000000000000000000" pitchFamily="2" charset="2"/>
              <a:buChar char="§"/>
            </a:pPr>
            <a:r>
              <a:rPr lang="en-US" altLang="zh-CN" sz="1500" dirty="0">
                <a:latin typeface="微软雅黑" panose="020B0503020204020204" pitchFamily="34" charset="-122"/>
                <a:ea typeface="微软雅黑" panose="020B0503020204020204" pitchFamily="34" charset="-122"/>
              </a:rPr>
              <a:t>The root is labeled by the start symbol</a:t>
            </a:r>
          </a:p>
          <a:p>
            <a:pPr marL="171450" indent="-171450" defTabSz="685800">
              <a:lnSpc>
                <a:spcPct val="90000"/>
              </a:lnSpc>
              <a:spcBef>
                <a:spcPts val="1350"/>
              </a:spcBef>
              <a:buFont typeface="Wingdings" panose="05000000000000000000" pitchFamily="2" charset="2"/>
              <a:buChar char="§"/>
            </a:pPr>
            <a:r>
              <a:rPr lang="en-US" altLang="zh-CN" sz="1500" dirty="0">
                <a:latin typeface="微软雅黑" panose="020B0503020204020204" pitchFamily="34" charset="-122"/>
                <a:ea typeface="微软雅黑" panose="020B0503020204020204" pitchFamily="34" charset="-122"/>
              </a:rPr>
              <a:t>Each leaf is labeled by a terminal or by   </a:t>
            </a:r>
            <a:r>
              <a:rPr lang="en-US" altLang="zh-CN" sz="1600" dirty="0"/>
              <a:t>.</a:t>
            </a:r>
          </a:p>
          <a:p>
            <a:pPr marL="171450" indent="-171450" defTabSz="685800">
              <a:lnSpc>
                <a:spcPct val="90000"/>
              </a:lnSpc>
              <a:spcBef>
                <a:spcPts val="1350"/>
              </a:spcBef>
              <a:buFont typeface="Wingdings" panose="05000000000000000000" pitchFamily="2" charset="2"/>
              <a:buChar char="§"/>
            </a:pPr>
            <a:r>
              <a:rPr lang="en-US" altLang="zh-CN" sz="1500" dirty="0">
                <a:latin typeface="微软雅黑" panose="020B0503020204020204" pitchFamily="34" charset="-122"/>
                <a:ea typeface="微软雅黑" panose="020B0503020204020204" pitchFamily="34" charset="-122"/>
              </a:rPr>
              <a:t>Each interior node is labeled by a nonterminal</a:t>
            </a:r>
          </a:p>
          <a:p>
            <a:pPr marL="171450" indent="-171450" defTabSz="685800">
              <a:lnSpc>
                <a:spcPct val="90000"/>
              </a:lnSpc>
              <a:spcBef>
                <a:spcPts val="1350"/>
              </a:spcBef>
              <a:buFont typeface="Wingdings" panose="05000000000000000000" pitchFamily="2" charset="2"/>
              <a:buChar char="§"/>
            </a:pPr>
            <a:r>
              <a:rPr lang="en-US" altLang="zh-CN" sz="1500" dirty="0">
                <a:latin typeface="微软雅黑" panose="020B0503020204020204" pitchFamily="34" charset="-122"/>
                <a:ea typeface="微软雅黑" panose="020B0503020204020204" pitchFamily="34" charset="-122"/>
              </a:rPr>
              <a:t>If A is the nonterminal labeling some interior node and </a:t>
            </a:r>
            <a:r>
              <a:rPr lang="en-US" altLang="zh-CN" sz="1500" i="1" dirty="0">
                <a:latin typeface="微软雅黑" panose="020B0503020204020204" pitchFamily="34" charset="-122"/>
                <a:ea typeface="微软雅黑" panose="020B0503020204020204" pitchFamily="34" charset="-122"/>
              </a:rPr>
              <a:t>X</a:t>
            </a:r>
            <a:r>
              <a:rPr lang="en-US" altLang="zh-CN" sz="1500" i="1" baseline="-25000" dirty="0">
                <a:latin typeface="微软雅黑" panose="020B0503020204020204" pitchFamily="34" charset="-122"/>
                <a:ea typeface="微软雅黑" panose="020B0503020204020204" pitchFamily="34" charset="-122"/>
              </a:rPr>
              <a:t>l</a:t>
            </a:r>
            <a:r>
              <a:rPr lang="en-US" altLang="zh-CN" sz="1500" i="1" dirty="0">
                <a:latin typeface="微软雅黑" panose="020B0503020204020204" pitchFamily="34" charset="-122"/>
                <a:ea typeface="微软雅黑" panose="020B0503020204020204" pitchFamily="34" charset="-122"/>
              </a:rPr>
              <a:t> , X</a:t>
            </a:r>
            <a:r>
              <a:rPr lang="en-US" altLang="zh-CN" sz="1500" i="1" baseline="-25000" dirty="0">
                <a:latin typeface="微软雅黑" panose="020B0503020204020204" pitchFamily="34" charset="-122"/>
                <a:ea typeface="微软雅黑" panose="020B0503020204020204" pitchFamily="34" charset="-122"/>
              </a:rPr>
              <a:t>2</a:t>
            </a:r>
            <a:r>
              <a:rPr lang="en-US" altLang="zh-CN" sz="1500" i="1" dirty="0">
                <a:latin typeface="微软雅黑" panose="020B0503020204020204" pitchFamily="34" charset="-122"/>
                <a:ea typeface="微软雅黑" panose="020B0503020204020204" pitchFamily="34" charset="-122"/>
              </a:rPr>
              <a:t>, • • • , </a:t>
            </a:r>
            <a:r>
              <a:rPr lang="en-US" altLang="zh-CN" sz="1500" i="1" dirty="0" err="1">
                <a:latin typeface="微软雅黑" panose="020B0503020204020204" pitchFamily="34" charset="-122"/>
                <a:ea typeface="微软雅黑" panose="020B0503020204020204" pitchFamily="34" charset="-122"/>
              </a:rPr>
              <a:t>X</a:t>
            </a:r>
            <a:r>
              <a:rPr lang="en-US" altLang="zh-CN" sz="1500" i="1" baseline="-25000" dirty="0" err="1">
                <a:latin typeface="微软雅黑" panose="020B0503020204020204" pitchFamily="34" charset="-122"/>
                <a:ea typeface="微软雅黑" panose="020B0503020204020204" pitchFamily="34" charset="-122"/>
              </a:rPr>
              <a:t>n</a:t>
            </a:r>
            <a:r>
              <a:rPr lang="en-US" altLang="zh-CN" sz="1500" i="1" dirty="0">
                <a:latin typeface="微软雅黑" panose="020B0503020204020204" pitchFamily="34" charset="-122"/>
                <a:ea typeface="微软雅黑" panose="020B0503020204020204" pitchFamily="34" charset="-122"/>
              </a:rPr>
              <a:t> </a:t>
            </a:r>
            <a:r>
              <a:rPr lang="en-US" altLang="zh-CN" sz="1500" dirty="0">
                <a:latin typeface="微软雅黑" panose="020B0503020204020204" pitchFamily="34" charset="-122"/>
                <a:ea typeface="微软雅黑" panose="020B0503020204020204" pitchFamily="34" charset="-122"/>
              </a:rPr>
              <a:t>are the labels of the children of that node from left to right, then there must be a production                            . Here, </a:t>
            </a:r>
            <a:r>
              <a:rPr lang="en-US" altLang="zh-CN" sz="1500" i="1" dirty="0">
                <a:latin typeface="微软雅黑" panose="020B0503020204020204" pitchFamily="34" charset="-122"/>
                <a:ea typeface="微软雅黑" panose="020B0503020204020204" pitchFamily="34" charset="-122"/>
              </a:rPr>
              <a:t>X</a:t>
            </a:r>
            <a:r>
              <a:rPr lang="en-US" altLang="zh-CN" sz="1500" i="1" baseline="-25000" dirty="0">
                <a:latin typeface="微软雅黑" panose="020B0503020204020204" pitchFamily="34" charset="-122"/>
                <a:ea typeface="微软雅黑" panose="020B0503020204020204" pitchFamily="34" charset="-122"/>
              </a:rPr>
              <a:t>I</a:t>
            </a:r>
            <a:r>
              <a:rPr lang="en-US" altLang="zh-CN" sz="1500" i="1" dirty="0">
                <a:latin typeface="微软雅黑" panose="020B0503020204020204" pitchFamily="34" charset="-122"/>
                <a:ea typeface="微软雅黑" panose="020B0503020204020204" pitchFamily="34" charset="-122"/>
              </a:rPr>
              <a:t> , X</a:t>
            </a:r>
            <a:r>
              <a:rPr lang="en-US" altLang="zh-CN" sz="1500" i="1" baseline="-25000" dirty="0">
                <a:latin typeface="微软雅黑" panose="020B0503020204020204" pitchFamily="34" charset="-122"/>
                <a:ea typeface="微软雅黑" panose="020B0503020204020204" pitchFamily="34" charset="-122"/>
              </a:rPr>
              <a:t>2 </a:t>
            </a:r>
            <a:r>
              <a:rPr lang="en-US" altLang="zh-CN" sz="1500" i="1" dirty="0">
                <a:latin typeface="微软雅黑" panose="020B0503020204020204" pitchFamily="34" charset="-122"/>
                <a:ea typeface="微软雅黑" panose="020B0503020204020204" pitchFamily="34" charset="-122"/>
              </a:rPr>
              <a:t>, . . . , </a:t>
            </a:r>
            <a:r>
              <a:rPr lang="en-US" altLang="zh-CN" sz="1500" i="1" dirty="0" err="1">
                <a:latin typeface="微软雅黑" panose="020B0503020204020204" pitchFamily="34" charset="-122"/>
                <a:ea typeface="微软雅黑" panose="020B0503020204020204" pitchFamily="34" charset="-122"/>
              </a:rPr>
              <a:t>X</a:t>
            </a:r>
            <a:r>
              <a:rPr lang="en-US" altLang="zh-CN" sz="1500" i="1" baseline="-25000" dirty="0" err="1">
                <a:latin typeface="微软雅黑" panose="020B0503020204020204" pitchFamily="34" charset="-122"/>
                <a:ea typeface="微软雅黑" panose="020B0503020204020204" pitchFamily="34" charset="-122"/>
              </a:rPr>
              <a:t>n</a:t>
            </a:r>
            <a:r>
              <a:rPr lang="en-US" altLang="zh-CN" sz="1500" i="1" dirty="0">
                <a:latin typeface="微软雅黑" panose="020B0503020204020204" pitchFamily="34" charset="-122"/>
                <a:ea typeface="微软雅黑" panose="020B0503020204020204" pitchFamily="34" charset="-122"/>
              </a:rPr>
              <a:t> </a:t>
            </a:r>
            <a:r>
              <a:rPr lang="en-US" altLang="zh-CN" sz="1500" dirty="0">
                <a:latin typeface="微软雅黑" panose="020B0503020204020204" pitchFamily="34" charset="-122"/>
                <a:ea typeface="微软雅黑" panose="020B0503020204020204" pitchFamily="34" charset="-122"/>
              </a:rPr>
              <a:t>each stand for </a:t>
            </a:r>
            <a:r>
              <a:rPr lang="en-US" altLang="zh-CN" sz="1500" dirty="0" err="1">
                <a:latin typeface="微软雅黑" panose="020B0503020204020204" pitchFamily="34" charset="-122"/>
                <a:ea typeface="微软雅黑" panose="020B0503020204020204" pitchFamily="34" charset="-122"/>
              </a:rPr>
              <a:t>for</a:t>
            </a:r>
            <a:r>
              <a:rPr lang="en-US" altLang="zh-CN" sz="1500" dirty="0">
                <a:latin typeface="微软雅黑" panose="020B0503020204020204" pitchFamily="34" charset="-122"/>
                <a:ea typeface="微软雅黑" panose="020B0503020204020204" pitchFamily="34" charset="-122"/>
              </a:rPr>
              <a:t> a symbol that is either a terminal or a nonterminal . As a special case,  if             is a production, then a node labeled </a:t>
            </a:r>
            <a:r>
              <a:rPr lang="en-US" altLang="zh-CN" sz="1500" i="1" dirty="0">
                <a:latin typeface="微软雅黑" panose="020B0503020204020204" pitchFamily="34" charset="-122"/>
                <a:ea typeface="微软雅黑" panose="020B0503020204020204" pitchFamily="34" charset="-122"/>
              </a:rPr>
              <a:t>A</a:t>
            </a:r>
            <a:r>
              <a:rPr lang="en-US" altLang="zh-CN" sz="1500" dirty="0">
                <a:latin typeface="微软雅黑" panose="020B0503020204020204" pitchFamily="34" charset="-122"/>
                <a:ea typeface="微软雅黑" panose="020B0503020204020204" pitchFamily="34" charset="-122"/>
              </a:rPr>
              <a:t> may have a single child labeled      .</a:t>
            </a:r>
            <a:endParaRPr lang="zh-CN" altLang="en-US" sz="1500" dirty="0">
              <a:latin typeface="微软雅黑" panose="020B0503020204020204" pitchFamily="34" charset="-122"/>
              <a:ea typeface="微软雅黑" panose="020B0503020204020204" pitchFamily="34" charset="-122"/>
            </a:endParaRPr>
          </a:p>
        </p:txBody>
      </p:sp>
      <p:graphicFrame>
        <p:nvGraphicFramePr>
          <p:cNvPr id="17" name="对象 16"/>
          <p:cNvGraphicFramePr>
            <a:graphicFrameLocks noChangeAspect="1"/>
          </p:cNvGraphicFramePr>
          <p:nvPr>
            <p:extLst/>
          </p:nvPr>
        </p:nvGraphicFramePr>
        <p:xfrm>
          <a:off x="4623645" y="3898651"/>
          <a:ext cx="195355" cy="214891"/>
        </p:xfrm>
        <a:graphic>
          <a:graphicData uri="http://schemas.openxmlformats.org/presentationml/2006/ole">
            <mc:AlternateContent xmlns:mc="http://schemas.openxmlformats.org/markup-compatibility/2006">
              <mc:Choice xmlns:v="urn:schemas-microsoft-com:vml" Requires="v">
                <p:oleObj spid="_x0000_s8245" name="Equation" r:id="rId5" imgW="126720" imgH="139680" progId="Equation.DSMT4">
                  <p:embed/>
                </p:oleObj>
              </mc:Choice>
              <mc:Fallback>
                <p:oleObj name="Equation" r:id="rId5" imgW="126720" imgH="139680" progId="Equation.DSMT4">
                  <p:embed/>
                  <p:pic>
                    <p:nvPicPr>
                      <p:cNvPr id="0" name=""/>
                      <p:cNvPicPr/>
                      <p:nvPr/>
                    </p:nvPicPr>
                    <p:blipFill>
                      <a:blip r:embed="rId6"/>
                      <a:stretch>
                        <a:fillRect/>
                      </a:stretch>
                    </p:blipFill>
                    <p:spPr>
                      <a:xfrm>
                        <a:off x="4623645" y="3898651"/>
                        <a:ext cx="195355" cy="214891"/>
                      </a:xfrm>
                      <a:prstGeom prst="rect">
                        <a:avLst/>
                      </a:prstGeom>
                    </p:spPr>
                  </p:pic>
                </p:oleObj>
              </mc:Fallback>
            </mc:AlternateContent>
          </a:graphicData>
        </a:graphic>
      </p:graphicFrame>
      <p:graphicFrame>
        <p:nvGraphicFramePr>
          <p:cNvPr id="18" name="对象 17"/>
          <p:cNvGraphicFramePr>
            <a:graphicFrameLocks noChangeAspect="1"/>
          </p:cNvGraphicFramePr>
          <p:nvPr>
            <p:extLst/>
          </p:nvPr>
        </p:nvGraphicFramePr>
        <p:xfrm>
          <a:off x="2157846" y="5007142"/>
          <a:ext cx="1562100" cy="342900"/>
        </p:xfrm>
        <a:graphic>
          <a:graphicData uri="http://schemas.openxmlformats.org/presentationml/2006/ole">
            <mc:AlternateContent xmlns:mc="http://schemas.openxmlformats.org/markup-compatibility/2006">
              <mc:Choice xmlns:v="urn:schemas-microsoft-com:vml" Requires="v">
                <p:oleObj spid="_x0000_s8246" name="Equation" r:id="rId7" imgW="1041120" imgH="228600" progId="Equation.DSMT4">
                  <p:embed/>
                </p:oleObj>
              </mc:Choice>
              <mc:Fallback>
                <p:oleObj name="Equation" r:id="rId7" imgW="1041120" imgH="228600" progId="Equation.DSMT4">
                  <p:embed/>
                  <p:pic>
                    <p:nvPicPr>
                      <p:cNvPr id="0" name=""/>
                      <p:cNvPicPr/>
                      <p:nvPr/>
                    </p:nvPicPr>
                    <p:blipFill>
                      <a:blip r:embed="rId8"/>
                      <a:stretch>
                        <a:fillRect/>
                      </a:stretch>
                    </p:blipFill>
                    <p:spPr>
                      <a:xfrm>
                        <a:off x="2157846" y="5007142"/>
                        <a:ext cx="1562100" cy="342900"/>
                      </a:xfrm>
                      <a:prstGeom prst="rect">
                        <a:avLst/>
                      </a:prstGeom>
                    </p:spPr>
                  </p:pic>
                </p:oleObj>
              </mc:Fallback>
            </mc:AlternateContent>
          </a:graphicData>
        </a:graphic>
      </p:graphicFrame>
      <p:graphicFrame>
        <p:nvGraphicFramePr>
          <p:cNvPr id="19" name="对象 18"/>
          <p:cNvGraphicFramePr>
            <a:graphicFrameLocks noChangeAspect="1"/>
          </p:cNvGraphicFramePr>
          <p:nvPr>
            <p:extLst/>
          </p:nvPr>
        </p:nvGraphicFramePr>
        <p:xfrm>
          <a:off x="6747597" y="5237474"/>
          <a:ext cx="666750" cy="266700"/>
        </p:xfrm>
        <a:graphic>
          <a:graphicData uri="http://schemas.openxmlformats.org/presentationml/2006/ole">
            <mc:AlternateContent xmlns:mc="http://schemas.openxmlformats.org/markup-compatibility/2006">
              <mc:Choice xmlns:v="urn:schemas-microsoft-com:vml" Requires="v">
                <p:oleObj spid="_x0000_s8247" name="Equation" r:id="rId9" imgW="444240" imgH="177480" progId="Equation.DSMT4">
                  <p:embed/>
                </p:oleObj>
              </mc:Choice>
              <mc:Fallback>
                <p:oleObj name="Equation" r:id="rId9" imgW="444240" imgH="177480" progId="Equation.DSMT4">
                  <p:embed/>
                  <p:pic>
                    <p:nvPicPr>
                      <p:cNvPr id="0" name=""/>
                      <p:cNvPicPr/>
                      <p:nvPr/>
                    </p:nvPicPr>
                    <p:blipFill>
                      <a:blip r:embed="rId10"/>
                      <a:stretch>
                        <a:fillRect/>
                      </a:stretch>
                    </p:blipFill>
                    <p:spPr>
                      <a:xfrm>
                        <a:off x="6747597" y="5237474"/>
                        <a:ext cx="666750" cy="266700"/>
                      </a:xfrm>
                      <a:prstGeom prst="rect">
                        <a:avLst/>
                      </a:prstGeom>
                    </p:spPr>
                  </p:pic>
                </p:oleObj>
              </mc:Fallback>
            </mc:AlternateContent>
          </a:graphicData>
        </a:graphic>
      </p:graphicFrame>
      <p:graphicFrame>
        <p:nvGraphicFramePr>
          <p:cNvPr id="20" name="对象 19"/>
          <p:cNvGraphicFramePr>
            <a:graphicFrameLocks noChangeAspect="1"/>
          </p:cNvGraphicFramePr>
          <p:nvPr>
            <p:extLst/>
          </p:nvPr>
        </p:nvGraphicFramePr>
        <p:xfrm>
          <a:off x="7223847" y="5501166"/>
          <a:ext cx="190500" cy="209550"/>
        </p:xfrm>
        <a:graphic>
          <a:graphicData uri="http://schemas.openxmlformats.org/presentationml/2006/ole">
            <mc:AlternateContent xmlns:mc="http://schemas.openxmlformats.org/markup-compatibility/2006">
              <mc:Choice xmlns:v="urn:schemas-microsoft-com:vml" Requires="v">
                <p:oleObj spid="_x0000_s8248" name="Equation" r:id="rId11" imgW="126720" imgH="139680" progId="Equation.DSMT4">
                  <p:embed/>
                </p:oleObj>
              </mc:Choice>
              <mc:Fallback>
                <p:oleObj name="Equation" r:id="rId11" imgW="126720" imgH="139680" progId="Equation.DSMT4">
                  <p:embed/>
                  <p:pic>
                    <p:nvPicPr>
                      <p:cNvPr id="0" name=""/>
                      <p:cNvPicPr/>
                      <p:nvPr/>
                    </p:nvPicPr>
                    <p:blipFill>
                      <a:blip r:embed="rId12"/>
                      <a:stretch>
                        <a:fillRect/>
                      </a:stretch>
                    </p:blipFill>
                    <p:spPr>
                      <a:xfrm>
                        <a:off x="7223847" y="5501166"/>
                        <a:ext cx="190500" cy="209550"/>
                      </a:xfrm>
                      <a:prstGeom prst="rect">
                        <a:avLst/>
                      </a:prstGeom>
                    </p:spPr>
                  </p:pic>
                </p:oleObj>
              </mc:Fallback>
            </mc:AlternateContent>
          </a:graphicData>
        </a:graphic>
      </p:graphicFrame>
      <p:sp>
        <p:nvSpPr>
          <p:cNvPr id="22" name="矩形 21"/>
          <p:cNvSpPr/>
          <p:nvPr/>
        </p:nvSpPr>
        <p:spPr>
          <a:xfrm>
            <a:off x="1014651" y="5765540"/>
            <a:ext cx="6963369" cy="1015663"/>
          </a:xfrm>
          <a:prstGeom prst="rect">
            <a:avLst/>
          </a:prstGeom>
        </p:spPr>
        <p:style>
          <a:lnRef idx="1">
            <a:schemeClr val="accent3"/>
          </a:lnRef>
          <a:fillRef idx="3">
            <a:schemeClr val="accent3"/>
          </a:fillRef>
          <a:effectRef idx="2">
            <a:schemeClr val="accent3"/>
          </a:effectRef>
          <a:fontRef idx="minor">
            <a:schemeClr val="lt1"/>
          </a:fontRef>
        </p:style>
        <p:txBody>
          <a:bodyPr wrap="square">
            <a:spAutoFit/>
          </a:bodyPr>
          <a:lstStyle/>
          <a:p>
            <a:r>
              <a:rPr lang="en-US" altLang="zh-CN" sz="1500" dirty="0">
                <a:latin typeface="微软雅黑" panose="020B0503020204020204" pitchFamily="34" charset="-122"/>
                <a:ea typeface="微软雅黑" panose="020B0503020204020204" pitchFamily="34" charset="-122"/>
              </a:rPr>
              <a:t>From left to right , the leaves of a parse tree form the </a:t>
            </a:r>
            <a:r>
              <a:rPr lang="en-US" altLang="zh-CN" sz="1500" b="1" i="1" dirty="0">
                <a:solidFill>
                  <a:srgbClr val="00B050"/>
                </a:solidFill>
                <a:latin typeface="微软雅黑" panose="020B0503020204020204" pitchFamily="34" charset="-122"/>
                <a:ea typeface="微软雅黑" panose="020B0503020204020204" pitchFamily="34" charset="-122"/>
              </a:rPr>
              <a:t>yield</a:t>
            </a:r>
            <a:r>
              <a:rPr lang="en-US" altLang="zh-CN" sz="1500" dirty="0">
                <a:latin typeface="微软雅黑" panose="020B0503020204020204" pitchFamily="34" charset="-122"/>
                <a:ea typeface="微软雅黑" panose="020B0503020204020204" pitchFamily="34" charset="-122"/>
              </a:rPr>
              <a:t> of the tree , which is the string </a:t>
            </a:r>
            <a:r>
              <a:rPr lang="en-US" altLang="zh-CN" sz="1500" b="1" i="1" dirty="0">
                <a:solidFill>
                  <a:srgbClr val="00B050"/>
                </a:solidFill>
                <a:latin typeface="微软雅黑" panose="020B0503020204020204" pitchFamily="34" charset="-122"/>
                <a:ea typeface="微软雅黑" panose="020B0503020204020204" pitchFamily="34" charset="-122"/>
              </a:rPr>
              <a:t>generated</a:t>
            </a:r>
            <a:r>
              <a:rPr lang="en-US" altLang="zh-CN" sz="1500" dirty="0">
                <a:solidFill>
                  <a:srgbClr val="00B050"/>
                </a:solidFill>
                <a:latin typeface="微软雅黑" panose="020B0503020204020204" pitchFamily="34" charset="-122"/>
                <a:ea typeface="微软雅黑" panose="020B0503020204020204" pitchFamily="34" charset="-122"/>
              </a:rPr>
              <a:t> </a:t>
            </a:r>
            <a:r>
              <a:rPr lang="en-US" altLang="zh-CN" sz="1500" dirty="0">
                <a:latin typeface="微软雅黑" panose="020B0503020204020204" pitchFamily="34" charset="-122"/>
                <a:ea typeface="微软雅黑" panose="020B0503020204020204" pitchFamily="34" charset="-122"/>
              </a:rPr>
              <a:t>or </a:t>
            </a:r>
            <a:r>
              <a:rPr lang="en-US" altLang="zh-CN" sz="1500" b="1" i="1" dirty="0">
                <a:solidFill>
                  <a:srgbClr val="00B050"/>
                </a:solidFill>
                <a:latin typeface="微软雅黑" panose="020B0503020204020204" pitchFamily="34" charset="-122"/>
                <a:ea typeface="微软雅黑" panose="020B0503020204020204" pitchFamily="34" charset="-122"/>
              </a:rPr>
              <a:t>derived</a:t>
            </a:r>
            <a:r>
              <a:rPr lang="en-US" altLang="zh-CN" sz="1500" dirty="0">
                <a:latin typeface="微软雅黑" panose="020B0503020204020204" pitchFamily="34" charset="-122"/>
                <a:ea typeface="微软雅黑" panose="020B0503020204020204" pitchFamily="34" charset="-122"/>
              </a:rPr>
              <a:t> from the nonterminal at the root of the parse tree. The process of finding a parse tree for a given string of terminals is called </a:t>
            </a:r>
            <a:r>
              <a:rPr lang="en-US" altLang="zh-CN" sz="1500" b="1" i="1" dirty="0">
                <a:solidFill>
                  <a:srgbClr val="00B050"/>
                </a:solidFill>
                <a:latin typeface="微软雅黑" panose="020B0503020204020204" pitchFamily="34" charset="-122"/>
                <a:ea typeface="微软雅黑" panose="020B0503020204020204" pitchFamily="34" charset="-122"/>
              </a:rPr>
              <a:t>parsing</a:t>
            </a:r>
            <a:r>
              <a:rPr lang="en-US" altLang="zh-CN" sz="1500" dirty="0">
                <a:latin typeface="微软雅黑" panose="020B0503020204020204" pitchFamily="34" charset="-122"/>
                <a:ea typeface="微软雅黑" panose="020B0503020204020204" pitchFamily="34" charset="-122"/>
              </a:rPr>
              <a:t> that string.</a:t>
            </a:r>
            <a:endParaRPr lang="zh-CN" altLang="en-US" sz="15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1371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Ambiguity</a:t>
            </a:r>
            <a:endParaRPr lang="zh-CN" altLang="en-US" dirty="0"/>
          </a:p>
        </p:txBody>
      </p:sp>
      <p:sp>
        <p:nvSpPr>
          <p:cNvPr id="3" name="内容占位符 2"/>
          <p:cNvSpPr>
            <a:spLocks noGrp="1"/>
          </p:cNvSpPr>
          <p:nvPr>
            <p:ph idx="1"/>
          </p:nvPr>
        </p:nvSpPr>
        <p:spPr>
          <a:xfrm>
            <a:off x="828675" y="1600200"/>
            <a:ext cx="7486650" cy="852055"/>
          </a:xfrm>
        </p:spPr>
        <p:txBody>
          <a:bodyPr>
            <a:normAutofit lnSpcReduction="10000"/>
          </a:bodyPr>
          <a:lstStyle/>
          <a:p>
            <a:r>
              <a:rPr lang="en-US" altLang="zh-CN" sz="2000" dirty="0"/>
              <a:t>A grammar can have </a:t>
            </a:r>
            <a:r>
              <a:rPr lang="en-US" altLang="zh-CN" sz="2000" dirty="0">
                <a:solidFill>
                  <a:srgbClr val="FF0000"/>
                </a:solidFill>
              </a:rPr>
              <a:t>more than one </a:t>
            </a:r>
            <a:r>
              <a:rPr lang="en-US" altLang="zh-CN" sz="2000" dirty="0"/>
              <a:t>parse tree generating a given string of terminals. Such a grammar is said to be ambiguous. </a:t>
            </a:r>
            <a:endParaRPr lang="zh-CN" altLang="en-US" sz="2000" dirty="0"/>
          </a:p>
        </p:txBody>
      </p:sp>
      <p:pic>
        <p:nvPicPr>
          <p:cNvPr id="4" name="图片 3"/>
          <p:cNvPicPr>
            <a:picLocks noChangeAspect="1"/>
          </p:cNvPicPr>
          <p:nvPr/>
        </p:nvPicPr>
        <p:blipFill>
          <a:blip r:embed="rId2"/>
          <a:stretch>
            <a:fillRect/>
          </a:stretch>
        </p:blipFill>
        <p:spPr>
          <a:xfrm>
            <a:off x="923711" y="2654629"/>
            <a:ext cx="7390476" cy="2961905"/>
          </a:xfrm>
          <a:prstGeom prst="rect">
            <a:avLst/>
          </a:prstGeom>
        </p:spPr>
      </p:pic>
      <p:sp>
        <p:nvSpPr>
          <p:cNvPr id="5" name="内容占位符 2"/>
          <p:cNvSpPr txBox="1">
            <a:spLocks/>
          </p:cNvSpPr>
          <p:nvPr/>
        </p:nvSpPr>
        <p:spPr>
          <a:xfrm>
            <a:off x="827537" y="5616534"/>
            <a:ext cx="7486650" cy="1054429"/>
          </a:xfrm>
          <a:prstGeom prst="rect">
            <a:avLst/>
          </a:prstGeom>
        </p:spPr>
        <p:txBody>
          <a:bodyPr vert="horz" lIns="0" tIns="45720" rIns="0" bIns="45720" rtlCol="0">
            <a:normAutofit fontScale="92500" lnSpcReduction="10000"/>
          </a:bodyPr>
          <a:lstStyle>
            <a:lvl1pPr marL="171450" indent="-171450" algn="l" defTabSz="685800" rtl="0" eaLnBrk="1" latinLnBrk="0" hangingPunct="1">
              <a:lnSpc>
                <a:spcPct val="90000"/>
              </a:lnSpc>
              <a:spcBef>
                <a:spcPts val="1350"/>
              </a:spcBef>
              <a:buFont typeface="Wingdings" panose="05000000000000000000" pitchFamily="2" charset="2"/>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defTabSz="685800" rtl="0" eaLnBrk="1" latinLnBrk="0" hangingPunct="1">
              <a:lnSpc>
                <a:spcPct val="90000"/>
              </a:lnSpc>
              <a:spcBef>
                <a:spcPts val="450"/>
              </a:spcBef>
              <a:buFont typeface="Wingdings" panose="05000000000000000000" pitchFamily="2" charset="2"/>
              <a:buChar char="§"/>
              <a:defRPr sz="12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6pPr>
            <a:lvl7pPr marL="22288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7pPr>
            <a:lvl8pPr marL="25717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8pPr>
            <a:lvl9pPr marL="29146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9pPr>
          </a:lstStyle>
          <a:p>
            <a:pPr marL="0" indent="0">
              <a:buNone/>
            </a:pPr>
            <a:r>
              <a:rPr lang="en-US" altLang="zh-CN" sz="2000" dirty="0"/>
              <a:t>Since a string with more than one parse tree usually has more than one meaning, we need to design unambiguous grammars for compiling applications, or to use ambiguous grammars with additional rules to resolve the ambiguities.</a:t>
            </a:r>
            <a:endParaRPr lang="zh-CN" altLang="en-US" sz="2000" dirty="0"/>
          </a:p>
        </p:txBody>
      </p:sp>
    </p:spTree>
    <p:extLst>
      <p:ext uri="{BB962C8B-B14F-4D97-AF65-F5344CB8AC3E}">
        <p14:creationId xmlns:p14="http://schemas.microsoft.com/office/powerpoint/2010/main" val="70978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LL(1) Grammar</a:t>
            </a:r>
            <a:endParaRPr lang="zh-CN" altLang="en-US" dirty="0"/>
          </a:p>
        </p:txBody>
      </p:sp>
      <p:sp>
        <p:nvSpPr>
          <p:cNvPr id="3" name="内容占位符 2"/>
          <p:cNvSpPr>
            <a:spLocks noGrp="1"/>
          </p:cNvSpPr>
          <p:nvPr>
            <p:ph idx="1"/>
          </p:nvPr>
        </p:nvSpPr>
        <p:spPr/>
        <p:txBody>
          <a:bodyPr>
            <a:normAutofit/>
          </a:bodyPr>
          <a:lstStyle/>
          <a:p>
            <a:r>
              <a:rPr lang="en-US" altLang="zh-CN" sz="2000" dirty="0"/>
              <a:t>Predictive parsers, that is, recursive-descent parsers needing no backtracking, can be constructed for a class of grammars called LL(1) .The first "L" in LL(1) stands for scanning the input from left to right, the second "L" for producing a leftmost derivation, and the "I" for using one input symbol of </a:t>
            </a:r>
            <a:r>
              <a:rPr lang="en-US" altLang="zh-CN" sz="2000" dirty="0" err="1"/>
              <a:t>lookahead</a:t>
            </a:r>
            <a:r>
              <a:rPr lang="en-US" altLang="zh-CN" sz="2000" dirty="0"/>
              <a:t> at each step to make parsing action decisions.</a:t>
            </a:r>
            <a:endParaRPr lang="zh-CN" altLang="en-US" sz="2000" dirty="0"/>
          </a:p>
        </p:txBody>
      </p:sp>
    </p:spTree>
    <p:extLst>
      <p:ext uri="{BB962C8B-B14F-4D97-AF65-F5344CB8AC3E}">
        <p14:creationId xmlns:p14="http://schemas.microsoft.com/office/powerpoint/2010/main" val="927903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LL(1) Grammar - FIRST and FOLLOW</a:t>
            </a:r>
            <a:endParaRPr lang="zh-CN" altLang="en-US" dirty="0"/>
          </a:p>
        </p:txBody>
      </p:sp>
      <p:sp>
        <p:nvSpPr>
          <p:cNvPr id="3" name="内容占位符 2"/>
          <p:cNvSpPr>
            <a:spLocks noGrp="1"/>
          </p:cNvSpPr>
          <p:nvPr>
            <p:ph idx="1"/>
          </p:nvPr>
        </p:nvSpPr>
        <p:spPr/>
        <p:txBody>
          <a:bodyPr/>
          <a:lstStyle/>
          <a:p>
            <a:pPr>
              <a:lnSpc>
                <a:spcPct val="100000"/>
              </a:lnSpc>
            </a:pPr>
            <a:r>
              <a:rPr lang="en-US" altLang="zh-CN" dirty="0"/>
              <a:t>Suppose                                  , when facing an input symbol a, if we know exactly which production of A should be designated to match a, we do not need backtracking. That is, the first terminals of                     should be different.</a:t>
            </a:r>
          </a:p>
          <a:p>
            <a:pPr>
              <a:lnSpc>
                <a:spcPct val="100000"/>
              </a:lnSpc>
            </a:pPr>
            <a:r>
              <a:rPr lang="en-US" altLang="zh-CN" dirty="0"/>
              <a:t>Formally,  </a:t>
            </a:r>
          </a:p>
          <a:p>
            <a:pPr marL="0" indent="0">
              <a:lnSpc>
                <a:spcPct val="100000"/>
              </a:lnSpc>
              <a:buNone/>
            </a:pPr>
            <a:r>
              <a:rPr lang="en-US" altLang="zh-CN" dirty="0"/>
              <a:t>         Specially, if                , we have</a:t>
            </a:r>
          </a:p>
          <a:p>
            <a:pPr marL="0" indent="0">
              <a:lnSpc>
                <a:spcPct val="100000"/>
              </a:lnSpc>
              <a:buNone/>
            </a:pPr>
            <a:r>
              <a:rPr lang="en-US" altLang="zh-CN" dirty="0"/>
              <a:t>   sometimes,     start with a nonterminal X, how to compute FIRST(X)?   </a:t>
            </a:r>
            <a:endParaRPr lang="zh-CN" altLang="en-US" dirty="0"/>
          </a:p>
        </p:txBody>
      </p:sp>
      <p:graphicFrame>
        <p:nvGraphicFramePr>
          <p:cNvPr id="4" name="对象 3"/>
          <p:cNvGraphicFramePr>
            <a:graphicFrameLocks noChangeAspect="1"/>
          </p:cNvGraphicFramePr>
          <p:nvPr>
            <p:extLst/>
          </p:nvPr>
        </p:nvGraphicFramePr>
        <p:xfrm>
          <a:off x="1938563" y="1600200"/>
          <a:ext cx="1770486" cy="359229"/>
        </p:xfrm>
        <a:graphic>
          <a:graphicData uri="http://schemas.openxmlformats.org/presentationml/2006/ole">
            <mc:AlternateContent xmlns:mc="http://schemas.openxmlformats.org/markup-compatibility/2006">
              <mc:Choice xmlns:v="urn:schemas-microsoft-com:vml" Requires="v">
                <p:oleObj spid="_x0000_s13367" name="Equation" r:id="rId3" imgW="876240" imgH="177480" progId="Equation.DSMT4">
                  <p:embed/>
                </p:oleObj>
              </mc:Choice>
              <mc:Fallback>
                <p:oleObj name="Equation" r:id="rId3" imgW="876240" imgH="177480" progId="Equation.DSMT4">
                  <p:embed/>
                  <p:pic>
                    <p:nvPicPr>
                      <p:cNvPr id="0" name=""/>
                      <p:cNvPicPr/>
                      <p:nvPr/>
                    </p:nvPicPr>
                    <p:blipFill>
                      <a:blip r:embed="rId4"/>
                      <a:stretch>
                        <a:fillRect/>
                      </a:stretch>
                    </p:blipFill>
                    <p:spPr>
                      <a:xfrm>
                        <a:off x="1938563" y="1600200"/>
                        <a:ext cx="1770486" cy="359229"/>
                      </a:xfrm>
                      <a:prstGeom prst="rect">
                        <a:avLst/>
                      </a:prstGeom>
                    </p:spPr>
                  </p:pic>
                </p:oleObj>
              </mc:Fallback>
            </mc:AlternateContent>
          </a:graphicData>
        </a:graphic>
      </p:graphicFrame>
      <p:graphicFrame>
        <p:nvGraphicFramePr>
          <p:cNvPr id="5" name="对象 4"/>
          <p:cNvGraphicFramePr>
            <a:graphicFrameLocks noChangeAspect="1"/>
          </p:cNvGraphicFramePr>
          <p:nvPr>
            <p:extLst/>
          </p:nvPr>
        </p:nvGraphicFramePr>
        <p:xfrm>
          <a:off x="5358931" y="2068286"/>
          <a:ext cx="1154112" cy="358775"/>
        </p:xfrm>
        <a:graphic>
          <a:graphicData uri="http://schemas.openxmlformats.org/presentationml/2006/ole">
            <mc:AlternateContent xmlns:mc="http://schemas.openxmlformats.org/markup-compatibility/2006">
              <mc:Choice xmlns:v="urn:schemas-microsoft-com:vml" Requires="v">
                <p:oleObj spid="_x0000_s13368" name="Equation" r:id="rId5" imgW="571320" imgH="177480" progId="Equation.DSMT4">
                  <p:embed/>
                </p:oleObj>
              </mc:Choice>
              <mc:Fallback>
                <p:oleObj name="Equation" r:id="rId5" imgW="571320" imgH="177480" progId="Equation.DSMT4">
                  <p:embed/>
                  <p:pic>
                    <p:nvPicPr>
                      <p:cNvPr id="0" name=""/>
                      <p:cNvPicPr/>
                      <p:nvPr/>
                    </p:nvPicPr>
                    <p:blipFill>
                      <a:blip r:embed="rId6"/>
                      <a:stretch>
                        <a:fillRect/>
                      </a:stretch>
                    </p:blipFill>
                    <p:spPr>
                      <a:xfrm>
                        <a:off x="5358931" y="2068286"/>
                        <a:ext cx="1154112" cy="358775"/>
                      </a:xfrm>
                      <a:prstGeom prst="rect">
                        <a:avLst/>
                      </a:prstGeom>
                    </p:spPr>
                  </p:pic>
                </p:oleObj>
              </mc:Fallback>
            </mc:AlternateContent>
          </a:graphicData>
        </a:graphic>
      </p:graphicFrame>
      <p:graphicFrame>
        <p:nvGraphicFramePr>
          <p:cNvPr id="6" name="对象 5"/>
          <p:cNvGraphicFramePr>
            <a:graphicFrameLocks noChangeAspect="1"/>
          </p:cNvGraphicFramePr>
          <p:nvPr>
            <p:extLst/>
          </p:nvPr>
        </p:nvGraphicFramePr>
        <p:xfrm>
          <a:off x="2108231" y="2427061"/>
          <a:ext cx="3201636" cy="424996"/>
        </p:xfrm>
        <a:graphic>
          <a:graphicData uri="http://schemas.openxmlformats.org/presentationml/2006/ole">
            <mc:AlternateContent xmlns:mc="http://schemas.openxmlformats.org/markup-compatibility/2006">
              <mc:Choice xmlns:v="urn:schemas-microsoft-com:vml" Requires="v">
                <p:oleObj spid="_x0000_s13369" name="Equation" r:id="rId7" imgW="1434960" imgH="190440" progId="Equation.DSMT4">
                  <p:embed/>
                </p:oleObj>
              </mc:Choice>
              <mc:Fallback>
                <p:oleObj name="Equation" r:id="rId7" imgW="1434960" imgH="190440" progId="Equation.DSMT4">
                  <p:embed/>
                  <p:pic>
                    <p:nvPicPr>
                      <p:cNvPr id="0" name=""/>
                      <p:cNvPicPr/>
                      <p:nvPr/>
                    </p:nvPicPr>
                    <p:blipFill>
                      <a:blip r:embed="rId8"/>
                      <a:stretch>
                        <a:fillRect/>
                      </a:stretch>
                    </p:blipFill>
                    <p:spPr>
                      <a:xfrm>
                        <a:off x="2108231" y="2427061"/>
                        <a:ext cx="3201636" cy="424996"/>
                      </a:xfrm>
                      <a:prstGeom prst="rect">
                        <a:avLst/>
                      </a:prstGeom>
                    </p:spPr>
                  </p:pic>
                </p:oleObj>
              </mc:Fallback>
            </mc:AlternateContent>
          </a:graphicData>
        </a:graphic>
      </p:graphicFrame>
      <p:graphicFrame>
        <p:nvGraphicFramePr>
          <p:cNvPr id="7" name="对象 6"/>
          <p:cNvGraphicFramePr>
            <a:graphicFrameLocks noChangeAspect="1"/>
          </p:cNvGraphicFramePr>
          <p:nvPr>
            <p:extLst/>
          </p:nvPr>
        </p:nvGraphicFramePr>
        <p:xfrm>
          <a:off x="2427725" y="2852057"/>
          <a:ext cx="792162" cy="369887"/>
        </p:xfrm>
        <a:graphic>
          <a:graphicData uri="http://schemas.openxmlformats.org/presentationml/2006/ole">
            <mc:AlternateContent xmlns:mc="http://schemas.openxmlformats.org/markup-compatibility/2006">
              <mc:Choice xmlns:v="urn:schemas-microsoft-com:vml" Requires="v">
                <p:oleObj spid="_x0000_s13370" name="Equation" r:id="rId9" imgW="355320" imgH="164880" progId="Equation.DSMT4">
                  <p:embed/>
                </p:oleObj>
              </mc:Choice>
              <mc:Fallback>
                <p:oleObj name="Equation" r:id="rId9" imgW="355320" imgH="164880" progId="Equation.DSMT4">
                  <p:embed/>
                  <p:pic>
                    <p:nvPicPr>
                      <p:cNvPr id="0" name=""/>
                      <p:cNvPicPr/>
                      <p:nvPr/>
                    </p:nvPicPr>
                    <p:blipFill>
                      <a:blip r:embed="rId10"/>
                      <a:stretch>
                        <a:fillRect/>
                      </a:stretch>
                    </p:blipFill>
                    <p:spPr>
                      <a:xfrm>
                        <a:off x="2427725" y="2852057"/>
                        <a:ext cx="792162" cy="369887"/>
                      </a:xfrm>
                      <a:prstGeom prst="rect">
                        <a:avLst/>
                      </a:prstGeom>
                    </p:spPr>
                  </p:pic>
                </p:oleObj>
              </mc:Fallback>
            </mc:AlternateContent>
          </a:graphicData>
        </a:graphic>
      </p:graphicFrame>
      <p:graphicFrame>
        <p:nvGraphicFramePr>
          <p:cNvPr id="8" name="对象 7"/>
          <p:cNvGraphicFramePr>
            <a:graphicFrameLocks noChangeAspect="1"/>
          </p:cNvGraphicFramePr>
          <p:nvPr>
            <p:extLst/>
          </p:nvPr>
        </p:nvGraphicFramePr>
        <p:xfrm>
          <a:off x="4242934" y="2894579"/>
          <a:ext cx="1416050" cy="339725"/>
        </p:xfrm>
        <a:graphic>
          <a:graphicData uri="http://schemas.openxmlformats.org/presentationml/2006/ole">
            <mc:AlternateContent xmlns:mc="http://schemas.openxmlformats.org/markup-compatibility/2006">
              <mc:Choice xmlns:v="urn:schemas-microsoft-com:vml" Requires="v">
                <p:oleObj spid="_x0000_s13371" name="Equation" r:id="rId11" imgW="634680" imgH="152280" progId="Equation.DSMT4">
                  <p:embed/>
                </p:oleObj>
              </mc:Choice>
              <mc:Fallback>
                <p:oleObj name="Equation" r:id="rId11" imgW="634680" imgH="152280" progId="Equation.DSMT4">
                  <p:embed/>
                  <p:pic>
                    <p:nvPicPr>
                      <p:cNvPr id="0" name=""/>
                      <p:cNvPicPr/>
                      <p:nvPr/>
                    </p:nvPicPr>
                    <p:blipFill>
                      <a:blip r:embed="rId12"/>
                      <a:stretch>
                        <a:fillRect/>
                      </a:stretch>
                    </p:blipFill>
                    <p:spPr>
                      <a:xfrm>
                        <a:off x="4242934" y="2894579"/>
                        <a:ext cx="1416050" cy="339725"/>
                      </a:xfrm>
                      <a:prstGeom prst="rect">
                        <a:avLst/>
                      </a:prstGeom>
                    </p:spPr>
                  </p:pic>
                </p:oleObj>
              </mc:Fallback>
            </mc:AlternateContent>
          </a:graphicData>
        </a:graphic>
      </p:graphicFrame>
      <p:graphicFrame>
        <p:nvGraphicFramePr>
          <p:cNvPr id="10" name="对象 9"/>
          <p:cNvGraphicFramePr>
            <a:graphicFrameLocks noChangeAspect="1"/>
          </p:cNvGraphicFramePr>
          <p:nvPr>
            <p:extLst/>
          </p:nvPr>
        </p:nvGraphicFramePr>
        <p:xfrm>
          <a:off x="2086459" y="3350532"/>
          <a:ext cx="227012" cy="254000"/>
        </p:xfrm>
        <a:graphic>
          <a:graphicData uri="http://schemas.openxmlformats.org/presentationml/2006/ole">
            <mc:AlternateContent xmlns:mc="http://schemas.openxmlformats.org/markup-compatibility/2006">
              <mc:Choice xmlns:v="urn:schemas-microsoft-com:vml" Requires="v">
                <p:oleObj spid="_x0000_s13372" name="Equation" r:id="rId13" imgW="101520" imgH="114120" progId="Equation.DSMT4">
                  <p:embed/>
                </p:oleObj>
              </mc:Choice>
              <mc:Fallback>
                <p:oleObj name="Equation" r:id="rId13" imgW="101520" imgH="114120" progId="Equation.DSMT4">
                  <p:embed/>
                  <p:pic>
                    <p:nvPicPr>
                      <p:cNvPr id="0" name=""/>
                      <p:cNvPicPr/>
                      <p:nvPr/>
                    </p:nvPicPr>
                    <p:blipFill>
                      <a:blip r:embed="rId14"/>
                      <a:stretch>
                        <a:fillRect/>
                      </a:stretch>
                    </p:blipFill>
                    <p:spPr>
                      <a:xfrm>
                        <a:off x="2086459" y="3350532"/>
                        <a:ext cx="227012" cy="254000"/>
                      </a:xfrm>
                      <a:prstGeom prst="rect">
                        <a:avLst/>
                      </a:prstGeom>
                    </p:spPr>
                  </p:pic>
                </p:oleObj>
              </mc:Fallback>
            </mc:AlternateContent>
          </a:graphicData>
        </a:graphic>
      </p:graphicFrame>
      <p:pic>
        <p:nvPicPr>
          <p:cNvPr id="11" name="图片 10"/>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371031" y="3736975"/>
            <a:ext cx="6400800" cy="2933700"/>
          </a:xfrm>
          <a:prstGeom prst="rect">
            <a:avLst/>
          </a:prstGeom>
        </p:spPr>
      </p:pic>
    </p:spTree>
    <p:extLst>
      <p:ext uri="{BB962C8B-B14F-4D97-AF65-F5344CB8AC3E}">
        <p14:creationId xmlns:p14="http://schemas.microsoft.com/office/powerpoint/2010/main" val="1271208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LL(1) Grammar - FIRST and FOLLOW</a:t>
            </a:r>
            <a:endParaRPr lang="zh-CN" altLang="en-US" dirty="0"/>
          </a:p>
        </p:txBody>
      </p:sp>
      <p:sp>
        <p:nvSpPr>
          <p:cNvPr id="3" name="内容占位符 2"/>
          <p:cNvSpPr>
            <a:spLocks noGrp="1"/>
          </p:cNvSpPr>
          <p:nvPr>
            <p:ph idx="1"/>
          </p:nvPr>
        </p:nvSpPr>
        <p:spPr/>
        <p:txBody>
          <a:bodyPr/>
          <a:lstStyle/>
          <a:p>
            <a:pPr>
              <a:lnSpc>
                <a:spcPct val="100000"/>
              </a:lnSpc>
            </a:pPr>
            <a:r>
              <a:rPr lang="en-US" altLang="zh-CN" dirty="0"/>
              <a:t>Define FOLLOW(A), for nonterminal </a:t>
            </a:r>
            <a:r>
              <a:rPr lang="en-US" altLang="zh-CN" i="1" dirty="0"/>
              <a:t>A</a:t>
            </a:r>
            <a:r>
              <a:rPr lang="en-US" altLang="zh-CN" dirty="0"/>
              <a:t>, to be the set of terminals </a:t>
            </a:r>
            <a:r>
              <a:rPr lang="en-US" altLang="zh-CN" i="1" dirty="0"/>
              <a:t>a</a:t>
            </a:r>
            <a:r>
              <a:rPr lang="en-US" altLang="zh-CN" dirty="0"/>
              <a:t> that can appear immediately to the right of </a:t>
            </a:r>
            <a:r>
              <a:rPr lang="en-US" altLang="zh-CN" i="1" dirty="0"/>
              <a:t>A</a:t>
            </a:r>
            <a:r>
              <a:rPr lang="en-US" altLang="zh-CN" dirty="0"/>
              <a:t> in some sentential form.</a:t>
            </a:r>
          </a:p>
          <a:p>
            <a:pPr>
              <a:lnSpc>
                <a:spcPct val="100000"/>
              </a:lnSpc>
            </a:pPr>
            <a:endParaRPr lang="en-US" altLang="zh-CN" dirty="0"/>
          </a:p>
          <a:p>
            <a:pPr>
              <a:lnSpc>
                <a:spcPct val="100000"/>
              </a:lnSpc>
            </a:pPr>
            <a:r>
              <a:rPr lang="en-US" altLang="zh-CN" dirty="0"/>
              <a:t>Specially, if                     we have                               , where      is the right </a:t>
            </a:r>
            <a:r>
              <a:rPr lang="en-US" altLang="zh-CN" dirty="0" err="1"/>
              <a:t>endmarker</a:t>
            </a:r>
            <a:r>
              <a:rPr lang="en-US" altLang="zh-CN" dirty="0"/>
              <a:t>.</a:t>
            </a:r>
          </a:p>
          <a:p>
            <a:pPr marL="0" indent="0">
              <a:lnSpc>
                <a:spcPct val="100000"/>
              </a:lnSpc>
              <a:buNone/>
            </a:pPr>
            <a:r>
              <a:rPr lang="en-US" altLang="zh-CN" dirty="0"/>
              <a:t>      To compute FOLLOW(A) for all </a:t>
            </a:r>
            <a:r>
              <a:rPr lang="en-US" altLang="zh-CN" dirty="0" err="1"/>
              <a:t>nonterminals</a:t>
            </a:r>
            <a:r>
              <a:rPr lang="en-US" altLang="zh-CN" dirty="0"/>
              <a:t> </a:t>
            </a:r>
            <a:r>
              <a:rPr lang="en-US" altLang="zh-CN" i="1" dirty="0"/>
              <a:t>A</a:t>
            </a:r>
            <a:r>
              <a:rPr lang="en-US" altLang="zh-CN" dirty="0"/>
              <a:t>, apply the following rules</a:t>
            </a:r>
          </a:p>
          <a:p>
            <a:pPr marL="0" indent="0">
              <a:lnSpc>
                <a:spcPct val="100000"/>
              </a:lnSpc>
              <a:spcBef>
                <a:spcPts val="0"/>
              </a:spcBef>
              <a:buNone/>
            </a:pPr>
            <a:r>
              <a:rPr lang="en-US" altLang="zh-CN" dirty="0"/>
              <a:t>until nothing can be added to any FOLLOW set.</a:t>
            </a:r>
          </a:p>
          <a:p>
            <a:pPr marL="0" indent="0">
              <a:lnSpc>
                <a:spcPct val="100000"/>
              </a:lnSpc>
              <a:buNone/>
            </a:pPr>
            <a:endParaRPr lang="en-US" altLang="zh-CN" dirty="0"/>
          </a:p>
        </p:txBody>
      </p:sp>
      <p:graphicFrame>
        <p:nvGraphicFramePr>
          <p:cNvPr id="4" name="对象 3"/>
          <p:cNvGraphicFramePr>
            <a:graphicFrameLocks noChangeAspect="1"/>
          </p:cNvGraphicFramePr>
          <p:nvPr>
            <p:extLst/>
          </p:nvPr>
        </p:nvGraphicFramePr>
        <p:xfrm>
          <a:off x="2329542" y="2247673"/>
          <a:ext cx="3815144" cy="386670"/>
        </p:xfrm>
        <a:graphic>
          <a:graphicData uri="http://schemas.openxmlformats.org/presentationml/2006/ole">
            <mc:AlternateContent xmlns:mc="http://schemas.openxmlformats.org/markup-compatibility/2006">
              <mc:Choice xmlns:v="urn:schemas-microsoft-com:vml" Requires="v">
                <p:oleObj spid="_x0000_s12325" name="Equation" r:id="rId3" imgW="1879560" imgH="190440" progId="Equation.DSMT4">
                  <p:embed/>
                </p:oleObj>
              </mc:Choice>
              <mc:Fallback>
                <p:oleObj name="Equation" r:id="rId3" imgW="1879560" imgH="190440" progId="Equation.DSMT4">
                  <p:embed/>
                  <p:pic>
                    <p:nvPicPr>
                      <p:cNvPr id="0" name=""/>
                      <p:cNvPicPr/>
                      <p:nvPr/>
                    </p:nvPicPr>
                    <p:blipFill>
                      <a:blip r:embed="rId4"/>
                      <a:stretch>
                        <a:fillRect/>
                      </a:stretch>
                    </p:blipFill>
                    <p:spPr>
                      <a:xfrm>
                        <a:off x="2329542" y="2247673"/>
                        <a:ext cx="3815144" cy="386670"/>
                      </a:xfrm>
                      <a:prstGeom prst="rect">
                        <a:avLst/>
                      </a:prstGeom>
                    </p:spPr>
                  </p:pic>
                </p:oleObj>
              </mc:Fallback>
            </mc:AlternateContent>
          </a:graphicData>
        </a:graphic>
      </p:graphicFrame>
      <p:graphicFrame>
        <p:nvGraphicFramePr>
          <p:cNvPr id="5" name="对象 4"/>
          <p:cNvGraphicFramePr>
            <a:graphicFrameLocks noChangeAspect="1"/>
          </p:cNvGraphicFramePr>
          <p:nvPr>
            <p:extLst/>
          </p:nvPr>
        </p:nvGraphicFramePr>
        <p:xfrm>
          <a:off x="2157186" y="2634343"/>
          <a:ext cx="979488" cy="334962"/>
        </p:xfrm>
        <a:graphic>
          <a:graphicData uri="http://schemas.openxmlformats.org/presentationml/2006/ole">
            <mc:AlternateContent xmlns:mc="http://schemas.openxmlformats.org/markup-compatibility/2006">
              <mc:Choice xmlns:v="urn:schemas-microsoft-com:vml" Requires="v">
                <p:oleObj spid="_x0000_s12326" name="Equation" r:id="rId5" imgW="482400" imgH="164880" progId="Equation.DSMT4">
                  <p:embed/>
                </p:oleObj>
              </mc:Choice>
              <mc:Fallback>
                <p:oleObj name="Equation" r:id="rId5" imgW="482400" imgH="164880" progId="Equation.DSMT4">
                  <p:embed/>
                  <p:pic>
                    <p:nvPicPr>
                      <p:cNvPr id="0" name=""/>
                      <p:cNvPicPr/>
                      <p:nvPr/>
                    </p:nvPicPr>
                    <p:blipFill>
                      <a:blip r:embed="rId6"/>
                      <a:stretch>
                        <a:fillRect/>
                      </a:stretch>
                    </p:blipFill>
                    <p:spPr>
                      <a:xfrm>
                        <a:off x="2157186" y="2634343"/>
                        <a:ext cx="979488" cy="334962"/>
                      </a:xfrm>
                      <a:prstGeom prst="rect">
                        <a:avLst/>
                      </a:prstGeom>
                    </p:spPr>
                  </p:pic>
                </p:oleObj>
              </mc:Fallback>
            </mc:AlternateContent>
          </a:graphicData>
        </a:graphic>
      </p:graphicFrame>
      <p:graphicFrame>
        <p:nvGraphicFramePr>
          <p:cNvPr id="6" name="对象 5"/>
          <p:cNvGraphicFramePr>
            <a:graphicFrameLocks noChangeAspect="1"/>
          </p:cNvGraphicFramePr>
          <p:nvPr>
            <p:extLst/>
          </p:nvPr>
        </p:nvGraphicFramePr>
        <p:xfrm>
          <a:off x="4076587" y="2634343"/>
          <a:ext cx="1649412" cy="334962"/>
        </p:xfrm>
        <a:graphic>
          <a:graphicData uri="http://schemas.openxmlformats.org/presentationml/2006/ole">
            <mc:AlternateContent xmlns:mc="http://schemas.openxmlformats.org/markup-compatibility/2006">
              <mc:Choice xmlns:v="urn:schemas-microsoft-com:vml" Requires="v">
                <p:oleObj spid="_x0000_s12327" name="Equation" r:id="rId7" imgW="812520" imgH="164880" progId="Equation.DSMT4">
                  <p:embed/>
                </p:oleObj>
              </mc:Choice>
              <mc:Fallback>
                <p:oleObj name="Equation" r:id="rId7" imgW="812520" imgH="164880" progId="Equation.DSMT4">
                  <p:embed/>
                  <p:pic>
                    <p:nvPicPr>
                      <p:cNvPr id="0" name=""/>
                      <p:cNvPicPr/>
                      <p:nvPr/>
                    </p:nvPicPr>
                    <p:blipFill>
                      <a:blip r:embed="rId8"/>
                      <a:stretch>
                        <a:fillRect/>
                      </a:stretch>
                    </p:blipFill>
                    <p:spPr>
                      <a:xfrm>
                        <a:off x="4076587" y="2634343"/>
                        <a:ext cx="1649412" cy="334962"/>
                      </a:xfrm>
                      <a:prstGeom prst="rect">
                        <a:avLst/>
                      </a:prstGeom>
                    </p:spPr>
                  </p:pic>
                </p:oleObj>
              </mc:Fallback>
            </mc:AlternateContent>
          </a:graphicData>
        </a:graphic>
      </p:graphicFrame>
      <p:graphicFrame>
        <p:nvGraphicFramePr>
          <p:cNvPr id="8" name="对象 7"/>
          <p:cNvGraphicFramePr>
            <a:graphicFrameLocks noChangeAspect="1"/>
          </p:cNvGraphicFramePr>
          <p:nvPr>
            <p:extLst/>
          </p:nvPr>
        </p:nvGraphicFramePr>
        <p:xfrm>
          <a:off x="6459537" y="2634343"/>
          <a:ext cx="206375" cy="309562"/>
        </p:xfrm>
        <a:graphic>
          <a:graphicData uri="http://schemas.openxmlformats.org/presentationml/2006/ole">
            <mc:AlternateContent xmlns:mc="http://schemas.openxmlformats.org/markup-compatibility/2006">
              <mc:Choice xmlns:v="urn:schemas-microsoft-com:vml" Requires="v">
                <p:oleObj spid="_x0000_s12328" name="Equation" r:id="rId9" imgW="101520" imgH="152280" progId="Equation.DSMT4">
                  <p:embed/>
                </p:oleObj>
              </mc:Choice>
              <mc:Fallback>
                <p:oleObj name="Equation" r:id="rId9" imgW="101520" imgH="152280" progId="Equation.DSMT4">
                  <p:embed/>
                  <p:pic>
                    <p:nvPicPr>
                      <p:cNvPr id="0" name=""/>
                      <p:cNvPicPr/>
                      <p:nvPr/>
                    </p:nvPicPr>
                    <p:blipFill>
                      <a:blip r:embed="rId10"/>
                      <a:stretch>
                        <a:fillRect/>
                      </a:stretch>
                    </p:blipFill>
                    <p:spPr>
                      <a:xfrm>
                        <a:off x="6459537" y="2634343"/>
                        <a:ext cx="206375" cy="309562"/>
                      </a:xfrm>
                      <a:prstGeom prst="rect">
                        <a:avLst/>
                      </a:prstGeom>
                    </p:spPr>
                  </p:pic>
                </p:oleObj>
              </mc:Fallback>
            </mc:AlternateContent>
          </a:graphicData>
        </a:graphic>
      </p:graphicFrame>
      <p:pic>
        <p:nvPicPr>
          <p:cNvPr id="9" name="图片 8"/>
          <p:cNvPicPr>
            <a:picLocks noChangeAspect="1"/>
          </p:cNvPicPr>
          <p:nvPr/>
        </p:nvPicPr>
        <p:blipFill>
          <a:blip r:embed="rId11"/>
          <a:stretch>
            <a:fillRect/>
          </a:stretch>
        </p:blipFill>
        <p:spPr>
          <a:xfrm>
            <a:off x="1287619" y="3935790"/>
            <a:ext cx="6133333" cy="600000"/>
          </a:xfrm>
          <a:prstGeom prst="rect">
            <a:avLst/>
          </a:prstGeom>
        </p:spPr>
      </p:pic>
      <p:pic>
        <p:nvPicPr>
          <p:cNvPr id="10" name="图片 9"/>
          <p:cNvPicPr>
            <a:picLocks noChangeAspect="1"/>
          </p:cNvPicPr>
          <p:nvPr/>
        </p:nvPicPr>
        <p:blipFill>
          <a:blip r:embed="rId12"/>
          <a:stretch>
            <a:fillRect/>
          </a:stretch>
        </p:blipFill>
        <p:spPr>
          <a:xfrm>
            <a:off x="1259047" y="4535790"/>
            <a:ext cx="6190476" cy="1161905"/>
          </a:xfrm>
          <a:prstGeom prst="rect">
            <a:avLst/>
          </a:prstGeom>
        </p:spPr>
      </p:pic>
    </p:spTree>
    <p:extLst>
      <p:ext uri="{BB962C8B-B14F-4D97-AF65-F5344CB8AC3E}">
        <p14:creationId xmlns:p14="http://schemas.microsoft.com/office/powerpoint/2010/main" val="1423237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LL(1) Grammar - definition</a:t>
            </a:r>
            <a:endParaRPr lang="zh-CN" altLang="en-US" dirty="0"/>
          </a:p>
        </p:txBody>
      </p:sp>
      <p:sp>
        <p:nvSpPr>
          <p:cNvPr id="3" name="内容占位符 2"/>
          <p:cNvSpPr>
            <a:spLocks noGrp="1"/>
          </p:cNvSpPr>
          <p:nvPr>
            <p:ph idx="1"/>
          </p:nvPr>
        </p:nvSpPr>
        <p:spPr/>
        <p:txBody>
          <a:bodyPr/>
          <a:lstStyle/>
          <a:p>
            <a:r>
              <a:rPr lang="en-US" altLang="zh-CN" dirty="0"/>
              <a:t>A grammar G is LL(1) if the follow conditions are satisfied:</a:t>
            </a:r>
          </a:p>
          <a:p>
            <a:pPr marL="0" indent="0">
              <a:buNone/>
            </a:pPr>
            <a:r>
              <a:rPr lang="en-US" altLang="zh-CN" dirty="0"/>
              <a:t>   (1) no left recursive production</a:t>
            </a:r>
          </a:p>
          <a:p>
            <a:pPr marL="0" indent="0">
              <a:buNone/>
            </a:pPr>
            <a:r>
              <a:rPr lang="en-US" altLang="zh-CN" dirty="0"/>
              <a:t>   (2) For each nonterminal A in the grammar, if A has the form</a:t>
            </a:r>
          </a:p>
          <a:p>
            <a:pPr marL="0" indent="0">
              <a:buNone/>
            </a:pPr>
            <a:endParaRPr lang="en-US" altLang="zh-CN" dirty="0"/>
          </a:p>
          <a:p>
            <a:pPr marL="0" indent="0">
              <a:buNone/>
            </a:pPr>
            <a:r>
              <a:rPr lang="en-US" altLang="zh-CN" dirty="0"/>
              <a:t>        then </a:t>
            </a:r>
          </a:p>
          <a:p>
            <a:pPr marL="0" indent="0">
              <a:buNone/>
            </a:pPr>
            <a:r>
              <a:rPr lang="en-US" altLang="zh-CN" dirty="0"/>
              <a:t>   (3) For each nonterminal A in the grammar, if         </a:t>
            </a:r>
          </a:p>
          <a:p>
            <a:pPr marL="0" indent="0">
              <a:buNone/>
            </a:pPr>
            <a:r>
              <a:rPr lang="en-US" altLang="zh-CN" dirty="0"/>
              <a:t>        then </a:t>
            </a:r>
            <a:endParaRPr lang="zh-CN" altLang="en-US" dirty="0"/>
          </a:p>
        </p:txBody>
      </p:sp>
      <p:graphicFrame>
        <p:nvGraphicFramePr>
          <p:cNvPr id="4" name="对象 3"/>
          <p:cNvGraphicFramePr>
            <a:graphicFrameLocks noChangeAspect="1"/>
          </p:cNvGraphicFramePr>
          <p:nvPr>
            <p:extLst/>
          </p:nvPr>
        </p:nvGraphicFramePr>
        <p:xfrm>
          <a:off x="2801938" y="2667000"/>
          <a:ext cx="1765300" cy="369888"/>
        </p:xfrm>
        <a:graphic>
          <a:graphicData uri="http://schemas.openxmlformats.org/presentationml/2006/ole">
            <mc:AlternateContent xmlns:mc="http://schemas.openxmlformats.org/markup-compatibility/2006">
              <mc:Choice xmlns:v="urn:schemas-microsoft-com:vml" Requires="v">
                <p:oleObj spid="_x0000_s11301" name="Equation" r:id="rId3" imgW="850680" imgH="177480" progId="Equation.DSMT4">
                  <p:embed/>
                </p:oleObj>
              </mc:Choice>
              <mc:Fallback>
                <p:oleObj name="Equation" r:id="rId3" imgW="850680" imgH="177480" progId="Equation.DSMT4">
                  <p:embed/>
                  <p:pic>
                    <p:nvPicPr>
                      <p:cNvPr id="0" name=""/>
                      <p:cNvPicPr/>
                      <p:nvPr/>
                    </p:nvPicPr>
                    <p:blipFill>
                      <a:blip r:embed="rId4"/>
                      <a:stretch>
                        <a:fillRect/>
                      </a:stretch>
                    </p:blipFill>
                    <p:spPr>
                      <a:xfrm>
                        <a:off x="2801938" y="2667000"/>
                        <a:ext cx="1765300" cy="369888"/>
                      </a:xfrm>
                      <a:prstGeom prst="rect">
                        <a:avLst/>
                      </a:prstGeom>
                    </p:spPr>
                  </p:pic>
                </p:oleObj>
              </mc:Fallback>
            </mc:AlternateContent>
          </a:graphicData>
        </a:graphic>
      </p:graphicFrame>
      <p:graphicFrame>
        <p:nvGraphicFramePr>
          <p:cNvPr id="5" name="对象 4"/>
          <p:cNvGraphicFramePr>
            <a:graphicFrameLocks noChangeAspect="1"/>
          </p:cNvGraphicFramePr>
          <p:nvPr>
            <p:extLst/>
          </p:nvPr>
        </p:nvGraphicFramePr>
        <p:xfrm>
          <a:off x="1931534" y="3123389"/>
          <a:ext cx="3288860" cy="370924"/>
        </p:xfrm>
        <a:graphic>
          <a:graphicData uri="http://schemas.openxmlformats.org/presentationml/2006/ole">
            <mc:AlternateContent xmlns:mc="http://schemas.openxmlformats.org/markup-compatibility/2006">
              <mc:Choice xmlns:v="urn:schemas-microsoft-com:vml" Requires="v">
                <p:oleObj spid="_x0000_s11302" name="Equation" r:id="rId5" imgW="1688760" imgH="190440" progId="Equation.DSMT4">
                  <p:embed/>
                </p:oleObj>
              </mc:Choice>
              <mc:Fallback>
                <p:oleObj name="Equation" r:id="rId5" imgW="1688760" imgH="190440" progId="Equation.DSMT4">
                  <p:embed/>
                  <p:pic>
                    <p:nvPicPr>
                      <p:cNvPr id="0" name=""/>
                      <p:cNvPicPr/>
                      <p:nvPr/>
                    </p:nvPicPr>
                    <p:blipFill>
                      <a:blip r:embed="rId6"/>
                      <a:stretch>
                        <a:fillRect/>
                      </a:stretch>
                    </p:blipFill>
                    <p:spPr>
                      <a:xfrm>
                        <a:off x="1931534" y="3123389"/>
                        <a:ext cx="3288860" cy="370924"/>
                      </a:xfrm>
                      <a:prstGeom prst="rect">
                        <a:avLst/>
                      </a:prstGeom>
                    </p:spPr>
                  </p:pic>
                </p:oleObj>
              </mc:Fallback>
            </mc:AlternateContent>
          </a:graphicData>
        </a:graphic>
      </p:graphicFrame>
      <p:graphicFrame>
        <p:nvGraphicFramePr>
          <p:cNvPr id="6" name="对象 5"/>
          <p:cNvGraphicFramePr>
            <a:graphicFrameLocks noChangeAspect="1"/>
          </p:cNvGraphicFramePr>
          <p:nvPr>
            <p:extLst/>
          </p:nvPr>
        </p:nvGraphicFramePr>
        <p:xfrm>
          <a:off x="5192713" y="3494088"/>
          <a:ext cx="1471612" cy="339725"/>
        </p:xfrm>
        <a:graphic>
          <a:graphicData uri="http://schemas.openxmlformats.org/presentationml/2006/ole">
            <mc:AlternateContent xmlns:mc="http://schemas.openxmlformats.org/markup-compatibility/2006">
              <mc:Choice xmlns:v="urn:schemas-microsoft-com:vml" Requires="v">
                <p:oleObj spid="_x0000_s11303" name="Equation" r:id="rId7" imgW="660240" imgH="152280" progId="Equation.DSMT4">
                  <p:embed/>
                </p:oleObj>
              </mc:Choice>
              <mc:Fallback>
                <p:oleObj name="Equation" r:id="rId7" imgW="660240" imgH="152280" progId="Equation.DSMT4">
                  <p:embed/>
                  <p:pic>
                    <p:nvPicPr>
                      <p:cNvPr id="0" name=""/>
                      <p:cNvPicPr/>
                      <p:nvPr/>
                    </p:nvPicPr>
                    <p:blipFill>
                      <a:blip r:embed="rId8"/>
                      <a:stretch>
                        <a:fillRect/>
                      </a:stretch>
                    </p:blipFill>
                    <p:spPr>
                      <a:xfrm>
                        <a:off x="5192713" y="3494088"/>
                        <a:ext cx="1471612" cy="339725"/>
                      </a:xfrm>
                      <a:prstGeom prst="rect">
                        <a:avLst/>
                      </a:prstGeom>
                    </p:spPr>
                  </p:pic>
                </p:oleObj>
              </mc:Fallback>
            </mc:AlternateContent>
          </a:graphicData>
        </a:graphic>
      </p:graphicFrame>
      <p:graphicFrame>
        <p:nvGraphicFramePr>
          <p:cNvPr id="7" name="对象 6"/>
          <p:cNvGraphicFramePr>
            <a:graphicFrameLocks noChangeAspect="1"/>
          </p:cNvGraphicFramePr>
          <p:nvPr>
            <p:extLst/>
          </p:nvPr>
        </p:nvGraphicFramePr>
        <p:xfrm>
          <a:off x="1931534" y="3886200"/>
          <a:ext cx="2695575" cy="298450"/>
        </p:xfrm>
        <a:graphic>
          <a:graphicData uri="http://schemas.openxmlformats.org/presentationml/2006/ole">
            <mc:AlternateContent xmlns:mc="http://schemas.openxmlformats.org/markup-compatibility/2006">
              <mc:Choice xmlns:v="urn:schemas-microsoft-com:vml" Requires="v">
                <p:oleObj spid="_x0000_s11304" name="Equation" r:id="rId9" imgW="1384200" imgH="152280" progId="Equation.DSMT4">
                  <p:embed/>
                </p:oleObj>
              </mc:Choice>
              <mc:Fallback>
                <p:oleObj name="Equation" r:id="rId9" imgW="1384200" imgH="152280" progId="Equation.DSMT4">
                  <p:embed/>
                  <p:pic>
                    <p:nvPicPr>
                      <p:cNvPr id="0" name=""/>
                      <p:cNvPicPr/>
                      <p:nvPr/>
                    </p:nvPicPr>
                    <p:blipFill>
                      <a:blip r:embed="rId10"/>
                      <a:stretch>
                        <a:fillRect/>
                      </a:stretch>
                    </p:blipFill>
                    <p:spPr>
                      <a:xfrm>
                        <a:off x="1931534" y="3886200"/>
                        <a:ext cx="2695575" cy="298450"/>
                      </a:xfrm>
                      <a:prstGeom prst="rect">
                        <a:avLst/>
                      </a:prstGeom>
                    </p:spPr>
                  </p:pic>
                </p:oleObj>
              </mc:Fallback>
            </mc:AlternateContent>
          </a:graphicData>
        </a:graphic>
      </p:graphicFrame>
    </p:spTree>
    <p:extLst>
      <p:ext uri="{BB962C8B-B14F-4D97-AF65-F5344CB8AC3E}">
        <p14:creationId xmlns:p14="http://schemas.microsoft.com/office/powerpoint/2010/main" val="1732036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LL(1) Top-Down Parsing (Framework)</a:t>
            </a:r>
            <a:endParaRPr lang="zh-CN" altLang="en-US" dirty="0"/>
          </a:p>
        </p:txBody>
      </p:sp>
      <p:sp>
        <p:nvSpPr>
          <p:cNvPr id="3" name="内容占位符 2"/>
          <p:cNvSpPr>
            <a:spLocks noGrp="1"/>
          </p:cNvSpPr>
          <p:nvPr>
            <p:ph idx="1"/>
          </p:nvPr>
        </p:nvSpPr>
        <p:spPr/>
        <p:txBody>
          <a:bodyPr/>
          <a:lstStyle/>
          <a:p>
            <a:pPr>
              <a:lnSpc>
                <a:spcPct val="100000"/>
              </a:lnSpc>
            </a:pPr>
            <a:r>
              <a:rPr lang="en-US" altLang="zh-CN" dirty="0"/>
              <a:t>Suppose that we use a nonterminal </a:t>
            </a:r>
            <a:r>
              <a:rPr lang="en-US" altLang="zh-CN" i="1" dirty="0"/>
              <a:t>A</a:t>
            </a:r>
            <a:r>
              <a:rPr lang="zh-CN" altLang="en-US" dirty="0"/>
              <a:t> </a:t>
            </a:r>
            <a:r>
              <a:rPr lang="en-US" altLang="zh-CN" dirty="0"/>
              <a:t>to match input symbol </a:t>
            </a:r>
            <a:r>
              <a:rPr lang="en-US" altLang="zh-CN" i="1" dirty="0"/>
              <a:t>a</a:t>
            </a:r>
            <a:r>
              <a:rPr lang="en-US" altLang="zh-CN" dirty="0"/>
              <a:t> , if the production of </a:t>
            </a:r>
            <a:r>
              <a:rPr lang="en-US" altLang="zh-CN" i="1" dirty="0"/>
              <a:t>A</a:t>
            </a:r>
            <a:r>
              <a:rPr lang="en-US" altLang="zh-CN" dirty="0"/>
              <a:t> is</a:t>
            </a:r>
          </a:p>
          <a:p>
            <a:pPr marL="0" indent="0">
              <a:lnSpc>
                <a:spcPct val="100000"/>
              </a:lnSpc>
              <a:buNone/>
            </a:pPr>
            <a:r>
              <a:rPr lang="en-US" altLang="zh-CN" dirty="0"/>
              <a:t>   (1) if                           then we use      to match input a</a:t>
            </a:r>
          </a:p>
          <a:p>
            <a:pPr marL="0" indent="0">
              <a:lnSpc>
                <a:spcPct val="100000"/>
              </a:lnSpc>
              <a:buNone/>
            </a:pPr>
            <a:r>
              <a:rPr lang="en-US" altLang="zh-CN" dirty="0"/>
              <a:t>   (2) if </a:t>
            </a:r>
          </a:p>
          <a:p>
            <a:pPr lvl="2">
              <a:lnSpc>
                <a:spcPct val="100000"/>
              </a:lnSpc>
              <a:buFont typeface="Wingdings" panose="05000000000000000000" pitchFamily="2" charset="2"/>
              <a:buChar char="u"/>
            </a:pPr>
            <a:r>
              <a:rPr lang="en-US" altLang="zh-CN" sz="1600" dirty="0"/>
              <a:t>     if                           and                               then let A match </a:t>
            </a:r>
          </a:p>
          <a:p>
            <a:pPr lvl="2">
              <a:lnSpc>
                <a:spcPct val="100000"/>
              </a:lnSpc>
              <a:buFont typeface="Wingdings" panose="05000000000000000000" pitchFamily="2" charset="2"/>
              <a:buChar char="u"/>
            </a:pPr>
            <a:r>
              <a:rPr lang="en-US" altLang="zh-CN" sz="1600" dirty="0"/>
              <a:t>     otherwise, the occurrence of a is an error.</a:t>
            </a:r>
          </a:p>
          <a:p>
            <a:pPr marL="685800" lvl="2" indent="0">
              <a:lnSpc>
                <a:spcPct val="100000"/>
              </a:lnSpc>
              <a:buNone/>
            </a:pPr>
            <a:endParaRPr lang="en-US" altLang="zh-CN" sz="1600" dirty="0"/>
          </a:p>
          <a:p>
            <a:pPr marL="0" lvl="2" indent="0">
              <a:lnSpc>
                <a:spcPct val="100000"/>
              </a:lnSpc>
              <a:buNone/>
            </a:pPr>
            <a:r>
              <a:rPr lang="en-US" altLang="zh-CN" sz="1600" dirty="0"/>
              <a:t>According to LL(1) Grammar, each step is deterministic. It will result in a Recursive-Descent Parsing without Backtracking.</a:t>
            </a:r>
          </a:p>
          <a:p>
            <a:pPr marL="0" lvl="2" indent="0">
              <a:lnSpc>
                <a:spcPct val="100000"/>
              </a:lnSpc>
              <a:buNone/>
            </a:pPr>
            <a:r>
              <a:rPr lang="en-US" altLang="zh-CN" dirty="0"/>
              <a:t>   </a:t>
            </a:r>
            <a:endParaRPr lang="zh-CN" altLang="en-US" dirty="0"/>
          </a:p>
        </p:txBody>
      </p:sp>
      <p:graphicFrame>
        <p:nvGraphicFramePr>
          <p:cNvPr id="4" name="对象 3"/>
          <p:cNvGraphicFramePr>
            <a:graphicFrameLocks noChangeAspect="1"/>
          </p:cNvGraphicFramePr>
          <p:nvPr>
            <p:extLst/>
          </p:nvPr>
        </p:nvGraphicFramePr>
        <p:xfrm>
          <a:off x="2779713" y="1819275"/>
          <a:ext cx="1765300" cy="368300"/>
        </p:xfrm>
        <a:graphic>
          <a:graphicData uri="http://schemas.openxmlformats.org/presentationml/2006/ole">
            <mc:AlternateContent xmlns:mc="http://schemas.openxmlformats.org/markup-compatibility/2006">
              <mc:Choice xmlns:v="urn:schemas-microsoft-com:vml" Requires="v">
                <p:oleObj spid="_x0000_s10304" name="Equation" r:id="rId3" imgW="850680" imgH="177480" progId="Equation.DSMT4">
                  <p:embed/>
                </p:oleObj>
              </mc:Choice>
              <mc:Fallback>
                <p:oleObj name="Equation" r:id="rId3" imgW="850680" imgH="177480" progId="Equation.DSMT4">
                  <p:embed/>
                  <p:pic>
                    <p:nvPicPr>
                      <p:cNvPr id="0" name=""/>
                      <p:cNvPicPr/>
                      <p:nvPr/>
                    </p:nvPicPr>
                    <p:blipFill>
                      <a:blip r:embed="rId4"/>
                      <a:stretch>
                        <a:fillRect/>
                      </a:stretch>
                    </p:blipFill>
                    <p:spPr>
                      <a:xfrm>
                        <a:off x="2779713" y="1819275"/>
                        <a:ext cx="1765300" cy="368300"/>
                      </a:xfrm>
                      <a:prstGeom prst="rect">
                        <a:avLst/>
                      </a:prstGeom>
                    </p:spPr>
                  </p:pic>
                </p:oleObj>
              </mc:Fallback>
            </mc:AlternateContent>
          </a:graphicData>
        </a:graphic>
      </p:graphicFrame>
      <p:graphicFrame>
        <p:nvGraphicFramePr>
          <p:cNvPr id="5" name="对象 4"/>
          <p:cNvGraphicFramePr>
            <a:graphicFrameLocks noChangeAspect="1"/>
          </p:cNvGraphicFramePr>
          <p:nvPr>
            <p:extLst/>
          </p:nvPr>
        </p:nvGraphicFramePr>
        <p:xfrm>
          <a:off x="1492704" y="2221506"/>
          <a:ext cx="1422400" cy="368300"/>
        </p:xfrm>
        <a:graphic>
          <a:graphicData uri="http://schemas.openxmlformats.org/presentationml/2006/ole">
            <mc:AlternateContent xmlns:mc="http://schemas.openxmlformats.org/markup-compatibility/2006">
              <mc:Choice xmlns:v="urn:schemas-microsoft-com:vml" Requires="v">
                <p:oleObj spid="_x0000_s10305" name="Equation" r:id="rId5" imgW="685800" imgH="177480" progId="Equation.DSMT4">
                  <p:embed/>
                </p:oleObj>
              </mc:Choice>
              <mc:Fallback>
                <p:oleObj name="Equation" r:id="rId5" imgW="685800" imgH="177480" progId="Equation.DSMT4">
                  <p:embed/>
                  <p:pic>
                    <p:nvPicPr>
                      <p:cNvPr id="0" name=""/>
                      <p:cNvPicPr/>
                      <p:nvPr/>
                    </p:nvPicPr>
                    <p:blipFill>
                      <a:blip r:embed="rId6"/>
                      <a:stretch>
                        <a:fillRect/>
                      </a:stretch>
                    </p:blipFill>
                    <p:spPr>
                      <a:xfrm>
                        <a:off x="1492704" y="2221506"/>
                        <a:ext cx="1422400" cy="368300"/>
                      </a:xfrm>
                      <a:prstGeom prst="rect">
                        <a:avLst/>
                      </a:prstGeom>
                    </p:spPr>
                  </p:pic>
                </p:oleObj>
              </mc:Fallback>
            </mc:AlternateContent>
          </a:graphicData>
        </a:graphic>
      </p:graphicFrame>
      <p:graphicFrame>
        <p:nvGraphicFramePr>
          <p:cNvPr id="6" name="对象 5"/>
          <p:cNvGraphicFramePr>
            <a:graphicFrameLocks noChangeAspect="1"/>
          </p:cNvGraphicFramePr>
          <p:nvPr>
            <p:extLst/>
          </p:nvPr>
        </p:nvGraphicFramePr>
        <p:xfrm>
          <a:off x="4093709" y="2202370"/>
          <a:ext cx="290512" cy="368300"/>
        </p:xfrm>
        <a:graphic>
          <a:graphicData uri="http://schemas.openxmlformats.org/presentationml/2006/ole">
            <mc:AlternateContent xmlns:mc="http://schemas.openxmlformats.org/markup-compatibility/2006">
              <mc:Choice xmlns:v="urn:schemas-microsoft-com:vml" Requires="v">
                <p:oleObj spid="_x0000_s10306" name="Equation" r:id="rId7" imgW="139680" imgH="177480" progId="Equation.DSMT4">
                  <p:embed/>
                </p:oleObj>
              </mc:Choice>
              <mc:Fallback>
                <p:oleObj name="Equation" r:id="rId7" imgW="139680" imgH="177480" progId="Equation.DSMT4">
                  <p:embed/>
                  <p:pic>
                    <p:nvPicPr>
                      <p:cNvPr id="0" name=""/>
                      <p:cNvPicPr/>
                      <p:nvPr/>
                    </p:nvPicPr>
                    <p:blipFill>
                      <a:blip r:embed="rId8"/>
                      <a:stretch>
                        <a:fillRect/>
                      </a:stretch>
                    </p:blipFill>
                    <p:spPr>
                      <a:xfrm>
                        <a:off x="4093709" y="2202370"/>
                        <a:ext cx="290512" cy="368300"/>
                      </a:xfrm>
                      <a:prstGeom prst="rect">
                        <a:avLst/>
                      </a:prstGeom>
                    </p:spPr>
                  </p:pic>
                </p:oleObj>
              </mc:Fallback>
            </mc:AlternateContent>
          </a:graphicData>
        </a:graphic>
      </p:graphicFrame>
      <p:graphicFrame>
        <p:nvGraphicFramePr>
          <p:cNvPr id="7" name="对象 6"/>
          <p:cNvGraphicFramePr>
            <a:graphicFrameLocks noChangeAspect="1"/>
          </p:cNvGraphicFramePr>
          <p:nvPr>
            <p:extLst/>
          </p:nvPr>
        </p:nvGraphicFramePr>
        <p:xfrm>
          <a:off x="1492704" y="2624050"/>
          <a:ext cx="4503738" cy="368300"/>
        </p:xfrm>
        <a:graphic>
          <a:graphicData uri="http://schemas.openxmlformats.org/presentationml/2006/ole">
            <mc:AlternateContent xmlns:mc="http://schemas.openxmlformats.org/markup-compatibility/2006">
              <mc:Choice xmlns:v="urn:schemas-microsoft-com:vml" Requires="v">
                <p:oleObj spid="_x0000_s10307" name="Equation" r:id="rId9" imgW="2171520" imgH="177480" progId="Equation.DSMT4">
                  <p:embed/>
                </p:oleObj>
              </mc:Choice>
              <mc:Fallback>
                <p:oleObj name="Equation" r:id="rId9" imgW="2171520" imgH="177480" progId="Equation.DSMT4">
                  <p:embed/>
                  <p:pic>
                    <p:nvPicPr>
                      <p:cNvPr id="0" name=""/>
                      <p:cNvPicPr/>
                      <p:nvPr/>
                    </p:nvPicPr>
                    <p:blipFill>
                      <a:blip r:embed="rId10"/>
                      <a:stretch>
                        <a:fillRect/>
                      </a:stretch>
                    </p:blipFill>
                    <p:spPr>
                      <a:xfrm>
                        <a:off x="1492704" y="2624050"/>
                        <a:ext cx="4503738" cy="368300"/>
                      </a:xfrm>
                      <a:prstGeom prst="rect">
                        <a:avLst/>
                      </a:prstGeom>
                    </p:spPr>
                  </p:pic>
                </p:oleObj>
              </mc:Fallback>
            </mc:AlternateContent>
          </a:graphicData>
        </a:graphic>
      </p:graphicFrame>
      <p:graphicFrame>
        <p:nvGraphicFramePr>
          <p:cNvPr id="8" name="对象 7"/>
          <p:cNvGraphicFramePr>
            <a:graphicFrameLocks noChangeAspect="1"/>
          </p:cNvGraphicFramePr>
          <p:nvPr>
            <p:extLst/>
          </p:nvPr>
        </p:nvGraphicFramePr>
        <p:xfrm>
          <a:off x="2244725" y="2898775"/>
          <a:ext cx="1528763" cy="396875"/>
        </p:xfrm>
        <a:graphic>
          <a:graphicData uri="http://schemas.openxmlformats.org/presentationml/2006/ole">
            <mc:AlternateContent xmlns:mc="http://schemas.openxmlformats.org/markup-compatibility/2006">
              <mc:Choice xmlns:v="urn:schemas-microsoft-com:vml" Requires="v">
                <p:oleObj spid="_x0000_s10308" name="Equation" r:id="rId11" imgW="685800" imgH="177480" progId="Equation.DSMT4">
                  <p:embed/>
                </p:oleObj>
              </mc:Choice>
              <mc:Fallback>
                <p:oleObj name="Equation" r:id="rId11" imgW="685800" imgH="177480" progId="Equation.DSMT4">
                  <p:embed/>
                  <p:pic>
                    <p:nvPicPr>
                      <p:cNvPr id="0" name=""/>
                      <p:cNvPicPr/>
                      <p:nvPr/>
                    </p:nvPicPr>
                    <p:blipFill>
                      <a:blip r:embed="rId12"/>
                      <a:stretch>
                        <a:fillRect/>
                      </a:stretch>
                    </p:blipFill>
                    <p:spPr>
                      <a:xfrm>
                        <a:off x="2244725" y="2898775"/>
                        <a:ext cx="1528763" cy="396875"/>
                      </a:xfrm>
                      <a:prstGeom prst="rect">
                        <a:avLst/>
                      </a:prstGeom>
                    </p:spPr>
                  </p:pic>
                </p:oleObj>
              </mc:Fallback>
            </mc:AlternateContent>
          </a:graphicData>
        </a:graphic>
      </p:graphicFrame>
      <p:graphicFrame>
        <p:nvGraphicFramePr>
          <p:cNvPr id="9" name="对象 8"/>
          <p:cNvGraphicFramePr>
            <a:graphicFrameLocks noChangeAspect="1"/>
          </p:cNvGraphicFramePr>
          <p:nvPr>
            <p:extLst/>
          </p:nvPr>
        </p:nvGraphicFramePr>
        <p:xfrm>
          <a:off x="4238965" y="2963635"/>
          <a:ext cx="1685925" cy="315913"/>
        </p:xfrm>
        <a:graphic>
          <a:graphicData uri="http://schemas.openxmlformats.org/presentationml/2006/ole">
            <mc:AlternateContent xmlns:mc="http://schemas.openxmlformats.org/markup-compatibility/2006">
              <mc:Choice xmlns:v="urn:schemas-microsoft-com:vml" Requires="v">
                <p:oleObj spid="_x0000_s10309" name="Equation" r:id="rId13" imgW="812520" imgH="152280" progId="Equation.DSMT4">
                  <p:embed/>
                </p:oleObj>
              </mc:Choice>
              <mc:Fallback>
                <p:oleObj name="Equation" r:id="rId13" imgW="812520" imgH="152280" progId="Equation.DSMT4">
                  <p:embed/>
                  <p:pic>
                    <p:nvPicPr>
                      <p:cNvPr id="0" name=""/>
                      <p:cNvPicPr/>
                      <p:nvPr/>
                    </p:nvPicPr>
                    <p:blipFill>
                      <a:blip r:embed="rId14"/>
                      <a:stretch>
                        <a:fillRect/>
                      </a:stretch>
                    </p:blipFill>
                    <p:spPr>
                      <a:xfrm>
                        <a:off x="4238965" y="2963635"/>
                        <a:ext cx="1685925" cy="315913"/>
                      </a:xfrm>
                      <a:prstGeom prst="rect">
                        <a:avLst/>
                      </a:prstGeom>
                    </p:spPr>
                  </p:pic>
                </p:oleObj>
              </mc:Fallback>
            </mc:AlternateContent>
          </a:graphicData>
        </a:graphic>
      </p:graphicFrame>
      <p:graphicFrame>
        <p:nvGraphicFramePr>
          <p:cNvPr id="10" name="对象 9"/>
          <p:cNvGraphicFramePr>
            <a:graphicFrameLocks noChangeAspect="1"/>
          </p:cNvGraphicFramePr>
          <p:nvPr>
            <p:extLst/>
          </p:nvPr>
        </p:nvGraphicFramePr>
        <p:xfrm>
          <a:off x="7639731" y="2973257"/>
          <a:ext cx="227012" cy="255588"/>
        </p:xfrm>
        <a:graphic>
          <a:graphicData uri="http://schemas.openxmlformats.org/presentationml/2006/ole">
            <mc:AlternateContent xmlns:mc="http://schemas.openxmlformats.org/markup-compatibility/2006">
              <mc:Choice xmlns:v="urn:schemas-microsoft-com:vml" Requires="v">
                <p:oleObj spid="_x0000_s10310" name="Equation" r:id="rId15" imgW="101520" imgH="114120" progId="Equation.DSMT4">
                  <p:embed/>
                </p:oleObj>
              </mc:Choice>
              <mc:Fallback>
                <p:oleObj name="Equation" r:id="rId15" imgW="101520" imgH="114120" progId="Equation.DSMT4">
                  <p:embed/>
                  <p:pic>
                    <p:nvPicPr>
                      <p:cNvPr id="0" name=""/>
                      <p:cNvPicPr/>
                      <p:nvPr/>
                    </p:nvPicPr>
                    <p:blipFill>
                      <a:blip r:embed="rId16"/>
                      <a:stretch>
                        <a:fillRect/>
                      </a:stretch>
                    </p:blipFill>
                    <p:spPr>
                      <a:xfrm>
                        <a:off x="7639731" y="2973257"/>
                        <a:ext cx="227012" cy="255588"/>
                      </a:xfrm>
                      <a:prstGeom prst="rect">
                        <a:avLst/>
                      </a:prstGeom>
                    </p:spPr>
                  </p:pic>
                </p:oleObj>
              </mc:Fallback>
            </mc:AlternateContent>
          </a:graphicData>
        </a:graphic>
      </p:graphicFrame>
    </p:spTree>
    <p:extLst>
      <p:ext uri="{BB962C8B-B14F-4D97-AF65-F5344CB8AC3E}">
        <p14:creationId xmlns:p14="http://schemas.microsoft.com/office/powerpoint/2010/main" val="2892315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4.6 Predictive Parsing for LL(1) Grammar</a:t>
            </a:r>
            <a:endParaRPr lang="zh-CN" altLang="en-US" dirty="0"/>
          </a:p>
        </p:txBody>
      </p:sp>
      <p:sp>
        <p:nvSpPr>
          <p:cNvPr id="3" name="内容占位符 2"/>
          <p:cNvSpPr>
            <a:spLocks noGrp="1"/>
          </p:cNvSpPr>
          <p:nvPr>
            <p:ph idx="1"/>
          </p:nvPr>
        </p:nvSpPr>
        <p:spPr>
          <a:xfrm>
            <a:off x="828675" y="1600200"/>
            <a:ext cx="7486650" cy="566057"/>
          </a:xfrm>
        </p:spPr>
        <p:txBody>
          <a:bodyPr/>
          <a:lstStyle/>
          <a:p>
            <a:r>
              <a:rPr lang="en-US" altLang="zh-CN" dirty="0"/>
              <a:t>Construction of a predictive parsing table M.</a:t>
            </a:r>
            <a:endParaRPr lang="zh-CN" altLang="en-US" dirty="0"/>
          </a:p>
        </p:txBody>
      </p:sp>
      <p:pic>
        <p:nvPicPr>
          <p:cNvPr id="4" name="图片 3"/>
          <p:cNvPicPr>
            <a:picLocks noChangeAspect="1"/>
          </p:cNvPicPr>
          <p:nvPr/>
        </p:nvPicPr>
        <p:blipFill>
          <a:blip r:embed="rId2"/>
          <a:stretch>
            <a:fillRect/>
          </a:stretch>
        </p:blipFill>
        <p:spPr>
          <a:xfrm>
            <a:off x="828675" y="2166257"/>
            <a:ext cx="7895238" cy="2904762"/>
          </a:xfrm>
          <a:prstGeom prst="rect">
            <a:avLst/>
          </a:prstGeom>
        </p:spPr>
      </p:pic>
      <p:pic>
        <p:nvPicPr>
          <p:cNvPr id="5" name="图片 4"/>
          <p:cNvPicPr>
            <a:picLocks noChangeAspect="1"/>
          </p:cNvPicPr>
          <p:nvPr/>
        </p:nvPicPr>
        <p:blipFill>
          <a:blip r:embed="rId3"/>
          <a:stretch>
            <a:fillRect/>
          </a:stretch>
        </p:blipFill>
        <p:spPr>
          <a:xfrm>
            <a:off x="942800" y="4987924"/>
            <a:ext cx="8085714" cy="1076190"/>
          </a:xfrm>
          <a:prstGeom prst="rect">
            <a:avLst/>
          </a:prstGeom>
        </p:spPr>
      </p:pic>
    </p:spTree>
    <p:extLst>
      <p:ext uri="{BB962C8B-B14F-4D97-AF65-F5344CB8AC3E}">
        <p14:creationId xmlns:p14="http://schemas.microsoft.com/office/powerpoint/2010/main" val="123576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4.6 Predictive Parsing for LL(1) Grammar</a:t>
            </a:r>
            <a:endParaRPr lang="zh-CN" altLang="en-US" dirty="0"/>
          </a:p>
        </p:txBody>
      </p:sp>
      <p:pic>
        <p:nvPicPr>
          <p:cNvPr id="4" name="图片 3"/>
          <p:cNvPicPr>
            <a:picLocks noChangeAspect="1"/>
          </p:cNvPicPr>
          <p:nvPr/>
        </p:nvPicPr>
        <p:blipFill>
          <a:blip r:embed="rId2"/>
          <a:stretch>
            <a:fillRect/>
          </a:stretch>
        </p:blipFill>
        <p:spPr>
          <a:xfrm>
            <a:off x="828675" y="1480553"/>
            <a:ext cx="5539468" cy="1066565"/>
          </a:xfrm>
          <a:prstGeom prst="rect">
            <a:avLst/>
          </a:prstGeom>
        </p:spPr>
      </p:pic>
      <p:pic>
        <p:nvPicPr>
          <p:cNvPr id="5" name="图片 4"/>
          <p:cNvPicPr>
            <a:picLocks noChangeAspect="1"/>
          </p:cNvPicPr>
          <p:nvPr/>
        </p:nvPicPr>
        <p:blipFill>
          <a:blip r:embed="rId3"/>
          <a:stretch>
            <a:fillRect/>
          </a:stretch>
        </p:blipFill>
        <p:spPr>
          <a:xfrm>
            <a:off x="785131" y="2547118"/>
            <a:ext cx="6023610" cy="3886200"/>
          </a:xfrm>
          <a:prstGeom prst="rect">
            <a:avLst/>
          </a:prstGeom>
        </p:spPr>
      </p:pic>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75540" y="3442102"/>
            <a:ext cx="3255309" cy="1924555"/>
          </a:xfrm>
          <a:prstGeom prst="rect">
            <a:avLst/>
          </a:prstGeom>
        </p:spPr>
      </p:pic>
    </p:spTree>
    <p:extLst>
      <p:ext uri="{BB962C8B-B14F-4D97-AF65-F5344CB8AC3E}">
        <p14:creationId xmlns:p14="http://schemas.microsoft.com/office/powerpoint/2010/main" val="3708005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Example</a:t>
            </a:r>
            <a:endParaRPr lang="zh-CN" altLang="en-US" dirty="0"/>
          </a:p>
        </p:txBody>
      </p:sp>
      <p:sp>
        <p:nvSpPr>
          <p:cNvPr id="4" name="Rectangle 2"/>
          <p:cNvSpPr>
            <a:spLocks noChangeArrowheads="1"/>
          </p:cNvSpPr>
          <p:nvPr/>
        </p:nvSpPr>
        <p:spPr bwMode="auto">
          <a:xfrm>
            <a:off x="828675" y="1381389"/>
            <a:ext cx="3142207"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5334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533400" algn="l"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Consider Grammar G3:</a:t>
            </a:r>
            <a:endParaRPr kumimoji="0" lang="en-US" altLang="zh-CN" sz="2000" b="0" i="0" u="none" strike="noStrike" cap="none" normalizeH="0" baseline="0" dirty="0">
              <a:ln>
                <a:noFill/>
              </a:ln>
              <a:solidFill>
                <a:schemeClr val="tx1"/>
              </a:solidFill>
              <a:effectLst/>
            </a:endParaRPr>
          </a:p>
          <a:p>
            <a:pPr marL="0" marR="0" lvl="0" indent="53340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940264777"/>
              </p:ext>
            </p:extLst>
          </p:nvPr>
        </p:nvGraphicFramePr>
        <p:xfrm>
          <a:off x="1416504" y="1752438"/>
          <a:ext cx="1108982" cy="1159390"/>
        </p:xfrm>
        <a:graphic>
          <a:graphicData uri="http://schemas.openxmlformats.org/presentationml/2006/ole">
            <mc:AlternateContent xmlns:mc="http://schemas.openxmlformats.org/markup-compatibility/2006">
              <mc:Choice xmlns:v="urn:schemas-microsoft-com:vml" Requires="v">
                <p:oleObj spid="_x0000_s9229" name="Equation" r:id="rId3" imgW="457200" imgH="482600" progId="Equation.DSMT4">
                  <p:embed/>
                </p:oleObj>
              </mc:Choice>
              <mc:Fallback>
                <p:oleObj name="Equation" r:id="rId3" imgW="457200" imgH="482600"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16504" y="1752438"/>
                        <a:ext cx="1108982" cy="1159390"/>
                      </a:xfrm>
                      <a:prstGeom prst="rect">
                        <a:avLst/>
                      </a:prstGeom>
                      <a:noFill/>
                    </p:spPr>
                  </p:pic>
                </p:oleObj>
              </mc:Fallback>
            </mc:AlternateContent>
          </a:graphicData>
        </a:graphic>
      </p:graphicFrame>
      <p:sp>
        <p:nvSpPr>
          <p:cNvPr id="6" name="Rectangle 3"/>
          <p:cNvSpPr>
            <a:spLocks noChangeArrowheads="1"/>
          </p:cNvSpPr>
          <p:nvPr/>
        </p:nvSpPr>
        <p:spPr bwMode="auto">
          <a:xfrm>
            <a:off x="828675" y="260576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矩形 6"/>
          <p:cNvSpPr/>
          <p:nvPr/>
        </p:nvSpPr>
        <p:spPr>
          <a:xfrm>
            <a:off x="1164772" y="3004181"/>
            <a:ext cx="6553200" cy="1477328"/>
          </a:xfrm>
          <a:prstGeom prst="rect">
            <a:avLst/>
          </a:prstGeom>
        </p:spPr>
        <p:txBody>
          <a:bodyPr wrap="square">
            <a:spAutoFit/>
          </a:bodyPr>
          <a:lstStyle/>
          <a:p>
            <a:pPr algn="just">
              <a:spcAft>
                <a:spcPts val="0"/>
              </a:spcAft>
            </a:pPr>
            <a:r>
              <a:rPr lang="en-US" altLang="zh-CN" kern="100" dirty="0">
                <a:latin typeface="Times New Roman" panose="02020603050405020304" pitchFamily="18" charset="0"/>
                <a:ea typeface="宋体" panose="02010600030101010101" pitchFamily="2" charset="-122"/>
              </a:rPr>
              <a:t>(1) FIRST(S) = {a, b, c} FIRST (A) ={a, ε} FIRST(B)={b, ε}</a:t>
            </a:r>
            <a:endParaRPr lang="zh-CN" altLang="zh-CN" kern="100" dirty="0">
              <a:latin typeface="Times New Roman" panose="02020603050405020304" pitchFamily="18" charset="0"/>
              <a:ea typeface="宋体" panose="02010600030101010101" pitchFamily="2" charset="-122"/>
            </a:endParaRPr>
          </a:p>
          <a:p>
            <a:pPr algn="just">
              <a:spcAft>
                <a:spcPts val="0"/>
              </a:spcAft>
            </a:pPr>
            <a:r>
              <a:rPr lang="en-US" altLang="zh-CN" kern="100" dirty="0">
                <a:latin typeface="Times New Roman" panose="02020603050405020304" pitchFamily="18" charset="0"/>
                <a:ea typeface="宋体" panose="02010600030101010101" pitchFamily="2" charset="-122"/>
              </a:rPr>
              <a:t>     FOLLOW(S) = {$} FOLLOW(A) = {b, c} FOLLOW(B) = {c}</a:t>
            </a:r>
            <a:endParaRPr lang="zh-CN" altLang="zh-CN" kern="100" dirty="0">
              <a:latin typeface="Times New Roman" panose="02020603050405020304" pitchFamily="18" charset="0"/>
              <a:ea typeface="宋体" panose="02010600030101010101" pitchFamily="2" charset="-122"/>
            </a:endParaRPr>
          </a:p>
          <a:p>
            <a:pPr algn="just">
              <a:spcAft>
                <a:spcPts val="0"/>
              </a:spcAft>
            </a:pPr>
            <a:r>
              <a:rPr lang="en-US" altLang="zh-CN" kern="100" dirty="0">
                <a:latin typeface="Times New Roman" panose="02020603050405020304" pitchFamily="18" charset="0"/>
                <a:ea typeface="宋体" panose="02010600030101010101" pitchFamily="2" charset="-122"/>
              </a:rPr>
              <a:t>(2) The grammar has no left-recursion</a:t>
            </a:r>
            <a:endParaRPr lang="zh-CN" altLang="zh-CN" kern="100" dirty="0">
              <a:latin typeface="Times New Roman" panose="02020603050405020304" pitchFamily="18" charset="0"/>
              <a:ea typeface="宋体" panose="02010600030101010101" pitchFamily="2" charset="-122"/>
            </a:endParaRPr>
          </a:p>
          <a:p>
            <a:pPr algn="just">
              <a:spcAft>
                <a:spcPts val="0"/>
              </a:spcAft>
            </a:pPr>
            <a:r>
              <a:rPr lang="en-US" altLang="zh-CN" kern="100" dirty="0">
                <a:latin typeface="Times New Roman" panose="02020603050405020304" pitchFamily="18" charset="0"/>
                <a:ea typeface="宋体" panose="02010600030101010101" pitchFamily="2" charset="-122"/>
              </a:rPr>
              <a:t>     For A, FIRST(A) </a:t>
            </a:r>
            <a:r>
              <a:rPr lang="zh-CN" altLang="zh-CN" kern="100" dirty="0">
                <a:latin typeface="Times New Roman" panose="02020603050405020304" pitchFamily="18" charset="0"/>
                <a:ea typeface="宋体" panose="02010600030101010101" pitchFamily="2" charset="-122"/>
              </a:rPr>
              <a:t>∩</a:t>
            </a:r>
            <a:r>
              <a:rPr lang="en-US" altLang="zh-CN" kern="100" dirty="0">
                <a:latin typeface="Times New Roman" panose="02020603050405020304" pitchFamily="18" charset="0"/>
                <a:ea typeface="宋体" panose="02010600030101010101" pitchFamily="2" charset="-122"/>
              </a:rPr>
              <a:t> FOLLOW(A) =</a:t>
            </a:r>
            <a:r>
              <a:rPr lang="zh-CN" altLang="zh-CN" kern="100" dirty="0">
                <a:latin typeface="Times New Roman" panose="02020603050405020304" pitchFamily="18" charset="0"/>
                <a:ea typeface="宋体" panose="02010600030101010101" pitchFamily="2" charset="-122"/>
              </a:rPr>
              <a:t>Φ</a:t>
            </a:r>
          </a:p>
          <a:p>
            <a:r>
              <a:rPr lang="en-US" altLang="zh-CN" kern="100" dirty="0">
                <a:latin typeface="Times New Roman" panose="02020603050405020304" pitchFamily="18" charset="0"/>
                <a:ea typeface="宋体" panose="02010600030101010101" pitchFamily="2" charset="-122"/>
              </a:rPr>
              <a:t>     For B, FIRST(B) </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kern="100" dirty="0">
                <a:latin typeface="Times New Roman" panose="02020603050405020304" pitchFamily="18" charset="0"/>
                <a:ea typeface="宋体" panose="02010600030101010101" pitchFamily="2" charset="-122"/>
              </a:rPr>
              <a:t> FOLLOW(B) =</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Φ</a:t>
            </a:r>
            <a:r>
              <a:rPr lang="zh-CN" altLang="zh-CN" kern="100" dirty="0">
                <a:ea typeface="Times New Roman" panose="02020603050405020304" pitchFamily="18" charset="0"/>
              </a:rPr>
              <a:t> </a:t>
            </a:r>
            <a:r>
              <a:rPr lang="en-US" altLang="zh-CN" kern="100" dirty="0">
                <a:ea typeface="Times New Roman" panose="02020603050405020304" pitchFamily="18" charset="0"/>
              </a:rPr>
              <a:t>The grammar is LL(1). </a:t>
            </a:r>
            <a:endParaRPr lang="zh-CN" altLang="en-US" dirty="0"/>
          </a:p>
        </p:txBody>
      </p:sp>
      <p:graphicFrame>
        <p:nvGraphicFramePr>
          <p:cNvPr id="8" name="表格 7"/>
          <p:cNvGraphicFramePr>
            <a:graphicFrameLocks noGrp="1"/>
          </p:cNvGraphicFramePr>
          <p:nvPr>
            <p:extLst>
              <p:ext uri="{D42A27DB-BD31-4B8C-83A1-F6EECF244321}">
                <p14:modId xmlns:p14="http://schemas.microsoft.com/office/powerpoint/2010/main" val="335853947"/>
              </p:ext>
            </p:extLst>
          </p:nvPr>
        </p:nvGraphicFramePr>
        <p:xfrm>
          <a:off x="1598295" y="5133701"/>
          <a:ext cx="4856934" cy="1277984"/>
        </p:xfrm>
        <a:graphic>
          <a:graphicData uri="http://schemas.openxmlformats.org/drawingml/2006/table">
            <a:tbl>
              <a:tblPr firstRow="1" firstCol="1" bandRow="1">
                <a:tableStyleId>{5C22544A-7EE6-4342-B048-85BDC9FD1C3A}</a:tableStyleId>
              </a:tblPr>
              <a:tblGrid>
                <a:gridCol w="931156">
                  <a:extLst>
                    <a:ext uri="{9D8B030D-6E8A-4147-A177-3AD203B41FA5}">
                      <a16:colId xmlns:a16="http://schemas.microsoft.com/office/drawing/2014/main" val="20000"/>
                    </a:ext>
                  </a:extLst>
                </a:gridCol>
                <a:gridCol w="994422">
                  <a:extLst>
                    <a:ext uri="{9D8B030D-6E8A-4147-A177-3AD203B41FA5}">
                      <a16:colId xmlns:a16="http://schemas.microsoft.com/office/drawing/2014/main" val="20001"/>
                    </a:ext>
                  </a:extLst>
                </a:gridCol>
                <a:gridCol w="1024433">
                  <a:extLst>
                    <a:ext uri="{9D8B030D-6E8A-4147-A177-3AD203B41FA5}">
                      <a16:colId xmlns:a16="http://schemas.microsoft.com/office/drawing/2014/main" val="20002"/>
                    </a:ext>
                  </a:extLst>
                </a:gridCol>
                <a:gridCol w="976578">
                  <a:extLst>
                    <a:ext uri="{9D8B030D-6E8A-4147-A177-3AD203B41FA5}">
                      <a16:colId xmlns:a16="http://schemas.microsoft.com/office/drawing/2014/main" val="20003"/>
                    </a:ext>
                  </a:extLst>
                </a:gridCol>
                <a:gridCol w="930345">
                  <a:extLst>
                    <a:ext uri="{9D8B030D-6E8A-4147-A177-3AD203B41FA5}">
                      <a16:colId xmlns:a16="http://schemas.microsoft.com/office/drawing/2014/main" val="20004"/>
                    </a:ext>
                  </a:extLst>
                </a:gridCol>
              </a:tblGrid>
              <a:tr h="319496">
                <a:tc>
                  <a:txBody>
                    <a:bodyPr/>
                    <a:lstStyle/>
                    <a:p>
                      <a:pPr algn="just">
                        <a:spcAft>
                          <a:spcPts val="0"/>
                        </a:spcAft>
                      </a:pPr>
                      <a:r>
                        <a:rPr lang="en-US" sz="1400" kern="100" dirty="0">
                          <a:effectLst/>
                        </a:rPr>
                        <a:t> </a:t>
                      </a:r>
                      <a:endParaRPr lang="zh-CN" sz="1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dirty="0">
                          <a:effectLst/>
                        </a:rPr>
                        <a:t>a</a:t>
                      </a:r>
                      <a:endParaRPr lang="zh-CN" sz="1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a:effectLst/>
                        </a:rPr>
                        <a:t>b</a:t>
                      </a:r>
                      <a:endParaRPr lang="zh-CN" sz="1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a:effectLst/>
                        </a:rPr>
                        <a:t>c</a:t>
                      </a:r>
                      <a:endParaRPr lang="zh-CN" sz="1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a:effectLst/>
                        </a:rPr>
                        <a:t>$</a:t>
                      </a:r>
                      <a:endParaRPr lang="zh-CN" sz="140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0000"/>
                  </a:ext>
                </a:extLst>
              </a:tr>
              <a:tr h="319496">
                <a:tc>
                  <a:txBody>
                    <a:bodyPr/>
                    <a:lstStyle/>
                    <a:p>
                      <a:pPr algn="just">
                        <a:spcAft>
                          <a:spcPts val="0"/>
                        </a:spcAft>
                      </a:pPr>
                      <a:r>
                        <a:rPr lang="en-US" sz="1400" kern="100">
                          <a:effectLst/>
                        </a:rPr>
                        <a:t>S</a:t>
                      </a:r>
                      <a:endParaRPr lang="zh-CN" sz="1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dirty="0">
                          <a:effectLst/>
                        </a:rPr>
                        <a:t>S-&gt;</a:t>
                      </a:r>
                      <a:r>
                        <a:rPr lang="en-US" sz="1400" kern="100" dirty="0" err="1">
                          <a:effectLst/>
                        </a:rPr>
                        <a:t>ABc</a:t>
                      </a:r>
                      <a:endParaRPr lang="zh-CN" sz="1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dirty="0">
                          <a:effectLst/>
                        </a:rPr>
                        <a:t>S-&gt;</a:t>
                      </a:r>
                      <a:r>
                        <a:rPr lang="en-US" sz="1400" kern="100" dirty="0" err="1">
                          <a:effectLst/>
                        </a:rPr>
                        <a:t>ABc</a:t>
                      </a:r>
                      <a:endParaRPr lang="zh-CN" sz="1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dirty="0">
                          <a:effectLst/>
                        </a:rPr>
                        <a:t>S-&gt;</a:t>
                      </a:r>
                      <a:r>
                        <a:rPr lang="en-US" sz="1400" kern="100" dirty="0" err="1">
                          <a:effectLst/>
                        </a:rPr>
                        <a:t>ABc</a:t>
                      </a:r>
                      <a:endParaRPr lang="zh-CN" sz="1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a:effectLst/>
                        </a:rPr>
                        <a:t> </a:t>
                      </a:r>
                      <a:endParaRPr lang="zh-CN" sz="140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0001"/>
                  </a:ext>
                </a:extLst>
              </a:tr>
              <a:tr h="319496">
                <a:tc>
                  <a:txBody>
                    <a:bodyPr/>
                    <a:lstStyle/>
                    <a:p>
                      <a:pPr algn="just">
                        <a:spcAft>
                          <a:spcPts val="0"/>
                        </a:spcAft>
                      </a:pPr>
                      <a:r>
                        <a:rPr lang="en-US" sz="1400" kern="100">
                          <a:effectLst/>
                        </a:rPr>
                        <a:t>A</a:t>
                      </a:r>
                      <a:endParaRPr lang="zh-CN" sz="1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a:effectLst/>
                        </a:rPr>
                        <a:t>A-&gt;a</a:t>
                      </a:r>
                      <a:endParaRPr lang="zh-CN" sz="1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a:effectLst/>
                        </a:rPr>
                        <a:t>A-&gt;ε</a:t>
                      </a:r>
                      <a:endParaRPr lang="zh-CN" sz="1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dirty="0">
                          <a:effectLst/>
                        </a:rPr>
                        <a:t>A-&gt;ε</a:t>
                      </a:r>
                      <a:endParaRPr lang="zh-CN" sz="14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a:effectLst/>
                        </a:rPr>
                        <a:t> </a:t>
                      </a:r>
                      <a:endParaRPr lang="zh-CN" sz="140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0002"/>
                  </a:ext>
                </a:extLst>
              </a:tr>
              <a:tr h="319496">
                <a:tc>
                  <a:txBody>
                    <a:bodyPr/>
                    <a:lstStyle/>
                    <a:p>
                      <a:pPr algn="just">
                        <a:spcAft>
                          <a:spcPts val="0"/>
                        </a:spcAft>
                      </a:pPr>
                      <a:r>
                        <a:rPr lang="en-US" sz="1400" kern="100">
                          <a:effectLst/>
                        </a:rPr>
                        <a:t>B</a:t>
                      </a:r>
                      <a:endParaRPr lang="zh-CN" sz="1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a:effectLst/>
                        </a:rPr>
                        <a:t> </a:t>
                      </a:r>
                      <a:endParaRPr lang="zh-CN" sz="1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a:effectLst/>
                        </a:rPr>
                        <a:t>B-&gt;b</a:t>
                      </a:r>
                      <a:endParaRPr lang="zh-CN" sz="1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a:effectLst/>
                        </a:rPr>
                        <a:t>B-&gt;ε</a:t>
                      </a:r>
                      <a:endParaRPr lang="zh-CN" sz="1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just">
                        <a:spcAft>
                          <a:spcPts val="0"/>
                        </a:spcAft>
                      </a:pPr>
                      <a:r>
                        <a:rPr lang="en-US" sz="1400" kern="100" dirty="0">
                          <a:effectLst/>
                        </a:rPr>
                        <a:t> </a:t>
                      </a:r>
                      <a:endParaRPr lang="zh-CN" sz="1400" kern="1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977522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Bottom-Up Parsing – Handle Pruning</a:t>
            </a:r>
            <a:endParaRPr lang="zh-CN" altLang="en-US" dirty="0"/>
          </a:p>
        </p:txBody>
      </p:sp>
      <p:sp>
        <p:nvSpPr>
          <p:cNvPr id="3" name="内容占位符 2"/>
          <p:cNvSpPr>
            <a:spLocks noGrp="1"/>
          </p:cNvSpPr>
          <p:nvPr>
            <p:ph idx="1"/>
          </p:nvPr>
        </p:nvSpPr>
        <p:spPr>
          <a:xfrm>
            <a:off x="828675" y="1600200"/>
            <a:ext cx="7486650" cy="1208314"/>
          </a:xfrm>
        </p:spPr>
        <p:txBody>
          <a:bodyPr/>
          <a:lstStyle/>
          <a:p>
            <a:pPr>
              <a:lnSpc>
                <a:spcPct val="100000"/>
              </a:lnSpc>
              <a:spcBef>
                <a:spcPts val="1200"/>
              </a:spcBef>
            </a:pPr>
            <a:r>
              <a:rPr lang="en-US" altLang="zh-CN" dirty="0"/>
              <a:t>Bottom-up parsing during a left-to-right scan of the input constructs a rightmost derivation in reverse. Informally, a "handle" is a substring that matches the body of a production, and whose reduction represents </a:t>
            </a:r>
            <a:r>
              <a:rPr lang="en-US" altLang="zh-CN" b="1" dirty="0">
                <a:solidFill>
                  <a:srgbClr val="7030A0"/>
                </a:solidFill>
              </a:rPr>
              <a:t>one step </a:t>
            </a:r>
            <a:r>
              <a:rPr lang="en-US" altLang="zh-CN" dirty="0"/>
              <a:t>along the </a:t>
            </a:r>
            <a:r>
              <a:rPr lang="en-US" altLang="zh-CN" b="1" dirty="0">
                <a:solidFill>
                  <a:srgbClr val="7030A0"/>
                </a:solidFill>
              </a:rPr>
              <a:t>reverse of a rightmost derivation</a:t>
            </a:r>
            <a:r>
              <a:rPr lang="en-US" altLang="zh-CN" dirty="0"/>
              <a:t>.</a:t>
            </a:r>
          </a:p>
          <a:p>
            <a:pPr marL="0" indent="0">
              <a:lnSpc>
                <a:spcPct val="100000"/>
              </a:lnSpc>
              <a:spcBef>
                <a:spcPts val="1200"/>
              </a:spcBef>
              <a:buNone/>
            </a:pPr>
            <a:endParaRPr lang="zh-CN" altLang="en-US" dirty="0"/>
          </a:p>
        </p:txBody>
      </p:sp>
      <p:pic>
        <p:nvPicPr>
          <p:cNvPr id="4" name="图片 3"/>
          <p:cNvPicPr>
            <a:picLocks noChangeAspect="1"/>
          </p:cNvPicPr>
          <p:nvPr/>
        </p:nvPicPr>
        <p:blipFill>
          <a:blip r:embed="rId3"/>
          <a:stretch>
            <a:fillRect/>
          </a:stretch>
        </p:blipFill>
        <p:spPr>
          <a:xfrm>
            <a:off x="1080724" y="2641847"/>
            <a:ext cx="4676190" cy="333333"/>
          </a:xfrm>
          <a:prstGeom prst="rect">
            <a:avLst/>
          </a:prstGeom>
        </p:spPr>
      </p:pic>
      <p:sp>
        <p:nvSpPr>
          <p:cNvPr id="5" name="文本框 4"/>
          <p:cNvSpPr txBox="1"/>
          <p:nvPr/>
        </p:nvSpPr>
        <p:spPr>
          <a:xfrm>
            <a:off x="1272492" y="2808513"/>
            <a:ext cx="364202" cy="276999"/>
          </a:xfrm>
          <a:prstGeom prst="rect">
            <a:avLst/>
          </a:prstGeom>
          <a:noFill/>
        </p:spPr>
        <p:txBody>
          <a:bodyPr wrap="none" rtlCol="0">
            <a:spAutoFit/>
          </a:bodyPr>
          <a:lstStyle/>
          <a:p>
            <a:r>
              <a:rPr lang="en-US" altLang="zh-CN" sz="1200" b="1" i="1" dirty="0" err="1">
                <a:latin typeface="Times New Roman" panose="02020603050405020304" pitchFamily="18" charset="0"/>
                <a:cs typeface="Times New Roman" panose="02020603050405020304" pitchFamily="18" charset="0"/>
              </a:rPr>
              <a:t>rm</a:t>
            </a:r>
            <a:endParaRPr lang="zh-CN" altLang="en-US" sz="1200" b="1" i="1" dirty="0">
              <a:latin typeface="Times New Roman" panose="02020603050405020304" pitchFamily="18" charset="0"/>
              <a:cs typeface="Times New Roman" panose="02020603050405020304" pitchFamily="18" charset="0"/>
            </a:endParaRPr>
          </a:p>
        </p:txBody>
      </p:sp>
      <p:sp>
        <p:nvSpPr>
          <p:cNvPr id="6" name="文本框 5"/>
          <p:cNvSpPr txBox="1"/>
          <p:nvPr/>
        </p:nvSpPr>
        <p:spPr>
          <a:xfrm>
            <a:off x="1828462" y="2808513"/>
            <a:ext cx="364202" cy="276999"/>
          </a:xfrm>
          <a:prstGeom prst="rect">
            <a:avLst/>
          </a:prstGeom>
          <a:noFill/>
        </p:spPr>
        <p:txBody>
          <a:bodyPr wrap="none" rtlCol="0">
            <a:spAutoFit/>
          </a:bodyPr>
          <a:lstStyle/>
          <a:p>
            <a:r>
              <a:rPr lang="en-US" altLang="zh-CN" sz="1200" b="1" i="1" dirty="0" err="1">
                <a:latin typeface="Times New Roman" panose="02020603050405020304" pitchFamily="18" charset="0"/>
                <a:cs typeface="Times New Roman" panose="02020603050405020304" pitchFamily="18" charset="0"/>
              </a:rPr>
              <a:t>rm</a:t>
            </a:r>
            <a:endParaRPr lang="zh-CN" altLang="en-US" sz="1200" b="1" i="1" dirty="0">
              <a:latin typeface="Times New Roman" panose="02020603050405020304" pitchFamily="18" charset="0"/>
              <a:cs typeface="Times New Roman" panose="02020603050405020304" pitchFamily="18" charset="0"/>
            </a:endParaRPr>
          </a:p>
        </p:txBody>
      </p:sp>
      <p:sp>
        <p:nvSpPr>
          <p:cNvPr id="7" name="文本框 6"/>
          <p:cNvSpPr txBox="1"/>
          <p:nvPr/>
        </p:nvSpPr>
        <p:spPr>
          <a:xfrm>
            <a:off x="2733798" y="2794611"/>
            <a:ext cx="364202" cy="276999"/>
          </a:xfrm>
          <a:prstGeom prst="rect">
            <a:avLst/>
          </a:prstGeom>
          <a:noFill/>
        </p:spPr>
        <p:txBody>
          <a:bodyPr wrap="none" rtlCol="0">
            <a:spAutoFit/>
          </a:bodyPr>
          <a:lstStyle/>
          <a:p>
            <a:r>
              <a:rPr lang="en-US" altLang="zh-CN" sz="1200" b="1" i="1" dirty="0" err="1">
                <a:latin typeface="Times New Roman" panose="02020603050405020304" pitchFamily="18" charset="0"/>
                <a:cs typeface="Times New Roman" panose="02020603050405020304" pitchFamily="18" charset="0"/>
              </a:rPr>
              <a:t>rm</a:t>
            </a:r>
            <a:endParaRPr lang="zh-CN" altLang="en-US" sz="1200" b="1" i="1" dirty="0">
              <a:latin typeface="Times New Roman" panose="02020603050405020304" pitchFamily="18" charset="0"/>
              <a:cs typeface="Times New Roman" panose="02020603050405020304" pitchFamily="18" charset="0"/>
            </a:endParaRPr>
          </a:p>
        </p:txBody>
      </p:sp>
      <p:sp>
        <p:nvSpPr>
          <p:cNvPr id="8" name="文本框 7"/>
          <p:cNvSpPr txBox="1"/>
          <p:nvPr/>
        </p:nvSpPr>
        <p:spPr>
          <a:xfrm>
            <a:off x="3674523" y="2788578"/>
            <a:ext cx="364202" cy="276999"/>
          </a:xfrm>
          <a:prstGeom prst="rect">
            <a:avLst/>
          </a:prstGeom>
          <a:noFill/>
        </p:spPr>
        <p:txBody>
          <a:bodyPr wrap="none" rtlCol="0">
            <a:spAutoFit/>
          </a:bodyPr>
          <a:lstStyle/>
          <a:p>
            <a:r>
              <a:rPr lang="en-US" altLang="zh-CN" sz="1200" b="1" i="1" dirty="0" err="1">
                <a:latin typeface="Times New Roman" panose="02020603050405020304" pitchFamily="18" charset="0"/>
                <a:cs typeface="Times New Roman" panose="02020603050405020304" pitchFamily="18" charset="0"/>
              </a:rPr>
              <a:t>rm</a:t>
            </a:r>
            <a:endParaRPr lang="zh-CN" altLang="en-US" sz="1200" b="1" i="1" dirty="0">
              <a:latin typeface="Times New Roman" panose="02020603050405020304" pitchFamily="18" charset="0"/>
              <a:cs typeface="Times New Roman" panose="02020603050405020304" pitchFamily="18" charset="0"/>
            </a:endParaRPr>
          </a:p>
        </p:txBody>
      </p:sp>
      <p:sp>
        <p:nvSpPr>
          <p:cNvPr id="9" name="文本框 8"/>
          <p:cNvSpPr txBox="1"/>
          <p:nvPr/>
        </p:nvSpPr>
        <p:spPr>
          <a:xfrm>
            <a:off x="4642237" y="2785561"/>
            <a:ext cx="364202" cy="276999"/>
          </a:xfrm>
          <a:prstGeom prst="rect">
            <a:avLst/>
          </a:prstGeom>
          <a:noFill/>
        </p:spPr>
        <p:txBody>
          <a:bodyPr wrap="none" rtlCol="0">
            <a:spAutoFit/>
          </a:bodyPr>
          <a:lstStyle/>
          <a:p>
            <a:r>
              <a:rPr lang="en-US" altLang="zh-CN" sz="1200" b="1" i="1" dirty="0" err="1">
                <a:latin typeface="Times New Roman" panose="02020603050405020304" pitchFamily="18" charset="0"/>
                <a:cs typeface="Times New Roman" panose="02020603050405020304" pitchFamily="18" charset="0"/>
              </a:rPr>
              <a:t>rm</a:t>
            </a:r>
            <a:endParaRPr lang="zh-CN" altLang="en-US" sz="1200" b="1" i="1" dirty="0">
              <a:latin typeface="Times New Roman" panose="02020603050405020304" pitchFamily="18" charset="0"/>
              <a:cs typeface="Times New Roman" panose="02020603050405020304" pitchFamily="18" charset="0"/>
            </a:endParaRPr>
          </a:p>
        </p:txBody>
      </p:sp>
      <p:pic>
        <p:nvPicPr>
          <p:cNvPr id="10" name="图片 9"/>
          <p:cNvPicPr>
            <a:picLocks noChangeAspect="1"/>
          </p:cNvPicPr>
          <p:nvPr/>
        </p:nvPicPr>
        <p:blipFill>
          <a:blip r:embed="rId4"/>
          <a:stretch>
            <a:fillRect/>
          </a:stretch>
        </p:blipFill>
        <p:spPr>
          <a:xfrm>
            <a:off x="1019050" y="3166564"/>
            <a:ext cx="7104762" cy="1685714"/>
          </a:xfrm>
          <a:prstGeom prst="rect">
            <a:avLst/>
          </a:prstGeom>
        </p:spPr>
      </p:pic>
      <p:sp>
        <p:nvSpPr>
          <p:cNvPr id="11" name="内容占位符 2"/>
          <p:cNvSpPr txBox="1">
            <a:spLocks/>
          </p:cNvSpPr>
          <p:nvPr/>
        </p:nvSpPr>
        <p:spPr>
          <a:xfrm>
            <a:off x="898912" y="5043661"/>
            <a:ext cx="7486650" cy="1694595"/>
          </a:xfrm>
          <a:prstGeom prst="rect">
            <a:avLst/>
          </a:prstGeom>
        </p:spPr>
        <p:txBody>
          <a:bodyPr vert="horz" lIns="0" tIns="45720" rIns="0" bIns="45720" rtlCol="0">
            <a:normAutofit/>
          </a:bodyPr>
          <a:lstStyle>
            <a:lvl1pPr marL="171450" indent="-171450" algn="l" defTabSz="685800" rtl="0" eaLnBrk="1" latinLnBrk="0" hangingPunct="1">
              <a:lnSpc>
                <a:spcPct val="90000"/>
              </a:lnSpc>
              <a:spcBef>
                <a:spcPts val="1350"/>
              </a:spcBef>
              <a:buFont typeface="Wingdings" panose="05000000000000000000" pitchFamily="2" charset="2"/>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defTabSz="685800" rtl="0" eaLnBrk="1" latinLnBrk="0" hangingPunct="1">
              <a:lnSpc>
                <a:spcPct val="90000"/>
              </a:lnSpc>
              <a:spcBef>
                <a:spcPts val="450"/>
              </a:spcBef>
              <a:buFont typeface="Wingdings" panose="05000000000000000000" pitchFamily="2" charset="2"/>
              <a:buChar char="§"/>
              <a:defRPr sz="12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6pPr>
            <a:lvl7pPr marL="22288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7pPr>
            <a:lvl8pPr marL="25717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8pPr>
            <a:lvl9pPr marL="29146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9pPr>
          </a:lstStyle>
          <a:p>
            <a:pPr>
              <a:lnSpc>
                <a:spcPct val="100000"/>
              </a:lnSpc>
              <a:spcBef>
                <a:spcPts val="1200"/>
              </a:spcBef>
            </a:pPr>
            <a:r>
              <a:rPr lang="en-US" altLang="zh-CN" dirty="0"/>
              <a:t>Formally, if                                then the production           in the position following   is a handle of         . Notice that the string    to the right of the handle must contain only terminal symbols. For convenience, we refer to the body    rather than            as a handle.</a:t>
            </a:r>
          </a:p>
          <a:p>
            <a:pPr>
              <a:lnSpc>
                <a:spcPct val="100000"/>
              </a:lnSpc>
              <a:spcBef>
                <a:spcPts val="1200"/>
              </a:spcBef>
            </a:pPr>
            <a:r>
              <a:rPr lang="en-US" altLang="zh-CN" dirty="0"/>
              <a:t>A rightmost derivation in reverse can be obtained by "handle pruning”.</a:t>
            </a:r>
            <a:endParaRPr lang="zh-CN" altLang="en-US" dirty="0"/>
          </a:p>
        </p:txBody>
      </p:sp>
      <p:graphicFrame>
        <p:nvGraphicFramePr>
          <p:cNvPr id="12" name="对象 11"/>
          <p:cNvGraphicFramePr>
            <a:graphicFrameLocks noChangeAspect="1"/>
          </p:cNvGraphicFramePr>
          <p:nvPr>
            <p:extLst/>
          </p:nvPr>
        </p:nvGraphicFramePr>
        <p:xfrm>
          <a:off x="2121659" y="5072390"/>
          <a:ext cx="1734965" cy="325306"/>
        </p:xfrm>
        <a:graphic>
          <a:graphicData uri="http://schemas.openxmlformats.org/presentationml/2006/ole">
            <mc:AlternateContent xmlns:mc="http://schemas.openxmlformats.org/markup-compatibility/2006">
              <mc:Choice xmlns:v="urn:schemas-microsoft-com:vml" Requires="v">
                <p:oleObj spid="_x0000_s14387" name="Equation" r:id="rId5" imgW="1015920" imgH="190440" progId="Equation.DSMT4">
                  <p:embed/>
                </p:oleObj>
              </mc:Choice>
              <mc:Fallback>
                <p:oleObj name="Equation" r:id="rId5" imgW="1015920" imgH="190440" progId="Equation.DSMT4">
                  <p:embed/>
                  <p:pic>
                    <p:nvPicPr>
                      <p:cNvPr id="0" name=""/>
                      <p:cNvPicPr/>
                      <p:nvPr/>
                    </p:nvPicPr>
                    <p:blipFill>
                      <a:blip r:embed="rId6"/>
                      <a:stretch>
                        <a:fillRect/>
                      </a:stretch>
                    </p:blipFill>
                    <p:spPr>
                      <a:xfrm>
                        <a:off x="2121659" y="5072390"/>
                        <a:ext cx="1734965" cy="325306"/>
                      </a:xfrm>
                      <a:prstGeom prst="rect">
                        <a:avLst/>
                      </a:prstGeom>
                    </p:spPr>
                  </p:pic>
                </p:oleObj>
              </mc:Fallback>
            </mc:AlternateContent>
          </a:graphicData>
        </a:graphic>
      </p:graphicFrame>
      <p:graphicFrame>
        <p:nvGraphicFramePr>
          <p:cNvPr id="13" name="对象 12"/>
          <p:cNvGraphicFramePr>
            <a:graphicFrameLocks noChangeAspect="1"/>
          </p:cNvGraphicFramePr>
          <p:nvPr>
            <p:extLst/>
          </p:nvPr>
        </p:nvGraphicFramePr>
        <p:xfrm>
          <a:off x="5756914" y="5080153"/>
          <a:ext cx="608012" cy="260350"/>
        </p:xfrm>
        <a:graphic>
          <a:graphicData uri="http://schemas.openxmlformats.org/presentationml/2006/ole">
            <mc:AlternateContent xmlns:mc="http://schemas.openxmlformats.org/markup-compatibility/2006">
              <mc:Choice xmlns:v="urn:schemas-microsoft-com:vml" Requires="v">
                <p:oleObj spid="_x0000_s14388" name="Equation" r:id="rId7" imgW="355320" imgH="152280" progId="Equation.DSMT4">
                  <p:embed/>
                </p:oleObj>
              </mc:Choice>
              <mc:Fallback>
                <p:oleObj name="Equation" r:id="rId7" imgW="355320" imgH="152280" progId="Equation.DSMT4">
                  <p:embed/>
                  <p:pic>
                    <p:nvPicPr>
                      <p:cNvPr id="0" name=""/>
                      <p:cNvPicPr/>
                      <p:nvPr/>
                    </p:nvPicPr>
                    <p:blipFill>
                      <a:blip r:embed="rId8"/>
                      <a:stretch>
                        <a:fillRect/>
                      </a:stretch>
                    </p:blipFill>
                    <p:spPr>
                      <a:xfrm>
                        <a:off x="5756914" y="5080153"/>
                        <a:ext cx="608012" cy="260350"/>
                      </a:xfrm>
                      <a:prstGeom prst="rect">
                        <a:avLst/>
                      </a:prstGeom>
                    </p:spPr>
                  </p:pic>
                </p:oleObj>
              </mc:Fallback>
            </mc:AlternateContent>
          </a:graphicData>
        </a:graphic>
      </p:graphicFrame>
      <p:graphicFrame>
        <p:nvGraphicFramePr>
          <p:cNvPr id="14" name="对象 13"/>
          <p:cNvGraphicFramePr>
            <a:graphicFrameLocks noChangeAspect="1"/>
          </p:cNvGraphicFramePr>
          <p:nvPr>
            <p:extLst/>
          </p:nvPr>
        </p:nvGraphicFramePr>
        <p:xfrm>
          <a:off x="1904171" y="5378549"/>
          <a:ext cx="217488" cy="195263"/>
        </p:xfrm>
        <a:graphic>
          <a:graphicData uri="http://schemas.openxmlformats.org/presentationml/2006/ole">
            <mc:AlternateContent xmlns:mc="http://schemas.openxmlformats.org/markup-compatibility/2006">
              <mc:Choice xmlns:v="urn:schemas-microsoft-com:vml" Requires="v">
                <p:oleObj spid="_x0000_s14389" name="Equation" r:id="rId9" imgW="126720" imgH="114120" progId="Equation.DSMT4">
                  <p:embed/>
                </p:oleObj>
              </mc:Choice>
              <mc:Fallback>
                <p:oleObj name="Equation" r:id="rId9" imgW="126720" imgH="114120" progId="Equation.DSMT4">
                  <p:embed/>
                  <p:pic>
                    <p:nvPicPr>
                      <p:cNvPr id="0" name=""/>
                      <p:cNvPicPr/>
                      <p:nvPr/>
                    </p:nvPicPr>
                    <p:blipFill>
                      <a:blip r:embed="rId10"/>
                      <a:stretch>
                        <a:fillRect/>
                      </a:stretch>
                    </p:blipFill>
                    <p:spPr>
                      <a:xfrm>
                        <a:off x="1904171" y="5378549"/>
                        <a:ext cx="217488" cy="195263"/>
                      </a:xfrm>
                      <a:prstGeom prst="rect">
                        <a:avLst/>
                      </a:prstGeom>
                    </p:spPr>
                  </p:pic>
                </p:oleObj>
              </mc:Fallback>
            </mc:AlternateContent>
          </a:graphicData>
        </a:graphic>
      </p:graphicFrame>
      <p:graphicFrame>
        <p:nvGraphicFramePr>
          <p:cNvPr id="15" name="对象 14"/>
          <p:cNvGraphicFramePr>
            <a:graphicFrameLocks noChangeAspect="1"/>
          </p:cNvGraphicFramePr>
          <p:nvPr>
            <p:extLst/>
          </p:nvPr>
        </p:nvGraphicFramePr>
        <p:xfrm>
          <a:off x="3360640" y="5329425"/>
          <a:ext cx="433388" cy="260350"/>
        </p:xfrm>
        <a:graphic>
          <a:graphicData uri="http://schemas.openxmlformats.org/presentationml/2006/ole">
            <mc:AlternateContent xmlns:mc="http://schemas.openxmlformats.org/markup-compatibility/2006">
              <mc:Choice xmlns:v="urn:schemas-microsoft-com:vml" Requires="v">
                <p:oleObj spid="_x0000_s14390" name="Equation" r:id="rId11" imgW="253800" imgH="152280" progId="Equation.DSMT4">
                  <p:embed/>
                </p:oleObj>
              </mc:Choice>
              <mc:Fallback>
                <p:oleObj name="Equation" r:id="rId11" imgW="253800" imgH="152280" progId="Equation.DSMT4">
                  <p:embed/>
                  <p:pic>
                    <p:nvPicPr>
                      <p:cNvPr id="0" name=""/>
                      <p:cNvPicPr/>
                      <p:nvPr/>
                    </p:nvPicPr>
                    <p:blipFill>
                      <a:blip r:embed="rId12"/>
                      <a:stretch>
                        <a:fillRect/>
                      </a:stretch>
                    </p:blipFill>
                    <p:spPr>
                      <a:xfrm>
                        <a:off x="3360640" y="5329425"/>
                        <a:ext cx="433388" cy="260350"/>
                      </a:xfrm>
                      <a:prstGeom prst="rect">
                        <a:avLst/>
                      </a:prstGeom>
                    </p:spPr>
                  </p:pic>
                </p:oleObj>
              </mc:Fallback>
            </mc:AlternateContent>
          </a:graphicData>
        </a:graphic>
      </p:graphicFrame>
      <p:graphicFrame>
        <p:nvGraphicFramePr>
          <p:cNvPr id="17" name="对象 16"/>
          <p:cNvGraphicFramePr>
            <a:graphicFrameLocks noChangeAspect="1"/>
          </p:cNvGraphicFramePr>
          <p:nvPr>
            <p:extLst/>
          </p:nvPr>
        </p:nvGraphicFramePr>
        <p:xfrm>
          <a:off x="5905193" y="5372372"/>
          <a:ext cx="215900" cy="195262"/>
        </p:xfrm>
        <a:graphic>
          <a:graphicData uri="http://schemas.openxmlformats.org/presentationml/2006/ole">
            <mc:AlternateContent xmlns:mc="http://schemas.openxmlformats.org/markup-compatibility/2006">
              <mc:Choice xmlns:v="urn:schemas-microsoft-com:vml" Requires="v">
                <p:oleObj spid="_x0000_s14391" name="Equation" r:id="rId13" imgW="126720" imgH="114120" progId="Equation.DSMT4">
                  <p:embed/>
                </p:oleObj>
              </mc:Choice>
              <mc:Fallback>
                <p:oleObj name="Equation" r:id="rId13" imgW="126720" imgH="114120" progId="Equation.DSMT4">
                  <p:embed/>
                  <p:pic>
                    <p:nvPicPr>
                      <p:cNvPr id="0" name=""/>
                      <p:cNvPicPr/>
                      <p:nvPr/>
                    </p:nvPicPr>
                    <p:blipFill>
                      <a:blip r:embed="rId14"/>
                      <a:stretch>
                        <a:fillRect/>
                      </a:stretch>
                    </p:blipFill>
                    <p:spPr>
                      <a:xfrm>
                        <a:off x="5905193" y="5372372"/>
                        <a:ext cx="215900" cy="195262"/>
                      </a:xfrm>
                      <a:prstGeom prst="rect">
                        <a:avLst/>
                      </a:prstGeom>
                    </p:spPr>
                  </p:pic>
                </p:oleObj>
              </mc:Fallback>
            </mc:AlternateContent>
          </a:graphicData>
        </a:graphic>
      </p:graphicFrame>
      <p:graphicFrame>
        <p:nvGraphicFramePr>
          <p:cNvPr id="18" name="对象 17"/>
          <p:cNvGraphicFramePr>
            <a:graphicFrameLocks noChangeAspect="1"/>
          </p:cNvGraphicFramePr>
          <p:nvPr>
            <p:extLst/>
          </p:nvPr>
        </p:nvGraphicFramePr>
        <p:xfrm>
          <a:off x="2828150" y="5807626"/>
          <a:ext cx="608012" cy="260350"/>
        </p:xfrm>
        <a:graphic>
          <a:graphicData uri="http://schemas.openxmlformats.org/presentationml/2006/ole">
            <mc:AlternateContent xmlns:mc="http://schemas.openxmlformats.org/markup-compatibility/2006">
              <mc:Choice xmlns:v="urn:schemas-microsoft-com:vml" Requires="v">
                <p:oleObj spid="_x0000_s14392" name="Equation" r:id="rId15" imgW="355320" imgH="152280" progId="Equation.DSMT4">
                  <p:embed/>
                </p:oleObj>
              </mc:Choice>
              <mc:Fallback>
                <p:oleObj name="Equation" r:id="rId15" imgW="355320" imgH="152280" progId="Equation.DSMT4">
                  <p:embed/>
                  <p:pic>
                    <p:nvPicPr>
                      <p:cNvPr id="0" name=""/>
                      <p:cNvPicPr/>
                      <p:nvPr/>
                    </p:nvPicPr>
                    <p:blipFill>
                      <a:blip r:embed="rId16"/>
                      <a:stretch>
                        <a:fillRect/>
                      </a:stretch>
                    </p:blipFill>
                    <p:spPr>
                      <a:xfrm>
                        <a:off x="2828150" y="5807626"/>
                        <a:ext cx="608012" cy="260350"/>
                      </a:xfrm>
                      <a:prstGeom prst="rect">
                        <a:avLst/>
                      </a:prstGeom>
                    </p:spPr>
                  </p:pic>
                </p:oleObj>
              </mc:Fallback>
            </mc:AlternateContent>
          </a:graphicData>
        </a:graphic>
      </p:graphicFrame>
      <p:graphicFrame>
        <p:nvGraphicFramePr>
          <p:cNvPr id="19" name="对象 18"/>
          <p:cNvGraphicFramePr>
            <a:graphicFrameLocks noChangeAspect="1"/>
          </p:cNvGraphicFramePr>
          <p:nvPr>
            <p:extLst/>
          </p:nvPr>
        </p:nvGraphicFramePr>
        <p:xfrm>
          <a:off x="1537301" y="5782555"/>
          <a:ext cx="217487" cy="260350"/>
        </p:xfrm>
        <a:graphic>
          <a:graphicData uri="http://schemas.openxmlformats.org/presentationml/2006/ole">
            <mc:AlternateContent xmlns:mc="http://schemas.openxmlformats.org/markup-compatibility/2006">
              <mc:Choice xmlns:v="urn:schemas-microsoft-com:vml" Requires="v">
                <p:oleObj spid="_x0000_s14393" name="Equation" r:id="rId17" imgW="126720" imgH="152280" progId="Equation.DSMT4">
                  <p:embed/>
                </p:oleObj>
              </mc:Choice>
              <mc:Fallback>
                <p:oleObj name="Equation" r:id="rId17" imgW="126720" imgH="152280" progId="Equation.DSMT4">
                  <p:embed/>
                  <p:pic>
                    <p:nvPicPr>
                      <p:cNvPr id="0" name=""/>
                      <p:cNvPicPr/>
                      <p:nvPr/>
                    </p:nvPicPr>
                    <p:blipFill>
                      <a:blip r:embed="rId18"/>
                      <a:stretch>
                        <a:fillRect/>
                      </a:stretch>
                    </p:blipFill>
                    <p:spPr>
                      <a:xfrm>
                        <a:off x="1537301" y="5782555"/>
                        <a:ext cx="217487" cy="260350"/>
                      </a:xfrm>
                      <a:prstGeom prst="rect">
                        <a:avLst/>
                      </a:prstGeom>
                    </p:spPr>
                  </p:pic>
                </p:oleObj>
              </mc:Fallback>
            </mc:AlternateContent>
          </a:graphicData>
        </a:graphic>
      </p:graphicFrame>
      <p:pic>
        <p:nvPicPr>
          <p:cNvPr id="20" name="图片 19"/>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7754317" y="5796877"/>
            <a:ext cx="1262489" cy="793697"/>
          </a:xfrm>
          <a:prstGeom prst="rect">
            <a:avLst/>
          </a:prstGeom>
        </p:spPr>
      </p:pic>
    </p:spTree>
    <p:extLst>
      <p:ext uri="{BB962C8B-B14F-4D97-AF65-F5344CB8AC3E}">
        <p14:creationId xmlns:p14="http://schemas.microsoft.com/office/powerpoint/2010/main" val="4091123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Bottom-Up Parsing – More Explanations on “Handle”</a:t>
            </a:r>
            <a:endParaRPr lang="zh-CN" altLang="en-US" dirty="0"/>
          </a:p>
        </p:txBody>
      </p:sp>
      <p:sp>
        <p:nvSpPr>
          <p:cNvPr id="3" name="内容占位符 2"/>
          <p:cNvSpPr>
            <a:spLocks noGrp="1"/>
          </p:cNvSpPr>
          <p:nvPr>
            <p:ph idx="1"/>
          </p:nvPr>
        </p:nvSpPr>
        <p:spPr>
          <a:xfrm>
            <a:off x="828675" y="1600200"/>
            <a:ext cx="7486650" cy="4963886"/>
          </a:xfrm>
        </p:spPr>
        <p:txBody>
          <a:bodyPr/>
          <a:lstStyle/>
          <a:p>
            <a:r>
              <a:rPr lang="en-US" altLang="zh-CN" dirty="0"/>
              <a:t>Right-most derivation is also called “normal derivation”, which guarantees</a:t>
            </a:r>
          </a:p>
          <a:p>
            <a:endParaRPr lang="en-US" altLang="zh-CN" dirty="0"/>
          </a:p>
          <a:p>
            <a:endParaRPr lang="en-US" altLang="zh-CN" dirty="0"/>
          </a:p>
          <a:p>
            <a:endParaRPr lang="en-US" altLang="zh-CN" dirty="0"/>
          </a:p>
          <a:p>
            <a:pPr lvl="1">
              <a:lnSpc>
                <a:spcPct val="100000"/>
              </a:lnSpc>
            </a:pPr>
            <a:r>
              <a:rPr lang="en-US" altLang="zh-CN" b="1" i="1" dirty="0"/>
              <a:t>Proof</a:t>
            </a:r>
            <a:r>
              <a:rPr lang="en-US" altLang="zh-CN" sz="1400" b="1" i="1" dirty="0"/>
              <a:t>.       </a:t>
            </a:r>
            <a:r>
              <a:rPr lang="en-US" altLang="zh-CN" sz="1400" dirty="0"/>
              <a:t>if     has a handle     , </a:t>
            </a:r>
            <a:r>
              <a:rPr lang="en-US" altLang="zh-CN" sz="1400" dirty="0" err="1"/>
              <a:t>i.e</a:t>
            </a:r>
            <a:r>
              <a:rPr lang="en-US" altLang="zh-CN" sz="1400" dirty="0"/>
              <a:t>,                and                 , then under the rightmost derivation      should not be derived out before      . </a:t>
            </a:r>
          </a:p>
          <a:p>
            <a:pPr marL="171450" lvl="1">
              <a:lnSpc>
                <a:spcPct val="100000"/>
              </a:lnSpc>
              <a:spcBef>
                <a:spcPts val="1350"/>
              </a:spcBef>
            </a:pPr>
            <a:r>
              <a:rPr lang="en-US" altLang="zh-CN" sz="1500" dirty="0"/>
              <a:t>If      has the form              and               , we do not call      “handle”, because for right-sentential form          then last rightmost derivation is           , i.e.,   is previously derived out to    . Thus, the reverse of the last rightmost derivation should take place on      .         </a:t>
            </a:r>
            <a:endParaRPr lang="en-US" altLang="zh-CN" sz="1400" b="1" i="1" dirty="0"/>
          </a:p>
          <a:p>
            <a:pPr marL="342900" lvl="1" indent="0">
              <a:lnSpc>
                <a:spcPct val="100000"/>
              </a:lnSpc>
              <a:buNone/>
            </a:pPr>
            <a:r>
              <a:rPr lang="en-US" altLang="zh-CN" sz="1600" b="1" i="1" dirty="0">
                <a:solidFill>
                  <a:srgbClr val="FF0000"/>
                </a:solidFill>
              </a:rPr>
              <a:t>Thus, a handle  is at the </a:t>
            </a:r>
            <a:r>
              <a:rPr lang="en-US" altLang="zh-CN" sz="1600" b="1" i="1" dirty="0">
                <a:solidFill>
                  <a:srgbClr val="7030A0"/>
                </a:solidFill>
              </a:rPr>
              <a:t>leftmost</a:t>
            </a:r>
            <a:r>
              <a:rPr lang="en-US" altLang="zh-CN" sz="1600" b="1" i="1" dirty="0">
                <a:solidFill>
                  <a:srgbClr val="FF0000"/>
                </a:solidFill>
              </a:rPr>
              <a:t> position of a right-sentential form. </a:t>
            </a:r>
          </a:p>
          <a:p>
            <a:r>
              <a:rPr lang="en-US" altLang="zh-CN" dirty="0"/>
              <a:t>Note we say "a handle" rather than "the handle," because the grammar could be ambiguous, with more than one rightmost derivation of        . If a grammar is unambiguous, then every right-sentential form of the grammar has exactly one handle.</a:t>
            </a:r>
          </a:p>
        </p:txBody>
      </p:sp>
      <p:graphicFrame>
        <p:nvGraphicFramePr>
          <p:cNvPr id="5" name="对象 4"/>
          <p:cNvGraphicFramePr>
            <a:graphicFrameLocks noChangeAspect="1"/>
          </p:cNvGraphicFramePr>
          <p:nvPr>
            <p:extLst/>
          </p:nvPr>
        </p:nvGraphicFramePr>
        <p:xfrm>
          <a:off x="1664459" y="1904646"/>
          <a:ext cx="3601423" cy="675267"/>
        </p:xfrm>
        <a:graphic>
          <a:graphicData uri="http://schemas.openxmlformats.org/presentationml/2006/ole">
            <mc:AlternateContent xmlns:mc="http://schemas.openxmlformats.org/markup-compatibility/2006">
              <mc:Choice xmlns:v="urn:schemas-microsoft-com:vml" Requires="v">
                <p:oleObj spid="_x0000_s15481" name="Equation" r:id="rId3" imgW="1015920" imgH="190440" progId="Equation.DSMT4">
                  <p:embed/>
                </p:oleObj>
              </mc:Choice>
              <mc:Fallback>
                <p:oleObj name="Equation" r:id="rId3" imgW="1015920" imgH="190440" progId="Equation.DSMT4">
                  <p:embed/>
                  <p:pic>
                    <p:nvPicPr>
                      <p:cNvPr id="0" name=""/>
                      <p:cNvPicPr/>
                      <p:nvPr/>
                    </p:nvPicPr>
                    <p:blipFill>
                      <a:blip r:embed="rId4"/>
                      <a:stretch>
                        <a:fillRect/>
                      </a:stretch>
                    </p:blipFill>
                    <p:spPr>
                      <a:xfrm>
                        <a:off x="1664459" y="1904646"/>
                        <a:ext cx="3601423" cy="675267"/>
                      </a:xfrm>
                      <a:prstGeom prst="rect">
                        <a:avLst/>
                      </a:prstGeom>
                    </p:spPr>
                  </p:pic>
                </p:oleObj>
              </mc:Fallback>
            </mc:AlternateContent>
          </a:graphicData>
        </a:graphic>
      </p:graphicFrame>
      <p:cxnSp>
        <p:nvCxnSpPr>
          <p:cNvPr id="7" name="直接箭头连接符 6"/>
          <p:cNvCxnSpPr/>
          <p:nvPr/>
        </p:nvCxnSpPr>
        <p:spPr>
          <a:xfrm flipV="1">
            <a:off x="2579914" y="2351313"/>
            <a:ext cx="381001" cy="365842"/>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2166937" y="2692306"/>
            <a:ext cx="825954" cy="276999"/>
          </a:xfrm>
          <a:prstGeom prst="rect">
            <a:avLst/>
          </a:prstGeom>
          <a:noFill/>
        </p:spPr>
        <p:txBody>
          <a:bodyPr wrap="square" rtlCol="0">
            <a:spAutoFit/>
          </a:bodyPr>
          <a:lstStyle/>
          <a:p>
            <a:r>
              <a:rPr lang="en-US" altLang="zh-CN" sz="1200" dirty="0">
                <a:solidFill>
                  <a:srgbClr val="7030A0"/>
                </a:solidFill>
                <a:latin typeface="Times New Roman" panose="02020603050405020304" pitchFamily="18" charset="0"/>
                <a:cs typeface="Times New Roman" panose="02020603050405020304" pitchFamily="18" charset="0"/>
              </a:rPr>
              <a:t>No handle</a:t>
            </a:r>
            <a:endParaRPr lang="zh-CN" altLang="en-US" sz="1200" dirty="0">
              <a:solidFill>
                <a:srgbClr val="7030A0"/>
              </a:solidFill>
              <a:latin typeface="Times New Roman" panose="02020603050405020304" pitchFamily="18" charset="0"/>
              <a:cs typeface="Times New Roman" panose="02020603050405020304" pitchFamily="18" charset="0"/>
            </a:endParaRPr>
          </a:p>
        </p:txBody>
      </p:sp>
      <p:graphicFrame>
        <p:nvGraphicFramePr>
          <p:cNvPr id="15" name="对象 14"/>
          <p:cNvGraphicFramePr>
            <a:graphicFrameLocks noChangeAspect="1"/>
          </p:cNvGraphicFramePr>
          <p:nvPr>
            <p:extLst/>
          </p:nvPr>
        </p:nvGraphicFramePr>
        <p:xfrm>
          <a:off x="3699328" y="3070523"/>
          <a:ext cx="204788" cy="228600"/>
        </p:xfrm>
        <a:graphic>
          <a:graphicData uri="http://schemas.openxmlformats.org/presentationml/2006/ole">
            <mc:AlternateContent xmlns:mc="http://schemas.openxmlformats.org/markup-compatibility/2006">
              <mc:Choice xmlns:v="urn:schemas-microsoft-com:vml" Requires="v">
                <p:oleObj spid="_x0000_s15482" name="Equation" r:id="rId5" imgW="114120" imgH="126720" progId="Equation.DSMT4">
                  <p:embed/>
                </p:oleObj>
              </mc:Choice>
              <mc:Fallback>
                <p:oleObj name="Equation" r:id="rId5" imgW="114120" imgH="126720" progId="Equation.DSMT4">
                  <p:embed/>
                  <p:pic>
                    <p:nvPicPr>
                      <p:cNvPr id="0" name=""/>
                      <p:cNvPicPr/>
                      <p:nvPr/>
                    </p:nvPicPr>
                    <p:blipFill>
                      <a:blip r:embed="rId6"/>
                      <a:stretch>
                        <a:fillRect/>
                      </a:stretch>
                    </p:blipFill>
                    <p:spPr>
                      <a:xfrm>
                        <a:off x="3699328" y="3070523"/>
                        <a:ext cx="204788" cy="228600"/>
                      </a:xfrm>
                      <a:prstGeom prst="rect">
                        <a:avLst/>
                      </a:prstGeom>
                    </p:spPr>
                  </p:pic>
                </p:oleObj>
              </mc:Fallback>
            </mc:AlternateContent>
          </a:graphicData>
        </a:graphic>
      </p:graphicFrame>
      <p:graphicFrame>
        <p:nvGraphicFramePr>
          <p:cNvPr id="16" name="对象 15"/>
          <p:cNvGraphicFramePr>
            <a:graphicFrameLocks noChangeAspect="1"/>
          </p:cNvGraphicFramePr>
          <p:nvPr>
            <p:extLst/>
          </p:nvPr>
        </p:nvGraphicFramePr>
        <p:xfrm>
          <a:off x="2327184" y="3081590"/>
          <a:ext cx="242272" cy="217533"/>
        </p:xfrm>
        <a:graphic>
          <a:graphicData uri="http://schemas.openxmlformats.org/presentationml/2006/ole">
            <mc:AlternateContent xmlns:mc="http://schemas.openxmlformats.org/markup-compatibility/2006">
              <mc:Choice xmlns:v="urn:schemas-microsoft-com:vml" Requires="v">
                <p:oleObj spid="_x0000_s15483" name="Equation" r:id="rId7" imgW="126720" imgH="114120" progId="Equation.DSMT4">
                  <p:embed/>
                </p:oleObj>
              </mc:Choice>
              <mc:Fallback>
                <p:oleObj name="Equation" r:id="rId7" imgW="126720" imgH="114120" progId="Equation.DSMT4">
                  <p:embed/>
                  <p:pic>
                    <p:nvPicPr>
                      <p:cNvPr id="0" name=""/>
                      <p:cNvPicPr/>
                      <p:nvPr/>
                    </p:nvPicPr>
                    <p:blipFill>
                      <a:blip r:embed="rId8"/>
                      <a:stretch>
                        <a:fillRect/>
                      </a:stretch>
                    </p:blipFill>
                    <p:spPr>
                      <a:xfrm>
                        <a:off x="2327184" y="3081590"/>
                        <a:ext cx="242272" cy="217533"/>
                      </a:xfrm>
                      <a:prstGeom prst="rect">
                        <a:avLst/>
                      </a:prstGeom>
                    </p:spPr>
                  </p:pic>
                </p:oleObj>
              </mc:Fallback>
            </mc:AlternateContent>
          </a:graphicData>
        </a:graphic>
      </p:graphicFrame>
      <p:graphicFrame>
        <p:nvGraphicFramePr>
          <p:cNvPr id="18" name="对象 17"/>
          <p:cNvGraphicFramePr>
            <a:graphicFrameLocks noChangeAspect="1"/>
          </p:cNvGraphicFramePr>
          <p:nvPr>
            <p:extLst/>
          </p:nvPr>
        </p:nvGraphicFramePr>
        <p:xfrm>
          <a:off x="4253570" y="3010198"/>
          <a:ext cx="780418" cy="333418"/>
        </p:xfrm>
        <a:graphic>
          <a:graphicData uri="http://schemas.openxmlformats.org/presentationml/2006/ole">
            <mc:AlternateContent xmlns:mc="http://schemas.openxmlformats.org/markup-compatibility/2006">
              <mc:Choice xmlns:v="urn:schemas-microsoft-com:vml" Requires="v">
                <p:oleObj spid="_x0000_s15484" name="Equation" r:id="rId9" imgW="355320" imgH="152280" progId="Equation.DSMT4">
                  <p:embed/>
                </p:oleObj>
              </mc:Choice>
              <mc:Fallback>
                <p:oleObj name="Equation" r:id="rId9" imgW="355320" imgH="152280" progId="Equation.DSMT4">
                  <p:embed/>
                  <p:pic>
                    <p:nvPicPr>
                      <p:cNvPr id="0" name=""/>
                      <p:cNvPicPr/>
                      <p:nvPr/>
                    </p:nvPicPr>
                    <p:blipFill>
                      <a:blip r:embed="rId10"/>
                      <a:stretch>
                        <a:fillRect/>
                      </a:stretch>
                    </p:blipFill>
                    <p:spPr>
                      <a:xfrm>
                        <a:off x="4253570" y="3010198"/>
                        <a:ext cx="780418" cy="333418"/>
                      </a:xfrm>
                      <a:prstGeom prst="rect">
                        <a:avLst/>
                      </a:prstGeom>
                    </p:spPr>
                  </p:pic>
                </p:oleObj>
              </mc:Fallback>
            </mc:AlternateContent>
          </a:graphicData>
        </a:graphic>
      </p:graphicFrame>
      <p:graphicFrame>
        <p:nvGraphicFramePr>
          <p:cNvPr id="19" name="对象 18"/>
          <p:cNvGraphicFramePr>
            <a:graphicFrameLocks noChangeAspect="1"/>
          </p:cNvGraphicFramePr>
          <p:nvPr>
            <p:extLst/>
          </p:nvPr>
        </p:nvGraphicFramePr>
        <p:xfrm>
          <a:off x="5383442" y="3025060"/>
          <a:ext cx="788758" cy="333182"/>
        </p:xfrm>
        <a:graphic>
          <a:graphicData uri="http://schemas.openxmlformats.org/presentationml/2006/ole">
            <mc:AlternateContent xmlns:mc="http://schemas.openxmlformats.org/markup-compatibility/2006">
              <mc:Choice xmlns:v="urn:schemas-microsoft-com:vml" Requires="v">
                <p:oleObj spid="_x0000_s15485" name="Equation" r:id="rId11" imgW="419040" imgH="177480" progId="Equation.DSMT4">
                  <p:embed/>
                </p:oleObj>
              </mc:Choice>
              <mc:Fallback>
                <p:oleObj name="Equation" r:id="rId11" imgW="419040" imgH="177480" progId="Equation.DSMT4">
                  <p:embed/>
                  <p:pic>
                    <p:nvPicPr>
                      <p:cNvPr id="0" name=""/>
                      <p:cNvPicPr/>
                      <p:nvPr/>
                    </p:nvPicPr>
                    <p:blipFill>
                      <a:blip r:embed="rId12"/>
                      <a:stretch>
                        <a:fillRect/>
                      </a:stretch>
                    </p:blipFill>
                    <p:spPr>
                      <a:xfrm>
                        <a:off x="5383442" y="3025060"/>
                        <a:ext cx="788758" cy="333182"/>
                      </a:xfrm>
                      <a:prstGeom prst="rect">
                        <a:avLst/>
                      </a:prstGeom>
                    </p:spPr>
                  </p:pic>
                </p:oleObj>
              </mc:Fallback>
            </mc:AlternateContent>
          </a:graphicData>
        </a:graphic>
      </p:graphicFrame>
      <p:graphicFrame>
        <p:nvGraphicFramePr>
          <p:cNvPr id="21" name="对象 20"/>
          <p:cNvGraphicFramePr>
            <a:graphicFrameLocks noChangeAspect="1"/>
          </p:cNvGraphicFramePr>
          <p:nvPr>
            <p:extLst/>
          </p:nvPr>
        </p:nvGraphicFramePr>
        <p:xfrm>
          <a:off x="3134527" y="3273766"/>
          <a:ext cx="252413" cy="277812"/>
        </p:xfrm>
        <a:graphic>
          <a:graphicData uri="http://schemas.openxmlformats.org/presentationml/2006/ole">
            <mc:AlternateContent xmlns:mc="http://schemas.openxmlformats.org/markup-compatibility/2006">
              <mc:Choice xmlns:v="urn:schemas-microsoft-com:vml" Requires="v">
                <p:oleObj spid="_x0000_s15486" name="Equation" r:id="rId13" imgW="114120" imgH="126720" progId="Equation.DSMT4">
                  <p:embed/>
                </p:oleObj>
              </mc:Choice>
              <mc:Fallback>
                <p:oleObj name="Equation" r:id="rId13" imgW="114120" imgH="126720" progId="Equation.DSMT4">
                  <p:embed/>
                  <p:pic>
                    <p:nvPicPr>
                      <p:cNvPr id="0" name=""/>
                      <p:cNvPicPr/>
                      <p:nvPr/>
                    </p:nvPicPr>
                    <p:blipFill>
                      <a:blip r:embed="rId14"/>
                      <a:stretch>
                        <a:fillRect/>
                      </a:stretch>
                    </p:blipFill>
                    <p:spPr>
                      <a:xfrm>
                        <a:off x="3134527" y="3273766"/>
                        <a:ext cx="252413" cy="277812"/>
                      </a:xfrm>
                      <a:prstGeom prst="rect">
                        <a:avLst/>
                      </a:prstGeom>
                    </p:spPr>
                  </p:pic>
                </p:oleObj>
              </mc:Fallback>
            </mc:AlternateContent>
          </a:graphicData>
        </a:graphic>
      </p:graphicFrame>
      <p:graphicFrame>
        <p:nvGraphicFramePr>
          <p:cNvPr id="22" name="对象 21"/>
          <p:cNvGraphicFramePr>
            <a:graphicFrameLocks noChangeAspect="1"/>
          </p:cNvGraphicFramePr>
          <p:nvPr>
            <p:extLst/>
          </p:nvPr>
        </p:nvGraphicFramePr>
        <p:xfrm>
          <a:off x="6273018" y="3273766"/>
          <a:ext cx="217469" cy="260350"/>
        </p:xfrm>
        <a:graphic>
          <a:graphicData uri="http://schemas.openxmlformats.org/presentationml/2006/ole">
            <mc:AlternateContent xmlns:mc="http://schemas.openxmlformats.org/markup-compatibility/2006">
              <mc:Choice xmlns:v="urn:schemas-microsoft-com:vml" Requires="v">
                <p:oleObj spid="_x0000_s15487" name="Equation" r:id="rId15" imgW="126720" imgH="152280" progId="Equation.DSMT4">
                  <p:embed/>
                </p:oleObj>
              </mc:Choice>
              <mc:Fallback>
                <p:oleObj name="Equation" r:id="rId15" imgW="126720" imgH="152280" progId="Equation.DSMT4">
                  <p:embed/>
                  <p:pic>
                    <p:nvPicPr>
                      <p:cNvPr id="0" name=""/>
                      <p:cNvPicPr/>
                      <p:nvPr/>
                    </p:nvPicPr>
                    <p:blipFill>
                      <a:blip r:embed="rId16"/>
                      <a:stretch>
                        <a:fillRect/>
                      </a:stretch>
                    </p:blipFill>
                    <p:spPr>
                      <a:xfrm>
                        <a:off x="6273018" y="3273766"/>
                        <a:ext cx="217469" cy="260350"/>
                      </a:xfrm>
                      <a:prstGeom prst="rect">
                        <a:avLst/>
                      </a:prstGeom>
                    </p:spPr>
                  </p:pic>
                </p:oleObj>
              </mc:Fallback>
            </mc:AlternateContent>
          </a:graphicData>
        </a:graphic>
      </p:graphicFrame>
      <p:graphicFrame>
        <p:nvGraphicFramePr>
          <p:cNvPr id="24" name="对象 23"/>
          <p:cNvGraphicFramePr>
            <a:graphicFrameLocks noChangeAspect="1"/>
          </p:cNvGraphicFramePr>
          <p:nvPr>
            <p:extLst/>
          </p:nvPr>
        </p:nvGraphicFramePr>
        <p:xfrm>
          <a:off x="6398304" y="5207682"/>
          <a:ext cx="416396" cy="249691"/>
        </p:xfrm>
        <a:graphic>
          <a:graphicData uri="http://schemas.openxmlformats.org/presentationml/2006/ole">
            <mc:AlternateContent xmlns:mc="http://schemas.openxmlformats.org/markup-compatibility/2006">
              <mc:Choice xmlns:v="urn:schemas-microsoft-com:vml" Requires="v">
                <p:oleObj spid="_x0000_s15488" name="Equation" r:id="rId17" imgW="253800" imgH="152280" progId="Equation.DSMT4">
                  <p:embed/>
                </p:oleObj>
              </mc:Choice>
              <mc:Fallback>
                <p:oleObj name="Equation" r:id="rId17" imgW="253800" imgH="152280" progId="Equation.DSMT4">
                  <p:embed/>
                  <p:pic>
                    <p:nvPicPr>
                      <p:cNvPr id="0" name=""/>
                      <p:cNvPicPr/>
                      <p:nvPr/>
                    </p:nvPicPr>
                    <p:blipFill>
                      <a:blip r:embed="rId18"/>
                      <a:stretch>
                        <a:fillRect/>
                      </a:stretch>
                    </p:blipFill>
                    <p:spPr>
                      <a:xfrm>
                        <a:off x="6398304" y="5207682"/>
                        <a:ext cx="416396" cy="249691"/>
                      </a:xfrm>
                      <a:prstGeom prst="rect">
                        <a:avLst/>
                      </a:prstGeom>
                    </p:spPr>
                  </p:pic>
                </p:oleObj>
              </mc:Fallback>
            </mc:AlternateContent>
          </a:graphicData>
        </a:graphic>
      </p:graphicFrame>
      <p:graphicFrame>
        <p:nvGraphicFramePr>
          <p:cNvPr id="25" name="对象 24"/>
          <p:cNvGraphicFramePr>
            <a:graphicFrameLocks noChangeAspect="1"/>
          </p:cNvGraphicFramePr>
          <p:nvPr>
            <p:extLst/>
          </p:nvPr>
        </p:nvGraphicFramePr>
        <p:xfrm>
          <a:off x="1147167" y="3671464"/>
          <a:ext cx="261484" cy="236537"/>
        </p:xfrm>
        <a:graphic>
          <a:graphicData uri="http://schemas.openxmlformats.org/presentationml/2006/ole">
            <mc:AlternateContent xmlns:mc="http://schemas.openxmlformats.org/markup-compatibility/2006">
              <mc:Choice xmlns:v="urn:schemas-microsoft-com:vml" Requires="v">
                <p:oleObj spid="_x0000_s15489" name="Equation" r:id="rId19" imgW="126720" imgH="114120" progId="Equation.DSMT4">
                  <p:embed/>
                </p:oleObj>
              </mc:Choice>
              <mc:Fallback>
                <p:oleObj name="Equation" r:id="rId19" imgW="126720" imgH="114120" progId="Equation.DSMT4">
                  <p:embed/>
                  <p:pic>
                    <p:nvPicPr>
                      <p:cNvPr id="0" name=""/>
                      <p:cNvPicPr/>
                      <p:nvPr/>
                    </p:nvPicPr>
                    <p:blipFill>
                      <a:blip r:embed="rId20"/>
                      <a:stretch>
                        <a:fillRect/>
                      </a:stretch>
                    </p:blipFill>
                    <p:spPr>
                      <a:xfrm>
                        <a:off x="1147167" y="3671464"/>
                        <a:ext cx="261484" cy="236537"/>
                      </a:xfrm>
                      <a:prstGeom prst="rect">
                        <a:avLst/>
                      </a:prstGeom>
                    </p:spPr>
                  </p:pic>
                </p:oleObj>
              </mc:Fallback>
            </mc:AlternateContent>
          </a:graphicData>
        </a:graphic>
      </p:graphicFrame>
      <p:graphicFrame>
        <p:nvGraphicFramePr>
          <p:cNvPr id="26" name="对象 25"/>
          <p:cNvGraphicFramePr>
            <a:graphicFrameLocks noChangeAspect="1"/>
          </p:cNvGraphicFramePr>
          <p:nvPr>
            <p:extLst/>
          </p:nvPr>
        </p:nvGraphicFramePr>
        <p:xfrm>
          <a:off x="2656690" y="3641915"/>
          <a:ext cx="730250" cy="315913"/>
        </p:xfrm>
        <a:graphic>
          <a:graphicData uri="http://schemas.openxmlformats.org/presentationml/2006/ole">
            <mc:AlternateContent xmlns:mc="http://schemas.openxmlformats.org/markup-compatibility/2006">
              <mc:Choice xmlns:v="urn:schemas-microsoft-com:vml" Requires="v">
                <p:oleObj spid="_x0000_s15490" name="Equation" r:id="rId21" imgW="355320" imgH="152280" progId="Equation.DSMT4">
                  <p:embed/>
                </p:oleObj>
              </mc:Choice>
              <mc:Fallback>
                <p:oleObj name="Equation" r:id="rId21" imgW="355320" imgH="152280" progId="Equation.DSMT4">
                  <p:embed/>
                  <p:pic>
                    <p:nvPicPr>
                      <p:cNvPr id="0" name=""/>
                      <p:cNvPicPr/>
                      <p:nvPr/>
                    </p:nvPicPr>
                    <p:blipFill>
                      <a:blip r:embed="rId22"/>
                      <a:stretch>
                        <a:fillRect/>
                      </a:stretch>
                    </p:blipFill>
                    <p:spPr>
                      <a:xfrm>
                        <a:off x="2656690" y="3641915"/>
                        <a:ext cx="730250" cy="315913"/>
                      </a:xfrm>
                      <a:prstGeom prst="rect">
                        <a:avLst/>
                      </a:prstGeom>
                    </p:spPr>
                  </p:pic>
                </p:oleObj>
              </mc:Fallback>
            </mc:AlternateContent>
          </a:graphicData>
        </a:graphic>
      </p:graphicFrame>
      <p:graphicFrame>
        <p:nvGraphicFramePr>
          <p:cNvPr id="28" name="对象 27"/>
          <p:cNvGraphicFramePr>
            <a:graphicFrameLocks noChangeAspect="1"/>
          </p:cNvGraphicFramePr>
          <p:nvPr>
            <p:extLst/>
          </p:nvPr>
        </p:nvGraphicFramePr>
        <p:xfrm>
          <a:off x="3801722" y="3623142"/>
          <a:ext cx="788758" cy="333182"/>
        </p:xfrm>
        <a:graphic>
          <a:graphicData uri="http://schemas.openxmlformats.org/presentationml/2006/ole">
            <mc:AlternateContent xmlns:mc="http://schemas.openxmlformats.org/markup-compatibility/2006">
              <mc:Choice xmlns:v="urn:schemas-microsoft-com:vml" Requires="v">
                <p:oleObj spid="_x0000_s15491" name="Equation" r:id="rId23" imgW="419040" imgH="177480" progId="Equation.DSMT4">
                  <p:embed/>
                </p:oleObj>
              </mc:Choice>
              <mc:Fallback>
                <p:oleObj name="Equation" r:id="rId23" imgW="419040" imgH="177480" progId="Equation.DSMT4">
                  <p:embed/>
                  <p:pic>
                    <p:nvPicPr>
                      <p:cNvPr id="0" name=""/>
                      <p:cNvPicPr/>
                      <p:nvPr/>
                    </p:nvPicPr>
                    <p:blipFill>
                      <a:blip r:embed="rId12"/>
                      <a:stretch>
                        <a:fillRect/>
                      </a:stretch>
                    </p:blipFill>
                    <p:spPr>
                      <a:xfrm>
                        <a:off x="3801722" y="3623142"/>
                        <a:ext cx="788758" cy="333182"/>
                      </a:xfrm>
                      <a:prstGeom prst="rect">
                        <a:avLst/>
                      </a:prstGeom>
                    </p:spPr>
                  </p:pic>
                </p:oleObj>
              </mc:Fallback>
            </mc:AlternateContent>
          </a:graphicData>
        </a:graphic>
      </p:graphicFrame>
      <p:graphicFrame>
        <p:nvGraphicFramePr>
          <p:cNvPr id="30" name="对象 29"/>
          <p:cNvGraphicFramePr>
            <a:graphicFrameLocks noChangeAspect="1"/>
          </p:cNvGraphicFramePr>
          <p:nvPr>
            <p:extLst/>
          </p:nvPr>
        </p:nvGraphicFramePr>
        <p:xfrm>
          <a:off x="6089533" y="3649663"/>
          <a:ext cx="234950" cy="261938"/>
        </p:xfrm>
        <a:graphic>
          <a:graphicData uri="http://schemas.openxmlformats.org/presentationml/2006/ole">
            <mc:AlternateContent xmlns:mc="http://schemas.openxmlformats.org/markup-compatibility/2006">
              <mc:Choice xmlns:v="urn:schemas-microsoft-com:vml" Requires="v">
                <p:oleObj spid="_x0000_s15492" name="Equation" r:id="rId24" imgW="114120" imgH="126720" progId="Equation.DSMT4">
                  <p:embed/>
                </p:oleObj>
              </mc:Choice>
              <mc:Fallback>
                <p:oleObj name="Equation" r:id="rId24" imgW="114120" imgH="126720" progId="Equation.DSMT4">
                  <p:embed/>
                  <p:pic>
                    <p:nvPicPr>
                      <p:cNvPr id="0" name=""/>
                      <p:cNvPicPr/>
                      <p:nvPr/>
                    </p:nvPicPr>
                    <p:blipFill>
                      <a:blip r:embed="rId25"/>
                      <a:stretch>
                        <a:fillRect/>
                      </a:stretch>
                    </p:blipFill>
                    <p:spPr>
                      <a:xfrm>
                        <a:off x="6089533" y="3649663"/>
                        <a:ext cx="234950" cy="261938"/>
                      </a:xfrm>
                      <a:prstGeom prst="rect">
                        <a:avLst/>
                      </a:prstGeom>
                    </p:spPr>
                  </p:pic>
                </p:oleObj>
              </mc:Fallback>
            </mc:AlternateContent>
          </a:graphicData>
        </a:graphic>
      </p:graphicFrame>
      <p:graphicFrame>
        <p:nvGraphicFramePr>
          <p:cNvPr id="31" name="对象 30"/>
          <p:cNvGraphicFramePr>
            <a:graphicFrameLocks noChangeAspect="1"/>
          </p:cNvGraphicFramePr>
          <p:nvPr>
            <p:extLst/>
          </p:nvPr>
        </p:nvGraphicFramePr>
        <p:xfrm>
          <a:off x="3286445" y="3916931"/>
          <a:ext cx="416396" cy="249691"/>
        </p:xfrm>
        <a:graphic>
          <a:graphicData uri="http://schemas.openxmlformats.org/presentationml/2006/ole">
            <mc:AlternateContent xmlns:mc="http://schemas.openxmlformats.org/markup-compatibility/2006">
              <mc:Choice xmlns:v="urn:schemas-microsoft-com:vml" Requires="v">
                <p:oleObj spid="_x0000_s15493" name="Equation" r:id="rId26" imgW="253800" imgH="152280" progId="Equation.DSMT4">
                  <p:embed/>
                </p:oleObj>
              </mc:Choice>
              <mc:Fallback>
                <p:oleObj name="Equation" r:id="rId26" imgW="253800" imgH="152280" progId="Equation.DSMT4">
                  <p:embed/>
                  <p:pic>
                    <p:nvPicPr>
                      <p:cNvPr id="0" name=""/>
                      <p:cNvPicPr/>
                      <p:nvPr/>
                    </p:nvPicPr>
                    <p:blipFill>
                      <a:blip r:embed="rId18"/>
                      <a:stretch>
                        <a:fillRect/>
                      </a:stretch>
                    </p:blipFill>
                    <p:spPr>
                      <a:xfrm>
                        <a:off x="3286445" y="3916931"/>
                        <a:ext cx="416396" cy="249691"/>
                      </a:xfrm>
                      <a:prstGeom prst="rect">
                        <a:avLst/>
                      </a:prstGeom>
                    </p:spPr>
                  </p:pic>
                </p:oleObj>
              </mc:Fallback>
            </mc:AlternateContent>
          </a:graphicData>
        </a:graphic>
      </p:graphicFrame>
      <p:graphicFrame>
        <p:nvGraphicFramePr>
          <p:cNvPr id="32" name="对象 31"/>
          <p:cNvGraphicFramePr>
            <a:graphicFrameLocks noChangeAspect="1"/>
          </p:cNvGraphicFramePr>
          <p:nvPr>
            <p:extLst/>
          </p:nvPr>
        </p:nvGraphicFramePr>
        <p:xfrm>
          <a:off x="6729758" y="3906272"/>
          <a:ext cx="608012" cy="260350"/>
        </p:xfrm>
        <a:graphic>
          <a:graphicData uri="http://schemas.openxmlformats.org/presentationml/2006/ole">
            <mc:AlternateContent xmlns:mc="http://schemas.openxmlformats.org/markup-compatibility/2006">
              <mc:Choice xmlns:v="urn:schemas-microsoft-com:vml" Requires="v">
                <p:oleObj spid="_x0000_s15494" name="Equation" r:id="rId27" imgW="355320" imgH="152280" progId="Equation.DSMT4">
                  <p:embed/>
                </p:oleObj>
              </mc:Choice>
              <mc:Fallback>
                <p:oleObj name="Equation" r:id="rId27" imgW="355320" imgH="152280" progId="Equation.DSMT4">
                  <p:embed/>
                  <p:pic>
                    <p:nvPicPr>
                      <p:cNvPr id="0" name=""/>
                      <p:cNvPicPr/>
                      <p:nvPr/>
                    </p:nvPicPr>
                    <p:blipFill>
                      <a:blip r:embed="rId28"/>
                      <a:stretch>
                        <a:fillRect/>
                      </a:stretch>
                    </p:blipFill>
                    <p:spPr>
                      <a:xfrm>
                        <a:off x="6729758" y="3906272"/>
                        <a:ext cx="608012" cy="260350"/>
                      </a:xfrm>
                      <a:prstGeom prst="rect">
                        <a:avLst/>
                      </a:prstGeom>
                    </p:spPr>
                  </p:pic>
                </p:oleObj>
              </mc:Fallback>
            </mc:AlternateContent>
          </a:graphicData>
        </a:graphic>
      </p:graphicFrame>
      <p:graphicFrame>
        <p:nvGraphicFramePr>
          <p:cNvPr id="33" name="对象 32"/>
          <p:cNvGraphicFramePr>
            <a:graphicFrameLocks noChangeAspect="1"/>
          </p:cNvGraphicFramePr>
          <p:nvPr>
            <p:extLst/>
          </p:nvPr>
        </p:nvGraphicFramePr>
        <p:xfrm>
          <a:off x="7700916" y="3915232"/>
          <a:ext cx="234950" cy="261938"/>
        </p:xfrm>
        <a:graphic>
          <a:graphicData uri="http://schemas.openxmlformats.org/presentationml/2006/ole">
            <mc:AlternateContent xmlns:mc="http://schemas.openxmlformats.org/markup-compatibility/2006">
              <mc:Choice xmlns:v="urn:schemas-microsoft-com:vml" Requires="v">
                <p:oleObj spid="_x0000_s15495" name="Equation" r:id="rId29" imgW="114120" imgH="126720" progId="Equation.DSMT4">
                  <p:embed/>
                </p:oleObj>
              </mc:Choice>
              <mc:Fallback>
                <p:oleObj name="Equation" r:id="rId29" imgW="114120" imgH="126720" progId="Equation.DSMT4">
                  <p:embed/>
                  <p:pic>
                    <p:nvPicPr>
                      <p:cNvPr id="0" name=""/>
                      <p:cNvPicPr/>
                      <p:nvPr/>
                    </p:nvPicPr>
                    <p:blipFill>
                      <a:blip r:embed="rId25"/>
                      <a:stretch>
                        <a:fillRect/>
                      </a:stretch>
                    </p:blipFill>
                    <p:spPr>
                      <a:xfrm>
                        <a:off x="7700916" y="3915232"/>
                        <a:ext cx="234950" cy="261938"/>
                      </a:xfrm>
                      <a:prstGeom prst="rect">
                        <a:avLst/>
                      </a:prstGeom>
                    </p:spPr>
                  </p:pic>
                </p:oleObj>
              </mc:Fallback>
            </mc:AlternateContent>
          </a:graphicData>
        </a:graphic>
      </p:graphicFrame>
      <p:graphicFrame>
        <p:nvGraphicFramePr>
          <p:cNvPr id="34" name="对象 33"/>
          <p:cNvGraphicFramePr>
            <a:graphicFrameLocks noChangeAspect="1"/>
          </p:cNvGraphicFramePr>
          <p:nvPr>
            <p:extLst/>
          </p:nvPr>
        </p:nvGraphicFramePr>
        <p:xfrm>
          <a:off x="3294873" y="4135628"/>
          <a:ext cx="207962" cy="249238"/>
        </p:xfrm>
        <a:graphic>
          <a:graphicData uri="http://schemas.openxmlformats.org/presentationml/2006/ole">
            <mc:AlternateContent xmlns:mc="http://schemas.openxmlformats.org/markup-compatibility/2006">
              <mc:Choice xmlns:v="urn:schemas-microsoft-com:vml" Requires="v">
                <p:oleObj spid="_x0000_s15496" name="Equation" r:id="rId30" imgW="126720" imgH="152280" progId="Equation.DSMT4">
                  <p:embed/>
                </p:oleObj>
              </mc:Choice>
              <mc:Fallback>
                <p:oleObj name="Equation" r:id="rId30" imgW="126720" imgH="152280" progId="Equation.DSMT4">
                  <p:embed/>
                  <p:pic>
                    <p:nvPicPr>
                      <p:cNvPr id="0" name=""/>
                      <p:cNvPicPr/>
                      <p:nvPr/>
                    </p:nvPicPr>
                    <p:blipFill>
                      <a:blip r:embed="rId31"/>
                      <a:stretch>
                        <a:fillRect/>
                      </a:stretch>
                    </p:blipFill>
                    <p:spPr>
                      <a:xfrm>
                        <a:off x="3294873" y="4135628"/>
                        <a:ext cx="207962" cy="249238"/>
                      </a:xfrm>
                      <a:prstGeom prst="rect">
                        <a:avLst/>
                      </a:prstGeom>
                    </p:spPr>
                  </p:pic>
                </p:oleObj>
              </mc:Fallback>
            </mc:AlternateContent>
          </a:graphicData>
        </a:graphic>
      </p:graphicFrame>
      <p:graphicFrame>
        <p:nvGraphicFramePr>
          <p:cNvPr id="35" name="对象 34"/>
          <p:cNvGraphicFramePr>
            <a:graphicFrameLocks noChangeAspect="1"/>
          </p:cNvGraphicFramePr>
          <p:nvPr>
            <p:extLst/>
          </p:nvPr>
        </p:nvGraphicFramePr>
        <p:xfrm>
          <a:off x="2959158" y="4333798"/>
          <a:ext cx="271417" cy="325287"/>
        </p:xfrm>
        <a:graphic>
          <a:graphicData uri="http://schemas.openxmlformats.org/presentationml/2006/ole">
            <mc:AlternateContent xmlns:mc="http://schemas.openxmlformats.org/markup-compatibility/2006">
              <mc:Choice xmlns:v="urn:schemas-microsoft-com:vml" Requires="v">
                <p:oleObj spid="_x0000_s15497" name="Equation" r:id="rId32" imgW="126720" imgH="152280" progId="Equation.DSMT4">
                  <p:embed/>
                </p:oleObj>
              </mc:Choice>
              <mc:Fallback>
                <p:oleObj name="Equation" r:id="rId32" imgW="126720" imgH="152280" progId="Equation.DSMT4">
                  <p:embed/>
                  <p:pic>
                    <p:nvPicPr>
                      <p:cNvPr id="0" name=""/>
                      <p:cNvPicPr/>
                      <p:nvPr/>
                    </p:nvPicPr>
                    <p:blipFill>
                      <a:blip r:embed="rId33"/>
                      <a:stretch>
                        <a:fillRect/>
                      </a:stretch>
                    </p:blipFill>
                    <p:spPr>
                      <a:xfrm>
                        <a:off x="2959158" y="4333798"/>
                        <a:ext cx="271417" cy="325287"/>
                      </a:xfrm>
                      <a:prstGeom prst="rect">
                        <a:avLst/>
                      </a:prstGeom>
                    </p:spPr>
                  </p:pic>
                </p:oleObj>
              </mc:Fallback>
            </mc:AlternateContent>
          </a:graphicData>
        </a:graphic>
      </p:graphicFrame>
    </p:spTree>
    <p:extLst>
      <p:ext uri="{BB962C8B-B14F-4D97-AF65-F5344CB8AC3E}">
        <p14:creationId xmlns:p14="http://schemas.microsoft.com/office/powerpoint/2010/main" val="689339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Bottom-Up Parsing – More Explanations on “Handle”</a:t>
            </a:r>
            <a:endParaRPr lang="zh-CN" altLang="en-US" dirty="0"/>
          </a:p>
        </p:txBody>
      </p:sp>
      <p:sp>
        <p:nvSpPr>
          <p:cNvPr id="3" name="内容占位符 2"/>
          <p:cNvSpPr>
            <a:spLocks noGrp="1"/>
          </p:cNvSpPr>
          <p:nvPr>
            <p:ph idx="1"/>
          </p:nvPr>
        </p:nvSpPr>
        <p:spPr>
          <a:xfrm>
            <a:off x="828675" y="1600199"/>
            <a:ext cx="7486650" cy="3450771"/>
          </a:xfrm>
        </p:spPr>
        <p:txBody>
          <a:bodyPr/>
          <a:lstStyle/>
          <a:p>
            <a:pPr>
              <a:lnSpc>
                <a:spcPct val="100000"/>
              </a:lnSpc>
              <a:spcBef>
                <a:spcPts val="1200"/>
              </a:spcBef>
            </a:pPr>
            <a:r>
              <a:rPr lang="en-US" altLang="zh-CN" b="1" dirty="0">
                <a:solidFill>
                  <a:srgbClr val="FF0000"/>
                </a:solidFill>
              </a:rPr>
              <a:t>Normal Reduction is a reverse of a Normal derivation (rightmost derivation).</a:t>
            </a:r>
          </a:p>
          <a:p>
            <a:pPr>
              <a:lnSpc>
                <a:spcPct val="100000"/>
              </a:lnSpc>
              <a:spcBef>
                <a:spcPts val="1200"/>
              </a:spcBef>
            </a:pPr>
            <a:r>
              <a:rPr lang="en-US" altLang="zh-CN" dirty="0">
                <a:solidFill>
                  <a:schemeClr val="tx2"/>
                </a:solidFill>
              </a:rPr>
              <a:t>Specifically,      is a sentence of grammar G, we call the sequence of sentential forms                                    is a </a:t>
            </a:r>
            <a:r>
              <a:rPr lang="en-US" altLang="zh-CN" b="1" dirty="0">
                <a:solidFill>
                  <a:srgbClr val="FF0000"/>
                </a:solidFill>
              </a:rPr>
              <a:t>Normal Reduction </a:t>
            </a:r>
            <a:r>
              <a:rPr lang="en-US" altLang="zh-CN" dirty="0">
                <a:solidFill>
                  <a:schemeClr val="tx2"/>
                </a:solidFill>
              </a:rPr>
              <a:t>of       , if the sequence satisfies:</a:t>
            </a:r>
          </a:p>
          <a:p>
            <a:pPr marL="0" indent="0">
              <a:lnSpc>
                <a:spcPct val="100000"/>
              </a:lnSpc>
              <a:spcBef>
                <a:spcPts val="1200"/>
              </a:spcBef>
              <a:buNone/>
            </a:pPr>
            <a:r>
              <a:rPr lang="en-US" altLang="zh-CN" dirty="0">
                <a:solidFill>
                  <a:schemeClr val="tx2"/>
                </a:solidFill>
              </a:rPr>
              <a:t>   (1)</a:t>
            </a:r>
          </a:p>
          <a:p>
            <a:pPr marL="0" indent="0">
              <a:lnSpc>
                <a:spcPct val="100000"/>
              </a:lnSpc>
              <a:spcBef>
                <a:spcPts val="1200"/>
              </a:spcBef>
              <a:buNone/>
            </a:pPr>
            <a:r>
              <a:rPr lang="en-US" altLang="zh-CN" dirty="0">
                <a:solidFill>
                  <a:schemeClr val="tx2"/>
                </a:solidFill>
              </a:rPr>
              <a:t>   (2)                 (start symbol of a grammar)       </a:t>
            </a:r>
          </a:p>
          <a:p>
            <a:pPr marL="0" indent="0">
              <a:lnSpc>
                <a:spcPct val="100000"/>
              </a:lnSpc>
              <a:spcBef>
                <a:spcPts val="1200"/>
              </a:spcBef>
              <a:buNone/>
            </a:pPr>
            <a:r>
              <a:rPr lang="en-US" altLang="zh-CN" dirty="0">
                <a:solidFill>
                  <a:schemeClr val="tx2"/>
                </a:solidFill>
              </a:rPr>
              <a:t>   (3) For                                ,           can be obtained by replacing the handle of       with  the left part of its corresponding production.</a:t>
            </a:r>
          </a:p>
          <a:p>
            <a:pPr marL="0" indent="0">
              <a:lnSpc>
                <a:spcPct val="100000"/>
              </a:lnSpc>
              <a:spcBef>
                <a:spcPts val="1200"/>
              </a:spcBef>
              <a:buNone/>
            </a:pPr>
            <a:r>
              <a:rPr lang="en-US" altLang="zh-CN" dirty="0">
                <a:solidFill>
                  <a:schemeClr val="tx2"/>
                </a:solidFill>
              </a:rPr>
              <a:t>Thus, </a:t>
            </a:r>
            <a:r>
              <a:rPr lang="en-US" altLang="zh-CN" b="1" dirty="0">
                <a:solidFill>
                  <a:srgbClr val="FF0000"/>
                </a:solidFill>
              </a:rPr>
              <a:t>Normal Reduction is also called leftmost reduction ! </a:t>
            </a:r>
            <a:endParaRPr lang="en-US" altLang="zh-CN" dirty="0">
              <a:solidFill>
                <a:schemeClr val="tx2"/>
              </a:solidFill>
            </a:endParaRPr>
          </a:p>
        </p:txBody>
      </p:sp>
      <p:graphicFrame>
        <p:nvGraphicFramePr>
          <p:cNvPr id="4" name="对象 3"/>
          <p:cNvGraphicFramePr>
            <a:graphicFrameLocks noChangeAspect="1"/>
          </p:cNvGraphicFramePr>
          <p:nvPr>
            <p:extLst/>
          </p:nvPr>
        </p:nvGraphicFramePr>
        <p:xfrm>
          <a:off x="2084613" y="2231344"/>
          <a:ext cx="375203" cy="337683"/>
        </p:xfrm>
        <a:graphic>
          <a:graphicData uri="http://schemas.openxmlformats.org/presentationml/2006/ole">
            <mc:AlternateContent xmlns:mc="http://schemas.openxmlformats.org/markup-compatibility/2006">
              <mc:Choice xmlns:v="urn:schemas-microsoft-com:vml" Requires="v">
                <p:oleObj spid="_x0000_s16442" name="Equation" r:id="rId3" imgW="126720" imgH="114120" progId="Equation.DSMT4">
                  <p:embed/>
                </p:oleObj>
              </mc:Choice>
              <mc:Fallback>
                <p:oleObj name="Equation" r:id="rId3" imgW="126720" imgH="114120" progId="Equation.DSMT4">
                  <p:embed/>
                  <p:pic>
                    <p:nvPicPr>
                      <p:cNvPr id="0" name=""/>
                      <p:cNvPicPr/>
                      <p:nvPr/>
                    </p:nvPicPr>
                    <p:blipFill>
                      <a:blip r:embed="rId4"/>
                      <a:stretch>
                        <a:fillRect/>
                      </a:stretch>
                    </p:blipFill>
                    <p:spPr>
                      <a:xfrm>
                        <a:off x="2084613" y="2231344"/>
                        <a:ext cx="375203" cy="337683"/>
                      </a:xfrm>
                      <a:prstGeom prst="rect">
                        <a:avLst/>
                      </a:prstGeom>
                    </p:spPr>
                  </p:pic>
                </p:oleObj>
              </mc:Fallback>
            </mc:AlternateContent>
          </a:graphicData>
        </a:graphic>
      </p:graphicFrame>
      <p:graphicFrame>
        <p:nvGraphicFramePr>
          <p:cNvPr id="5" name="对象 4"/>
          <p:cNvGraphicFramePr>
            <a:graphicFrameLocks noChangeAspect="1"/>
          </p:cNvGraphicFramePr>
          <p:nvPr>
            <p:extLst/>
          </p:nvPr>
        </p:nvGraphicFramePr>
        <p:xfrm>
          <a:off x="1651227" y="2306295"/>
          <a:ext cx="1873250" cy="525463"/>
        </p:xfrm>
        <a:graphic>
          <a:graphicData uri="http://schemas.openxmlformats.org/presentationml/2006/ole">
            <mc:AlternateContent xmlns:mc="http://schemas.openxmlformats.org/markup-compatibility/2006">
              <mc:Choice xmlns:v="urn:schemas-microsoft-com:vml" Requires="v">
                <p:oleObj spid="_x0000_s16443" name="Equation" r:id="rId5" imgW="634680" imgH="177480" progId="Equation.DSMT4">
                  <p:embed/>
                </p:oleObj>
              </mc:Choice>
              <mc:Fallback>
                <p:oleObj name="Equation" r:id="rId5" imgW="634680" imgH="177480" progId="Equation.DSMT4">
                  <p:embed/>
                  <p:pic>
                    <p:nvPicPr>
                      <p:cNvPr id="0" name=""/>
                      <p:cNvPicPr/>
                      <p:nvPr/>
                    </p:nvPicPr>
                    <p:blipFill>
                      <a:blip r:embed="rId6"/>
                      <a:stretch>
                        <a:fillRect/>
                      </a:stretch>
                    </p:blipFill>
                    <p:spPr>
                      <a:xfrm>
                        <a:off x="1651227" y="2306295"/>
                        <a:ext cx="1873250" cy="525463"/>
                      </a:xfrm>
                      <a:prstGeom prst="rect">
                        <a:avLst/>
                      </a:prstGeom>
                    </p:spPr>
                  </p:pic>
                </p:oleObj>
              </mc:Fallback>
            </mc:AlternateContent>
          </a:graphicData>
        </a:graphic>
      </p:graphicFrame>
      <p:graphicFrame>
        <p:nvGraphicFramePr>
          <p:cNvPr id="6" name="对象 5"/>
          <p:cNvGraphicFramePr>
            <a:graphicFrameLocks noChangeAspect="1"/>
          </p:cNvGraphicFramePr>
          <p:nvPr>
            <p:extLst/>
          </p:nvPr>
        </p:nvGraphicFramePr>
        <p:xfrm>
          <a:off x="5970815" y="2446505"/>
          <a:ext cx="374650" cy="338138"/>
        </p:xfrm>
        <a:graphic>
          <a:graphicData uri="http://schemas.openxmlformats.org/presentationml/2006/ole">
            <mc:AlternateContent xmlns:mc="http://schemas.openxmlformats.org/markup-compatibility/2006">
              <mc:Choice xmlns:v="urn:schemas-microsoft-com:vml" Requires="v">
                <p:oleObj spid="_x0000_s16444" name="Equation" r:id="rId7" imgW="126720" imgH="114120" progId="Equation.DSMT4">
                  <p:embed/>
                </p:oleObj>
              </mc:Choice>
              <mc:Fallback>
                <p:oleObj name="Equation" r:id="rId7" imgW="126720" imgH="114120" progId="Equation.DSMT4">
                  <p:embed/>
                  <p:pic>
                    <p:nvPicPr>
                      <p:cNvPr id="0" name=""/>
                      <p:cNvPicPr/>
                      <p:nvPr/>
                    </p:nvPicPr>
                    <p:blipFill>
                      <a:blip r:embed="rId8"/>
                      <a:stretch>
                        <a:fillRect/>
                      </a:stretch>
                    </p:blipFill>
                    <p:spPr>
                      <a:xfrm>
                        <a:off x="5970815" y="2446505"/>
                        <a:ext cx="374650" cy="338138"/>
                      </a:xfrm>
                      <a:prstGeom prst="rect">
                        <a:avLst/>
                      </a:prstGeom>
                    </p:spPr>
                  </p:pic>
                </p:oleObj>
              </mc:Fallback>
            </mc:AlternateContent>
          </a:graphicData>
        </a:graphic>
      </p:graphicFrame>
      <p:graphicFrame>
        <p:nvGraphicFramePr>
          <p:cNvPr id="7" name="对象 6"/>
          <p:cNvGraphicFramePr>
            <a:graphicFrameLocks noChangeAspect="1"/>
          </p:cNvGraphicFramePr>
          <p:nvPr>
            <p:extLst/>
          </p:nvPr>
        </p:nvGraphicFramePr>
        <p:xfrm>
          <a:off x="1410201" y="2937439"/>
          <a:ext cx="862013" cy="525463"/>
        </p:xfrm>
        <a:graphic>
          <a:graphicData uri="http://schemas.openxmlformats.org/presentationml/2006/ole">
            <mc:AlternateContent xmlns:mc="http://schemas.openxmlformats.org/markup-compatibility/2006">
              <mc:Choice xmlns:v="urn:schemas-microsoft-com:vml" Requires="v">
                <p:oleObj spid="_x0000_s16445" name="Equation" r:id="rId9" imgW="291960" imgH="177480" progId="Equation.DSMT4">
                  <p:embed/>
                </p:oleObj>
              </mc:Choice>
              <mc:Fallback>
                <p:oleObj name="Equation" r:id="rId9" imgW="291960" imgH="177480" progId="Equation.DSMT4">
                  <p:embed/>
                  <p:pic>
                    <p:nvPicPr>
                      <p:cNvPr id="0" name=""/>
                      <p:cNvPicPr/>
                      <p:nvPr/>
                    </p:nvPicPr>
                    <p:blipFill>
                      <a:blip r:embed="rId10"/>
                      <a:stretch>
                        <a:fillRect/>
                      </a:stretch>
                    </p:blipFill>
                    <p:spPr>
                      <a:xfrm>
                        <a:off x="1410201" y="2937439"/>
                        <a:ext cx="862013" cy="525463"/>
                      </a:xfrm>
                      <a:prstGeom prst="rect">
                        <a:avLst/>
                      </a:prstGeom>
                    </p:spPr>
                  </p:pic>
                </p:oleObj>
              </mc:Fallback>
            </mc:AlternateContent>
          </a:graphicData>
        </a:graphic>
      </p:graphicFrame>
      <p:graphicFrame>
        <p:nvGraphicFramePr>
          <p:cNvPr id="8" name="对象 7"/>
          <p:cNvGraphicFramePr>
            <a:graphicFrameLocks noChangeAspect="1"/>
          </p:cNvGraphicFramePr>
          <p:nvPr>
            <p:extLst/>
          </p:nvPr>
        </p:nvGraphicFramePr>
        <p:xfrm>
          <a:off x="1371600" y="3305175"/>
          <a:ext cx="823913" cy="525463"/>
        </p:xfrm>
        <a:graphic>
          <a:graphicData uri="http://schemas.openxmlformats.org/presentationml/2006/ole">
            <mc:AlternateContent xmlns:mc="http://schemas.openxmlformats.org/markup-compatibility/2006">
              <mc:Choice xmlns:v="urn:schemas-microsoft-com:vml" Requires="v">
                <p:oleObj spid="_x0000_s16446" name="Equation" r:id="rId11" imgW="279360" imgH="177480" progId="Equation.DSMT4">
                  <p:embed/>
                </p:oleObj>
              </mc:Choice>
              <mc:Fallback>
                <p:oleObj name="Equation" r:id="rId11" imgW="279360" imgH="177480" progId="Equation.DSMT4">
                  <p:embed/>
                  <p:pic>
                    <p:nvPicPr>
                      <p:cNvPr id="0" name=""/>
                      <p:cNvPicPr/>
                      <p:nvPr/>
                    </p:nvPicPr>
                    <p:blipFill>
                      <a:blip r:embed="rId12"/>
                      <a:stretch>
                        <a:fillRect/>
                      </a:stretch>
                    </p:blipFill>
                    <p:spPr>
                      <a:xfrm>
                        <a:off x="1371600" y="3305175"/>
                        <a:ext cx="823913" cy="525463"/>
                      </a:xfrm>
                      <a:prstGeom prst="rect">
                        <a:avLst/>
                      </a:prstGeom>
                    </p:spPr>
                  </p:pic>
                </p:oleObj>
              </mc:Fallback>
            </mc:AlternateContent>
          </a:graphicData>
        </a:graphic>
      </p:graphicFrame>
      <p:graphicFrame>
        <p:nvGraphicFramePr>
          <p:cNvPr id="9" name="对象 8"/>
          <p:cNvGraphicFramePr>
            <a:graphicFrameLocks noChangeAspect="1"/>
          </p:cNvGraphicFramePr>
          <p:nvPr>
            <p:extLst/>
          </p:nvPr>
        </p:nvGraphicFramePr>
        <p:xfrm>
          <a:off x="1706563" y="3713163"/>
          <a:ext cx="1760537" cy="525462"/>
        </p:xfrm>
        <a:graphic>
          <a:graphicData uri="http://schemas.openxmlformats.org/presentationml/2006/ole">
            <mc:AlternateContent xmlns:mc="http://schemas.openxmlformats.org/markup-compatibility/2006">
              <mc:Choice xmlns:v="urn:schemas-microsoft-com:vml" Requires="v">
                <p:oleObj spid="_x0000_s16447" name="Equation" r:id="rId13" imgW="596880" imgH="177480" progId="Equation.DSMT4">
                  <p:embed/>
                </p:oleObj>
              </mc:Choice>
              <mc:Fallback>
                <p:oleObj name="Equation" r:id="rId13" imgW="596880" imgH="177480" progId="Equation.DSMT4">
                  <p:embed/>
                  <p:pic>
                    <p:nvPicPr>
                      <p:cNvPr id="0" name=""/>
                      <p:cNvPicPr/>
                      <p:nvPr/>
                    </p:nvPicPr>
                    <p:blipFill>
                      <a:blip r:embed="rId14"/>
                      <a:stretch>
                        <a:fillRect/>
                      </a:stretch>
                    </p:blipFill>
                    <p:spPr>
                      <a:xfrm>
                        <a:off x="1706563" y="3713163"/>
                        <a:ext cx="1760537" cy="525462"/>
                      </a:xfrm>
                      <a:prstGeom prst="rect">
                        <a:avLst/>
                      </a:prstGeom>
                    </p:spPr>
                  </p:pic>
                </p:oleObj>
              </mc:Fallback>
            </mc:AlternateContent>
          </a:graphicData>
        </a:graphic>
      </p:graphicFrame>
      <p:graphicFrame>
        <p:nvGraphicFramePr>
          <p:cNvPr id="10" name="对象 9"/>
          <p:cNvGraphicFramePr>
            <a:graphicFrameLocks noChangeAspect="1"/>
          </p:cNvGraphicFramePr>
          <p:nvPr>
            <p:extLst/>
          </p:nvPr>
        </p:nvGraphicFramePr>
        <p:xfrm>
          <a:off x="3524477" y="3713163"/>
          <a:ext cx="560388" cy="525462"/>
        </p:xfrm>
        <a:graphic>
          <a:graphicData uri="http://schemas.openxmlformats.org/presentationml/2006/ole">
            <mc:AlternateContent xmlns:mc="http://schemas.openxmlformats.org/markup-compatibility/2006">
              <mc:Choice xmlns:v="urn:schemas-microsoft-com:vml" Requires="v">
                <p:oleObj spid="_x0000_s16448" name="Equation" r:id="rId15" imgW="190440" imgH="177480" progId="Equation.DSMT4">
                  <p:embed/>
                </p:oleObj>
              </mc:Choice>
              <mc:Fallback>
                <p:oleObj name="Equation" r:id="rId15" imgW="190440" imgH="177480" progId="Equation.DSMT4">
                  <p:embed/>
                  <p:pic>
                    <p:nvPicPr>
                      <p:cNvPr id="0" name=""/>
                      <p:cNvPicPr/>
                      <p:nvPr/>
                    </p:nvPicPr>
                    <p:blipFill>
                      <a:blip r:embed="rId16"/>
                      <a:stretch>
                        <a:fillRect/>
                      </a:stretch>
                    </p:blipFill>
                    <p:spPr>
                      <a:xfrm>
                        <a:off x="3524477" y="3713163"/>
                        <a:ext cx="560388" cy="525462"/>
                      </a:xfrm>
                      <a:prstGeom prst="rect">
                        <a:avLst/>
                      </a:prstGeom>
                    </p:spPr>
                  </p:pic>
                </p:oleObj>
              </mc:Fallback>
            </mc:AlternateContent>
          </a:graphicData>
        </a:graphic>
      </p:graphicFrame>
      <p:graphicFrame>
        <p:nvGraphicFramePr>
          <p:cNvPr id="11" name="对象 10"/>
          <p:cNvGraphicFramePr>
            <a:graphicFrameLocks noChangeAspect="1"/>
          </p:cNvGraphicFramePr>
          <p:nvPr>
            <p:extLst/>
          </p:nvPr>
        </p:nvGraphicFramePr>
        <p:xfrm>
          <a:off x="8108606" y="3713162"/>
          <a:ext cx="411162" cy="525463"/>
        </p:xfrm>
        <a:graphic>
          <a:graphicData uri="http://schemas.openxmlformats.org/presentationml/2006/ole">
            <mc:AlternateContent xmlns:mc="http://schemas.openxmlformats.org/markup-compatibility/2006">
              <mc:Choice xmlns:v="urn:schemas-microsoft-com:vml" Requires="v">
                <p:oleObj spid="_x0000_s16449" name="Equation" r:id="rId17" imgW="139680" imgH="177480" progId="Equation.DSMT4">
                  <p:embed/>
                </p:oleObj>
              </mc:Choice>
              <mc:Fallback>
                <p:oleObj name="Equation" r:id="rId17" imgW="139680" imgH="177480" progId="Equation.DSMT4">
                  <p:embed/>
                  <p:pic>
                    <p:nvPicPr>
                      <p:cNvPr id="0" name=""/>
                      <p:cNvPicPr/>
                      <p:nvPr/>
                    </p:nvPicPr>
                    <p:blipFill>
                      <a:blip r:embed="rId18"/>
                      <a:stretch>
                        <a:fillRect/>
                      </a:stretch>
                    </p:blipFill>
                    <p:spPr>
                      <a:xfrm>
                        <a:off x="8108606" y="3713162"/>
                        <a:ext cx="411162" cy="525463"/>
                      </a:xfrm>
                      <a:prstGeom prst="rect">
                        <a:avLst/>
                      </a:prstGeom>
                    </p:spPr>
                  </p:pic>
                </p:oleObj>
              </mc:Fallback>
            </mc:AlternateContent>
          </a:graphicData>
        </a:graphic>
      </p:graphicFrame>
    </p:spTree>
    <p:extLst>
      <p:ext uri="{BB962C8B-B14F-4D97-AF65-F5344CB8AC3E}">
        <p14:creationId xmlns:p14="http://schemas.microsoft.com/office/powerpoint/2010/main" val="3911528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B2FAC2-A0C5-4C1D-BC29-496A9EC0F9F4}"/>
              </a:ext>
            </a:extLst>
          </p:cNvPr>
          <p:cNvSpPr>
            <a:spLocks noGrp="1"/>
          </p:cNvSpPr>
          <p:nvPr>
            <p:ph type="title"/>
          </p:nvPr>
        </p:nvSpPr>
        <p:spPr/>
        <p:txBody>
          <a:bodyPr/>
          <a:lstStyle/>
          <a:p>
            <a:r>
              <a:rPr lang="en-US" altLang="zh-CN" dirty="0"/>
              <a:t>Simple LR</a:t>
            </a:r>
            <a:endParaRPr lang="zh-CN" altLang="en-US" dirty="0"/>
          </a:p>
        </p:txBody>
      </p:sp>
      <p:sp>
        <p:nvSpPr>
          <p:cNvPr id="3" name="内容占位符 2">
            <a:extLst>
              <a:ext uri="{FF2B5EF4-FFF2-40B4-BE49-F238E27FC236}">
                <a16:creationId xmlns:a16="http://schemas.microsoft.com/office/drawing/2014/main" id="{198B9A70-F613-4386-8690-3E90E1B1234E}"/>
              </a:ext>
            </a:extLst>
          </p:cNvPr>
          <p:cNvSpPr>
            <a:spLocks noGrp="1"/>
          </p:cNvSpPr>
          <p:nvPr>
            <p:ph idx="1"/>
          </p:nvPr>
        </p:nvSpPr>
        <p:spPr>
          <a:xfrm>
            <a:off x="828675" y="1600199"/>
            <a:ext cx="7486650" cy="4907133"/>
          </a:xfrm>
        </p:spPr>
        <p:txBody>
          <a:bodyPr>
            <a:normAutofit/>
          </a:bodyPr>
          <a:lstStyle/>
          <a:p>
            <a:r>
              <a:rPr lang="en-US" altLang="zh-CN" sz="1800" dirty="0">
                <a:solidFill>
                  <a:srgbClr val="7030A0"/>
                </a:solidFill>
              </a:rPr>
              <a:t>Items and the LR(0) Automaton</a:t>
            </a:r>
          </a:p>
          <a:p>
            <a:pPr lvl="1"/>
            <a:r>
              <a:rPr lang="en-US" altLang="zh-CN" sz="1400" dirty="0"/>
              <a:t>An LR parser makes shift-reduce decisions by maintaining states to keep track of where we are in a parse. States represent sets of "items." An LR(0) item (item for short) of a grammar G is a production of G with a dot at some position of the body. Thus, production                   yields the four items</a:t>
            </a:r>
          </a:p>
          <a:p>
            <a:pPr lvl="1"/>
            <a:endParaRPr lang="en-US" altLang="zh-CN" sz="1400" dirty="0"/>
          </a:p>
          <a:p>
            <a:pPr lvl="1"/>
            <a:endParaRPr lang="en-US" altLang="zh-CN" sz="1400" dirty="0"/>
          </a:p>
          <a:p>
            <a:pPr lvl="1"/>
            <a:endParaRPr lang="en-US" altLang="zh-CN" sz="1400" dirty="0"/>
          </a:p>
          <a:p>
            <a:pPr lvl="1"/>
            <a:endParaRPr lang="en-US" altLang="zh-CN" sz="1400" dirty="0"/>
          </a:p>
          <a:p>
            <a:pPr lvl="1"/>
            <a:endParaRPr lang="en-US" altLang="zh-CN" sz="1400" dirty="0"/>
          </a:p>
          <a:p>
            <a:pPr marL="342900" lvl="1" indent="0">
              <a:buNone/>
            </a:pPr>
            <a:r>
              <a:rPr lang="en-US" altLang="zh-CN" sz="1400" dirty="0"/>
              <a:t>For                 ,</a:t>
            </a:r>
            <a:r>
              <a:rPr lang="zh-CN" altLang="en-US" sz="1400" dirty="0"/>
              <a:t> </a:t>
            </a:r>
            <a:r>
              <a:rPr lang="en-US" altLang="zh-CN" sz="1400" dirty="0"/>
              <a:t>we</a:t>
            </a:r>
            <a:r>
              <a:rPr lang="zh-CN" altLang="en-US" sz="1400" dirty="0"/>
              <a:t> </a:t>
            </a:r>
            <a:r>
              <a:rPr lang="en-US" altLang="zh-CN" sz="1400" dirty="0"/>
              <a:t>only</a:t>
            </a:r>
            <a:r>
              <a:rPr lang="zh-CN" altLang="en-US" sz="1400" dirty="0"/>
              <a:t> </a:t>
            </a:r>
            <a:r>
              <a:rPr lang="en-US" altLang="zh-CN" sz="1400" dirty="0"/>
              <a:t>have              .</a:t>
            </a:r>
            <a:r>
              <a:rPr lang="zh-CN" altLang="en-US" sz="1400" dirty="0"/>
              <a:t> </a:t>
            </a:r>
            <a:r>
              <a:rPr lang="en-US" altLang="zh-CN" sz="1400" dirty="0"/>
              <a:t> </a:t>
            </a:r>
          </a:p>
          <a:p>
            <a:pPr marL="342900" lvl="1" indent="0">
              <a:buNone/>
            </a:pPr>
            <a:r>
              <a:rPr lang="en-US" altLang="zh-CN" sz="1400" dirty="0"/>
              <a:t>The item                   indicates that we hope to see a string derivable from XYZ next on the input. Item                      indicates that we have just seen on the input a string derivable from X and that we hope next to see a string derivable from YZ. Item                    indicates that we have seen the body XYZ and that it may be time to reduce XYZ to A.</a:t>
            </a:r>
          </a:p>
          <a:p>
            <a:pPr marL="342900" lvl="1" indent="0">
              <a:buNone/>
            </a:pPr>
            <a:endParaRPr lang="en-US" altLang="zh-CN" sz="1400" dirty="0"/>
          </a:p>
          <a:p>
            <a:pPr marL="342900" lvl="1" indent="0">
              <a:buNone/>
            </a:pPr>
            <a:r>
              <a:rPr lang="en-US" altLang="zh-CN" sz="1400" dirty="0"/>
              <a:t>One collection of sets of LR(0) items, called the </a:t>
            </a:r>
            <a:r>
              <a:rPr lang="en-US" altLang="zh-CN" sz="1400" b="1" dirty="0">
                <a:solidFill>
                  <a:srgbClr val="7030A0"/>
                </a:solidFill>
              </a:rPr>
              <a:t>canonical LR(0) collection</a:t>
            </a:r>
            <a:r>
              <a:rPr lang="en-US" altLang="zh-CN" sz="1400" dirty="0"/>
              <a:t>,</a:t>
            </a:r>
          </a:p>
          <a:p>
            <a:pPr marL="342900" lvl="1" indent="0">
              <a:buNone/>
            </a:pPr>
            <a:r>
              <a:rPr lang="en-US" altLang="zh-CN" sz="1400" dirty="0"/>
              <a:t>provides the basis for constructing a deterministic finite automaton that is used</a:t>
            </a:r>
          </a:p>
          <a:p>
            <a:pPr marL="342900" lvl="1" indent="0">
              <a:buNone/>
            </a:pPr>
            <a:r>
              <a:rPr lang="en-US" altLang="zh-CN" sz="1400" dirty="0"/>
              <a:t>to make parsing decisions.</a:t>
            </a:r>
          </a:p>
        </p:txBody>
      </p:sp>
      <p:graphicFrame>
        <p:nvGraphicFramePr>
          <p:cNvPr id="4" name="对象 3">
            <a:extLst>
              <a:ext uri="{FF2B5EF4-FFF2-40B4-BE49-F238E27FC236}">
                <a16:creationId xmlns:a16="http://schemas.microsoft.com/office/drawing/2014/main" id="{4CBE972E-D43D-40B7-AA5D-608ED9A76BED}"/>
              </a:ext>
            </a:extLst>
          </p:cNvPr>
          <p:cNvGraphicFramePr>
            <a:graphicFrameLocks noChangeAspect="1"/>
          </p:cNvGraphicFramePr>
          <p:nvPr>
            <p:extLst/>
          </p:nvPr>
        </p:nvGraphicFramePr>
        <p:xfrm>
          <a:off x="3354033" y="2499913"/>
          <a:ext cx="912430" cy="278798"/>
        </p:xfrm>
        <a:graphic>
          <a:graphicData uri="http://schemas.openxmlformats.org/presentationml/2006/ole">
            <mc:AlternateContent xmlns:mc="http://schemas.openxmlformats.org/markup-compatibility/2006">
              <mc:Choice xmlns:v="urn:schemas-microsoft-com:vml" Requires="v">
                <p:oleObj spid="_x0000_s20523" name="Equation" r:id="rId3" imgW="457200" imgH="139680" progId="Equation.DSMT4">
                  <p:embed/>
                </p:oleObj>
              </mc:Choice>
              <mc:Fallback>
                <p:oleObj name="Equation" r:id="rId3" imgW="457200" imgH="139680" progId="Equation.DSMT4">
                  <p:embed/>
                  <p:pic>
                    <p:nvPicPr>
                      <p:cNvPr id="0" name=""/>
                      <p:cNvPicPr/>
                      <p:nvPr/>
                    </p:nvPicPr>
                    <p:blipFill>
                      <a:blip r:embed="rId4"/>
                      <a:stretch>
                        <a:fillRect/>
                      </a:stretch>
                    </p:blipFill>
                    <p:spPr>
                      <a:xfrm>
                        <a:off x="3354033" y="2499913"/>
                        <a:ext cx="912430" cy="278798"/>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42634B35-8671-4E0A-81B2-BC39D08701EB}"/>
              </a:ext>
            </a:extLst>
          </p:cNvPr>
          <p:cNvGraphicFramePr>
            <a:graphicFrameLocks noChangeAspect="1"/>
          </p:cNvGraphicFramePr>
          <p:nvPr>
            <p:extLst/>
          </p:nvPr>
        </p:nvGraphicFramePr>
        <p:xfrm>
          <a:off x="3810248" y="2778711"/>
          <a:ext cx="1012825" cy="1162050"/>
        </p:xfrm>
        <a:graphic>
          <a:graphicData uri="http://schemas.openxmlformats.org/presentationml/2006/ole">
            <mc:AlternateContent xmlns:mc="http://schemas.openxmlformats.org/markup-compatibility/2006">
              <mc:Choice xmlns:v="urn:schemas-microsoft-com:vml" Requires="v">
                <p:oleObj spid="_x0000_s20524" name="Equation" r:id="rId5" imgW="507960" imgH="583920" progId="Equation.DSMT4">
                  <p:embed/>
                </p:oleObj>
              </mc:Choice>
              <mc:Fallback>
                <p:oleObj name="Equation" r:id="rId5" imgW="507960" imgH="583920" progId="Equation.DSMT4">
                  <p:embed/>
                  <p:pic>
                    <p:nvPicPr>
                      <p:cNvPr id="0" name=""/>
                      <p:cNvPicPr/>
                      <p:nvPr/>
                    </p:nvPicPr>
                    <p:blipFill>
                      <a:blip r:embed="rId6"/>
                      <a:stretch>
                        <a:fillRect/>
                      </a:stretch>
                    </p:blipFill>
                    <p:spPr>
                      <a:xfrm>
                        <a:off x="3810248" y="2778711"/>
                        <a:ext cx="1012825" cy="1162050"/>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7B4848EA-5425-4576-976C-E7149B2093F1}"/>
              </a:ext>
            </a:extLst>
          </p:cNvPr>
          <p:cNvGraphicFramePr>
            <a:graphicFrameLocks noChangeAspect="1"/>
          </p:cNvGraphicFramePr>
          <p:nvPr>
            <p:extLst/>
          </p:nvPr>
        </p:nvGraphicFramePr>
        <p:xfrm>
          <a:off x="1635125" y="3994150"/>
          <a:ext cx="633413" cy="279400"/>
        </p:xfrm>
        <a:graphic>
          <a:graphicData uri="http://schemas.openxmlformats.org/presentationml/2006/ole">
            <mc:AlternateContent xmlns:mc="http://schemas.openxmlformats.org/markup-compatibility/2006">
              <mc:Choice xmlns:v="urn:schemas-microsoft-com:vml" Requires="v">
                <p:oleObj spid="_x0000_s20525" name="Equation" r:id="rId7" imgW="317160" imgH="139680" progId="Equation.DSMT4">
                  <p:embed/>
                </p:oleObj>
              </mc:Choice>
              <mc:Fallback>
                <p:oleObj name="Equation" r:id="rId7" imgW="317160" imgH="139680" progId="Equation.DSMT4">
                  <p:embed/>
                  <p:pic>
                    <p:nvPicPr>
                      <p:cNvPr id="0" name=""/>
                      <p:cNvPicPr/>
                      <p:nvPr/>
                    </p:nvPicPr>
                    <p:blipFill>
                      <a:blip r:embed="rId8"/>
                      <a:stretch>
                        <a:fillRect/>
                      </a:stretch>
                    </p:blipFill>
                    <p:spPr>
                      <a:xfrm>
                        <a:off x="1635125" y="3994150"/>
                        <a:ext cx="633413" cy="279400"/>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A4EF17BB-4020-4990-8EC2-085DC7141F74}"/>
              </a:ext>
            </a:extLst>
          </p:cNvPr>
          <p:cNvGraphicFramePr>
            <a:graphicFrameLocks noChangeAspect="1"/>
          </p:cNvGraphicFramePr>
          <p:nvPr>
            <p:extLst/>
          </p:nvPr>
        </p:nvGraphicFramePr>
        <p:xfrm>
          <a:off x="3684588" y="3994150"/>
          <a:ext cx="531812" cy="279400"/>
        </p:xfrm>
        <a:graphic>
          <a:graphicData uri="http://schemas.openxmlformats.org/presentationml/2006/ole">
            <mc:AlternateContent xmlns:mc="http://schemas.openxmlformats.org/markup-compatibility/2006">
              <mc:Choice xmlns:v="urn:schemas-microsoft-com:vml" Requires="v">
                <p:oleObj spid="_x0000_s20526" name="Equation" r:id="rId9" imgW="266400" imgH="139680" progId="Equation.DSMT4">
                  <p:embed/>
                </p:oleObj>
              </mc:Choice>
              <mc:Fallback>
                <p:oleObj name="Equation" r:id="rId9" imgW="266400" imgH="139680" progId="Equation.DSMT4">
                  <p:embed/>
                  <p:pic>
                    <p:nvPicPr>
                      <p:cNvPr id="0" name=""/>
                      <p:cNvPicPr/>
                      <p:nvPr/>
                    </p:nvPicPr>
                    <p:blipFill>
                      <a:blip r:embed="rId10"/>
                      <a:stretch>
                        <a:fillRect/>
                      </a:stretch>
                    </p:blipFill>
                    <p:spPr>
                      <a:xfrm>
                        <a:off x="3684588" y="3994150"/>
                        <a:ext cx="531812" cy="279400"/>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2446063C-BB05-4836-A396-E5D8C9A5AF99}"/>
              </a:ext>
            </a:extLst>
          </p:cNvPr>
          <p:cNvGraphicFramePr>
            <a:graphicFrameLocks noChangeAspect="1"/>
          </p:cNvGraphicFramePr>
          <p:nvPr>
            <p:extLst/>
          </p:nvPr>
        </p:nvGraphicFramePr>
        <p:xfrm>
          <a:off x="1951831" y="4273550"/>
          <a:ext cx="936625" cy="277812"/>
        </p:xfrm>
        <a:graphic>
          <a:graphicData uri="http://schemas.openxmlformats.org/presentationml/2006/ole">
            <mc:AlternateContent xmlns:mc="http://schemas.openxmlformats.org/markup-compatibility/2006">
              <mc:Choice xmlns:v="urn:schemas-microsoft-com:vml" Requires="v">
                <p:oleObj spid="_x0000_s20527" name="Equation" r:id="rId11" imgW="469800" imgH="139680" progId="Equation.DSMT4">
                  <p:embed/>
                </p:oleObj>
              </mc:Choice>
              <mc:Fallback>
                <p:oleObj name="Equation" r:id="rId11" imgW="469800" imgH="139680" progId="Equation.DSMT4">
                  <p:embed/>
                  <p:pic>
                    <p:nvPicPr>
                      <p:cNvPr id="0" name=""/>
                      <p:cNvPicPr/>
                      <p:nvPr/>
                    </p:nvPicPr>
                    <p:blipFill>
                      <a:blip r:embed="rId12"/>
                      <a:stretch>
                        <a:fillRect/>
                      </a:stretch>
                    </p:blipFill>
                    <p:spPr>
                      <a:xfrm>
                        <a:off x="1951831" y="4273550"/>
                        <a:ext cx="936625" cy="277812"/>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A352CDC7-0098-4ADA-9A7C-B674071312C5}"/>
              </a:ext>
            </a:extLst>
          </p:cNvPr>
          <p:cNvGraphicFramePr>
            <a:graphicFrameLocks noChangeAspect="1"/>
          </p:cNvGraphicFramePr>
          <p:nvPr>
            <p:extLst/>
          </p:nvPr>
        </p:nvGraphicFramePr>
        <p:xfrm>
          <a:off x="2792016" y="4444829"/>
          <a:ext cx="989013" cy="277812"/>
        </p:xfrm>
        <a:graphic>
          <a:graphicData uri="http://schemas.openxmlformats.org/presentationml/2006/ole">
            <mc:AlternateContent xmlns:mc="http://schemas.openxmlformats.org/markup-compatibility/2006">
              <mc:Choice xmlns:v="urn:schemas-microsoft-com:vml" Requires="v">
                <p:oleObj spid="_x0000_s20528" name="Equation" r:id="rId13" imgW="495000" imgH="139680" progId="Equation.DSMT4">
                  <p:embed/>
                </p:oleObj>
              </mc:Choice>
              <mc:Fallback>
                <p:oleObj name="Equation" r:id="rId13" imgW="495000" imgH="139680" progId="Equation.DSMT4">
                  <p:embed/>
                  <p:pic>
                    <p:nvPicPr>
                      <p:cNvPr id="0" name=""/>
                      <p:cNvPicPr/>
                      <p:nvPr/>
                    </p:nvPicPr>
                    <p:blipFill>
                      <a:blip r:embed="rId14"/>
                      <a:stretch>
                        <a:fillRect/>
                      </a:stretch>
                    </p:blipFill>
                    <p:spPr>
                      <a:xfrm>
                        <a:off x="2792016" y="4444829"/>
                        <a:ext cx="989013" cy="277812"/>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58EC9BF4-E819-4AF5-9ED4-027F2BB0C3FB}"/>
              </a:ext>
            </a:extLst>
          </p:cNvPr>
          <p:cNvGraphicFramePr>
            <a:graphicFrameLocks noChangeAspect="1"/>
          </p:cNvGraphicFramePr>
          <p:nvPr>
            <p:extLst/>
          </p:nvPr>
        </p:nvGraphicFramePr>
        <p:xfrm>
          <a:off x="1599969" y="4839494"/>
          <a:ext cx="962025" cy="277812"/>
        </p:xfrm>
        <a:graphic>
          <a:graphicData uri="http://schemas.openxmlformats.org/presentationml/2006/ole">
            <mc:AlternateContent xmlns:mc="http://schemas.openxmlformats.org/markup-compatibility/2006">
              <mc:Choice xmlns:v="urn:schemas-microsoft-com:vml" Requires="v">
                <p:oleObj spid="_x0000_s20529" name="Equation" r:id="rId15" imgW="482400" imgH="139680" progId="Equation.DSMT4">
                  <p:embed/>
                </p:oleObj>
              </mc:Choice>
              <mc:Fallback>
                <p:oleObj name="Equation" r:id="rId15" imgW="482400" imgH="139680" progId="Equation.DSMT4">
                  <p:embed/>
                  <p:pic>
                    <p:nvPicPr>
                      <p:cNvPr id="0" name=""/>
                      <p:cNvPicPr/>
                      <p:nvPr/>
                    </p:nvPicPr>
                    <p:blipFill>
                      <a:blip r:embed="rId16"/>
                      <a:stretch>
                        <a:fillRect/>
                      </a:stretch>
                    </p:blipFill>
                    <p:spPr>
                      <a:xfrm>
                        <a:off x="1599969" y="4839494"/>
                        <a:ext cx="962025" cy="277812"/>
                      </a:xfrm>
                      <a:prstGeom prst="rect">
                        <a:avLst/>
                      </a:prstGeom>
                    </p:spPr>
                  </p:pic>
                </p:oleObj>
              </mc:Fallback>
            </mc:AlternateContent>
          </a:graphicData>
        </a:graphic>
      </p:graphicFrame>
    </p:spTree>
    <p:extLst>
      <p:ext uri="{BB962C8B-B14F-4D97-AF65-F5344CB8AC3E}">
        <p14:creationId xmlns:p14="http://schemas.microsoft.com/office/powerpoint/2010/main" val="2483570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6D0ED0-1643-40B2-8EAA-5F1C47194BD3}"/>
              </a:ext>
            </a:extLst>
          </p:cNvPr>
          <p:cNvSpPr>
            <a:spLocks noGrp="1"/>
          </p:cNvSpPr>
          <p:nvPr>
            <p:ph type="title"/>
          </p:nvPr>
        </p:nvSpPr>
        <p:spPr/>
        <p:txBody>
          <a:bodyPr/>
          <a:lstStyle/>
          <a:p>
            <a:r>
              <a:rPr lang="en-US" altLang="zh-CN" dirty="0"/>
              <a:t>Simple LR</a:t>
            </a:r>
            <a:endParaRPr lang="zh-CN" altLang="en-US" dirty="0"/>
          </a:p>
        </p:txBody>
      </p:sp>
      <p:sp>
        <p:nvSpPr>
          <p:cNvPr id="3" name="内容占位符 2">
            <a:extLst>
              <a:ext uri="{FF2B5EF4-FFF2-40B4-BE49-F238E27FC236}">
                <a16:creationId xmlns:a16="http://schemas.microsoft.com/office/drawing/2014/main" id="{9A5A14AB-5EE3-4999-A786-CBCADEF2819F}"/>
              </a:ext>
            </a:extLst>
          </p:cNvPr>
          <p:cNvSpPr>
            <a:spLocks noGrp="1"/>
          </p:cNvSpPr>
          <p:nvPr>
            <p:ph idx="1"/>
          </p:nvPr>
        </p:nvSpPr>
        <p:spPr/>
        <p:txBody>
          <a:bodyPr/>
          <a:lstStyle/>
          <a:p>
            <a:pPr>
              <a:lnSpc>
                <a:spcPct val="100000"/>
              </a:lnSpc>
            </a:pPr>
            <a:r>
              <a:rPr lang="en-US" altLang="zh-CN" dirty="0"/>
              <a:t>To construct the canonical LR(0) collection for a grammar, we define an </a:t>
            </a:r>
            <a:r>
              <a:rPr lang="en-US" altLang="zh-CN" i="1" dirty="0">
                <a:solidFill>
                  <a:srgbClr val="7030A0"/>
                </a:solidFill>
              </a:rPr>
              <a:t>augmented grammar </a:t>
            </a:r>
            <a:r>
              <a:rPr lang="en-US" altLang="zh-CN" dirty="0"/>
              <a:t>and two functions, CLOSURE and GOTO . If G is a grammar with start symbol S, then G' , the augmented grammar for G, is G with a new start symbol S' and production            . The purpose of this new starting production is to indicate to the parser when it should stop parsing and announce acceptance of the input. That is, acceptance occurs when and only when the parser is about to reduce by               . </a:t>
            </a:r>
          </a:p>
          <a:p>
            <a:pPr>
              <a:lnSpc>
                <a:spcPct val="100000"/>
              </a:lnSpc>
            </a:pPr>
            <a:r>
              <a:rPr lang="en-US" altLang="zh-CN" b="1" dirty="0">
                <a:solidFill>
                  <a:srgbClr val="7030A0"/>
                </a:solidFill>
              </a:rPr>
              <a:t>Closure of Item Sets</a:t>
            </a:r>
          </a:p>
          <a:p>
            <a:pPr>
              <a:lnSpc>
                <a:spcPct val="100000"/>
              </a:lnSpc>
            </a:pPr>
            <a:endParaRPr lang="zh-CN" altLang="en-US" b="1" dirty="0">
              <a:solidFill>
                <a:srgbClr val="7030A0"/>
              </a:solidFill>
            </a:endParaRPr>
          </a:p>
        </p:txBody>
      </p:sp>
      <p:graphicFrame>
        <p:nvGraphicFramePr>
          <p:cNvPr id="4" name="对象 3">
            <a:extLst>
              <a:ext uri="{FF2B5EF4-FFF2-40B4-BE49-F238E27FC236}">
                <a16:creationId xmlns:a16="http://schemas.microsoft.com/office/drawing/2014/main" id="{38026A92-E0F8-444C-BA6E-3324C346B54A}"/>
              </a:ext>
            </a:extLst>
          </p:cNvPr>
          <p:cNvGraphicFramePr>
            <a:graphicFrameLocks noChangeAspect="1"/>
          </p:cNvGraphicFramePr>
          <p:nvPr>
            <p:extLst/>
          </p:nvPr>
        </p:nvGraphicFramePr>
        <p:xfrm>
          <a:off x="4394077" y="2271961"/>
          <a:ext cx="719462" cy="304388"/>
        </p:xfrm>
        <a:graphic>
          <a:graphicData uri="http://schemas.openxmlformats.org/presentationml/2006/ole">
            <mc:AlternateContent xmlns:mc="http://schemas.openxmlformats.org/markup-compatibility/2006">
              <mc:Choice xmlns:v="urn:schemas-microsoft-com:vml" Requires="v">
                <p:oleObj spid="_x0000_s19469" name="Equation" r:id="rId3" imgW="330120" imgH="139680" progId="Equation.DSMT4">
                  <p:embed/>
                </p:oleObj>
              </mc:Choice>
              <mc:Fallback>
                <p:oleObj name="Equation" r:id="rId3" imgW="330120" imgH="139680" progId="Equation.DSMT4">
                  <p:embed/>
                  <p:pic>
                    <p:nvPicPr>
                      <p:cNvPr id="0" name=""/>
                      <p:cNvPicPr/>
                      <p:nvPr/>
                    </p:nvPicPr>
                    <p:blipFill>
                      <a:blip r:embed="rId4"/>
                      <a:stretch>
                        <a:fillRect/>
                      </a:stretch>
                    </p:blipFill>
                    <p:spPr>
                      <a:xfrm>
                        <a:off x="4394077" y="2271961"/>
                        <a:ext cx="719462" cy="304388"/>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C075B511-DF62-48CB-A445-963DE5BA7804}"/>
              </a:ext>
            </a:extLst>
          </p:cNvPr>
          <p:cNvGraphicFramePr>
            <a:graphicFrameLocks noChangeAspect="1"/>
          </p:cNvGraphicFramePr>
          <p:nvPr>
            <p:extLst/>
          </p:nvPr>
        </p:nvGraphicFramePr>
        <p:xfrm>
          <a:off x="4531297" y="2970611"/>
          <a:ext cx="803275" cy="304800"/>
        </p:xfrm>
        <a:graphic>
          <a:graphicData uri="http://schemas.openxmlformats.org/presentationml/2006/ole">
            <mc:AlternateContent xmlns:mc="http://schemas.openxmlformats.org/markup-compatibility/2006">
              <mc:Choice xmlns:v="urn:schemas-microsoft-com:vml" Requires="v">
                <p:oleObj spid="_x0000_s19470" name="Equation" r:id="rId5" imgW="368280" imgH="139680" progId="Equation.DSMT4">
                  <p:embed/>
                </p:oleObj>
              </mc:Choice>
              <mc:Fallback>
                <p:oleObj name="Equation" r:id="rId5" imgW="368280" imgH="139680" progId="Equation.DSMT4">
                  <p:embed/>
                  <p:pic>
                    <p:nvPicPr>
                      <p:cNvPr id="0" name=""/>
                      <p:cNvPicPr/>
                      <p:nvPr/>
                    </p:nvPicPr>
                    <p:blipFill>
                      <a:blip r:embed="rId6"/>
                      <a:stretch>
                        <a:fillRect/>
                      </a:stretch>
                    </p:blipFill>
                    <p:spPr>
                      <a:xfrm>
                        <a:off x="4531297" y="2970611"/>
                        <a:ext cx="803275" cy="304800"/>
                      </a:xfrm>
                      <a:prstGeom prst="rect">
                        <a:avLst/>
                      </a:prstGeom>
                    </p:spPr>
                  </p:pic>
                </p:oleObj>
              </mc:Fallback>
            </mc:AlternateContent>
          </a:graphicData>
        </a:graphic>
      </p:graphicFrame>
      <p:pic>
        <p:nvPicPr>
          <p:cNvPr id="6" name="图片 5">
            <a:extLst>
              <a:ext uri="{FF2B5EF4-FFF2-40B4-BE49-F238E27FC236}">
                <a16:creationId xmlns:a16="http://schemas.microsoft.com/office/drawing/2014/main" id="{F1DFB6EC-9C79-4BD3-933E-FC8AF99D2ABE}"/>
              </a:ext>
            </a:extLst>
          </p:cNvPr>
          <p:cNvPicPr>
            <a:picLocks noChangeAspect="1"/>
          </p:cNvPicPr>
          <p:nvPr/>
        </p:nvPicPr>
        <p:blipFill>
          <a:blip r:embed="rId7"/>
          <a:stretch>
            <a:fillRect/>
          </a:stretch>
        </p:blipFill>
        <p:spPr>
          <a:xfrm>
            <a:off x="950513" y="3702449"/>
            <a:ext cx="5805628" cy="1552072"/>
          </a:xfrm>
          <a:prstGeom prst="rect">
            <a:avLst/>
          </a:prstGeom>
        </p:spPr>
      </p:pic>
      <p:pic>
        <p:nvPicPr>
          <p:cNvPr id="7" name="图片 6">
            <a:extLst>
              <a:ext uri="{FF2B5EF4-FFF2-40B4-BE49-F238E27FC236}">
                <a16:creationId xmlns:a16="http://schemas.microsoft.com/office/drawing/2014/main" id="{14F00DBF-6723-48FF-9112-0BF49542B843}"/>
              </a:ext>
            </a:extLst>
          </p:cNvPr>
          <p:cNvPicPr>
            <a:picLocks noChangeAspect="1"/>
          </p:cNvPicPr>
          <p:nvPr/>
        </p:nvPicPr>
        <p:blipFill>
          <a:blip r:embed="rId8"/>
          <a:stretch>
            <a:fillRect/>
          </a:stretch>
        </p:blipFill>
        <p:spPr>
          <a:xfrm>
            <a:off x="950513" y="5402672"/>
            <a:ext cx="5713335" cy="1228367"/>
          </a:xfrm>
          <a:prstGeom prst="rect">
            <a:avLst/>
          </a:prstGeom>
        </p:spPr>
      </p:pic>
    </p:spTree>
    <p:extLst>
      <p:ext uri="{BB962C8B-B14F-4D97-AF65-F5344CB8AC3E}">
        <p14:creationId xmlns:p14="http://schemas.microsoft.com/office/powerpoint/2010/main" val="1908601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6C78A6-8185-462B-B34E-BFBB5EC1D2B4}"/>
              </a:ext>
            </a:extLst>
          </p:cNvPr>
          <p:cNvSpPr>
            <a:spLocks noGrp="1"/>
          </p:cNvSpPr>
          <p:nvPr>
            <p:ph type="title"/>
          </p:nvPr>
        </p:nvSpPr>
        <p:spPr/>
        <p:txBody>
          <a:bodyPr/>
          <a:lstStyle/>
          <a:p>
            <a:r>
              <a:rPr lang="en-US" altLang="zh-CN" dirty="0"/>
              <a:t>Simple LR</a:t>
            </a:r>
            <a:endParaRPr lang="zh-CN" altLang="en-US" dirty="0"/>
          </a:p>
        </p:txBody>
      </p:sp>
      <p:sp>
        <p:nvSpPr>
          <p:cNvPr id="3" name="内容占位符 2">
            <a:extLst>
              <a:ext uri="{FF2B5EF4-FFF2-40B4-BE49-F238E27FC236}">
                <a16:creationId xmlns:a16="http://schemas.microsoft.com/office/drawing/2014/main" id="{E6355B2A-6ABB-4F3A-81D1-015D0926FAC2}"/>
              </a:ext>
            </a:extLst>
          </p:cNvPr>
          <p:cNvSpPr>
            <a:spLocks noGrp="1"/>
          </p:cNvSpPr>
          <p:nvPr>
            <p:ph idx="1"/>
          </p:nvPr>
        </p:nvSpPr>
        <p:spPr/>
        <p:txBody>
          <a:bodyPr>
            <a:normAutofit/>
          </a:bodyPr>
          <a:lstStyle/>
          <a:p>
            <a:r>
              <a:rPr lang="en-US" altLang="zh-CN" sz="1800" b="1" dirty="0">
                <a:solidFill>
                  <a:srgbClr val="7030A0"/>
                </a:solidFill>
              </a:rPr>
              <a:t>The Function GOTO</a:t>
            </a:r>
          </a:p>
          <a:p>
            <a:pPr marL="0" indent="0">
              <a:buNone/>
            </a:pPr>
            <a:endParaRPr lang="zh-CN" altLang="en-US" sz="1600" dirty="0"/>
          </a:p>
        </p:txBody>
      </p:sp>
      <p:pic>
        <p:nvPicPr>
          <p:cNvPr id="4" name="图片 3">
            <a:extLst>
              <a:ext uri="{FF2B5EF4-FFF2-40B4-BE49-F238E27FC236}">
                <a16:creationId xmlns:a16="http://schemas.microsoft.com/office/drawing/2014/main" id="{253DBB59-3C2B-4796-A3E8-0DD71FB32511}"/>
              </a:ext>
            </a:extLst>
          </p:cNvPr>
          <p:cNvPicPr>
            <a:picLocks noChangeAspect="1"/>
          </p:cNvPicPr>
          <p:nvPr/>
        </p:nvPicPr>
        <p:blipFill>
          <a:blip r:embed="rId3"/>
          <a:stretch>
            <a:fillRect/>
          </a:stretch>
        </p:blipFill>
        <p:spPr>
          <a:xfrm>
            <a:off x="828675" y="2013021"/>
            <a:ext cx="7354900" cy="1677555"/>
          </a:xfrm>
          <a:prstGeom prst="rect">
            <a:avLst/>
          </a:prstGeom>
        </p:spPr>
      </p:pic>
      <p:cxnSp>
        <p:nvCxnSpPr>
          <p:cNvPr id="6" name="直接连接符 5">
            <a:extLst>
              <a:ext uri="{FF2B5EF4-FFF2-40B4-BE49-F238E27FC236}">
                <a16:creationId xmlns:a16="http://schemas.microsoft.com/office/drawing/2014/main" id="{0B08EF83-CC21-4159-8668-568C4DD7D275}"/>
              </a:ext>
            </a:extLst>
          </p:cNvPr>
          <p:cNvCxnSpPr/>
          <p:nvPr/>
        </p:nvCxnSpPr>
        <p:spPr>
          <a:xfrm>
            <a:off x="2610035" y="2539014"/>
            <a:ext cx="5459767" cy="0"/>
          </a:xfrm>
          <a:prstGeom prst="line">
            <a:avLst/>
          </a:prstGeom>
          <a:ln/>
        </p:spPr>
        <p:style>
          <a:lnRef idx="3">
            <a:schemeClr val="accent4"/>
          </a:lnRef>
          <a:fillRef idx="0">
            <a:schemeClr val="accent4"/>
          </a:fillRef>
          <a:effectRef idx="2">
            <a:schemeClr val="accent4"/>
          </a:effectRef>
          <a:fontRef idx="minor">
            <a:schemeClr val="tx1"/>
          </a:fontRef>
        </p:style>
      </p:cxnSp>
      <p:cxnSp>
        <p:nvCxnSpPr>
          <p:cNvPr id="8" name="直接连接符 7">
            <a:extLst>
              <a:ext uri="{FF2B5EF4-FFF2-40B4-BE49-F238E27FC236}">
                <a16:creationId xmlns:a16="http://schemas.microsoft.com/office/drawing/2014/main" id="{0ACF3961-F30C-4984-A069-C805990B8A96}"/>
              </a:ext>
            </a:extLst>
          </p:cNvPr>
          <p:cNvCxnSpPr>
            <a:cxnSpLocks/>
          </p:cNvCxnSpPr>
          <p:nvPr/>
        </p:nvCxnSpPr>
        <p:spPr>
          <a:xfrm>
            <a:off x="833821" y="2789654"/>
            <a:ext cx="4204964" cy="0"/>
          </a:xfrm>
          <a:prstGeom prst="line">
            <a:avLst/>
          </a:prstGeom>
          <a:ln/>
        </p:spPr>
        <p:style>
          <a:lnRef idx="3">
            <a:schemeClr val="accent4"/>
          </a:lnRef>
          <a:fillRef idx="0">
            <a:schemeClr val="accent4"/>
          </a:fillRef>
          <a:effectRef idx="2">
            <a:schemeClr val="accent4"/>
          </a:effectRef>
          <a:fontRef idx="minor">
            <a:schemeClr val="tx1"/>
          </a:fontRef>
        </p:style>
      </p:cxnSp>
      <p:graphicFrame>
        <p:nvGraphicFramePr>
          <p:cNvPr id="10" name="对象 9">
            <a:extLst>
              <a:ext uri="{FF2B5EF4-FFF2-40B4-BE49-F238E27FC236}">
                <a16:creationId xmlns:a16="http://schemas.microsoft.com/office/drawing/2014/main" id="{C524E8B0-E276-4024-A2B5-089E19C0CF86}"/>
              </a:ext>
            </a:extLst>
          </p:cNvPr>
          <p:cNvGraphicFramePr>
            <a:graphicFrameLocks noChangeAspect="1"/>
          </p:cNvGraphicFramePr>
          <p:nvPr>
            <p:extLst/>
          </p:nvPr>
        </p:nvGraphicFramePr>
        <p:xfrm>
          <a:off x="964643" y="3783281"/>
          <a:ext cx="1132895" cy="639069"/>
        </p:xfrm>
        <a:graphic>
          <a:graphicData uri="http://schemas.openxmlformats.org/presentationml/2006/ole">
            <mc:AlternateContent xmlns:mc="http://schemas.openxmlformats.org/markup-compatibility/2006">
              <mc:Choice xmlns:v="urn:schemas-microsoft-com:vml" Requires="v">
                <p:oleObj spid="_x0000_s18463" name="Equation" r:id="rId4" imgW="495000" imgH="279360" progId="Equation.DSMT4">
                  <p:embed/>
                </p:oleObj>
              </mc:Choice>
              <mc:Fallback>
                <p:oleObj name="Equation" r:id="rId4" imgW="495000" imgH="279360" progId="Equation.DSMT4">
                  <p:embed/>
                  <p:pic>
                    <p:nvPicPr>
                      <p:cNvPr id="0" name=""/>
                      <p:cNvPicPr/>
                      <p:nvPr/>
                    </p:nvPicPr>
                    <p:blipFill>
                      <a:blip r:embed="rId5"/>
                      <a:stretch>
                        <a:fillRect/>
                      </a:stretch>
                    </p:blipFill>
                    <p:spPr>
                      <a:xfrm>
                        <a:off x="964643" y="3783281"/>
                        <a:ext cx="1132895" cy="639069"/>
                      </a:xfrm>
                      <a:prstGeom prst="rect">
                        <a:avLst/>
                      </a:prstGeom>
                    </p:spPr>
                  </p:pic>
                </p:oleObj>
              </mc:Fallback>
            </mc:AlternateContent>
          </a:graphicData>
        </a:graphic>
      </p:graphicFrame>
      <p:cxnSp>
        <p:nvCxnSpPr>
          <p:cNvPr id="12" name="直接箭头连接符 11">
            <a:extLst>
              <a:ext uri="{FF2B5EF4-FFF2-40B4-BE49-F238E27FC236}">
                <a16:creationId xmlns:a16="http://schemas.microsoft.com/office/drawing/2014/main" id="{B16AAF0E-3925-4EE1-BA5E-C99E91C00445}"/>
              </a:ext>
            </a:extLst>
          </p:cNvPr>
          <p:cNvCxnSpPr/>
          <p:nvPr/>
        </p:nvCxnSpPr>
        <p:spPr>
          <a:xfrm>
            <a:off x="2097538" y="4102815"/>
            <a:ext cx="929747" cy="0"/>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graphicFrame>
        <p:nvGraphicFramePr>
          <p:cNvPr id="13" name="对象 12">
            <a:extLst>
              <a:ext uri="{FF2B5EF4-FFF2-40B4-BE49-F238E27FC236}">
                <a16:creationId xmlns:a16="http://schemas.microsoft.com/office/drawing/2014/main" id="{F8CD53EC-CBC6-43BA-ABA3-28BC86F9136D}"/>
              </a:ext>
            </a:extLst>
          </p:cNvPr>
          <p:cNvGraphicFramePr>
            <a:graphicFrameLocks noChangeAspect="1"/>
          </p:cNvGraphicFramePr>
          <p:nvPr>
            <p:extLst/>
          </p:nvPr>
        </p:nvGraphicFramePr>
        <p:xfrm>
          <a:off x="3295650" y="3943350"/>
          <a:ext cx="1163638" cy="319088"/>
        </p:xfrm>
        <a:graphic>
          <a:graphicData uri="http://schemas.openxmlformats.org/presentationml/2006/ole">
            <mc:AlternateContent xmlns:mc="http://schemas.openxmlformats.org/markup-compatibility/2006">
              <mc:Choice xmlns:v="urn:schemas-microsoft-com:vml" Requires="v">
                <p:oleObj spid="_x0000_s18464" name="Equation" r:id="rId6" imgW="507960" imgH="139680" progId="Equation.DSMT4">
                  <p:embed/>
                </p:oleObj>
              </mc:Choice>
              <mc:Fallback>
                <p:oleObj name="Equation" r:id="rId6" imgW="507960" imgH="139680" progId="Equation.DSMT4">
                  <p:embed/>
                  <p:pic>
                    <p:nvPicPr>
                      <p:cNvPr id="0" name=""/>
                      <p:cNvPicPr/>
                      <p:nvPr/>
                    </p:nvPicPr>
                    <p:blipFill>
                      <a:blip r:embed="rId7"/>
                      <a:stretch>
                        <a:fillRect/>
                      </a:stretch>
                    </p:blipFill>
                    <p:spPr>
                      <a:xfrm>
                        <a:off x="3295650" y="3943350"/>
                        <a:ext cx="1163638" cy="319088"/>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E3C7FCB4-BD61-4A32-BF69-3BA388136FF3}"/>
              </a:ext>
            </a:extLst>
          </p:cNvPr>
          <p:cNvGraphicFramePr>
            <a:graphicFrameLocks noChangeAspect="1"/>
          </p:cNvGraphicFramePr>
          <p:nvPr>
            <p:extLst/>
          </p:nvPr>
        </p:nvGraphicFramePr>
        <p:xfrm>
          <a:off x="2431442" y="3765727"/>
          <a:ext cx="261938" cy="261937"/>
        </p:xfrm>
        <a:graphic>
          <a:graphicData uri="http://schemas.openxmlformats.org/presentationml/2006/ole">
            <mc:AlternateContent xmlns:mc="http://schemas.openxmlformats.org/markup-compatibility/2006">
              <mc:Choice xmlns:v="urn:schemas-microsoft-com:vml" Requires="v">
                <p:oleObj spid="_x0000_s18465" name="Equation" r:id="rId8" imgW="114120" imgH="114120" progId="Equation.DSMT4">
                  <p:embed/>
                </p:oleObj>
              </mc:Choice>
              <mc:Fallback>
                <p:oleObj name="Equation" r:id="rId8" imgW="114120" imgH="114120" progId="Equation.DSMT4">
                  <p:embed/>
                  <p:pic>
                    <p:nvPicPr>
                      <p:cNvPr id="0" name=""/>
                      <p:cNvPicPr/>
                      <p:nvPr/>
                    </p:nvPicPr>
                    <p:blipFill>
                      <a:blip r:embed="rId9"/>
                      <a:stretch>
                        <a:fillRect/>
                      </a:stretch>
                    </p:blipFill>
                    <p:spPr>
                      <a:xfrm>
                        <a:off x="2431442" y="3765727"/>
                        <a:ext cx="261938" cy="261937"/>
                      </a:xfrm>
                      <a:prstGeom prst="rect">
                        <a:avLst/>
                      </a:prstGeom>
                    </p:spPr>
                  </p:pic>
                </p:oleObj>
              </mc:Fallback>
            </mc:AlternateContent>
          </a:graphicData>
        </a:graphic>
      </p:graphicFrame>
      <p:cxnSp>
        <p:nvCxnSpPr>
          <p:cNvPr id="15" name="直接箭头连接符 14">
            <a:extLst>
              <a:ext uri="{FF2B5EF4-FFF2-40B4-BE49-F238E27FC236}">
                <a16:creationId xmlns:a16="http://schemas.microsoft.com/office/drawing/2014/main" id="{40BCE914-60BF-41A5-BE1B-DA88F3B78AE3}"/>
              </a:ext>
            </a:extLst>
          </p:cNvPr>
          <p:cNvCxnSpPr/>
          <p:nvPr/>
        </p:nvCxnSpPr>
        <p:spPr>
          <a:xfrm>
            <a:off x="4780987" y="4149469"/>
            <a:ext cx="929747" cy="0"/>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graphicFrame>
        <p:nvGraphicFramePr>
          <p:cNvPr id="16" name="对象 15">
            <a:extLst>
              <a:ext uri="{FF2B5EF4-FFF2-40B4-BE49-F238E27FC236}">
                <a16:creationId xmlns:a16="http://schemas.microsoft.com/office/drawing/2014/main" id="{59F4FAF9-967A-44BC-A04C-2C0DAC148B0B}"/>
              </a:ext>
            </a:extLst>
          </p:cNvPr>
          <p:cNvGraphicFramePr>
            <a:graphicFrameLocks noChangeAspect="1"/>
          </p:cNvGraphicFramePr>
          <p:nvPr>
            <p:extLst/>
          </p:nvPr>
        </p:nvGraphicFramePr>
        <p:xfrm>
          <a:off x="4824413" y="3783013"/>
          <a:ext cx="844550" cy="319087"/>
        </p:xfrm>
        <a:graphic>
          <a:graphicData uri="http://schemas.openxmlformats.org/presentationml/2006/ole">
            <mc:AlternateContent xmlns:mc="http://schemas.openxmlformats.org/markup-compatibility/2006">
              <mc:Choice xmlns:v="urn:schemas-microsoft-com:vml" Requires="v">
                <p:oleObj spid="_x0000_s18466" name="Equation" r:id="rId10" imgW="368280" imgH="139680" progId="Equation.DSMT4">
                  <p:embed/>
                </p:oleObj>
              </mc:Choice>
              <mc:Fallback>
                <p:oleObj name="Equation" r:id="rId10" imgW="368280" imgH="139680" progId="Equation.DSMT4">
                  <p:embed/>
                  <p:pic>
                    <p:nvPicPr>
                      <p:cNvPr id="0" name=""/>
                      <p:cNvPicPr/>
                      <p:nvPr/>
                    </p:nvPicPr>
                    <p:blipFill>
                      <a:blip r:embed="rId11"/>
                      <a:stretch>
                        <a:fillRect/>
                      </a:stretch>
                    </p:blipFill>
                    <p:spPr>
                      <a:xfrm>
                        <a:off x="4824413" y="3783013"/>
                        <a:ext cx="844550" cy="319087"/>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395C651F-0AAB-459E-BB46-BB8421035E25}"/>
              </a:ext>
            </a:extLst>
          </p:cNvPr>
          <p:cNvGraphicFramePr>
            <a:graphicFrameLocks noChangeAspect="1"/>
          </p:cNvGraphicFramePr>
          <p:nvPr>
            <p:extLst/>
          </p:nvPr>
        </p:nvGraphicFramePr>
        <p:xfrm>
          <a:off x="6008502" y="3410694"/>
          <a:ext cx="1163638" cy="1711325"/>
        </p:xfrm>
        <a:graphic>
          <a:graphicData uri="http://schemas.openxmlformats.org/presentationml/2006/ole">
            <mc:AlternateContent xmlns:mc="http://schemas.openxmlformats.org/markup-compatibility/2006">
              <mc:Choice xmlns:v="urn:schemas-microsoft-com:vml" Requires="v">
                <p:oleObj spid="_x0000_s18467" name="Equation" r:id="rId12" imgW="507960" imgH="749160" progId="Equation.DSMT4">
                  <p:embed/>
                </p:oleObj>
              </mc:Choice>
              <mc:Fallback>
                <p:oleObj name="Equation" r:id="rId12" imgW="507960" imgH="749160" progId="Equation.DSMT4">
                  <p:embed/>
                  <p:pic>
                    <p:nvPicPr>
                      <p:cNvPr id="0" name=""/>
                      <p:cNvPicPr/>
                      <p:nvPr/>
                    </p:nvPicPr>
                    <p:blipFill>
                      <a:blip r:embed="rId13"/>
                      <a:stretch>
                        <a:fillRect/>
                      </a:stretch>
                    </p:blipFill>
                    <p:spPr>
                      <a:xfrm>
                        <a:off x="6008502" y="3410694"/>
                        <a:ext cx="1163638" cy="1711325"/>
                      </a:xfrm>
                      <a:prstGeom prst="rect">
                        <a:avLst/>
                      </a:prstGeom>
                    </p:spPr>
                  </p:pic>
                </p:oleObj>
              </mc:Fallback>
            </mc:AlternateContent>
          </a:graphicData>
        </a:graphic>
      </p:graphicFrame>
      <p:sp>
        <p:nvSpPr>
          <p:cNvPr id="18" name="矩形: 圆角 17">
            <a:extLst>
              <a:ext uri="{FF2B5EF4-FFF2-40B4-BE49-F238E27FC236}">
                <a16:creationId xmlns:a16="http://schemas.microsoft.com/office/drawing/2014/main" id="{AAAB5A61-3FCA-4CC0-ABDC-46BFD3B43E3C}"/>
              </a:ext>
            </a:extLst>
          </p:cNvPr>
          <p:cNvSpPr/>
          <p:nvPr/>
        </p:nvSpPr>
        <p:spPr>
          <a:xfrm>
            <a:off x="5885895" y="3783013"/>
            <a:ext cx="1286245" cy="1410424"/>
          </a:xfrm>
          <a:prstGeom prst="round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pic>
        <p:nvPicPr>
          <p:cNvPr id="19" name="图片 18">
            <a:extLst>
              <a:ext uri="{FF2B5EF4-FFF2-40B4-BE49-F238E27FC236}">
                <a16:creationId xmlns:a16="http://schemas.microsoft.com/office/drawing/2014/main" id="{C41B4679-78D8-4DC3-8A9D-3BBB5E7E9B55}"/>
              </a:ext>
            </a:extLst>
          </p:cNvPr>
          <p:cNvPicPr>
            <a:picLocks noChangeAspect="1"/>
          </p:cNvPicPr>
          <p:nvPr/>
        </p:nvPicPr>
        <p:blipFill>
          <a:blip r:embed="rId14"/>
          <a:stretch>
            <a:fillRect/>
          </a:stretch>
        </p:blipFill>
        <p:spPr>
          <a:xfrm>
            <a:off x="737771" y="4866219"/>
            <a:ext cx="4931192" cy="1718220"/>
          </a:xfrm>
          <a:prstGeom prst="rect">
            <a:avLst/>
          </a:prstGeom>
        </p:spPr>
      </p:pic>
    </p:spTree>
    <p:extLst>
      <p:ext uri="{BB962C8B-B14F-4D97-AF65-F5344CB8AC3E}">
        <p14:creationId xmlns:p14="http://schemas.microsoft.com/office/powerpoint/2010/main" val="1525919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500"/>
                                        <p:tgtEl>
                                          <p:spTgt spid="13"/>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par>
                          <p:cTn id="23" fill="hold">
                            <p:stCondLst>
                              <p:cond delay="500"/>
                            </p:stCondLst>
                            <p:childTnLst>
                              <p:par>
                                <p:cTn id="24" presetID="10" presetClass="entr" presetSubtype="0" fill="hold" grpId="0" nodeType="after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500"/>
                                        <p:tgtEl>
                                          <p:spTgt spid="18"/>
                                        </p:tgtEl>
                                      </p:cBhvr>
                                    </p:animEffect>
                                  </p:childTnLst>
                                </p:cTn>
                              </p:par>
                              <p:par>
                                <p:cTn id="27" presetID="10" presetClass="entr" presetSubtype="0"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61E56F-92A7-41CA-B384-28C25A3E7F51}"/>
              </a:ext>
            </a:extLst>
          </p:cNvPr>
          <p:cNvSpPr>
            <a:spLocks noGrp="1"/>
          </p:cNvSpPr>
          <p:nvPr>
            <p:ph type="title"/>
          </p:nvPr>
        </p:nvSpPr>
        <p:spPr/>
        <p:txBody>
          <a:bodyPr/>
          <a:lstStyle/>
          <a:p>
            <a:r>
              <a:rPr lang="en-US" altLang="zh-CN" dirty="0"/>
              <a:t>Simple LR</a:t>
            </a:r>
            <a:endParaRPr lang="zh-CN" altLang="en-US" dirty="0"/>
          </a:p>
        </p:txBody>
      </p:sp>
      <p:sp>
        <p:nvSpPr>
          <p:cNvPr id="3" name="内容占位符 2">
            <a:extLst>
              <a:ext uri="{FF2B5EF4-FFF2-40B4-BE49-F238E27FC236}">
                <a16:creationId xmlns:a16="http://schemas.microsoft.com/office/drawing/2014/main" id="{B86AFA2E-29C9-4A19-97F4-0BC025E05CB7}"/>
              </a:ext>
            </a:extLst>
          </p:cNvPr>
          <p:cNvSpPr>
            <a:spLocks noGrp="1"/>
          </p:cNvSpPr>
          <p:nvPr>
            <p:ph idx="1"/>
          </p:nvPr>
        </p:nvSpPr>
        <p:spPr/>
        <p:txBody>
          <a:bodyPr>
            <a:normAutofit/>
          </a:bodyPr>
          <a:lstStyle/>
          <a:p>
            <a:r>
              <a:rPr lang="en-US" altLang="zh-CN" sz="1600" b="1" dirty="0">
                <a:solidFill>
                  <a:srgbClr val="7030A0"/>
                </a:solidFill>
              </a:rPr>
              <a:t>Use of the LR(0) Automaton</a:t>
            </a:r>
          </a:p>
          <a:p>
            <a:pPr lvl="1">
              <a:lnSpc>
                <a:spcPct val="100000"/>
              </a:lnSpc>
            </a:pPr>
            <a:r>
              <a:rPr lang="en-US" altLang="zh-CN" sz="1600" dirty="0"/>
              <a:t>The central idea behind "Simple LR," or SLR, parsing is the construction from the grammar of the LR(0) automaton. The states of this automaton are the sets of items from the canonical LR(0) collection, and the transitions are given by the GOTO function.</a:t>
            </a:r>
          </a:p>
          <a:p>
            <a:pPr lvl="1">
              <a:lnSpc>
                <a:spcPct val="100000"/>
              </a:lnSpc>
            </a:pPr>
            <a:r>
              <a:rPr lang="en-US" altLang="zh-CN" sz="1600" dirty="0"/>
              <a:t>Shift-reduce decisions can be made as follows. Suppose that the string “</a:t>
            </a:r>
            <a:r>
              <a:rPr lang="el-GR" altLang="zh-CN" sz="1600" dirty="0"/>
              <a:t>γ</a:t>
            </a:r>
            <a:r>
              <a:rPr lang="en-US" altLang="zh-CN" sz="1600" dirty="0"/>
              <a:t>” of grammar symbols takes the LR(0) automaton from the start state 0 to some state j . Then, shift on next input symbol a if state j has a transition on a. Otherwise, we choose to reduce; the items in state j will tell us which production to use.</a:t>
            </a:r>
            <a:endParaRPr lang="zh-CN" altLang="en-US" sz="1600" dirty="0"/>
          </a:p>
        </p:txBody>
      </p:sp>
    </p:spTree>
    <p:extLst>
      <p:ext uri="{BB962C8B-B14F-4D97-AF65-F5344CB8AC3E}">
        <p14:creationId xmlns:p14="http://schemas.microsoft.com/office/powerpoint/2010/main" val="1470354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31F991-EC7E-4280-AE95-09462FFEFAB2}"/>
              </a:ext>
            </a:extLst>
          </p:cNvPr>
          <p:cNvSpPr>
            <a:spLocks noGrp="1"/>
          </p:cNvSpPr>
          <p:nvPr>
            <p:ph type="title"/>
          </p:nvPr>
        </p:nvSpPr>
        <p:spPr/>
        <p:txBody>
          <a:bodyPr/>
          <a:lstStyle/>
          <a:p>
            <a:r>
              <a:rPr lang="en-US" altLang="zh-CN" dirty="0"/>
              <a:t>The LR-Parsing Algorithm</a:t>
            </a:r>
            <a:endParaRPr lang="zh-CN" altLang="en-US" dirty="0"/>
          </a:p>
        </p:txBody>
      </p:sp>
      <p:pic>
        <p:nvPicPr>
          <p:cNvPr id="4" name="图片 3">
            <a:extLst>
              <a:ext uri="{FF2B5EF4-FFF2-40B4-BE49-F238E27FC236}">
                <a16:creationId xmlns:a16="http://schemas.microsoft.com/office/drawing/2014/main" id="{0422C1AD-4B5C-4AF3-A25E-954BAF04E06B}"/>
              </a:ext>
            </a:extLst>
          </p:cNvPr>
          <p:cNvPicPr>
            <a:picLocks noChangeAspect="1"/>
          </p:cNvPicPr>
          <p:nvPr/>
        </p:nvPicPr>
        <p:blipFill>
          <a:blip r:embed="rId2"/>
          <a:stretch>
            <a:fillRect/>
          </a:stretch>
        </p:blipFill>
        <p:spPr>
          <a:xfrm>
            <a:off x="93171" y="1620590"/>
            <a:ext cx="3537798" cy="1792541"/>
          </a:xfrm>
          <a:prstGeom prst="rect">
            <a:avLst/>
          </a:prstGeom>
        </p:spPr>
      </p:pic>
      <p:sp>
        <p:nvSpPr>
          <p:cNvPr id="5" name="文本框 4">
            <a:extLst>
              <a:ext uri="{FF2B5EF4-FFF2-40B4-BE49-F238E27FC236}">
                <a16:creationId xmlns:a16="http://schemas.microsoft.com/office/drawing/2014/main" id="{A881D2AE-C99C-4BB1-9014-9B1CE5A1D2FD}"/>
              </a:ext>
            </a:extLst>
          </p:cNvPr>
          <p:cNvSpPr txBox="1"/>
          <p:nvPr/>
        </p:nvSpPr>
        <p:spPr>
          <a:xfrm>
            <a:off x="828675" y="1251258"/>
            <a:ext cx="2379882" cy="369332"/>
          </a:xfrm>
          <a:prstGeom prst="rect">
            <a:avLst/>
          </a:prstGeom>
          <a:noFill/>
        </p:spPr>
        <p:txBody>
          <a:bodyPr wrap="none" rtlCol="0">
            <a:spAutoFit/>
          </a:bodyPr>
          <a:lstStyle/>
          <a:p>
            <a:r>
              <a:rPr lang="en-US" altLang="zh-CN" b="1" dirty="0">
                <a:solidFill>
                  <a:srgbClr val="7030A0"/>
                </a:solidFill>
              </a:rPr>
              <a:t>The model of LR Parser</a:t>
            </a:r>
            <a:endParaRPr lang="zh-CN" altLang="en-US" b="1" dirty="0">
              <a:solidFill>
                <a:srgbClr val="7030A0"/>
              </a:solidFill>
            </a:endParaRPr>
          </a:p>
        </p:txBody>
      </p:sp>
      <p:pic>
        <p:nvPicPr>
          <p:cNvPr id="6" name="图片 5">
            <a:extLst>
              <a:ext uri="{FF2B5EF4-FFF2-40B4-BE49-F238E27FC236}">
                <a16:creationId xmlns:a16="http://schemas.microsoft.com/office/drawing/2014/main" id="{6D9F895C-9CB8-4EF0-AECD-B9844D476B0A}"/>
              </a:ext>
            </a:extLst>
          </p:cNvPr>
          <p:cNvPicPr>
            <a:picLocks noChangeAspect="1"/>
          </p:cNvPicPr>
          <p:nvPr/>
        </p:nvPicPr>
        <p:blipFill>
          <a:blip r:embed="rId3"/>
          <a:stretch>
            <a:fillRect/>
          </a:stretch>
        </p:blipFill>
        <p:spPr>
          <a:xfrm>
            <a:off x="2636669" y="2814850"/>
            <a:ext cx="6347534" cy="3713484"/>
          </a:xfrm>
          <a:prstGeom prst="rect">
            <a:avLst/>
          </a:prstGeom>
        </p:spPr>
      </p:pic>
    </p:spTree>
    <p:extLst>
      <p:ext uri="{BB962C8B-B14F-4D97-AF65-F5344CB8AC3E}">
        <p14:creationId xmlns:p14="http://schemas.microsoft.com/office/powerpoint/2010/main" val="3174137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AC9027-FBB9-45FE-BDCD-1B8BB576ECC0}"/>
              </a:ext>
            </a:extLst>
          </p:cNvPr>
          <p:cNvSpPr>
            <a:spLocks noGrp="1"/>
          </p:cNvSpPr>
          <p:nvPr>
            <p:ph type="title"/>
          </p:nvPr>
        </p:nvSpPr>
        <p:spPr/>
        <p:txBody>
          <a:bodyPr/>
          <a:lstStyle/>
          <a:p>
            <a:r>
              <a:rPr lang="en-US" altLang="zh-CN" dirty="0"/>
              <a:t>5.3 The LR-Parsing Algorithm</a:t>
            </a:r>
            <a:endParaRPr lang="zh-CN" altLang="en-US" dirty="0"/>
          </a:p>
        </p:txBody>
      </p:sp>
      <p:sp>
        <p:nvSpPr>
          <p:cNvPr id="3" name="内容占位符 2">
            <a:extLst>
              <a:ext uri="{FF2B5EF4-FFF2-40B4-BE49-F238E27FC236}">
                <a16:creationId xmlns:a16="http://schemas.microsoft.com/office/drawing/2014/main" id="{3969240A-2054-4A46-BACA-6422C5B06D3A}"/>
              </a:ext>
            </a:extLst>
          </p:cNvPr>
          <p:cNvSpPr>
            <a:spLocks noGrp="1"/>
          </p:cNvSpPr>
          <p:nvPr>
            <p:ph idx="1"/>
          </p:nvPr>
        </p:nvSpPr>
        <p:spPr>
          <a:xfrm>
            <a:off x="828675" y="1600200"/>
            <a:ext cx="7486650" cy="787893"/>
          </a:xfrm>
        </p:spPr>
        <p:txBody>
          <a:bodyPr>
            <a:normAutofit/>
          </a:bodyPr>
          <a:lstStyle/>
          <a:p>
            <a:r>
              <a:rPr lang="en-US" altLang="zh-CN" sz="1600" b="1" dirty="0">
                <a:solidFill>
                  <a:srgbClr val="7030A0"/>
                </a:solidFill>
              </a:rPr>
              <a:t>Constructing an SLR-parsing table</a:t>
            </a:r>
          </a:p>
          <a:p>
            <a:pPr lvl="1"/>
            <a:r>
              <a:rPr lang="en-US" altLang="zh-CN" sz="1600" dirty="0"/>
              <a:t>The SLR method begins with LR(0) items and LR(0) automata</a:t>
            </a:r>
          </a:p>
          <a:p>
            <a:pPr marL="0" indent="0">
              <a:buNone/>
            </a:pPr>
            <a:endParaRPr lang="zh-CN" altLang="en-US" sz="1600" b="1" dirty="0">
              <a:solidFill>
                <a:srgbClr val="7030A0"/>
              </a:solidFill>
            </a:endParaRPr>
          </a:p>
        </p:txBody>
      </p:sp>
      <p:pic>
        <p:nvPicPr>
          <p:cNvPr id="4" name="图片 3">
            <a:extLst>
              <a:ext uri="{FF2B5EF4-FFF2-40B4-BE49-F238E27FC236}">
                <a16:creationId xmlns:a16="http://schemas.microsoft.com/office/drawing/2014/main" id="{C3898761-2576-4AA1-8D10-049A746D05DF}"/>
              </a:ext>
            </a:extLst>
          </p:cNvPr>
          <p:cNvPicPr>
            <a:picLocks noChangeAspect="1"/>
          </p:cNvPicPr>
          <p:nvPr/>
        </p:nvPicPr>
        <p:blipFill>
          <a:blip r:embed="rId2"/>
          <a:stretch>
            <a:fillRect/>
          </a:stretch>
        </p:blipFill>
        <p:spPr>
          <a:xfrm>
            <a:off x="1123218" y="2131092"/>
            <a:ext cx="5130903" cy="3470620"/>
          </a:xfrm>
          <a:prstGeom prst="rect">
            <a:avLst/>
          </a:prstGeom>
        </p:spPr>
      </p:pic>
      <p:pic>
        <p:nvPicPr>
          <p:cNvPr id="5" name="图片 4">
            <a:extLst>
              <a:ext uri="{FF2B5EF4-FFF2-40B4-BE49-F238E27FC236}">
                <a16:creationId xmlns:a16="http://schemas.microsoft.com/office/drawing/2014/main" id="{871B4C53-BCC8-4678-BB4B-0F1572A22C72}"/>
              </a:ext>
            </a:extLst>
          </p:cNvPr>
          <p:cNvPicPr>
            <a:picLocks noChangeAspect="1"/>
          </p:cNvPicPr>
          <p:nvPr/>
        </p:nvPicPr>
        <p:blipFill>
          <a:blip r:embed="rId3"/>
          <a:stretch>
            <a:fillRect/>
          </a:stretch>
        </p:blipFill>
        <p:spPr>
          <a:xfrm>
            <a:off x="1331648" y="5601712"/>
            <a:ext cx="5086905" cy="1168141"/>
          </a:xfrm>
          <a:prstGeom prst="rect">
            <a:avLst/>
          </a:prstGeom>
        </p:spPr>
      </p:pic>
    </p:spTree>
    <p:extLst>
      <p:ext uri="{BB962C8B-B14F-4D97-AF65-F5344CB8AC3E}">
        <p14:creationId xmlns:p14="http://schemas.microsoft.com/office/powerpoint/2010/main" val="3163062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Example</a:t>
            </a:r>
            <a:endParaRPr lang="zh-CN" altLang="en-US" dirty="0"/>
          </a:p>
        </p:txBody>
      </p:sp>
      <p:sp>
        <p:nvSpPr>
          <p:cNvPr id="4" name="Rectangle 2"/>
          <p:cNvSpPr>
            <a:spLocks noChangeArrowheads="1"/>
          </p:cNvSpPr>
          <p:nvPr/>
        </p:nvSpPr>
        <p:spPr bwMode="auto">
          <a:xfrm>
            <a:off x="828674" y="1484963"/>
            <a:ext cx="342763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Consider grammar G4:</a:t>
            </a:r>
            <a:endParaRPr kumimoji="0" lang="en-US" altLang="zh-CN" b="0" i="0" u="none" strike="noStrike" cap="none" normalizeH="0" baseline="0" dirty="0">
              <a:ln>
                <a:noFill/>
              </a:ln>
              <a:solidFill>
                <a:schemeClr val="tx1"/>
              </a:solidFill>
              <a:effectLst/>
              <a:latin typeface="Arial" panose="020B0604020202020204" pitchFamily="34"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3953825603"/>
              </p:ext>
            </p:extLst>
          </p:nvPr>
        </p:nvGraphicFramePr>
        <p:xfrm>
          <a:off x="979715" y="2053092"/>
          <a:ext cx="1792266" cy="1027566"/>
        </p:xfrm>
        <a:graphic>
          <a:graphicData uri="http://schemas.openxmlformats.org/presentationml/2006/ole">
            <mc:AlternateContent xmlns:mc="http://schemas.openxmlformats.org/markup-compatibility/2006">
              <mc:Choice xmlns:v="urn:schemas-microsoft-com:vml" Requires="v">
                <p:oleObj spid="_x0000_s17418" name="Equation" r:id="rId3" imgW="710891" imgH="406224" progId="Equation.DSMT4">
                  <p:embed/>
                </p:oleObj>
              </mc:Choice>
              <mc:Fallback>
                <p:oleObj name="Equation" r:id="rId3" imgW="710891" imgH="406224"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9715" y="2053092"/>
                        <a:ext cx="1792266" cy="1027566"/>
                      </a:xfrm>
                      <a:prstGeom prst="rect">
                        <a:avLst/>
                      </a:prstGeom>
                      <a:noFill/>
                    </p:spPr>
                  </p:pic>
                </p:oleObj>
              </mc:Fallback>
            </mc:AlternateContent>
          </a:graphicData>
        </a:graphic>
      </p:graphicFrame>
      <p:pic>
        <p:nvPicPr>
          <p:cNvPr id="17411" name="图片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89841" y="3388632"/>
            <a:ext cx="5130832" cy="2315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16947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D30E7F-B65C-4295-A0CF-6CA3E34F8DD8}"/>
              </a:ext>
            </a:extLst>
          </p:cNvPr>
          <p:cNvSpPr>
            <a:spLocks noGrp="1"/>
          </p:cNvSpPr>
          <p:nvPr>
            <p:ph type="title"/>
          </p:nvPr>
        </p:nvSpPr>
        <p:spPr/>
        <p:txBody>
          <a:bodyPr/>
          <a:lstStyle/>
          <a:p>
            <a:r>
              <a:rPr lang="en-US" altLang="zh-CN" dirty="0"/>
              <a:t>6.2 Syntax-Directed Definitions</a:t>
            </a:r>
            <a:endParaRPr lang="zh-CN" altLang="en-US" dirty="0"/>
          </a:p>
        </p:txBody>
      </p:sp>
      <p:sp>
        <p:nvSpPr>
          <p:cNvPr id="3" name="内容占位符 2">
            <a:extLst>
              <a:ext uri="{FF2B5EF4-FFF2-40B4-BE49-F238E27FC236}">
                <a16:creationId xmlns:a16="http://schemas.microsoft.com/office/drawing/2014/main" id="{6075EA04-0D09-47A3-898C-E17D4DE095B3}"/>
              </a:ext>
            </a:extLst>
          </p:cNvPr>
          <p:cNvSpPr>
            <a:spLocks noGrp="1"/>
          </p:cNvSpPr>
          <p:nvPr>
            <p:ph idx="1"/>
          </p:nvPr>
        </p:nvSpPr>
        <p:spPr/>
        <p:txBody>
          <a:bodyPr>
            <a:normAutofit/>
          </a:bodyPr>
          <a:lstStyle/>
          <a:p>
            <a:pPr>
              <a:lnSpc>
                <a:spcPct val="100000"/>
              </a:lnSpc>
            </a:pPr>
            <a:r>
              <a:rPr lang="en-US" altLang="zh-CN" sz="1800" dirty="0"/>
              <a:t>A syntax-directed definition ( SDD) is a context-free grammar together with attributes and rules. Attributes are associated with grammar symbols and rules are associated with productions. </a:t>
            </a:r>
          </a:p>
          <a:p>
            <a:pPr>
              <a:lnSpc>
                <a:spcPct val="100000"/>
              </a:lnSpc>
            </a:pPr>
            <a:r>
              <a:rPr lang="en-US" altLang="zh-CN" sz="1800" dirty="0"/>
              <a:t>If X is a symbol and a is one of its attributes, then we write </a:t>
            </a:r>
            <a:r>
              <a:rPr lang="en-US" altLang="zh-CN" sz="1800" dirty="0" err="1"/>
              <a:t>X.a</a:t>
            </a:r>
            <a:r>
              <a:rPr lang="en-US" altLang="zh-CN" sz="1800" dirty="0"/>
              <a:t> to denote the value of </a:t>
            </a:r>
            <a:r>
              <a:rPr lang="en-US" altLang="zh-CN" sz="1800" i="1" dirty="0"/>
              <a:t>a</a:t>
            </a:r>
            <a:r>
              <a:rPr lang="en-US" altLang="zh-CN" sz="1800" dirty="0"/>
              <a:t> at a particular parse-tree node labeled X.</a:t>
            </a:r>
          </a:p>
          <a:p>
            <a:pPr>
              <a:lnSpc>
                <a:spcPct val="100000"/>
              </a:lnSpc>
            </a:pPr>
            <a:endParaRPr lang="en-US" altLang="zh-CN" sz="1800" dirty="0"/>
          </a:p>
          <a:p>
            <a:pPr>
              <a:lnSpc>
                <a:spcPct val="100000"/>
              </a:lnSpc>
            </a:pPr>
            <a:r>
              <a:rPr lang="en-US" altLang="zh-CN" sz="1800" dirty="0"/>
              <a:t>Attributes may be of any kind: numbers , types , table references , or strings, for instance. The strings may even be long sequences of code, say code in the intermediate language used by a compiler.</a:t>
            </a:r>
          </a:p>
        </p:txBody>
      </p:sp>
    </p:spTree>
    <p:extLst>
      <p:ext uri="{BB962C8B-B14F-4D97-AF65-F5344CB8AC3E}">
        <p14:creationId xmlns:p14="http://schemas.microsoft.com/office/powerpoint/2010/main" val="1058302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 Syntax-Directed Definitions</a:t>
            </a:r>
            <a:br>
              <a:rPr lang="en-US" altLang="zh-CN" dirty="0"/>
            </a:br>
            <a:r>
              <a:rPr lang="en-US" altLang="zh-CN" dirty="0"/>
              <a:t>- Inherited and Synthesized Attributes</a:t>
            </a:r>
            <a:endParaRPr lang="zh-CN" altLang="en-US" dirty="0"/>
          </a:p>
        </p:txBody>
      </p:sp>
      <p:sp>
        <p:nvSpPr>
          <p:cNvPr id="3" name="内容占位符 2"/>
          <p:cNvSpPr>
            <a:spLocks noGrp="1"/>
          </p:cNvSpPr>
          <p:nvPr>
            <p:ph idx="1"/>
          </p:nvPr>
        </p:nvSpPr>
        <p:spPr/>
        <p:txBody>
          <a:bodyPr>
            <a:normAutofit/>
          </a:bodyPr>
          <a:lstStyle/>
          <a:p>
            <a:pPr>
              <a:lnSpc>
                <a:spcPct val="100000"/>
              </a:lnSpc>
            </a:pPr>
            <a:r>
              <a:rPr lang="en-US" altLang="zh-CN" sz="1800" b="1" i="1" u="sng" dirty="0">
                <a:solidFill>
                  <a:srgbClr val="7030A0"/>
                </a:solidFill>
              </a:rPr>
              <a:t>A synthesized attribute </a:t>
            </a:r>
            <a:r>
              <a:rPr lang="en-US" altLang="zh-CN" sz="1800" dirty="0"/>
              <a:t>for a nonterminal </a:t>
            </a:r>
            <a:r>
              <a:rPr lang="en-US" altLang="zh-CN" sz="1800" i="1" dirty="0"/>
              <a:t>A </a:t>
            </a:r>
            <a:r>
              <a:rPr lang="en-US" altLang="zh-CN" sz="1800" dirty="0"/>
              <a:t>at a parse-tree node </a:t>
            </a:r>
            <a:r>
              <a:rPr lang="en-US" altLang="zh-CN" sz="1800" i="1" dirty="0"/>
              <a:t>N </a:t>
            </a:r>
            <a:r>
              <a:rPr lang="en-US" altLang="zh-CN" sz="1800" dirty="0"/>
              <a:t>is defined by a semantic rule associated with the production at </a:t>
            </a:r>
            <a:r>
              <a:rPr lang="en-US" altLang="zh-CN" sz="1800" i="1" dirty="0"/>
              <a:t>N</a:t>
            </a:r>
            <a:r>
              <a:rPr lang="en-US" altLang="zh-CN" sz="1800" dirty="0"/>
              <a:t>. Note that the production must have </a:t>
            </a:r>
            <a:r>
              <a:rPr lang="en-US" altLang="zh-CN" sz="1800" i="1" dirty="0"/>
              <a:t>A</a:t>
            </a:r>
            <a:r>
              <a:rPr lang="en-US" altLang="zh-CN" sz="1800" dirty="0"/>
              <a:t> as its head. </a:t>
            </a:r>
            <a:r>
              <a:rPr lang="en-US" altLang="zh-CN" sz="1800" i="1" dirty="0"/>
              <a:t>A</a:t>
            </a:r>
            <a:r>
              <a:rPr lang="en-US" altLang="zh-CN" sz="1800" dirty="0"/>
              <a:t> synthesized attribute at node </a:t>
            </a:r>
            <a:r>
              <a:rPr lang="en-US" altLang="zh-CN" sz="1800" i="1" dirty="0"/>
              <a:t>N </a:t>
            </a:r>
            <a:r>
              <a:rPr lang="en-US" altLang="zh-CN" sz="1800" dirty="0"/>
              <a:t>is defined only in terms of attribute values at the children of </a:t>
            </a:r>
            <a:r>
              <a:rPr lang="en-US" altLang="zh-CN" sz="1800" i="1" dirty="0"/>
              <a:t>N</a:t>
            </a:r>
            <a:r>
              <a:rPr lang="en-US" altLang="zh-CN" sz="1800" dirty="0"/>
              <a:t> and at </a:t>
            </a:r>
            <a:r>
              <a:rPr lang="en-US" altLang="zh-CN" sz="1800" i="1" dirty="0"/>
              <a:t>N</a:t>
            </a:r>
            <a:r>
              <a:rPr lang="en-US" altLang="zh-CN" sz="1800" dirty="0"/>
              <a:t> itself.</a:t>
            </a:r>
          </a:p>
          <a:p>
            <a:pPr>
              <a:lnSpc>
                <a:spcPct val="100000"/>
              </a:lnSpc>
            </a:pPr>
            <a:endParaRPr lang="en-US" altLang="zh-CN" sz="1800" dirty="0"/>
          </a:p>
          <a:p>
            <a:pPr>
              <a:lnSpc>
                <a:spcPct val="100000"/>
              </a:lnSpc>
            </a:pPr>
            <a:r>
              <a:rPr lang="en-US" altLang="zh-CN" sz="1800" b="1" i="1" u="sng" dirty="0">
                <a:solidFill>
                  <a:srgbClr val="7030A0"/>
                </a:solidFill>
              </a:rPr>
              <a:t>An inherited attribute </a:t>
            </a:r>
            <a:r>
              <a:rPr lang="en-US" altLang="zh-CN" sz="1800" dirty="0"/>
              <a:t>for a nonterminal </a:t>
            </a:r>
            <a:r>
              <a:rPr lang="en-US" altLang="zh-CN" sz="1800" i="1" dirty="0"/>
              <a:t>B</a:t>
            </a:r>
            <a:r>
              <a:rPr lang="en-US" altLang="zh-CN" sz="1800" dirty="0"/>
              <a:t> at a parse-tree node </a:t>
            </a:r>
            <a:r>
              <a:rPr lang="en-US" altLang="zh-CN" sz="1800" i="1" dirty="0"/>
              <a:t>N</a:t>
            </a:r>
            <a:r>
              <a:rPr lang="en-US" altLang="zh-CN" sz="1800" dirty="0"/>
              <a:t> is defined by a semantic rule associated with the production at the parent of </a:t>
            </a:r>
            <a:r>
              <a:rPr lang="en-US" altLang="zh-CN" sz="1800" i="1" dirty="0"/>
              <a:t>N</a:t>
            </a:r>
            <a:r>
              <a:rPr lang="en-US" altLang="zh-CN" sz="1800" dirty="0"/>
              <a:t>. Note that the production must have </a:t>
            </a:r>
            <a:r>
              <a:rPr lang="en-US" altLang="zh-CN" sz="1800" i="1" dirty="0"/>
              <a:t>B</a:t>
            </a:r>
            <a:r>
              <a:rPr lang="en-US" altLang="zh-CN" sz="1800" dirty="0"/>
              <a:t> as a symbol in its body. An inherited attribute at node </a:t>
            </a:r>
            <a:r>
              <a:rPr lang="en-US" altLang="zh-CN" sz="1800" i="1" dirty="0"/>
              <a:t>N</a:t>
            </a:r>
            <a:r>
              <a:rPr lang="en-US" altLang="zh-CN" sz="1800" dirty="0"/>
              <a:t> is defined only in terms of attribute values at </a:t>
            </a:r>
            <a:r>
              <a:rPr lang="en-US" altLang="zh-CN" sz="1800" i="1" dirty="0"/>
              <a:t>N</a:t>
            </a:r>
            <a:r>
              <a:rPr lang="en-US" altLang="zh-CN" sz="1800" dirty="0"/>
              <a:t>'s parent , </a:t>
            </a:r>
            <a:r>
              <a:rPr lang="en-US" altLang="zh-CN" sz="1800" i="1" dirty="0"/>
              <a:t>N</a:t>
            </a:r>
            <a:r>
              <a:rPr lang="en-US" altLang="zh-CN" sz="1800" dirty="0"/>
              <a:t> itself, and </a:t>
            </a:r>
            <a:r>
              <a:rPr lang="en-US" altLang="zh-CN" sz="1800" i="1" dirty="0"/>
              <a:t>N</a:t>
            </a:r>
            <a:r>
              <a:rPr lang="en-US" altLang="zh-CN" sz="1800" dirty="0"/>
              <a:t>'s siblings.</a:t>
            </a:r>
            <a:endParaRPr lang="zh-CN" altLang="en-US" sz="1800" dirty="0"/>
          </a:p>
        </p:txBody>
      </p:sp>
    </p:spTree>
    <p:extLst>
      <p:ext uri="{BB962C8B-B14F-4D97-AF65-F5344CB8AC3E}">
        <p14:creationId xmlns:p14="http://schemas.microsoft.com/office/powerpoint/2010/main" val="1973441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Example</a:t>
            </a:r>
            <a:endParaRPr lang="zh-CN" altLang="en-US" dirty="0"/>
          </a:p>
        </p:txBody>
      </p:sp>
      <p:sp>
        <p:nvSpPr>
          <p:cNvPr id="4" name="Rectangle 2">
            <a:extLst>
              <a:ext uri="{FF2B5EF4-FFF2-40B4-BE49-F238E27FC236}">
                <a16:creationId xmlns:a16="http://schemas.microsoft.com/office/drawing/2014/main" id="{9141B60C-5210-4FC0-99EA-1032F394F92A}"/>
              </a:ext>
            </a:extLst>
          </p:cNvPr>
          <p:cNvSpPr>
            <a:spLocks noChangeArrowheads="1"/>
          </p:cNvSpPr>
          <p:nvPr/>
        </p:nvSpPr>
        <p:spPr bwMode="auto">
          <a:xfrm>
            <a:off x="828675" y="1574437"/>
            <a:ext cx="429374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等线" panose="02010600030101010101" pitchFamily="2" charset="-122"/>
                <a:ea typeface="黑体" panose="02010609060101010101" pitchFamily="49" charset="-122"/>
                <a:cs typeface="Times New Roman" panose="02020603050405020304" pitchFamily="18" charset="0"/>
              </a:rPr>
              <a:t>Consider the following grammar</a:t>
            </a:r>
            <a:endParaRPr kumimoji="0" lang="en-US" altLang="zh-CN"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5" name="对象 4">
            <a:extLst>
              <a:ext uri="{FF2B5EF4-FFF2-40B4-BE49-F238E27FC236}">
                <a16:creationId xmlns:a16="http://schemas.microsoft.com/office/drawing/2014/main" id="{715C452E-79B4-42E2-A656-4379AB575CBA}"/>
              </a:ext>
            </a:extLst>
          </p:cNvPr>
          <p:cNvGraphicFramePr>
            <a:graphicFrameLocks noChangeAspect="1"/>
          </p:cNvGraphicFramePr>
          <p:nvPr>
            <p:extLst>
              <p:ext uri="{D42A27DB-BD31-4B8C-83A1-F6EECF244321}">
                <p14:modId xmlns:p14="http://schemas.microsoft.com/office/powerpoint/2010/main" val="419397857"/>
              </p:ext>
            </p:extLst>
          </p:nvPr>
        </p:nvGraphicFramePr>
        <p:xfrm>
          <a:off x="1059493" y="2205822"/>
          <a:ext cx="1372987" cy="761513"/>
        </p:xfrm>
        <a:graphic>
          <a:graphicData uri="http://schemas.openxmlformats.org/presentationml/2006/ole">
            <mc:AlternateContent xmlns:mc="http://schemas.openxmlformats.org/markup-compatibility/2006">
              <mc:Choice xmlns:v="urn:schemas-microsoft-com:vml" Requires="v">
                <p:oleObj spid="_x0000_s21524" name="Equation" r:id="rId3" imgW="774364" imgH="431613" progId="Equation.DSMT4">
                  <p:embed/>
                </p:oleObj>
              </mc:Choice>
              <mc:Fallback>
                <p:oleObj name="Equation" r:id="rId3" imgW="774364" imgH="431613"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9493" y="2205822"/>
                        <a:ext cx="1372987" cy="761513"/>
                      </a:xfrm>
                      <a:prstGeom prst="rect">
                        <a:avLst/>
                      </a:prstGeom>
                      <a:noFill/>
                    </p:spPr>
                  </p:pic>
                </p:oleObj>
              </mc:Fallback>
            </mc:AlternateContent>
          </a:graphicData>
        </a:graphic>
      </p:graphicFrame>
      <p:sp>
        <p:nvSpPr>
          <p:cNvPr id="6" name="Rectangle 3">
            <a:extLst>
              <a:ext uri="{FF2B5EF4-FFF2-40B4-BE49-F238E27FC236}">
                <a16:creationId xmlns:a16="http://schemas.microsoft.com/office/drawing/2014/main" id="{1487D6F6-9147-4C88-A369-48E49364BE70}"/>
              </a:ext>
            </a:extLst>
          </p:cNvPr>
          <p:cNvSpPr>
            <a:spLocks noChangeArrowheads="1"/>
          </p:cNvSpPr>
          <p:nvPr/>
        </p:nvSpPr>
        <p:spPr bwMode="auto">
          <a:xfrm>
            <a:off x="118462" y="2967335"/>
            <a:ext cx="9025538"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等线" panose="02010600030101010101" pitchFamily="2" charset="-122"/>
                <a:ea typeface="黑体" panose="02010609060101010101" pitchFamily="49" charset="-122"/>
                <a:cs typeface="Times New Roman" panose="02020603050405020304" pitchFamily="18" charset="0"/>
              </a:rPr>
              <a:t>(a) Write a syntax-directed definition that prints out the number of parenthesis pairs.</a:t>
            </a:r>
            <a:endParaRPr kumimoji="0" lang="en-US" altLang="zh-CN"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等线" panose="02010600030101010101" pitchFamily="2" charset="-122"/>
                <a:ea typeface="黑体" panose="02010609060101010101" pitchFamily="49" charset="-122"/>
                <a:cs typeface="Times New Roman" panose="02020603050405020304" pitchFamily="18" charset="0"/>
              </a:rPr>
              <a:t>(b) Write a syntax-directed translation scheme that prints out the depth of each </a:t>
            </a:r>
            <a:r>
              <a:rPr kumimoji="0" lang="en-US" altLang="zh-CN" b="0" i="0" u="none" strike="noStrike" cap="none" normalizeH="0" baseline="0" dirty="0">
                <a:ln>
                  <a:noFill/>
                </a:ln>
                <a:solidFill>
                  <a:schemeClr val="tx1"/>
                </a:solidFill>
                <a:effectLst/>
                <a:latin typeface="Courier New" panose="02070309020205020404" pitchFamily="49" charset="0"/>
                <a:ea typeface="黑体" panose="02010609060101010101" pitchFamily="49" charset="-122"/>
                <a:cs typeface="Courier New" panose="02070309020205020404" pitchFamily="49" charset="0"/>
              </a:rPr>
              <a:t>a</a:t>
            </a:r>
            <a:r>
              <a:rPr kumimoji="0" lang="en-US" altLang="zh-CN" b="0" i="0" u="none" strike="noStrike" cap="none" normalizeH="0" baseline="0" dirty="0">
                <a:ln>
                  <a:noFill/>
                </a:ln>
                <a:solidFill>
                  <a:schemeClr val="tx1"/>
                </a:solidFill>
                <a:effectLst/>
                <a:latin typeface="等线" panose="02010600030101010101" pitchFamily="2" charset="-122"/>
                <a:ea typeface="黑体" panose="02010609060101010101" pitchFamily="49" charset="-122"/>
                <a:cs typeface="Times New Roman" panose="02020603050405020304" pitchFamily="18" charset="0"/>
              </a:rPr>
              <a:t>.</a:t>
            </a:r>
            <a:endParaRPr kumimoji="0" lang="en-US" altLang="zh-CN"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等线" panose="02010600030101010101" pitchFamily="2" charset="-122"/>
                <a:ea typeface="黑体" panose="02010609060101010101" pitchFamily="49" charset="-122"/>
                <a:cs typeface="Times New Roman" panose="02020603050405020304" pitchFamily="18" charset="0"/>
              </a:rPr>
              <a:t>(c) Write a syntax-directed translation scheme that prints out the order number of each </a:t>
            </a:r>
            <a:r>
              <a:rPr kumimoji="0" lang="en-US" altLang="zh-CN" b="0" i="0" u="none" strike="noStrike" cap="none" normalizeH="0" baseline="0" dirty="0">
                <a:ln>
                  <a:noFill/>
                </a:ln>
                <a:solidFill>
                  <a:schemeClr val="tx1"/>
                </a:solidFill>
                <a:effectLst/>
                <a:latin typeface="Courier New" panose="02070309020205020404" pitchFamily="49" charset="0"/>
                <a:ea typeface="黑体" panose="02010609060101010101" pitchFamily="49" charset="-122"/>
                <a:cs typeface="Courier New" panose="02070309020205020404" pitchFamily="49" charset="0"/>
              </a:rPr>
              <a:t>a</a:t>
            </a:r>
            <a:r>
              <a:rPr kumimoji="0" lang="en-US" altLang="zh-CN" b="0" i="0" u="none" strike="noStrike" cap="none" normalizeH="0" baseline="0" dirty="0">
                <a:ln>
                  <a:noFill/>
                </a:ln>
                <a:solidFill>
                  <a:schemeClr val="tx1"/>
                </a:solidFill>
                <a:effectLst/>
                <a:latin typeface="等线" panose="02010600030101010101" pitchFamily="2" charset="-122"/>
                <a:ea typeface="黑体" panose="02010609060101010101" pitchFamily="49" charset="-122"/>
                <a:cs typeface="Times New Roman" panose="02020603050405020304" pitchFamily="18" charset="0"/>
              </a:rPr>
              <a:t>.</a:t>
            </a:r>
            <a:endParaRPr kumimoji="0" lang="en-US" altLang="zh-CN" b="0" i="0" u="none" strike="noStrike" cap="none" normalizeH="0" baseline="0" dirty="0">
              <a:ln>
                <a:noFill/>
              </a:ln>
              <a:solidFill>
                <a:schemeClr val="tx1"/>
              </a:solidFill>
              <a:effectLst/>
              <a:latin typeface="Arial" panose="020B0604020202020204" pitchFamily="34" charset="0"/>
            </a:endParaRPr>
          </a:p>
        </p:txBody>
      </p:sp>
      <p:sp>
        <p:nvSpPr>
          <p:cNvPr id="7" name="Rectangle 5">
            <a:extLst>
              <a:ext uri="{FF2B5EF4-FFF2-40B4-BE49-F238E27FC236}">
                <a16:creationId xmlns:a16="http://schemas.microsoft.com/office/drawing/2014/main" id="{FFCE49CF-3109-4F44-B507-C195B699447B}"/>
              </a:ext>
            </a:extLst>
          </p:cNvPr>
          <p:cNvSpPr>
            <a:spLocks noChangeArrowheads="1"/>
          </p:cNvSpPr>
          <p:nvPr/>
        </p:nvSpPr>
        <p:spPr bwMode="auto">
          <a:xfrm>
            <a:off x="390617" y="421302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a:extLst>
              <a:ext uri="{FF2B5EF4-FFF2-40B4-BE49-F238E27FC236}">
                <a16:creationId xmlns:a16="http://schemas.microsoft.com/office/drawing/2014/main" id="{AE3BF782-A74D-4FBE-9452-596654444A48}"/>
              </a:ext>
            </a:extLst>
          </p:cNvPr>
          <p:cNvGraphicFramePr>
            <a:graphicFrameLocks noChangeAspect="1"/>
          </p:cNvGraphicFramePr>
          <p:nvPr>
            <p:extLst>
              <p:ext uri="{D42A27DB-BD31-4B8C-83A1-F6EECF244321}">
                <p14:modId xmlns:p14="http://schemas.microsoft.com/office/powerpoint/2010/main" val="3882518848"/>
              </p:ext>
            </p:extLst>
          </p:nvPr>
        </p:nvGraphicFramePr>
        <p:xfrm>
          <a:off x="828675" y="4223333"/>
          <a:ext cx="2885152" cy="1277975"/>
        </p:xfrm>
        <a:graphic>
          <a:graphicData uri="http://schemas.openxmlformats.org/presentationml/2006/ole">
            <mc:AlternateContent xmlns:mc="http://schemas.openxmlformats.org/markup-compatibility/2006">
              <mc:Choice xmlns:v="urn:schemas-microsoft-com:vml" Requires="v">
                <p:oleObj spid="_x0000_s21525" name="Equation" r:id="rId5" imgW="2476500" imgH="1092200" progId="Equation.DSMT4">
                  <p:embed/>
                </p:oleObj>
              </mc:Choice>
              <mc:Fallback>
                <p:oleObj name="Equation" r:id="rId5" imgW="2476500" imgH="10922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8675" y="4223333"/>
                        <a:ext cx="2885152" cy="1277975"/>
                      </a:xfrm>
                      <a:prstGeom prst="rect">
                        <a:avLst/>
                      </a:prstGeom>
                      <a:noFill/>
                    </p:spPr>
                  </p:pic>
                </p:oleObj>
              </mc:Fallback>
            </mc:AlternateContent>
          </a:graphicData>
        </a:graphic>
      </p:graphicFrame>
      <p:sp>
        <p:nvSpPr>
          <p:cNvPr id="9" name="矩形 8">
            <a:extLst>
              <a:ext uri="{FF2B5EF4-FFF2-40B4-BE49-F238E27FC236}">
                <a16:creationId xmlns:a16="http://schemas.microsoft.com/office/drawing/2014/main" id="{D23A4813-7F92-48CA-B3FC-24BD8701ABED}"/>
              </a:ext>
            </a:extLst>
          </p:cNvPr>
          <p:cNvSpPr/>
          <p:nvPr/>
        </p:nvSpPr>
        <p:spPr>
          <a:xfrm>
            <a:off x="331423" y="4649056"/>
            <a:ext cx="497252" cy="369332"/>
          </a:xfrm>
          <a:prstGeom prst="rect">
            <a:avLst/>
          </a:prstGeom>
        </p:spPr>
        <p:txBody>
          <a:bodyPr wrap="none">
            <a:spAutoFit/>
          </a:bodyPr>
          <a:lstStyle/>
          <a:p>
            <a:r>
              <a:rPr lang="en-US" altLang="zh-CN" dirty="0">
                <a:latin typeface="等线" panose="02010600030101010101" pitchFamily="2" charset="-122"/>
                <a:ea typeface="黑体" panose="02010609060101010101" pitchFamily="49" charset="-122"/>
                <a:cs typeface="Times New Roman" panose="02020603050405020304" pitchFamily="18" charset="0"/>
              </a:rPr>
              <a:t>(a) </a:t>
            </a:r>
            <a:endParaRPr lang="zh-CN" altLang="en-US" dirty="0"/>
          </a:p>
        </p:txBody>
      </p:sp>
      <p:sp>
        <p:nvSpPr>
          <p:cNvPr id="10" name="矩形 9">
            <a:extLst>
              <a:ext uri="{FF2B5EF4-FFF2-40B4-BE49-F238E27FC236}">
                <a16:creationId xmlns:a16="http://schemas.microsoft.com/office/drawing/2014/main" id="{3A7DA4DA-FF67-4F5A-9347-27DE0634B268}"/>
              </a:ext>
            </a:extLst>
          </p:cNvPr>
          <p:cNvSpPr/>
          <p:nvPr/>
        </p:nvSpPr>
        <p:spPr>
          <a:xfrm>
            <a:off x="3837444" y="4601825"/>
            <a:ext cx="514885" cy="369332"/>
          </a:xfrm>
          <a:prstGeom prst="rect">
            <a:avLst/>
          </a:prstGeom>
        </p:spPr>
        <p:txBody>
          <a:bodyPr wrap="none">
            <a:spAutoFit/>
          </a:bodyPr>
          <a:lstStyle/>
          <a:p>
            <a:r>
              <a:rPr lang="en-US" altLang="zh-CN" dirty="0">
                <a:latin typeface="等线" panose="02010600030101010101" pitchFamily="2" charset="-122"/>
                <a:ea typeface="黑体" panose="02010609060101010101" pitchFamily="49" charset="-122"/>
                <a:cs typeface="Times New Roman" panose="02020603050405020304" pitchFamily="18" charset="0"/>
              </a:rPr>
              <a:t>(b) </a:t>
            </a:r>
            <a:endParaRPr lang="zh-CN" altLang="en-US" dirty="0"/>
          </a:p>
        </p:txBody>
      </p:sp>
      <p:sp>
        <p:nvSpPr>
          <p:cNvPr id="11" name="Rectangle 7">
            <a:extLst>
              <a:ext uri="{FF2B5EF4-FFF2-40B4-BE49-F238E27FC236}">
                <a16:creationId xmlns:a16="http://schemas.microsoft.com/office/drawing/2014/main" id="{5644E6A2-BDBF-4271-8625-8436E5AE7CD3}"/>
              </a:ext>
            </a:extLst>
          </p:cNvPr>
          <p:cNvSpPr>
            <a:spLocks noChangeArrowheads="1"/>
          </p:cNvSpPr>
          <p:nvPr/>
        </p:nvSpPr>
        <p:spPr bwMode="auto">
          <a:xfrm>
            <a:off x="4475946" y="409263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2" name="对象 11">
            <a:extLst>
              <a:ext uri="{FF2B5EF4-FFF2-40B4-BE49-F238E27FC236}">
                <a16:creationId xmlns:a16="http://schemas.microsoft.com/office/drawing/2014/main" id="{92C685F3-A1C2-4246-B65E-D663DA7614AD}"/>
              </a:ext>
            </a:extLst>
          </p:cNvPr>
          <p:cNvGraphicFramePr>
            <a:graphicFrameLocks noChangeAspect="1"/>
          </p:cNvGraphicFramePr>
          <p:nvPr>
            <p:extLst>
              <p:ext uri="{D42A27DB-BD31-4B8C-83A1-F6EECF244321}">
                <p14:modId xmlns:p14="http://schemas.microsoft.com/office/powerpoint/2010/main" val="3803007775"/>
              </p:ext>
            </p:extLst>
          </p:nvPr>
        </p:nvGraphicFramePr>
        <p:xfrm>
          <a:off x="4475946" y="4092636"/>
          <a:ext cx="4328107" cy="1526927"/>
        </p:xfrm>
        <a:graphic>
          <a:graphicData uri="http://schemas.openxmlformats.org/presentationml/2006/ole">
            <mc:AlternateContent xmlns:mc="http://schemas.openxmlformats.org/markup-compatibility/2006">
              <mc:Choice xmlns:v="urn:schemas-microsoft-com:vml" Requires="v">
                <p:oleObj spid="_x0000_s21526" name="Equation" r:id="rId7" imgW="3149600" imgH="1117600" progId="Equation.DSMT4">
                  <p:embed/>
                </p:oleObj>
              </mc:Choice>
              <mc:Fallback>
                <p:oleObj name="Equation" r:id="rId7" imgW="3149600" imgH="1117600"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75946" y="4092636"/>
                        <a:ext cx="4328107" cy="1526927"/>
                      </a:xfrm>
                      <a:prstGeom prst="rect">
                        <a:avLst/>
                      </a:prstGeom>
                      <a:noFill/>
                    </p:spPr>
                  </p:pic>
                </p:oleObj>
              </mc:Fallback>
            </mc:AlternateContent>
          </a:graphicData>
        </a:graphic>
      </p:graphicFrame>
    </p:spTree>
    <p:extLst>
      <p:ext uri="{BB962C8B-B14F-4D97-AF65-F5344CB8AC3E}">
        <p14:creationId xmlns:p14="http://schemas.microsoft.com/office/powerpoint/2010/main" val="3404876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6EDE80-53E4-416F-A789-5E5B71B9E124}"/>
              </a:ext>
            </a:extLst>
          </p:cNvPr>
          <p:cNvSpPr>
            <a:spLocks noGrp="1"/>
          </p:cNvSpPr>
          <p:nvPr>
            <p:ph type="title"/>
          </p:nvPr>
        </p:nvSpPr>
        <p:spPr/>
        <p:txBody>
          <a:bodyPr/>
          <a:lstStyle/>
          <a:p>
            <a:r>
              <a:rPr lang="en-US" altLang="zh-CN" dirty="0"/>
              <a:t>Example</a:t>
            </a:r>
            <a:endParaRPr lang="zh-CN" altLang="en-US" dirty="0"/>
          </a:p>
        </p:txBody>
      </p:sp>
      <p:sp>
        <p:nvSpPr>
          <p:cNvPr id="4" name="Rectangle 2">
            <a:extLst>
              <a:ext uri="{FF2B5EF4-FFF2-40B4-BE49-F238E27FC236}">
                <a16:creationId xmlns:a16="http://schemas.microsoft.com/office/drawing/2014/main" id="{E73639E3-C736-4A00-B1E6-D22927418CFF}"/>
              </a:ext>
            </a:extLst>
          </p:cNvPr>
          <p:cNvSpPr>
            <a:spLocks noChangeArrowheads="1"/>
          </p:cNvSpPr>
          <p:nvPr/>
        </p:nvSpPr>
        <p:spPr bwMode="auto">
          <a:xfrm>
            <a:off x="745723" y="1490941"/>
            <a:ext cx="7485512"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等线" panose="02010600030101010101" pitchFamily="2" charset="-122"/>
                <a:ea typeface="黑体" panose="02010609060101010101" pitchFamily="49" charset="-122"/>
                <a:cs typeface="Times New Roman" panose="02020603050405020304" pitchFamily="18" charset="0"/>
              </a:rPr>
              <a:t>(c) We use an inherited attribute </a:t>
            </a:r>
            <a:r>
              <a:rPr kumimoji="0" lang="en-US" altLang="zh-CN" b="0" i="1" u="none" strike="noStrike" cap="none" normalizeH="0" baseline="0" dirty="0">
                <a:ln>
                  <a:noFill/>
                </a:ln>
                <a:solidFill>
                  <a:schemeClr val="tx1"/>
                </a:solidFill>
                <a:effectLst/>
                <a:latin typeface="等线" panose="02010600030101010101" pitchFamily="2" charset="-122"/>
                <a:ea typeface="黑体" panose="02010609060101010101" pitchFamily="49" charset="-122"/>
                <a:cs typeface="Times New Roman" panose="02020603050405020304" pitchFamily="18" charset="0"/>
              </a:rPr>
              <a:t>in</a:t>
            </a:r>
            <a:r>
              <a:rPr kumimoji="0" lang="en-US" altLang="zh-CN" b="0" i="0" u="none" strike="noStrike" cap="none" normalizeH="0" baseline="0" dirty="0">
                <a:ln>
                  <a:noFill/>
                </a:ln>
                <a:solidFill>
                  <a:schemeClr val="tx1"/>
                </a:solidFill>
                <a:effectLst/>
                <a:latin typeface="等线" panose="02010600030101010101" pitchFamily="2" charset="-122"/>
                <a:ea typeface="黑体" panose="02010609060101010101" pitchFamily="49" charset="-122"/>
                <a:cs typeface="Times New Roman" panose="02020603050405020304" pitchFamily="18" charset="0"/>
              </a:rPr>
              <a:t> to represent the order number of the character left to a symbol.</a:t>
            </a:r>
            <a:endParaRPr kumimoji="0" lang="en-US" altLang="zh-CN"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等线" panose="02010600030101010101" pitchFamily="2" charset="-122"/>
                <a:ea typeface="黑体" panose="02010609060101010101" pitchFamily="49" charset="-122"/>
                <a:cs typeface="Times New Roman" panose="02020603050405020304" pitchFamily="18" charset="0"/>
              </a:rPr>
              <a:t>   We use a synthesized attribute </a:t>
            </a:r>
            <a:r>
              <a:rPr kumimoji="0" lang="en-US" altLang="zh-CN" b="0" i="1" u="none" strike="noStrike" cap="none" normalizeH="0" baseline="0" dirty="0">
                <a:ln>
                  <a:noFill/>
                </a:ln>
                <a:solidFill>
                  <a:schemeClr val="tx1"/>
                </a:solidFill>
                <a:effectLst/>
                <a:latin typeface="等线" panose="02010600030101010101" pitchFamily="2" charset="-122"/>
                <a:ea typeface="黑体" panose="02010609060101010101" pitchFamily="49" charset="-122"/>
                <a:cs typeface="Times New Roman" panose="02020603050405020304" pitchFamily="18" charset="0"/>
              </a:rPr>
              <a:t>out</a:t>
            </a:r>
            <a:r>
              <a:rPr kumimoji="0" lang="en-US" altLang="zh-CN" b="0" i="0" u="none" strike="noStrike" cap="none" normalizeH="0" baseline="0" dirty="0">
                <a:ln>
                  <a:noFill/>
                </a:ln>
                <a:solidFill>
                  <a:schemeClr val="tx1"/>
                </a:solidFill>
                <a:effectLst/>
                <a:latin typeface="等线" panose="02010600030101010101" pitchFamily="2" charset="-122"/>
                <a:ea typeface="黑体" panose="02010609060101010101" pitchFamily="49" charset="-122"/>
                <a:cs typeface="Times New Roman" panose="02020603050405020304" pitchFamily="18" charset="0"/>
              </a:rPr>
              <a:t> to represent the order number of the last character derived by a symbol.</a:t>
            </a:r>
            <a:endParaRPr kumimoji="0" lang="en-US" altLang="zh-CN"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b="0" i="0" u="none" strike="noStrike" cap="none" normalizeH="0" baseline="0" dirty="0">
              <a:ln>
                <a:noFill/>
              </a:ln>
              <a:solidFill>
                <a:schemeClr val="tx1"/>
              </a:solidFill>
              <a:effectLst/>
              <a:latin typeface="Arial" panose="020B0604020202020204" pitchFamily="34" charset="0"/>
            </a:endParaRPr>
          </a:p>
        </p:txBody>
      </p:sp>
      <p:graphicFrame>
        <p:nvGraphicFramePr>
          <p:cNvPr id="5" name="对象 4">
            <a:extLst>
              <a:ext uri="{FF2B5EF4-FFF2-40B4-BE49-F238E27FC236}">
                <a16:creationId xmlns:a16="http://schemas.microsoft.com/office/drawing/2014/main" id="{EE1E42B8-4FC6-4DA2-8422-04F9CE4385BA}"/>
              </a:ext>
            </a:extLst>
          </p:cNvPr>
          <p:cNvGraphicFramePr>
            <a:graphicFrameLocks noChangeAspect="1"/>
          </p:cNvGraphicFramePr>
          <p:nvPr>
            <p:extLst>
              <p:ext uri="{D42A27DB-BD31-4B8C-83A1-F6EECF244321}">
                <p14:modId xmlns:p14="http://schemas.microsoft.com/office/powerpoint/2010/main" val="2922964145"/>
              </p:ext>
            </p:extLst>
          </p:nvPr>
        </p:nvGraphicFramePr>
        <p:xfrm>
          <a:off x="1267828" y="2968269"/>
          <a:ext cx="4339738" cy="1362974"/>
        </p:xfrm>
        <a:graphic>
          <a:graphicData uri="http://schemas.openxmlformats.org/presentationml/2006/ole">
            <mc:AlternateContent xmlns:mc="http://schemas.openxmlformats.org/markup-compatibility/2006">
              <mc:Choice xmlns:v="urn:schemas-microsoft-com:vml" Requires="v">
                <p:oleObj spid="_x0000_s22535" name="Equation" r:id="rId3" imgW="3543300" imgH="1117600" progId="Equation.DSMT4">
                  <p:embed/>
                </p:oleObj>
              </mc:Choice>
              <mc:Fallback>
                <p:oleObj name="Equation" r:id="rId3" imgW="3543300" imgH="1117600"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7828" y="2968269"/>
                        <a:ext cx="4339738" cy="1362974"/>
                      </a:xfrm>
                      <a:prstGeom prst="rect">
                        <a:avLst/>
                      </a:prstGeom>
                      <a:noFill/>
                    </p:spPr>
                  </p:pic>
                </p:oleObj>
              </mc:Fallback>
            </mc:AlternateContent>
          </a:graphicData>
        </a:graphic>
      </p:graphicFrame>
    </p:spTree>
    <p:extLst>
      <p:ext uri="{BB962C8B-B14F-4D97-AF65-F5344CB8AC3E}">
        <p14:creationId xmlns:p14="http://schemas.microsoft.com/office/powerpoint/2010/main" val="1303890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1A43CDA-980C-4CE6-96A6-84A0AB61E834}"/>
              </a:ext>
            </a:extLst>
          </p:cNvPr>
          <p:cNvSpPr>
            <a:spLocks noGrp="1"/>
          </p:cNvSpPr>
          <p:nvPr>
            <p:ph idx="1"/>
          </p:nvPr>
        </p:nvSpPr>
        <p:spPr>
          <a:xfrm>
            <a:off x="955306" y="2644436"/>
            <a:ext cx="7232250" cy="1569128"/>
          </a:xfrm>
        </p:spPr>
        <p:txBody>
          <a:bodyPr>
            <a:normAutofit/>
          </a:bodyPr>
          <a:lstStyle/>
          <a:p>
            <a:pPr marL="0" indent="0" algn="ctr">
              <a:buNone/>
            </a:pPr>
            <a:r>
              <a:rPr lang="en-US" altLang="zh-CN" sz="4400" dirty="0"/>
              <a:t>Hope you all pass the final examination!</a:t>
            </a:r>
            <a:endParaRPr lang="zh-CN" altLang="en-US" sz="4400" dirty="0"/>
          </a:p>
        </p:txBody>
      </p:sp>
    </p:spTree>
    <p:extLst>
      <p:ext uri="{BB962C8B-B14F-4D97-AF65-F5344CB8AC3E}">
        <p14:creationId xmlns:p14="http://schemas.microsoft.com/office/powerpoint/2010/main" val="403219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学术文献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_9411639_TF03431380_TF03431380" id="{9AE2BD50-F2AD-48C6-8A81-F7D7390F9E40}" vid="{822244C9-F44A-41EE-AAAB-DAE7A533DA64}"/>
    </a:ext>
  </a:extLst>
</a:theme>
</file>

<file path=ppt/theme/theme2.xml><?xml version="1.0" encoding="utf-8"?>
<a:theme xmlns:a="http://schemas.openxmlformats.org/drawingml/2006/main" name="Office 主题">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Props1.xml><?xml version="1.0" encoding="utf-8"?>
<ds:datastoreItem xmlns:ds="http://schemas.openxmlformats.org/officeDocument/2006/customXml" ds:itemID="{561E720F-F05D-4536-9C34-0CFCED65D3B7}">
  <ds:schemaRefs>
    <ds:schemaRef ds:uri="http://schemas.microsoft.com/sharepoint/v3/contenttype/forms"/>
  </ds:schemaRefs>
</ds:datastoreItem>
</file>

<file path=customXml/itemProps2.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CDDBB83-77C1-4099-A0AA-289882E745E2}">
  <ds:schemaRefs>
    <ds:schemaRef ds:uri="http://schemas.microsoft.com/office/infopath/2007/PartnerControls"/>
    <ds:schemaRef ds:uri="http://purl.org/dc/dcmitype/"/>
    <ds:schemaRef ds:uri="http://purl.org/dc/elements/1.1/"/>
    <ds:schemaRef ds:uri="4873beb7-5857-4685-be1f-d57550cc96cc"/>
    <ds:schemaRef ds:uri="http://schemas.microsoft.com/office/2006/documentManagement/types"/>
    <ds:schemaRef ds:uri="http://purl.org/dc/terms/"/>
    <ds:schemaRef ds:uri="http://schemas.openxmlformats.org/package/2006/metadata/core-properties"/>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0</TotalTime>
  <Words>4468</Words>
  <Application>Microsoft Office PowerPoint</Application>
  <PresentationFormat>全屏显示(4:3)</PresentationFormat>
  <Paragraphs>361</Paragraphs>
  <Slides>44</Slides>
  <Notes>4</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3</vt:i4>
      </vt:variant>
      <vt:variant>
        <vt:lpstr>幻灯片标题</vt:lpstr>
      </vt:variant>
      <vt:variant>
        <vt:i4>44</vt:i4>
      </vt:variant>
    </vt:vector>
  </HeadingPairs>
  <TitlesOfParts>
    <vt:vector size="61" baseType="lpstr">
      <vt:lpstr>Microsoft YaHei UI</vt:lpstr>
      <vt:lpstr>等线</vt:lpstr>
      <vt:lpstr>仿宋</vt:lpstr>
      <vt:lpstr>黑体</vt:lpstr>
      <vt:lpstr>宋体</vt:lpstr>
      <vt:lpstr>微软雅黑</vt:lpstr>
      <vt:lpstr>Arial</vt:lpstr>
      <vt:lpstr>Cambria Math</vt:lpstr>
      <vt:lpstr>Courier New</vt:lpstr>
      <vt:lpstr>Euphemia</vt:lpstr>
      <vt:lpstr>Symbol</vt:lpstr>
      <vt:lpstr>Times New Roman</vt:lpstr>
      <vt:lpstr>Wingdings</vt:lpstr>
      <vt:lpstr>学术文献 16x9</vt:lpstr>
      <vt:lpstr>Visio</vt:lpstr>
      <vt:lpstr>Equation</vt:lpstr>
      <vt:lpstr>MathType 6.0 Equation</vt:lpstr>
      <vt:lpstr>Compilers</vt:lpstr>
      <vt:lpstr>Course Review</vt:lpstr>
      <vt:lpstr>Definition of Compiler</vt:lpstr>
      <vt:lpstr>Interpreter</vt:lpstr>
      <vt:lpstr>Structure of a Compiler</vt:lpstr>
      <vt:lpstr>The Running of a Program</vt:lpstr>
      <vt:lpstr>Parameter Passing Mechanisms</vt:lpstr>
      <vt:lpstr>The Construction of a Lexical Analyzer</vt:lpstr>
      <vt:lpstr>3.1 The Construction of a Lexical Analyzer-token</vt:lpstr>
      <vt:lpstr>Token-Example</vt:lpstr>
      <vt:lpstr>DFA and NFA – definition</vt:lpstr>
      <vt:lpstr>3.5 DFA and NFA – Example</vt:lpstr>
      <vt:lpstr>3.6 Convert NFA to DFA（subset construction）</vt:lpstr>
      <vt:lpstr>3.6 Convert NFA to DFA（subset construction）</vt:lpstr>
      <vt:lpstr>Example</vt:lpstr>
      <vt:lpstr>2.2 Context-free Grammar – Derivations</vt:lpstr>
      <vt:lpstr>2.2 Context-free Grammar – Derivations</vt:lpstr>
      <vt:lpstr>2.2 Context-free Grammar – Derivations</vt:lpstr>
      <vt:lpstr>Example</vt:lpstr>
      <vt:lpstr>Parse Tree</vt:lpstr>
      <vt:lpstr>Ambiguity</vt:lpstr>
      <vt:lpstr>LL(1) Grammar</vt:lpstr>
      <vt:lpstr>LL(1) Grammar - FIRST and FOLLOW</vt:lpstr>
      <vt:lpstr>LL(1) Grammar - FIRST and FOLLOW</vt:lpstr>
      <vt:lpstr>LL(1) Grammar - definition</vt:lpstr>
      <vt:lpstr>LL(1) Top-Down Parsing (Framework)</vt:lpstr>
      <vt:lpstr>4.6 Predictive Parsing for LL(1) Grammar</vt:lpstr>
      <vt:lpstr>4.6 Predictive Parsing for LL(1) Grammar</vt:lpstr>
      <vt:lpstr>Example</vt:lpstr>
      <vt:lpstr>Bottom-Up Parsing – Handle Pruning</vt:lpstr>
      <vt:lpstr>Bottom-Up Parsing – More Explanations on “Handle”</vt:lpstr>
      <vt:lpstr>Bottom-Up Parsing – More Explanations on “Handle”</vt:lpstr>
      <vt:lpstr>Simple LR</vt:lpstr>
      <vt:lpstr>Simple LR</vt:lpstr>
      <vt:lpstr>Simple LR</vt:lpstr>
      <vt:lpstr>Simple LR</vt:lpstr>
      <vt:lpstr>The LR-Parsing Algorithm</vt:lpstr>
      <vt:lpstr>5.3 The LR-Parsing Algorithm</vt:lpstr>
      <vt:lpstr>Example</vt:lpstr>
      <vt:lpstr>6.2 Syntax-Directed Definitions</vt:lpstr>
      <vt:lpstr>6.2 Syntax-Directed Definitions - Inherited and Synthesized Attributes</vt:lpstr>
      <vt:lpstr>Example</vt:lpstr>
      <vt:lpstr>Example</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2017-04-09T02:54:44Z</dcterms:created>
  <dcterms:modified xsi:type="dcterms:W3CDTF">2018-06-11T03:00:53Z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