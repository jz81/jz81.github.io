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0"/>
  </p:notesMasterIdLst>
  <p:handoutMasterIdLst>
    <p:handoutMasterId r:id="rId21"/>
  </p:handoutMasterIdLst>
  <p:sldIdLst>
    <p:sldId id="256" r:id="rId5"/>
    <p:sldId id="257" r:id="rId6"/>
    <p:sldId id="261" r:id="rId7"/>
    <p:sldId id="285" r:id="rId8"/>
    <p:sldId id="262" r:id="rId9"/>
    <p:sldId id="263" r:id="rId10"/>
    <p:sldId id="264" r:id="rId11"/>
    <p:sldId id="265" r:id="rId12"/>
    <p:sldId id="266" r:id="rId13"/>
    <p:sldId id="267" r:id="rId14"/>
    <p:sldId id="268" r:id="rId15"/>
    <p:sldId id="269" r:id="rId16"/>
    <p:sldId id="270" r:id="rId17"/>
    <p:sldId id="271" r:id="rId18"/>
    <p:sldId id="272" r:id="rId19"/>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1430" y="77"/>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2020/4/2</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2020/4/2</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2020/4/2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2020/4/2</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2020/4/2</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2020/4/2</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2020/4/2</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2020/4/2</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2020/4/2</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2020/4/2</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2020/4/2</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2020/4/2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2020/4/2</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2020/4/2</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zhang@njust.edu.cn"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57200" y="2576321"/>
            <a:ext cx="4672013" cy="1664768"/>
          </a:xfrm>
        </p:spPr>
        <p:txBody>
          <a:bodyPr rtlCol="0" anchor="ctr"/>
          <a:lstStyle/>
          <a:p>
            <a:pPr rtl="0"/>
            <a:r>
              <a:rPr lang="en-US" altLang="zh-CN" dirty="0"/>
              <a:t>Compiling METHOD</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350615" y="3879543"/>
            <a:ext cx="4300538" cy="1639717"/>
          </a:xfrm>
        </p:spPr>
        <p:txBody>
          <a:bodyPr rtlCol="0">
            <a:normAutofit lnSpcReduction="10000"/>
          </a:bodyPr>
          <a:lstStyle/>
          <a:p>
            <a:pPr algn="ctr" rtl="0"/>
            <a:endParaRPr lang="en-US" sz="2000" dirty="0">
              <a:latin typeface="微软雅黑" panose="020B0503020204020204" pitchFamily="34" charset="-122"/>
              <a:ea typeface="微软雅黑" panose="020B0503020204020204" pitchFamily="34" charset="-122"/>
            </a:endParaRPr>
          </a:p>
          <a:p>
            <a:pPr algn="ctr" rtl="0"/>
            <a:endParaRPr lang="en-US" sz="2000" dirty="0">
              <a:latin typeface="微软雅黑" panose="020B0503020204020204" pitchFamily="34" charset="-122"/>
              <a:ea typeface="微软雅黑" panose="020B0503020204020204" pitchFamily="34" charset="-122"/>
            </a:endParaRPr>
          </a:p>
          <a:p>
            <a:pPr algn="ctr" rtl="0"/>
            <a:r>
              <a:rPr lang="en-US" sz="2000" dirty="0">
                <a:latin typeface="微软雅黑" panose="020B0503020204020204" pitchFamily="34" charset="-122"/>
                <a:ea typeface="微软雅黑" panose="020B0503020204020204" pitchFamily="34" charset="-122"/>
              </a:rPr>
              <a:t>Taught by </a:t>
            </a:r>
            <a:r>
              <a:rPr lang="en-US" sz="2000" b="1" dirty="0">
                <a:latin typeface="微软雅黑" panose="020B0503020204020204" pitchFamily="34" charset="-122"/>
                <a:ea typeface="微软雅黑" panose="020B0503020204020204" pitchFamily="34" charset="-122"/>
              </a:rPr>
              <a:t>Jing Zhang</a:t>
            </a:r>
          </a:p>
          <a:p>
            <a:pPr algn="ctr" rtl="0"/>
            <a:r>
              <a:rPr lang="en-US" sz="2000" dirty="0">
                <a:latin typeface="微软雅黑" panose="020B0503020204020204" pitchFamily="34" charset="-122"/>
                <a:ea typeface="微软雅黑" panose="020B0503020204020204" pitchFamily="34" charset="-122"/>
              </a:rPr>
              <a:t> </a:t>
            </a:r>
          </a:p>
          <a:p>
            <a:pPr algn="ctr" rtl="0"/>
            <a:r>
              <a:rPr lang="en-US" sz="2000" dirty="0">
                <a:latin typeface="微软雅黑" panose="020B0503020204020204" pitchFamily="34" charset="-122"/>
                <a:ea typeface="微软雅黑" panose="020B0503020204020204" pitchFamily="34" charset="-122"/>
              </a:rPr>
              <a:t>(</a:t>
            </a:r>
            <a:r>
              <a:rPr lang="en-US" sz="2000" dirty="0">
                <a:latin typeface="微软雅黑" panose="020B0503020204020204" pitchFamily="34" charset="-122"/>
                <a:ea typeface="微软雅黑" panose="020B0503020204020204" pitchFamily="34" charset="-122"/>
                <a:hlinkClick r:id="rId3"/>
              </a:rPr>
              <a:t>jzhang@njust.edu.cn</a:t>
            </a:r>
            <a:r>
              <a:rPr lang="en-US" sz="2000" dirty="0">
                <a:latin typeface="微软雅黑" panose="020B0503020204020204" pitchFamily="34" charset="-122"/>
                <a:ea typeface="微软雅黑" panose="020B0503020204020204" pitchFamily="34" charset="-122"/>
              </a:rPr>
              <a:t>)</a:t>
            </a:r>
          </a:p>
          <a:p>
            <a:pPr algn="ctr" rtl="0"/>
            <a:r>
              <a:rPr lang="en-US" sz="2000" dirty="0"/>
              <a:t>http:// jz81.github.io</a:t>
            </a:r>
          </a:p>
          <a:p>
            <a:pPr algn="ctr" rtl="0"/>
            <a:endParaRPr lang="en-US" sz="20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en-US" dirty="0"/>
              <a:t>About the Course</a:t>
            </a:r>
            <a:endParaRPr lang="en-US"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a:xfrm>
            <a:off x="828675" y="1520301"/>
            <a:ext cx="4293831" cy="5257800"/>
          </a:xfrm>
        </p:spPr>
        <p:txBody>
          <a:bodyPr rtlCol="0">
            <a:normAutofit/>
          </a:bodyPr>
          <a:lstStyle/>
          <a:p>
            <a:pPr rtl="0"/>
            <a:r>
              <a:rPr lang="en-US" altLang="zh-CN" sz="2000" dirty="0"/>
              <a:t>Text book: Compilers – Principles, Techniques, &amp; Tools</a:t>
            </a:r>
            <a:endParaRPr lang="zh-cn" sz="2000" dirty="0">
              <a:latin typeface="微软雅黑" panose="020B0503020204020204" pitchFamily="34" charset="-122"/>
              <a:ea typeface="微软雅黑" panose="020B0503020204020204" pitchFamily="34" charset="-122"/>
            </a:endParaRPr>
          </a:p>
          <a:p>
            <a:pPr rtl="0"/>
            <a:r>
              <a:rPr lang="en-US" altLang="zh-CN" sz="2000" dirty="0"/>
              <a:t>The 7</a:t>
            </a:r>
            <a:r>
              <a:rPr lang="en-US" altLang="zh-CN" sz="2000" baseline="30000" dirty="0"/>
              <a:t>th</a:t>
            </a:r>
            <a:r>
              <a:rPr lang="en-US" altLang="zh-CN" sz="2000" dirty="0"/>
              <a:t> – 15</a:t>
            </a:r>
            <a:r>
              <a:rPr lang="en-US" altLang="zh-CN" sz="2000" baseline="30000" dirty="0"/>
              <a:t>th</a:t>
            </a:r>
            <a:r>
              <a:rPr lang="en-US" altLang="zh-CN" sz="2000" dirty="0"/>
              <a:t> Week (9 weeks)</a:t>
            </a:r>
          </a:p>
          <a:p>
            <a:pPr marL="0" indent="0" rtl="0">
              <a:buNone/>
            </a:pPr>
            <a:r>
              <a:rPr lang="zh-CN" altLang="en-US" sz="2000" dirty="0"/>
              <a:t>（</a:t>
            </a:r>
            <a:r>
              <a:rPr lang="en-US" altLang="zh-CN" sz="2000" dirty="0"/>
              <a:t>April 6</a:t>
            </a:r>
            <a:r>
              <a:rPr lang="zh-CN" altLang="en-US" sz="2000" dirty="0"/>
              <a:t> </a:t>
            </a:r>
            <a:r>
              <a:rPr lang="en-US" altLang="zh-CN" sz="2000" dirty="0"/>
              <a:t>– June 3</a:t>
            </a:r>
            <a:r>
              <a:rPr lang="zh-CN" altLang="en-US" sz="2000" dirty="0"/>
              <a:t>）</a:t>
            </a:r>
            <a:endParaRPr lang="en-US" altLang="zh-CN" sz="2000" dirty="0"/>
          </a:p>
          <a:p>
            <a:pPr marL="0" indent="0" rtl="0">
              <a:buNone/>
            </a:pPr>
            <a:r>
              <a:rPr lang="en-US" altLang="zh-CN" sz="2000" dirty="0"/>
              <a:t> (Twice / week, on Monday morning and Wednesday morning)</a:t>
            </a:r>
            <a:endParaRPr lang="zh-cn" sz="2000" dirty="0">
              <a:latin typeface="微软雅黑" panose="020B0503020204020204" pitchFamily="34" charset="-122"/>
              <a:ea typeface="微软雅黑" panose="020B0503020204020204" pitchFamily="34" charset="-122"/>
            </a:endParaRPr>
          </a:p>
          <a:p>
            <a:pPr rtl="0"/>
            <a:r>
              <a:rPr lang="en-US" altLang="zh-CN" sz="2000" dirty="0">
                <a:latin typeface="微软雅黑" panose="020B0503020204020204" pitchFamily="34" charset="-122"/>
                <a:ea typeface="微软雅黑" panose="020B0503020204020204" pitchFamily="34" charset="-122"/>
              </a:rPr>
              <a:t>Final </a:t>
            </a:r>
            <a:r>
              <a:rPr lang="en-US" sz="2000" dirty="0">
                <a:latin typeface="微软雅黑" panose="020B0503020204020204" pitchFamily="34" charset="-122"/>
                <a:ea typeface="微软雅黑" panose="020B0503020204020204" pitchFamily="34" charset="-122"/>
              </a:rPr>
              <a:t>Examination</a:t>
            </a:r>
            <a:r>
              <a:rPr lang="en-US" sz="2000" dirty="0"/>
              <a:t>:</a:t>
            </a:r>
            <a:r>
              <a:rPr lang="zh-CN" altLang="en-US" sz="2000" dirty="0"/>
              <a:t> </a:t>
            </a:r>
            <a:r>
              <a:rPr lang="en-US" altLang="zh-CN" sz="2000" dirty="0"/>
              <a:t>The last class in the 15</a:t>
            </a:r>
            <a:r>
              <a:rPr lang="en-US" altLang="zh-CN" sz="2000" baseline="30000" dirty="0"/>
              <a:t>th</a:t>
            </a:r>
            <a:r>
              <a:rPr lang="zh-CN" altLang="en-US" sz="2000" dirty="0"/>
              <a:t> </a:t>
            </a:r>
            <a:r>
              <a:rPr lang="en-US" altLang="zh-CN" sz="2000" dirty="0"/>
              <a:t>week </a:t>
            </a:r>
            <a:r>
              <a:rPr lang="zh-CN" altLang="en-US" sz="2000" dirty="0"/>
              <a:t>（</a:t>
            </a:r>
            <a:r>
              <a:rPr lang="en-US" altLang="zh-CN" sz="2000" dirty="0"/>
              <a:t>June 3</a:t>
            </a:r>
            <a:r>
              <a:rPr lang="zh-CN" altLang="en-US" sz="2000" dirty="0"/>
              <a:t>）</a:t>
            </a:r>
            <a:endParaRPr lang="en-US" altLang="zh-CN" sz="2000" dirty="0"/>
          </a:p>
          <a:p>
            <a:pPr rtl="0"/>
            <a:r>
              <a:rPr lang="en-US" altLang="zh-CN" sz="2000" dirty="0"/>
              <a:t>Final Grade: 20% attendance + 20% homework + 60% final exam</a:t>
            </a:r>
          </a:p>
          <a:p>
            <a:pPr rtl="0"/>
            <a:r>
              <a:rPr lang="en-US" altLang="zh-CN" sz="2000" dirty="0"/>
              <a:t>Text book download:</a:t>
            </a:r>
          </a:p>
          <a:p>
            <a:pPr lvl="1"/>
            <a:r>
              <a:rPr lang="en-US" altLang="zh-CN" sz="1700" dirty="0"/>
              <a:t>http://jz81.github.io/course/compiler/Compilers-Principes%20Techniques%20and%20Tools.pdf</a:t>
            </a:r>
          </a:p>
        </p:txBody>
      </p:sp>
      <p:pic>
        <p:nvPicPr>
          <p:cNvPr id="2" name="图片 1"/>
          <p:cNvPicPr>
            <a:picLocks noChangeAspect="1"/>
          </p:cNvPicPr>
          <p:nvPr/>
        </p:nvPicPr>
        <p:blipFill>
          <a:blip r:embed="rId2"/>
          <a:stretch>
            <a:fillRect/>
          </a:stretch>
        </p:blipFill>
        <p:spPr>
          <a:xfrm>
            <a:off x="5228082" y="1676326"/>
            <a:ext cx="2895851" cy="3398815"/>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dirty="0"/>
              <a:t>Introduction</a:t>
            </a:r>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5DE66A-1F4A-417D-BFF3-10F85310DFDA}"/>
              </a:ext>
            </a:extLst>
          </p:cNvPr>
          <p:cNvSpPr>
            <a:spLocks noGrp="1"/>
          </p:cNvSpPr>
          <p:nvPr>
            <p:ph type="title"/>
          </p:nvPr>
        </p:nvSpPr>
        <p:spPr/>
        <p:txBody>
          <a:bodyPr/>
          <a:lstStyle/>
          <a:p>
            <a:r>
              <a:rPr lang="en-US" altLang="zh-CN" dirty="0"/>
              <a:t>A Brief Overview of compiling</a:t>
            </a:r>
            <a:endParaRPr lang="zh-CN" altLang="en-US" dirty="0"/>
          </a:p>
        </p:txBody>
      </p:sp>
      <p:sp>
        <p:nvSpPr>
          <p:cNvPr id="3" name="文本占位符 2">
            <a:extLst>
              <a:ext uri="{FF2B5EF4-FFF2-40B4-BE49-F238E27FC236}">
                <a16:creationId xmlns:a16="http://schemas.microsoft.com/office/drawing/2014/main" id="{53613732-E4CA-4DC7-8939-BB662272A823}"/>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8493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Processors-compiler</a:t>
            </a:r>
            <a:endParaRPr lang="zh-CN" altLang="en-US" dirty="0"/>
          </a:p>
        </p:txBody>
      </p:sp>
      <p:sp>
        <p:nvSpPr>
          <p:cNvPr id="3" name="内容占位符 2"/>
          <p:cNvSpPr>
            <a:spLocks noGrp="1"/>
          </p:cNvSpPr>
          <p:nvPr>
            <p:ph idx="1"/>
          </p:nvPr>
        </p:nvSpPr>
        <p:spPr>
          <a:xfrm>
            <a:off x="828675" y="1600200"/>
            <a:ext cx="7486650" cy="2376996"/>
          </a:xfrm>
        </p:spPr>
        <p:txBody>
          <a:bodyPr>
            <a:normAutofit/>
          </a:bodyPr>
          <a:lstStyle/>
          <a:p>
            <a:r>
              <a:rPr lang="en-US" altLang="zh-CN" sz="2000" dirty="0"/>
              <a:t>What is a compiler?</a:t>
            </a:r>
          </a:p>
          <a:p>
            <a:pPr lvl="1"/>
            <a:r>
              <a:rPr lang="en-US" altLang="zh-CN" sz="1700" dirty="0"/>
              <a:t>All the software running on all the computers was written in some program language. Before a program can be run, it first must be translated into a form in which it can be executed by a computer.</a:t>
            </a:r>
          </a:p>
          <a:p>
            <a:pPr lvl="1"/>
            <a:r>
              <a:rPr lang="en-US" altLang="zh-CN" sz="1700" dirty="0"/>
              <a:t>The software system that do this translation are called </a:t>
            </a:r>
            <a:r>
              <a:rPr lang="en-US" altLang="zh-CN" sz="1700" dirty="0">
                <a:solidFill>
                  <a:srgbClr val="FF0000"/>
                </a:solidFill>
              </a:rPr>
              <a:t>compiler</a:t>
            </a:r>
            <a:r>
              <a:rPr lang="en-US" altLang="zh-CN" sz="1700" dirty="0"/>
              <a:t>.</a:t>
            </a:r>
          </a:p>
          <a:p>
            <a:pPr lvl="1"/>
            <a:r>
              <a:rPr lang="en-US" altLang="zh-CN" sz="1700" dirty="0"/>
              <a:t>Simply stated, a compiler is a program that can read a program in one language – the source language – and translate it into an equivalent program in another  language – the target language.</a:t>
            </a:r>
          </a:p>
          <a:p>
            <a:pPr lvl="1"/>
            <a:endParaRPr lang="en-US" altLang="zh-CN" sz="1700" dirty="0"/>
          </a:p>
          <a:p>
            <a:endParaRPr lang="en-US" altLang="zh-CN" dirty="0"/>
          </a:p>
          <a:p>
            <a:endParaRPr lang="zh-CN" altLang="en-US" dirty="0"/>
          </a:p>
        </p:txBody>
      </p:sp>
      <p:sp>
        <p:nvSpPr>
          <p:cNvPr id="4" name="矩形 3"/>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Compiler</a:t>
            </a:r>
            <a:endParaRPr lang="zh-CN" altLang="en-US" dirty="0"/>
          </a:p>
        </p:txBody>
      </p:sp>
      <p:cxnSp>
        <p:nvCxnSpPr>
          <p:cNvPr id="6" name="直接箭头连接符 5"/>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cxnSpLocks/>
          </p:cNvCxnSpPr>
          <p:nvPr/>
        </p:nvCxnSpPr>
        <p:spPr>
          <a:xfrm>
            <a:off x="5610686" y="4607511"/>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2" name="文本框 11"/>
          <p:cNvSpPr txBox="1"/>
          <p:nvPr/>
        </p:nvSpPr>
        <p:spPr>
          <a:xfrm>
            <a:off x="5610686" y="4219567"/>
            <a:ext cx="1717779" cy="369332"/>
          </a:xfrm>
          <a:prstGeom prst="rect">
            <a:avLst/>
          </a:prstGeom>
          <a:noFill/>
        </p:spPr>
        <p:txBody>
          <a:bodyPr wrap="square" rtlCol="0">
            <a:spAutoFit/>
          </a:bodyPr>
          <a:lstStyle/>
          <a:p>
            <a:r>
              <a:rPr lang="en-US" altLang="zh-CN" dirty="0">
                <a:solidFill>
                  <a:srgbClr val="00B050"/>
                </a:solidFill>
              </a:rPr>
              <a:t>Target Program</a:t>
            </a:r>
            <a:endParaRPr lang="zh-CN" altLang="en-US" dirty="0">
              <a:solidFill>
                <a:srgbClr val="00B050"/>
              </a:solidFill>
            </a:endParaRPr>
          </a:p>
        </p:txBody>
      </p:sp>
      <p:sp>
        <p:nvSpPr>
          <p:cNvPr id="14" name="矩形 13"/>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Target Program</a:t>
            </a:r>
            <a:endParaRPr lang="zh-CN" altLang="en-US" dirty="0"/>
          </a:p>
        </p:txBody>
      </p:sp>
      <p:cxnSp>
        <p:nvCxnSpPr>
          <p:cNvPr id="16" name="直接箭头连接符 15"/>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cxnSpLocks/>
          </p:cNvCxnSpPr>
          <p:nvPr/>
        </p:nvCxnSpPr>
        <p:spPr>
          <a:xfrm>
            <a:off x="2280993" y="576456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80756" y="537247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9" name="文本框 18"/>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Processors-interpreter</a:t>
            </a:r>
            <a:endParaRPr lang="zh-CN" altLang="en-US" dirty="0"/>
          </a:p>
        </p:txBody>
      </p:sp>
      <p:sp>
        <p:nvSpPr>
          <p:cNvPr id="3" name="内容占位符 2"/>
          <p:cNvSpPr>
            <a:spLocks noGrp="1"/>
          </p:cNvSpPr>
          <p:nvPr>
            <p:ph idx="1"/>
          </p:nvPr>
        </p:nvSpPr>
        <p:spPr/>
        <p:txBody>
          <a:bodyPr>
            <a:normAutofit/>
          </a:bodyPr>
          <a:lstStyle/>
          <a:p>
            <a:r>
              <a:rPr lang="en-US" altLang="zh-CN" sz="2000" dirty="0"/>
              <a:t>An </a:t>
            </a:r>
            <a:r>
              <a:rPr lang="en-US" altLang="zh-CN" sz="2000" dirty="0">
                <a:solidFill>
                  <a:srgbClr val="FF0000"/>
                </a:solidFill>
              </a:rPr>
              <a:t>interpreter </a:t>
            </a:r>
            <a:r>
              <a:rPr lang="en-US" altLang="zh-CN" sz="2000" dirty="0"/>
              <a:t>is another common kind of language processor. It directly execute the operations specified in the source program on inputs supplied by the user</a:t>
            </a:r>
          </a:p>
          <a:p>
            <a:endParaRPr lang="en-US" altLang="zh-CN" sz="2000" dirty="0">
              <a:solidFill>
                <a:srgbClr val="FF0000"/>
              </a:solidFill>
            </a:endParaRPr>
          </a:p>
          <a:p>
            <a:endParaRPr lang="en-US" altLang="zh-CN" sz="2000" dirty="0">
              <a:solidFill>
                <a:srgbClr val="FF0000"/>
              </a:solidFill>
            </a:endParaRPr>
          </a:p>
          <a:p>
            <a:endParaRPr lang="en-US" altLang="zh-CN" sz="2000" dirty="0">
              <a:solidFill>
                <a:srgbClr val="FF0000"/>
              </a:solidFill>
            </a:endParaRPr>
          </a:p>
          <a:p>
            <a:r>
              <a:rPr lang="en-US" altLang="zh-CN" sz="2000" dirty="0"/>
              <a:t>A hybrid compiler</a:t>
            </a:r>
          </a:p>
          <a:p>
            <a:pPr marL="0" indent="0">
              <a:buNone/>
            </a:pPr>
            <a:endParaRPr lang="en-US" altLang="zh-CN" sz="2000" dirty="0"/>
          </a:p>
        </p:txBody>
      </p:sp>
      <p:sp>
        <p:nvSpPr>
          <p:cNvPr id="4" name="矩形 3"/>
          <p:cNvSpPr/>
          <p:nvPr/>
        </p:nvSpPr>
        <p:spPr>
          <a:xfrm>
            <a:off x="3284737" y="289412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Interpreter</a:t>
            </a:r>
            <a:endParaRPr lang="zh-CN" altLang="en-US" dirty="0"/>
          </a:p>
        </p:txBody>
      </p:sp>
      <p:cxnSp>
        <p:nvCxnSpPr>
          <p:cNvPr id="5" name="直接箭头连接符 4"/>
          <p:cNvCxnSpPr>
            <a:cxnSpLocks/>
          </p:cNvCxnSpPr>
          <p:nvPr/>
        </p:nvCxnSpPr>
        <p:spPr>
          <a:xfrm>
            <a:off x="2024109" y="3284738"/>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cxnSpLocks/>
          </p:cNvCxnSpPr>
          <p:nvPr/>
        </p:nvCxnSpPr>
        <p:spPr>
          <a:xfrm>
            <a:off x="5344356" y="328473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558495" y="2860374"/>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8" name="文本框 7"/>
          <p:cNvSpPr txBox="1"/>
          <p:nvPr/>
        </p:nvSpPr>
        <p:spPr>
          <a:xfrm>
            <a:off x="5344356" y="2896794"/>
            <a:ext cx="1717779"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cxnSp>
        <p:nvCxnSpPr>
          <p:cNvPr id="9" name="直接箭头连接符 8"/>
          <p:cNvCxnSpPr>
            <a:cxnSpLocks/>
          </p:cNvCxnSpPr>
          <p:nvPr/>
        </p:nvCxnSpPr>
        <p:spPr>
          <a:xfrm>
            <a:off x="2432482" y="3561425"/>
            <a:ext cx="85225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802840" y="3367881"/>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12" name="矩形 11"/>
          <p:cNvSpPr/>
          <p:nvPr/>
        </p:nvSpPr>
        <p:spPr>
          <a:xfrm>
            <a:off x="3551067" y="4216894"/>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Translator</a:t>
            </a:r>
            <a:endParaRPr lang="zh-CN" altLang="en-US" dirty="0"/>
          </a:p>
        </p:txBody>
      </p:sp>
      <p:cxnSp>
        <p:nvCxnSpPr>
          <p:cNvPr id="13" name="直接箭头连接符 12"/>
          <p:cNvCxnSpPr>
            <a:cxnSpLocks/>
          </p:cNvCxnSpPr>
          <p:nvPr/>
        </p:nvCxnSpPr>
        <p:spPr>
          <a:xfrm>
            <a:off x="2290439" y="4607511"/>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cxnSpLocks/>
            <a:stCxn id="12" idx="2"/>
            <a:endCxn id="17" idx="0"/>
          </p:cNvCxnSpPr>
          <p:nvPr/>
        </p:nvCxnSpPr>
        <p:spPr>
          <a:xfrm flipH="1">
            <a:off x="4571431" y="4998129"/>
            <a:ext cx="9446" cy="37434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824825" y="4183147"/>
            <a:ext cx="1673215" cy="369332"/>
          </a:xfrm>
          <a:prstGeom prst="rect">
            <a:avLst/>
          </a:prstGeom>
          <a:noFill/>
        </p:spPr>
        <p:txBody>
          <a:bodyPr wrap="none" rtlCol="0">
            <a:spAutoFit/>
          </a:bodyPr>
          <a:lstStyle/>
          <a:p>
            <a:r>
              <a:rPr lang="en-US" altLang="zh-CN" dirty="0">
                <a:solidFill>
                  <a:srgbClr val="0070C0"/>
                </a:solidFill>
              </a:rPr>
              <a:t>Source Program</a:t>
            </a:r>
            <a:endParaRPr lang="zh-CN" altLang="en-US" dirty="0">
              <a:solidFill>
                <a:srgbClr val="0070C0"/>
              </a:solidFill>
            </a:endParaRPr>
          </a:p>
        </p:txBody>
      </p:sp>
      <p:sp>
        <p:nvSpPr>
          <p:cNvPr id="16" name="文本框 15"/>
          <p:cNvSpPr txBox="1"/>
          <p:nvPr/>
        </p:nvSpPr>
        <p:spPr>
          <a:xfrm>
            <a:off x="4730321" y="4966890"/>
            <a:ext cx="2331814" cy="369332"/>
          </a:xfrm>
          <a:prstGeom prst="rect">
            <a:avLst/>
          </a:prstGeom>
          <a:noFill/>
        </p:spPr>
        <p:txBody>
          <a:bodyPr wrap="square" rtlCol="0">
            <a:spAutoFit/>
          </a:bodyPr>
          <a:lstStyle/>
          <a:p>
            <a:r>
              <a:rPr lang="en-US" altLang="zh-CN" dirty="0">
                <a:solidFill>
                  <a:srgbClr val="7030A0"/>
                </a:solidFill>
              </a:rPr>
              <a:t>Intermediate program</a:t>
            </a:r>
            <a:endParaRPr lang="zh-CN" altLang="en-US" dirty="0">
              <a:solidFill>
                <a:srgbClr val="7030A0"/>
              </a:solidFill>
            </a:endParaRPr>
          </a:p>
        </p:txBody>
      </p:sp>
      <p:sp>
        <p:nvSpPr>
          <p:cNvPr id="17" name="矩形 16"/>
          <p:cNvSpPr/>
          <p:nvPr/>
        </p:nvSpPr>
        <p:spPr>
          <a:xfrm>
            <a:off x="3541621" y="5372471"/>
            <a:ext cx="2059620" cy="7812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Virtual Machine</a:t>
            </a:r>
            <a:endParaRPr lang="zh-CN" altLang="en-US" dirty="0"/>
          </a:p>
        </p:txBody>
      </p:sp>
      <p:cxnSp>
        <p:nvCxnSpPr>
          <p:cNvPr id="18" name="直接箭头连接符 17"/>
          <p:cNvCxnSpPr>
            <a:cxnSpLocks/>
          </p:cNvCxnSpPr>
          <p:nvPr/>
        </p:nvCxnSpPr>
        <p:spPr>
          <a:xfrm>
            <a:off x="5625481" y="5763088"/>
            <a:ext cx="861135"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cxnSpLocks/>
          </p:cNvCxnSpPr>
          <p:nvPr/>
        </p:nvCxnSpPr>
        <p:spPr>
          <a:xfrm>
            <a:off x="2280993" y="6039776"/>
            <a:ext cx="1260628"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580756" y="5673832"/>
            <a:ext cx="679994" cy="369332"/>
          </a:xfrm>
          <a:prstGeom prst="rect">
            <a:avLst/>
          </a:prstGeom>
          <a:noFill/>
        </p:spPr>
        <p:txBody>
          <a:bodyPr wrap="none" rtlCol="0">
            <a:spAutoFit/>
          </a:bodyPr>
          <a:lstStyle/>
          <a:p>
            <a:r>
              <a:rPr lang="en-US" altLang="zh-CN" dirty="0">
                <a:solidFill>
                  <a:srgbClr val="0070C0"/>
                </a:solidFill>
              </a:rPr>
              <a:t>input</a:t>
            </a:r>
            <a:endParaRPr lang="zh-CN" altLang="en-US" dirty="0">
              <a:solidFill>
                <a:srgbClr val="0070C0"/>
              </a:solidFill>
            </a:endParaRPr>
          </a:p>
        </p:txBody>
      </p:sp>
      <p:sp>
        <p:nvSpPr>
          <p:cNvPr id="21" name="文本框 20"/>
          <p:cNvSpPr txBox="1"/>
          <p:nvPr/>
        </p:nvSpPr>
        <p:spPr>
          <a:xfrm>
            <a:off x="5625481" y="5387217"/>
            <a:ext cx="939555" cy="369332"/>
          </a:xfrm>
          <a:prstGeom prst="rect">
            <a:avLst/>
          </a:prstGeom>
          <a:noFill/>
        </p:spPr>
        <p:txBody>
          <a:bodyPr wrap="square" rtlCol="0">
            <a:spAutoFit/>
          </a:bodyPr>
          <a:lstStyle/>
          <a:p>
            <a:r>
              <a:rPr lang="en-US" altLang="zh-CN" dirty="0">
                <a:solidFill>
                  <a:srgbClr val="00B050"/>
                </a:solidFill>
              </a:rPr>
              <a:t>output</a:t>
            </a:r>
            <a:endParaRPr lang="zh-CN" altLang="en-US" dirty="0">
              <a:solidFill>
                <a:srgbClr val="00B050"/>
              </a:solidFill>
            </a:endParaRPr>
          </a:p>
        </p:txBody>
      </p:sp>
    </p:spTree>
    <p:extLst>
      <p:ext uri="{BB962C8B-B14F-4D97-AF65-F5344CB8AC3E}">
        <p14:creationId xmlns:p14="http://schemas.microsoft.com/office/powerpoint/2010/main" val="397916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Language Processors-system</a:t>
            </a:r>
            <a:endParaRPr lang="zh-CN" altLang="en-US" dirty="0"/>
          </a:p>
        </p:txBody>
      </p:sp>
      <p:sp>
        <p:nvSpPr>
          <p:cNvPr id="3" name="内容占位符 2"/>
          <p:cNvSpPr>
            <a:spLocks noGrp="1"/>
          </p:cNvSpPr>
          <p:nvPr>
            <p:ph idx="1"/>
          </p:nvPr>
        </p:nvSpPr>
        <p:spPr/>
        <p:txBody>
          <a:bodyPr>
            <a:normAutofit/>
          </a:bodyPr>
          <a:lstStyle/>
          <a:p>
            <a:r>
              <a:rPr lang="en-US" altLang="zh-CN" sz="2000" dirty="0"/>
              <a:t>Several other programs may be required to create an executable target program.</a:t>
            </a:r>
          </a:p>
          <a:p>
            <a:pPr lvl="1"/>
            <a:r>
              <a:rPr lang="en-US" altLang="zh-CN" sz="1700" dirty="0"/>
              <a:t>Preprocessor</a:t>
            </a:r>
          </a:p>
          <a:p>
            <a:pPr lvl="1"/>
            <a:r>
              <a:rPr lang="en-US" altLang="zh-CN" sz="1700" dirty="0"/>
              <a:t>Assembler</a:t>
            </a:r>
          </a:p>
          <a:p>
            <a:pPr lvl="1"/>
            <a:r>
              <a:rPr lang="en-US" altLang="zh-CN" sz="1700" dirty="0"/>
              <a:t>Linker/Loader</a:t>
            </a:r>
          </a:p>
          <a:p>
            <a:r>
              <a:rPr lang="en-US" altLang="zh-CN" sz="2000" dirty="0"/>
              <a:t>Questions</a:t>
            </a:r>
          </a:p>
          <a:p>
            <a:pPr lvl="1"/>
            <a:r>
              <a:rPr lang="en-US" altLang="zh-CN" sz="1700" dirty="0"/>
              <a:t>What is a linker?</a:t>
            </a:r>
          </a:p>
          <a:p>
            <a:pPr lvl="1"/>
            <a:r>
              <a:rPr lang="en-US" altLang="zh-CN" sz="1700" dirty="0"/>
              <a:t>What is a Loader?</a:t>
            </a:r>
          </a:p>
          <a:p>
            <a:pPr marL="342900" lvl="1" indent="0">
              <a:buNone/>
            </a:pPr>
            <a:endParaRPr lang="en-US" altLang="zh-CN" sz="1700" dirty="0"/>
          </a:p>
          <a:p>
            <a:pPr lvl="1"/>
            <a:endParaRPr lang="zh-CN" altLang="en-US" sz="1700" dirty="0"/>
          </a:p>
        </p:txBody>
      </p:sp>
    </p:spTree>
    <p:extLst>
      <p:ext uri="{BB962C8B-B14F-4D97-AF65-F5344CB8AC3E}">
        <p14:creationId xmlns:p14="http://schemas.microsoft.com/office/powerpoint/2010/main" val="797210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a:t>
            </a:r>
            <a:endParaRPr lang="zh-CN" altLang="en-US" dirty="0"/>
          </a:p>
        </p:txBody>
      </p:sp>
      <p:pic>
        <p:nvPicPr>
          <p:cNvPr id="5" name="图片 4"/>
          <p:cNvPicPr>
            <a:picLocks noChangeAspect="1"/>
          </p:cNvPicPr>
          <p:nvPr/>
        </p:nvPicPr>
        <p:blipFill>
          <a:blip r:embed="rId2"/>
          <a:stretch>
            <a:fillRect/>
          </a:stretch>
        </p:blipFill>
        <p:spPr>
          <a:xfrm>
            <a:off x="2601157" y="1337849"/>
            <a:ext cx="3846330" cy="5366328"/>
          </a:xfrm>
          <a:prstGeom prst="rect">
            <a:avLst/>
          </a:prstGeom>
        </p:spPr>
      </p:pic>
    </p:spTree>
    <p:extLst>
      <p:ext uri="{BB962C8B-B14F-4D97-AF65-F5344CB8AC3E}">
        <p14:creationId xmlns:p14="http://schemas.microsoft.com/office/powerpoint/2010/main" val="283684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Compiler-Lexical Analysis</a:t>
            </a:r>
            <a:endParaRPr lang="zh-CN" altLang="en-US" dirty="0"/>
          </a:p>
        </p:txBody>
      </p:sp>
      <p:sp>
        <p:nvSpPr>
          <p:cNvPr id="3" name="内容占位符 2"/>
          <p:cNvSpPr>
            <a:spLocks noGrp="1"/>
          </p:cNvSpPr>
          <p:nvPr>
            <p:ph idx="1"/>
          </p:nvPr>
        </p:nvSpPr>
        <p:spPr>
          <a:xfrm>
            <a:off x="828675" y="1600200"/>
            <a:ext cx="7486650" cy="3016187"/>
          </a:xfrm>
        </p:spPr>
        <p:txBody>
          <a:bodyPr>
            <a:normAutofit/>
          </a:bodyPr>
          <a:lstStyle/>
          <a:p>
            <a:r>
              <a:rPr lang="en-US" altLang="zh-CN" sz="2000" dirty="0"/>
              <a:t>Lexical Analysis (Scanning)</a:t>
            </a:r>
          </a:p>
          <a:p>
            <a:pPr lvl="1">
              <a:lnSpc>
                <a:spcPct val="100000"/>
              </a:lnSpc>
            </a:pPr>
            <a:r>
              <a:rPr lang="en-US" altLang="zh-CN" sz="1700" dirty="0"/>
              <a:t>Reads the stream of characters making up the source program and groups the characters into meaningful sequences called </a:t>
            </a:r>
            <a:r>
              <a:rPr lang="en-US" altLang="zh-CN" sz="1700" i="1" dirty="0">
                <a:solidFill>
                  <a:srgbClr val="00B050"/>
                </a:solidFill>
              </a:rPr>
              <a:t>lexemes.</a:t>
            </a:r>
          </a:p>
          <a:p>
            <a:pPr lvl="1">
              <a:lnSpc>
                <a:spcPct val="100000"/>
              </a:lnSpc>
            </a:pPr>
            <a:r>
              <a:rPr lang="en-US" altLang="zh-CN" sz="1700" dirty="0"/>
              <a:t>For each lexeme, the lexical analyzer produces as output a </a:t>
            </a:r>
            <a:r>
              <a:rPr lang="en-US" altLang="zh-CN" sz="1700" i="1" dirty="0">
                <a:solidFill>
                  <a:srgbClr val="00B050"/>
                </a:solidFill>
              </a:rPr>
              <a:t>token</a:t>
            </a:r>
            <a:r>
              <a:rPr lang="en-US" altLang="zh-CN" sz="1700" dirty="0"/>
              <a:t> of the form</a:t>
            </a:r>
          </a:p>
          <a:p>
            <a:pPr lvl="1">
              <a:lnSpc>
                <a:spcPct val="100000"/>
              </a:lnSpc>
            </a:pPr>
            <a:endParaRPr lang="en-US" altLang="zh-CN" sz="1700" dirty="0"/>
          </a:p>
          <a:p>
            <a:pPr lvl="1">
              <a:lnSpc>
                <a:spcPct val="100000"/>
              </a:lnSpc>
            </a:pPr>
            <a:endParaRPr lang="en-US" altLang="zh-CN" sz="1700" dirty="0"/>
          </a:p>
          <a:p>
            <a:pPr lvl="1">
              <a:lnSpc>
                <a:spcPct val="100000"/>
              </a:lnSpc>
            </a:pPr>
            <a:endParaRPr lang="en-US" altLang="zh-CN" sz="1700" dirty="0"/>
          </a:p>
          <a:p>
            <a:pPr lvl="1">
              <a:lnSpc>
                <a:spcPct val="100000"/>
              </a:lnSpc>
            </a:pPr>
            <a:r>
              <a:rPr lang="en-US" altLang="zh-CN" sz="1700" dirty="0"/>
              <a:t>E.g.</a:t>
            </a:r>
          </a:p>
          <a:p>
            <a:pPr marL="342900" lvl="1" indent="0">
              <a:lnSpc>
                <a:spcPct val="100000"/>
              </a:lnSpc>
              <a:buNone/>
            </a:pPr>
            <a:endParaRPr lang="en-US" altLang="zh-CN" sz="1700" dirty="0"/>
          </a:p>
          <a:p>
            <a:pPr lvl="1">
              <a:lnSpc>
                <a:spcPct val="100000"/>
              </a:lnSpc>
            </a:pPr>
            <a:endParaRPr lang="en-US" altLang="zh-CN" sz="1700" dirty="0"/>
          </a:p>
        </p:txBody>
      </p:sp>
      <p:graphicFrame>
        <p:nvGraphicFramePr>
          <p:cNvPr id="4" name="对象 3"/>
          <p:cNvGraphicFramePr>
            <a:graphicFrameLocks noChangeAspect="1"/>
          </p:cNvGraphicFramePr>
          <p:nvPr>
            <p:extLst>
              <p:ext uri="{D42A27DB-BD31-4B8C-83A1-F6EECF244321}">
                <p14:modId xmlns:p14="http://schemas.microsoft.com/office/powerpoint/2010/main" val="1434770681"/>
              </p:ext>
            </p:extLst>
          </p:nvPr>
        </p:nvGraphicFramePr>
        <p:xfrm>
          <a:off x="1521533" y="3201557"/>
          <a:ext cx="6275987" cy="560356"/>
        </p:xfrm>
        <a:graphic>
          <a:graphicData uri="http://schemas.openxmlformats.org/presentationml/2006/ole">
            <mc:AlternateContent xmlns:mc="http://schemas.openxmlformats.org/markup-compatibility/2006">
              <mc:Choice xmlns:v="urn:schemas-microsoft-com:vml" Requires="v">
                <p:oleObj spid="_x0000_s1099" name="Equation" r:id="rId3" imgW="2133360" imgH="190440" progId="Equation.DSMT4">
                  <p:embed/>
                </p:oleObj>
              </mc:Choice>
              <mc:Fallback>
                <p:oleObj name="Equation" r:id="rId3" imgW="2133360" imgH="190440" progId="Equation.DSMT4">
                  <p:embed/>
                  <p:pic>
                    <p:nvPicPr>
                      <p:cNvPr id="0" name=""/>
                      <p:cNvPicPr/>
                      <p:nvPr/>
                    </p:nvPicPr>
                    <p:blipFill>
                      <a:blip r:embed="rId4"/>
                      <a:stretch>
                        <a:fillRect/>
                      </a:stretch>
                    </p:blipFill>
                    <p:spPr>
                      <a:xfrm>
                        <a:off x="1521533" y="3201557"/>
                        <a:ext cx="6275987" cy="560356"/>
                      </a:xfrm>
                      <a:prstGeom prst="rect">
                        <a:avLst/>
                      </a:prstGeom>
                    </p:spPr>
                  </p:pic>
                </p:oleObj>
              </mc:Fallback>
            </mc:AlternateContent>
          </a:graphicData>
        </a:graphic>
      </p:graphicFrame>
      <p:sp>
        <p:nvSpPr>
          <p:cNvPr id="5" name="文本框 4"/>
          <p:cNvSpPr txBox="1"/>
          <p:nvPr/>
        </p:nvSpPr>
        <p:spPr>
          <a:xfrm>
            <a:off x="2520008" y="6039297"/>
            <a:ext cx="5078028"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&lt;</a:t>
            </a:r>
            <a:r>
              <a:rPr lang="en-US" altLang="zh-CN" sz="2000" b="1" dirty="0">
                <a:latin typeface="Courier New" panose="02070309020205020404" pitchFamily="49" charset="0"/>
                <a:cs typeface="Courier New" panose="02070309020205020404" pitchFamily="49" charset="0"/>
              </a:rPr>
              <a:t>number</a:t>
            </a:r>
            <a:r>
              <a:rPr lang="en-US" altLang="zh-CN" sz="2000" dirty="0">
                <a:latin typeface="Courier New" panose="02070309020205020404" pitchFamily="49" charset="0"/>
                <a:cs typeface="Courier New" panose="02070309020205020404" pitchFamily="49" charset="0"/>
              </a:rPr>
              <a:t>, 0xFFFF1230&gt;</a:t>
            </a:r>
            <a:endParaRPr lang="zh-CN" altLang="en-US" sz="2000" dirty="0">
              <a:latin typeface="Courier New" panose="02070309020205020404" pitchFamily="49" charset="0"/>
              <a:cs typeface="Courier New" panose="02070309020205020404" pitchFamily="49" charset="0"/>
            </a:endParaRPr>
          </a:p>
        </p:txBody>
      </p:sp>
      <p:sp>
        <p:nvSpPr>
          <p:cNvPr id="6" name="箭头: 下 5"/>
          <p:cNvSpPr/>
          <p:nvPr/>
        </p:nvSpPr>
        <p:spPr>
          <a:xfrm>
            <a:off x="4305670" y="4887956"/>
            <a:ext cx="506027" cy="475314"/>
          </a:xfrm>
          <a:prstGeom prst="down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7" name="文本框 6"/>
          <p:cNvSpPr txBox="1"/>
          <p:nvPr/>
        </p:nvSpPr>
        <p:spPr>
          <a:xfrm>
            <a:off x="1738771" y="5434784"/>
            <a:ext cx="6455317"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 1&gt; &lt;=&gt; &lt;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 2&gt; &lt;+&gt; &lt;</a:t>
            </a:r>
            <a:r>
              <a:rPr lang="en-US" altLang="zh-CN" sz="2000" b="1" dirty="0">
                <a:latin typeface="Courier New" panose="02070309020205020404" pitchFamily="49" charset="0"/>
                <a:cs typeface="Courier New" panose="02070309020205020404" pitchFamily="49" charset="0"/>
              </a:rPr>
              <a:t>id</a:t>
            </a:r>
            <a:r>
              <a:rPr lang="en-US" altLang="zh-CN" sz="2000" dirty="0">
                <a:latin typeface="Courier New" panose="02070309020205020404" pitchFamily="49" charset="0"/>
                <a:cs typeface="Courier New" panose="02070309020205020404" pitchFamily="49" charset="0"/>
              </a:rPr>
              <a:t>,3&gt; &lt;*&gt; &lt;60&gt;</a:t>
            </a:r>
            <a:endParaRPr lang="zh-CN" altLang="en-US" sz="2000" dirty="0">
              <a:latin typeface="Courier New" panose="02070309020205020404" pitchFamily="49" charset="0"/>
              <a:cs typeface="Courier New" panose="02070309020205020404" pitchFamily="49" charset="0"/>
            </a:endParaRPr>
          </a:p>
        </p:txBody>
      </p:sp>
      <p:cxnSp>
        <p:nvCxnSpPr>
          <p:cNvPr id="9" name="直接箭头连接符 8"/>
          <p:cNvCxnSpPr>
            <a:cxnSpLocks/>
          </p:cNvCxnSpPr>
          <p:nvPr/>
        </p:nvCxnSpPr>
        <p:spPr>
          <a:xfrm flipH="1">
            <a:off x="5877017" y="5719593"/>
            <a:ext cx="1473923" cy="42375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272912" y="4528850"/>
            <a:ext cx="5078028" cy="400110"/>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Position = initial + rate * 60</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2406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Compiler-Syntax Analysis</a:t>
            </a:r>
            <a:endParaRPr lang="zh-CN" altLang="en-US" dirty="0"/>
          </a:p>
        </p:txBody>
      </p:sp>
      <p:sp>
        <p:nvSpPr>
          <p:cNvPr id="3" name="内容占位符 2"/>
          <p:cNvSpPr>
            <a:spLocks noGrp="1"/>
          </p:cNvSpPr>
          <p:nvPr>
            <p:ph idx="1"/>
          </p:nvPr>
        </p:nvSpPr>
        <p:spPr/>
        <p:txBody>
          <a:bodyPr>
            <a:normAutofit/>
          </a:bodyPr>
          <a:lstStyle/>
          <a:p>
            <a:r>
              <a:rPr lang="en-US" altLang="zh-CN" sz="2000" dirty="0"/>
              <a:t>Syntax Analysis (parsing) uses the first components of  the tokens produced by the lexical analyzer to create a tree-like intermediate representation that depicts the grammatical structure of the token stream.</a:t>
            </a:r>
            <a:endParaRPr lang="zh-CN" altLang="en-US" sz="2000" dirty="0"/>
          </a:p>
        </p:txBody>
      </p:sp>
    </p:spTree>
    <p:extLst>
      <p:ext uri="{BB962C8B-B14F-4D97-AF65-F5344CB8AC3E}">
        <p14:creationId xmlns:p14="http://schemas.microsoft.com/office/powerpoint/2010/main" val="357215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Compiler-Semantic Analysis</a:t>
            </a:r>
            <a:endParaRPr lang="zh-CN" altLang="en-US" dirty="0"/>
          </a:p>
        </p:txBody>
      </p:sp>
      <p:sp>
        <p:nvSpPr>
          <p:cNvPr id="3" name="内容占位符 2"/>
          <p:cNvSpPr>
            <a:spLocks noGrp="1"/>
          </p:cNvSpPr>
          <p:nvPr>
            <p:ph idx="1"/>
          </p:nvPr>
        </p:nvSpPr>
        <p:spPr>
          <a:xfrm>
            <a:off x="828675" y="1600200"/>
            <a:ext cx="7486650" cy="2483528"/>
          </a:xfrm>
        </p:spPr>
        <p:txBody>
          <a:bodyPr>
            <a:normAutofit/>
          </a:bodyPr>
          <a:lstStyle/>
          <a:p>
            <a:r>
              <a:rPr lang="en-US" altLang="zh-CN" sz="2000" dirty="0"/>
              <a:t>The semantic analysis 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p>
          <a:p>
            <a:r>
              <a:rPr lang="en-US" altLang="zh-CN" sz="2000" i="1" dirty="0">
                <a:solidFill>
                  <a:srgbClr val="7030A0"/>
                </a:solidFill>
              </a:rPr>
              <a:t>Type checking </a:t>
            </a:r>
            <a:endParaRPr lang="en-US" altLang="zh-CN" sz="1700" i="1" dirty="0">
              <a:solidFill>
                <a:srgbClr val="7030A0"/>
              </a:solidFill>
            </a:endParaRPr>
          </a:p>
          <a:p>
            <a:pPr marL="0" indent="0">
              <a:buNone/>
            </a:pPr>
            <a:endParaRPr lang="en-US" altLang="zh-CN" sz="2000" i="1" dirty="0">
              <a:solidFill>
                <a:srgbClr val="00B050"/>
              </a:solidFill>
            </a:endParaRPr>
          </a:p>
        </p:txBody>
      </p:sp>
    </p:spTree>
    <p:extLst>
      <p:ext uri="{BB962C8B-B14F-4D97-AF65-F5344CB8AC3E}">
        <p14:creationId xmlns:p14="http://schemas.microsoft.com/office/powerpoint/2010/main" val="128683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Compiler-Intermediate Code Generation</a:t>
            </a:r>
            <a:endParaRPr lang="zh-CN" altLang="en-US" dirty="0"/>
          </a:p>
        </p:txBody>
      </p:sp>
      <p:sp>
        <p:nvSpPr>
          <p:cNvPr id="3" name="内容占位符 2"/>
          <p:cNvSpPr>
            <a:spLocks noGrp="1"/>
          </p:cNvSpPr>
          <p:nvPr>
            <p:ph idx="1"/>
          </p:nvPr>
        </p:nvSpPr>
        <p:spPr/>
        <p:txBody>
          <a:bodyPr>
            <a:normAutofit/>
          </a:bodyPr>
          <a:lstStyle/>
          <a:p>
            <a:r>
              <a:rPr lang="en-US" altLang="zh-CN" sz="2000" dirty="0"/>
              <a:t>After syntax and semantic analysis of the source program, many compilers generate an explicit low-level or machine-like intermediate representation, which we can think of as a program for an abstract machine. Two important properties: </a:t>
            </a:r>
          </a:p>
          <a:p>
            <a:pPr lvl="1"/>
            <a:r>
              <a:rPr lang="en-US" altLang="zh-CN" sz="1700" dirty="0">
                <a:solidFill>
                  <a:srgbClr val="00B050"/>
                </a:solidFill>
              </a:rPr>
              <a:t>it should be easy to produce</a:t>
            </a:r>
          </a:p>
          <a:p>
            <a:pPr lvl="1"/>
            <a:r>
              <a:rPr lang="en-US" altLang="zh-CN" sz="1700" dirty="0">
                <a:solidFill>
                  <a:srgbClr val="00B050"/>
                </a:solidFill>
              </a:rPr>
              <a:t>it should be easy to  translate into  the target machine</a:t>
            </a:r>
          </a:p>
          <a:p>
            <a:r>
              <a:rPr lang="en-US" altLang="zh-CN" sz="2000" dirty="0"/>
              <a:t>Three-address code</a:t>
            </a:r>
          </a:p>
          <a:p>
            <a:pPr lvl="1"/>
            <a:endParaRPr lang="en-US" altLang="zh-CN" sz="1700" dirty="0"/>
          </a:p>
          <a:p>
            <a:pPr lvl="1"/>
            <a:endParaRPr lang="zh-CN" altLang="en-US" sz="1700" dirty="0"/>
          </a:p>
        </p:txBody>
      </p:sp>
      <p:sp>
        <p:nvSpPr>
          <p:cNvPr id="4" name="文本框 3"/>
          <p:cNvSpPr txBox="1"/>
          <p:nvPr/>
        </p:nvSpPr>
        <p:spPr>
          <a:xfrm>
            <a:off x="1343772" y="4059007"/>
            <a:ext cx="3405781" cy="1323439"/>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a:t>
            </a:r>
            <a:r>
              <a:rPr lang="en-US" altLang="zh-CN" sz="2000" dirty="0" err="1">
                <a:latin typeface="Courier New" panose="02070309020205020404" pitchFamily="49" charset="0"/>
                <a:cs typeface="Courier New" panose="02070309020205020404" pitchFamily="49" charset="0"/>
              </a:rPr>
              <a:t>inttofloat</a:t>
            </a:r>
            <a:r>
              <a:rPr lang="en-US" altLang="zh-CN" sz="2000" dirty="0">
                <a:latin typeface="Courier New" panose="02070309020205020404" pitchFamily="49" charset="0"/>
                <a:cs typeface="Courier New" panose="02070309020205020404" pitchFamily="49" charset="0"/>
              </a:rPr>
              <a:t>(60)</a:t>
            </a:r>
          </a:p>
          <a:p>
            <a:r>
              <a:rPr lang="en-US" altLang="zh-CN" sz="2000" dirty="0">
                <a:latin typeface="Courier New" panose="02070309020205020404" pitchFamily="49" charset="0"/>
                <a:cs typeface="Courier New" panose="02070309020205020404" pitchFamily="49" charset="0"/>
              </a:rPr>
              <a:t>t2 = id3 * t1</a:t>
            </a:r>
          </a:p>
          <a:p>
            <a:r>
              <a:rPr lang="en-US" altLang="zh-CN" sz="2000" dirty="0">
                <a:latin typeface="Courier New" panose="02070309020205020404" pitchFamily="49" charset="0"/>
                <a:cs typeface="Courier New" panose="02070309020205020404" pitchFamily="49" charset="0"/>
              </a:rPr>
              <a:t>t3 = id2 + t2</a:t>
            </a:r>
          </a:p>
          <a:p>
            <a:r>
              <a:rPr lang="en-US" altLang="zh-CN" sz="2000" dirty="0">
                <a:latin typeface="Courier New" panose="02070309020205020404" pitchFamily="49" charset="0"/>
                <a:cs typeface="Courier New" panose="02070309020205020404" pitchFamily="49" charset="0"/>
              </a:rPr>
              <a:t>id1 = t3</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64697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Compiler-Code Optimization</a:t>
            </a:r>
            <a:endParaRPr lang="zh-CN" altLang="en-US" dirty="0"/>
          </a:p>
        </p:txBody>
      </p:sp>
      <p:sp>
        <p:nvSpPr>
          <p:cNvPr id="3" name="内容占位符 2"/>
          <p:cNvSpPr>
            <a:spLocks noGrp="1"/>
          </p:cNvSpPr>
          <p:nvPr>
            <p:ph idx="1"/>
          </p:nvPr>
        </p:nvSpPr>
        <p:spPr/>
        <p:txBody>
          <a:bodyPr>
            <a:normAutofit/>
          </a:bodyPr>
          <a:lstStyle/>
          <a:p>
            <a:r>
              <a:rPr lang="en-US" altLang="zh-CN" sz="2000" dirty="0"/>
              <a:t>The machine-independent code-optimization phase attempts to improve the intermediate code so that better target code will result.</a:t>
            </a:r>
            <a:endParaRPr lang="zh-CN" altLang="en-US" sz="2000" dirty="0"/>
          </a:p>
        </p:txBody>
      </p:sp>
      <p:sp>
        <p:nvSpPr>
          <p:cNvPr id="4" name="文本框 3"/>
          <p:cNvSpPr txBox="1"/>
          <p:nvPr/>
        </p:nvSpPr>
        <p:spPr>
          <a:xfrm>
            <a:off x="979787" y="3011442"/>
            <a:ext cx="3405781" cy="1323439"/>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a:t>
            </a:r>
            <a:r>
              <a:rPr lang="en-US" altLang="zh-CN" sz="2000" dirty="0" err="1">
                <a:latin typeface="Courier New" panose="02070309020205020404" pitchFamily="49" charset="0"/>
                <a:cs typeface="Courier New" panose="02070309020205020404" pitchFamily="49" charset="0"/>
              </a:rPr>
              <a:t>inttofloat</a:t>
            </a:r>
            <a:r>
              <a:rPr lang="en-US" altLang="zh-CN" sz="2000" dirty="0">
                <a:latin typeface="Courier New" panose="02070309020205020404" pitchFamily="49" charset="0"/>
                <a:cs typeface="Courier New" panose="02070309020205020404" pitchFamily="49" charset="0"/>
              </a:rPr>
              <a:t>(60)</a:t>
            </a:r>
          </a:p>
          <a:p>
            <a:r>
              <a:rPr lang="en-US" altLang="zh-CN" sz="2000" dirty="0">
                <a:latin typeface="Courier New" panose="02070309020205020404" pitchFamily="49" charset="0"/>
                <a:cs typeface="Courier New" panose="02070309020205020404" pitchFamily="49" charset="0"/>
              </a:rPr>
              <a:t>t2 = id3 * t1</a:t>
            </a:r>
          </a:p>
          <a:p>
            <a:r>
              <a:rPr lang="en-US" altLang="zh-CN" sz="2000" dirty="0">
                <a:latin typeface="Courier New" panose="02070309020205020404" pitchFamily="49" charset="0"/>
                <a:cs typeface="Courier New" panose="02070309020205020404" pitchFamily="49" charset="0"/>
              </a:rPr>
              <a:t>t3 = id2 + t2</a:t>
            </a:r>
          </a:p>
          <a:p>
            <a:r>
              <a:rPr lang="en-US" altLang="zh-CN" sz="2000" dirty="0">
                <a:latin typeface="Courier New" panose="02070309020205020404" pitchFamily="49" charset="0"/>
                <a:cs typeface="Courier New" panose="02070309020205020404" pitchFamily="49" charset="0"/>
              </a:rPr>
              <a:t>id1 = t3</a:t>
            </a:r>
            <a:endParaRPr lang="zh-CN" altLang="en-US" sz="2000" dirty="0">
              <a:latin typeface="Courier New" panose="02070309020205020404" pitchFamily="49" charset="0"/>
              <a:cs typeface="Courier New" panose="02070309020205020404" pitchFamily="49" charset="0"/>
            </a:endParaRPr>
          </a:p>
        </p:txBody>
      </p:sp>
      <p:sp>
        <p:nvSpPr>
          <p:cNvPr id="5" name="箭头: 右 4"/>
          <p:cNvSpPr/>
          <p:nvPr/>
        </p:nvSpPr>
        <p:spPr>
          <a:xfrm>
            <a:off x="4221523" y="3422366"/>
            <a:ext cx="630314" cy="42612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6" name="文本框 5"/>
          <p:cNvSpPr txBox="1"/>
          <p:nvPr/>
        </p:nvSpPr>
        <p:spPr>
          <a:xfrm>
            <a:off x="5060656" y="3281487"/>
            <a:ext cx="2538629" cy="70788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id3 * 60.0</a:t>
            </a:r>
          </a:p>
          <a:p>
            <a:r>
              <a:rPr lang="en-US" altLang="zh-CN" sz="2000" dirty="0">
                <a:latin typeface="Courier New" panose="02070309020205020404" pitchFamily="49" charset="0"/>
                <a:cs typeface="Courier New" panose="02070309020205020404" pitchFamily="49" charset="0"/>
              </a:rPr>
              <a:t>id1 = id2 + t1</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908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 Code Generation</a:t>
            </a:r>
            <a:endParaRPr lang="zh-CN" altLang="en-US" dirty="0"/>
          </a:p>
        </p:txBody>
      </p:sp>
      <p:sp>
        <p:nvSpPr>
          <p:cNvPr id="3" name="内容占位符 2"/>
          <p:cNvSpPr>
            <a:spLocks noGrp="1"/>
          </p:cNvSpPr>
          <p:nvPr>
            <p:ph idx="1"/>
          </p:nvPr>
        </p:nvSpPr>
        <p:spPr/>
        <p:txBody>
          <a:bodyPr>
            <a:normAutofit/>
          </a:bodyPr>
          <a:lstStyle/>
          <a:p>
            <a:r>
              <a:rPr lang="en-US" altLang="zh-CN" sz="2000" dirty="0"/>
              <a:t>The code generator takes as input an intermediate representation of the source program and maps it into the target language. If the target language is  machine code, registers or memory locations are selected for each of the variables used by the program. Then, the intermediate instructions are translated into sequences of machine instructions that perform the same task.</a:t>
            </a:r>
          </a:p>
          <a:p>
            <a:r>
              <a:rPr lang="en-US" altLang="zh-CN" sz="2000" dirty="0"/>
              <a:t>judicious assignment of registers to hold variables</a:t>
            </a:r>
          </a:p>
          <a:p>
            <a:pPr marL="0" indent="0">
              <a:buNone/>
            </a:pPr>
            <a:endParaRPr lang="en-US" altLang="zh-CN" sz="2000" dirty="0"/>
          </a:p>
        </p:txBody>
      </p:sp>
      <p:sp>
        <p:nvSpPr>
          <p:cNvPr id="4" name="文本框 3"/>
          <p:cNvSpPr txBox="1"/>
          <p:nvPr/>
        </p:nvSpPr>
        <p:spPr>
          <a:xfrm>
            <a:off x="994683" y="4586504"/>
            <a:ext cx="2538629" cy="70788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t1 = id3 * 60.0</a:t>
            </a:r>
          </a:p>
          <a:p>
            <a:r>
              <a:rPr lang="en-US" altLang="zh-CN" sz="2000" dirty="0">
                <a:latin typeface="Courier New" panose="02070309020205020404" pitchFamily="49" charset="0"/>
                <a:cs typeface="Courier New" panose="02070309020205020404" pitchFamily="49" charset="0"/>
              </a:rPr>
              <a:t>id1 = id2 + t1</a:t>
            </a:r>
            <a:endParaRPr lang="zh-CN" altLang="en-US" sz="2000" dirty="0">
              <a:latin typeface="Courier New" panose="02070309020205020404" pitchFamily="49" charset="0"/>
              <a:cs typeface="Courier New" panose="02070309020205020404" pitchFamily="49" charset="0"/>
            </a:endParaRPr>
          </a:p>
        </p:txBody>
      </p:sp>
      <p:sp>
        <p:nvSpPr>
          <p:cNvPr id="5" name="箭头: 右 4"/>
          <p:cNvSpPr/>
          <p:nvPr/>
        </p:nvSpPr>
        <p:spPr>
          <a:xfrm>
            <a:off x="3941117" y="4727383"/>
            <a:ext cx="630314" cy="42612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7" name="文本框 6"/>
          <p:cNvSpPr txBox="1"/>
          <p:nvPr/>
        </p:nvSpPr>
        <p:spPr>
          <a:xfrm>
            <a:off x="4908406" y="4343093"/>
            <a:ext cx="3405781" cy="1631216"/>
          </a:xfrm>
          <a:prstGeom prst="rect">
            <a:avLst/>
          </a:prstGeom>
          <a:noFill/>
        </p:spPr>
        <p:txBody>
          <a:bodyPr wrap="square" rtlCol="0">
            <a:spAutoFit/>
          </a:bodyPr>
          <a:lstStyle/>
          <a:p>
            <a:r>
              <a:rPr lang="en-US" altLang="zh-CN" sz="2000" dirty="0">
                <a:latin typeface="Courier New" panose="02070309020205020404" pitchFamily="49" charset="0"/>
                <a:cs typeface="Courier New" panose="02070309020205020404" pitchFamily="49" charset="0"/>
              </a:rPr>
              <a:t>LDF R2, id3</a:t>
            </a:r>
          </a:p>
          <a:p>
            <a:r>
              <a:rPr lang="en-US" altLang="zh-CN" sz="2000" dirty="0">
                <a:latin typeface="Courier New" panose="02070309020205020404" pitchFamily="49" charset="0"/>
                <a:cs typeface="Courier New" panose="02070309020205020404" pitchFamily="49" charset="0"/>
              </a:rPr>
              <a:t>MULF R2, R2, #60.0</a:t>
            </a:r>
          </a:p>
          <a:p>
            <a:r>
              <a:rPr lang="en-US" altLang="zh-CN" sz="2000" dirty="0">
                <a:latin typeface="Courier New" panose="02070309020205020404" pitchFamily="49" charset="0"/>
                <a:cs typeface="Courier New" panose="02070309020205020404" pitchFamily="49" charset="0"/>
              </a:rPr>
              <a:t>LDF R1, id2</a:t>
            </a:r>
          </a:p>
          <a:p>
            <a:r>
              <a:rPr lang="en-US" altLang="zh-CN" sz="2000" dirty="0">
                <a:latin typeface="Courier New" panose="02070309020205020404" pitchFamily="49" charset="0"/>
                <a:cs typeface="Courier New" panose="02070309020205020404" pitchFamily="49" charset="0"/>
              </a:rPr>
              <a:t>ADDF R1, R1, R2</a:t>
            </a:r>
          </a:p>
          <a:p>
            <a:r>
              <a:rPr lang="en-US" altLang="zh-CN" sz="2000" dirty="0">
                <a:latin typeface="Courier New" panose="02070309020205020404" pitchFamily="49" charset="0"/>
                <a:cs typeface="Courier New" panose="02070309020205020404" pitchFamily="49" charset="0"/>
              </a:rPr>
              <a:t>STF id1, R1</a:t>
            </a:r>
            <a:endParaRPr lang="zh-CN" alt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7874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The Structure of a Compiler</a:t>
            </a:r>
            <a:endParaRPr lang="zh-CN" altLang="en-US" dirty="0"/>
          </a:p>
        </p:txBody>
      </p:sp>
      <p:sp>
        <p:nvSpPr>
          <p:cNvPr id="3" name="内容占位符 2"/>
          <p:cNvSpPr>
            <a:spLocks noGrp="1"/>
          </p:cNvSpPr>
          <p:nvPr>
            <p:ph idx="1"/>
          </p:nvPr>
        </p:nvSpPr>
        <p:spPr/>
        <p:txBody>
          <a:bodyPr>
            <a:normAutofit/>
          </a:bodyPr>
          <a:lstStyle/>
          <a:p>
            <a:r>
              <a:rPr lang="en-US" altLang="zh-CN" sz="2000" dirty="0"/>
              <a:t>Symbol-Table Management</a:t>
            </a:r>
          </a:p>
          <a:p>
            <a:r>
              <a:rPr lang="en-US" altLang="zh-CN" sz="2000" dirty="0"/>
              <a:t>Compiler-Construction Tools</a:t>
            </a:r>
          </a:p>
          <a:p>
            <a:pPr lvl="1"/>
            <a:r>
              <a:rPr lang="en-US" altLang="zh-CN" sz="1700" dirty="0"/>
              <a:t>Lex</a:t>
            </a:r>
          </a:p>
          <a:p>
            <a:pPr lvl="1"/>
            <a:r>
              <a:rPr lang="en-US" altLang="zh-CN" sz="1700" dirty="0" err="1"/>
              <a:t>Yacc</a:t>
            </a:r>
            <a:endParaRPr lang="en-US" altLang="zh-CN" sz="1700" dirty="0"/>
          </a:p>
          <a:p>
            <a:pPr lvl="1"/>
            <a:r>
              <a:rPr lang="en-US" altLang="zh-CN" sz="1700" dirty="0"/>
              <a:t>…..</a:t>
            </a:r>
          </a:p>
        </p:txBody>
      </p:sp>
    </p:spTree>
    <p:extLst>
      <p:ext uri="{BB962C8B-B14F-4D97-AF65-F5344CB8AC3E}">
        <p14:creationId xmlns:p14="http://schemas.microsoft.com/office/powerpoint/2010/main" val="1888284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763</Words>
  <Application>Microsoft Office PowerPoint</Application>
  <PresentationFormat>全屏显示(4:3)</PresentationFormat>
  <Paragraphs>105</Paragraphs>
  <Slides>15</Slides>
  <Notes>1</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1" baseType="lpstr">
      <vt:lpstr>微软雅黑</vt:lpstr>
      <vt:lpstr>Courier New</vt:lpstr>
      <vt:lpstr>Euphemia</vt:lpstr>
      <vt:lpstr>Wingdings</vt:lpstr>
      <vt:lpstr>学术文献 16x9</vt:lpstr>
      <vt:lpstr>Equation</vt:lpstr>
      <vt:lpstr>Compiling METHOD</vt:lpstr>
      <vt:lpstr>About the Course</vt:lpstr>
      <vt:lpstr>Introduction</vt:lpstr>
      <vt:lpstr>A Brief Overview of compiling</vt:lpstr>
      <vt:lpstr>1.1 Language Processors-compiler</vt:lpstr>
      <vt:lpstr>1.1 Language Processors-interpreter</vt:lpstr>
      <vt:lpstr>1.1 Language Processors-system</vt:lpstr>
      <vt:lpstr>1.2 The Structure of a Compiler</vt:lpstr>
      <vt:lpstr>1.2 The Structure of a Compiler-Lexical Analysis</vt:lpstr>
      <vt:lpstr>1.2 The Structure of a Compiler-Syntax Analysis</vt:lpstr>
      <vt:lpstr>1.2 The Structure of a Compiler-Semantic Analysis</vt:lpstr>
      <vt:lpstr>1.2 The Structure of a Compiler-Intermediate Code Generation</vt:lpstr>
      <vt:lpstr>1.2 The Structure of a Compiler-Code Optimization</vt:lpstr>
      <vt:lpstr>1.2 The Structure of a Compiler- Code Generation</vt:lpstr>
      <vt:lpstr>1.2 The Structure of a Compiler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2020-04-02T09:13:53Z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