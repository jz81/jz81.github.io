
<file path=[Content_Types].xml><?xml version="1.0" encoding="utf-8"?>
<Types xmlns="http://schemas.openxmlformats.org/package/2006/content-types">
  <Default Extension="bin" ContentType="application/vnd.openxmlformats-officedocument.oleObject"/>
  <Default Extension="doc" ContentType="application/msword"/>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88"/>
  </p:notesMasterIdLst>
  <p:handoutMasterIdLst>
    <p:handoutMasterId r:id="rId89"/>
  </p:handoutMasterIdLst>
  <p:sldIdLst>
    <p:sldId id="256" r:id="rId5"/>
    <p:sldId id="261"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5" r:id="rId21"/>
    <p:sldId id="294" r:id="rId22"/>
    <p:sldId id="293" r:id="rId23"/>
    <p:sldId id="296" r:id="rId24"/>
    <p:sldId id="297" r:id="rId25"/>
    <p:sldId id="299" r:id="rId26"/>
    <p:sldId id="298" r:id="rId27"/>
    <p:sldId id="300" r:id="rId28"/>
    <p:sldId id="301" r:id="rId29"/>
    <p:sldId id="303" r:id="rId30"/>
    <p:sldId id="304" r:id="rId31"/>
    <p:sldId id="305" r:id="rId32"/>
    <p:sldId id="302" r:id="rId33"/>
    <p:sldId id="306" r:id="rId34"/>
    <p:sldId id="307" r:id="rId35"/>
    <p:sldId id="308" r:id="rId36"/>
    <p:sldId id="309" r:id="rId37"/>
    <p:sldId id="310" r:id="rId38"/>
    <p:sldId id="311" r:id="rId39"/>
    <p:sldId id="313" r:id="rId40"/>
    <p:sldId id="314" r:id="rId41"/>
    <p:sldId id="312" r:id="rId42"/>
    <p:sldId id="315" r:id="rId43"/>
    <p:sldId id="317" r:id="rId44"/>
    <p:sldId id="318" r:id="rId45"/>
    <p:sldId id="319" r:id="rId46"/>
    <p:sldId id="320" r:id="rId47"/>
    <p:sldId id="321" r:id="rId48"/>
    <p:sldId id="316" r:id="rId49"/>
    <p:sldId id="322" r:id="rId50"/>
    <p:sldId id="323" r:id="rId51"/>
    <p:sldId id="325" r:id="rId52"/>
    <p:sldId id="324" r:id="rId53"/>
    <p:sldId id="328" r:id="rId54"/>
    <p:sldId id="327" r:id="rId55"/>
    <p:sldId id="326" r:id="rId56"/>
    <p:sldId id="329" r:id="rId57"/>
    <p:sldId id="330" r:id="rId58"/>
    <p:sldId id="335" r:id="rId59"/>
    <p:sldId id="336" r:id="rId60"/>
    <p:sldId id="334" r:id="rId61"/>
    <p:sldId id="333" r:id="rId62"/>
    <p:sldId id="332" r:id="rId63"/>
    <p:sldId id="331" r:id="rId64"/>
    <p:sldId id="337" r:id="rId65"/>
    <p:sldId id="338" r:id="rId66"/>
    <p:sldId id="339" r:id="rId67"/>
    <p:sldId id="340" r:id="rId68"/>
    <p:sldId id="341" r:id="rId69"/>
    <p:sldId id="345" r:id="rId70"/>
    <p:sldId id="343" r:id="rId71"/>
    <p:sldId id="344" r:id="rId72"/>
    <p:sldId id="346" r:id="rId73"/>
    <p:sldId id="362" r:id="rId74"/>
    <p:sldId id="347" r:id="rId75"/>
    <p:sldId id="349" r:id="rId76"/>
    <p:sldId id="350" r:id="rId77"/>
    <p:sldId id="351" r:id="rId78"/>
    <p:sldId id="352" r:id="rId79"/>
    <p:sldId id="353" r:id="rId80"/>
    <p:sldId id="354" r:id="rId81"/>
    <p:sldId id="355" r:id="rId82"/>
    <p:sldId id="356" r:id="rId83"/>
    <p:sldId id="357" r:id="rId84"/>
    <p:sldId id="358" r:id="rId85"/>
    <p:sldId id="359" r:id="rId86"/>
    <p:sldId id="360" r:id="rId87"/>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1430" y="77"/>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handoutMaster" Target="handoutMasters/handout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2020/5/26</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2020/5/26</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2020/5/26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2020/5/26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2020/5/26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2020/5/26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2020/5/26</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2020/5/26</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2020/5/26</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2020/5/26</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2020/5/26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2020/5/26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2020/5/26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2020/5/26</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8.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9.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0.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1.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2.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3.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4.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5.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6.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7.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8.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9.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3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2.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3.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4.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5.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6.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Microsoft_Word_97_-_2003_Document.doc"/><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37.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Microsoft_Word_97_-_2003_Document1.doc"/><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39.emf"/><Relationship Id="rId5" Type="http://schemas.openxmlformats.org/officeDocument/2006/relationships/oleObject" Target="../embeddings/Microsoft_Word_97_-_2003_Document2.doc"/><Relationship Id="rId4" Type="http://schemas.openxmlformats.org/officeDocument/2006/relationships/image" Target="../media/image38.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40.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1.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42.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43.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147369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(jzhang@njust.edu.cn)</a:t>
            </a:r>
          </a:p>
        </p:txBody>
      </p:sp>
      <p:pic>
        <p:nvPicPr>
          <p:cNvPr id="4" name="图片占位符 3" descr="桌上一本打开的书，书架在背景中模糊显示" title="示例图片"/>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r>
              <a:rPr lang="en-US" altLang="zh-CN" dirty="0"/>
              <a:t>RUN-TIME Environments</a:t>
            </a:r>
            <a:endParaRPr lang="en-US" dirty="0"/>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Outlines</a:t>
            </a:r>
            <a:endParaRPr lang="zh-CN" altLang="en-US" dirty="0"/>
          </a:p>
        </p:txBody>
      </p:sp>
      <p:sp>
        <p:nvSpPr>
          <p:cNvPr id="3" name="内容占位符 2"/>
          <p:cNvSpPr>
            <a:spLocks noGrp="1"/>
          </p:cNvSpPr>
          <p:nvPr>
            <p:ph idx="1"/>
          </p:nvPr>
        </p:nvSpPr>
        <p:spPr/>
        <p:txBody>
          <a:bodyPr/>
          <a:lstStyle/>
          <a:p>
            <a:r>
              <a:rPr lang="en-US" altLang="zh-CN" dirty="0"/>
              <a:t>Symbol Table</a:t>
            </a:r>
          </a:p>
          <a:p>
            <a:r>
              <a:rPr lang="en-US" altLang="zh-CN" dirty="0"/>
              <a:t>Storage Organization</a:t>
            </a:r>
          </a:p>
          <a:p>
            <a:r>
              <a:rPr lang="en-US" altLang="zh-CN" dirty="0"/>
              <a:t>Stack Allocation of Space</a:t>
            </a:r>
          </a:p>
          <a:p>
            <a:r>
              <a:rPr lang="en-US" altLang="zh-CN" dirty="0"/>
              <a:t>Fully Static Runtime Environments</a:t>
            </a:r>
          </a:p>
          <a:p>
            <a:r>
              <a:rPr lang="en-US" altLang="zh-CN" dirty="0"/>
              <a:t>Stack-Based Runtime Environments</a:t>
            </a:r>
          </a:p>
          <a:p>
            <a:r>
              <a:rPr lang="en-US" altLang="zh-CN" dirty="0"/>
              <a:t>Fully Dynamic Runtime Environments</a:t>
            </a:r>
          </a:p>
          <a:p>
            <a:r>
              <a:rPr lang="en-US" altLang="zh-CN" dirty="0"/>
              <a:t>Dynamic Memory in Object-Oriented Languages</a:t>
            </a:r>
          </a:p>
          <a:p>
            <a:r>
              <a:rPr lang="en-US" altLang="zh-CN" dirty="0"/>
              <a:t>Heap Management</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195570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Symbol Table</a:t>
            </a:r>
            <a:endParaRPr lang="zh-CN" altLang="en-US" dirty="0"/>
          </a:p>
        </p:txBody>
      </p:sp>
      <p:sp>
        <p:nvSpPr>
          <p:cNvPr id="3" name="内容占位符 2"/>
          <p:cNvSpPr>
            <a:spLocks noGrp="1"/>
          </p:cNvSpPr>
          <p:nvPr>
            <p:ph idx="1"/>
          </p:nvPr>
        </p:nvSpPr>
        <p:spPr>
          <a:xfrm>
            <a:off x="828675" y="1600200"/>
            <a:ext cx="7486650" cy="1262641"/>
          </a:xfrm>
        </p:spPr>
        <p:txBody>
          <a:bodyPr/>
          <a:lstStyle/>
          <a:p>
            <a:r>
              <a:rPr lang="en-US" altLang="zh-CN" b="1" dirty="0">
                <a:solidFill>
                  <a:srgbClr val="7030A0"/>
                </a:solidFill>
              </a:rPr>
              <a:t>Symbol tables </a:t>
            </a:r>
            <a:r>
              <a:rPr lang="en-US" altLang="zh-CN" dirty="0"/>
              <a:t>are data structures that are used by compilers to hold information about source-program constructs. The information is collected incrementally by the analysis phases of a compiler and used by the synthesis phases to generate the target code.</a:t>
            </a:r>
            <a:endParaRPr lang="zh-CN" altLang="en-US" dirty="0"/>
          </a:p>
        </p:txBody>
      </p:sp>
      <p:pic>
        <p:nvPicPr>
          <p:cNvPr id="4" name="图片 3"/>
          <p:cNvPicPr>
            <a:picLocks noChangeAspect="1"/>
          </p:cNvPicPr>
          <p:nvPr/>
        </p:nvPicPr>
        <p:blipFill>
          <a:blip r:embed="rId2"/>
          <a:stretch>
            <a:fillRect/>
          </a:stretch>
        </p:blipFill>
        <p:spPr>
          <a:xfrm>
            <a:off x="1482651" y="2529199"/>
            <a:ext cx="6088923" cy="3215073"/>
          </a:xfrm>
          <a:prstGeom prst="rect">
            <a:avLst/>
          </a:prstGeom>
        </p:spPr>
      </p:pic>
      <p:cxnSp>
        <p:nvCxnSpPr>
          <p:cNvPr id="8" name="直接连接符 7"/>
          <p:cNvCxnSpPr/>
          <p:nvPr/>
        </p:nvCxnSpPr>
        <p:spPr>
          <a:xfrm>
            <a:off x="4606183" y="3837062"/>
            <a:ext cx="2734654" cy="0"/>
          </a:xfrm>
          <a:prstGeom prst="line">
            <a:avLst/>
          </a:prstGeom>
          <a:ln>
            <a:solidFill>
              <a:srgbClr val="FF0000"/>
            </a:solidFill>
          </a:ln>
        </p:spPr>
        <p:style>
          <a:lnRef idx="1">
            <a:schemeClr val="accent5"/>
          </a:lnRef>
          <a:fillRef idx="0">
            <a:schemeClr val="accent5"/>
          </a:fillRef>
          <a:effectRef idx="0">
            <a:schemeClr val="accent5"/>
          </a:effectRef>
          <a:fontRef idx="minor">
            <a:schemeClr val="tx1"/>
          </a:fontRef>
        </p:style>
      </p:cxnSp>
      <p:cxnSp>
        <p:nvCxnSpPr>
          <p:cNvPr id="10" name="直接连接符 9"/>
          <p:cNvCxnSpPr/>
          <p:nvPr/>
        </p:nvCxnSpPr>
        <p:spPr>
          <a:xfrm flipV="1">
            <a:off x="1828800" y="4050706"/>
            <a:ext cx="5469308" cy="8546"/>
          </a:xfrm>
          <a:prstGeom prst="line">
            <a:avLst/>
          </a:prstGeom>
          <a:ln>
            <a:solidFill>
              <a:srgbClr val="FF0000"/>
            </a:solidFill>
          </a:ln>
        </p:spPr>
        <p:style>
          <a:lnRef idx="1">
            <a:schemeClr val="accent5"/>
          </a:lnRef>
          <a:fillRef idx="0">
            <a:schemeClr val="accent5"/>
          </a:fillRef>
          <a:effectRef idx="0">
            <a:schemeClr val="accent5"/>
          </a:effectRef>
          <a:fontRef idx="minor">
            <a:schemeClr val="tx1"/>
          </a:fontRef>
        </p:style>
      </p:cxnSp>
      <p:cxnSp>
        <p:nvCxnSpPr>
          <p:cNvPr id="14" name="直接连接符 13"/>
          <p:cNvCxnSpPr/>
          <p:nvPr/>
        </p:nvCxnSpPr>
        <p:spPr>
          <a:xfrm flipV="1">
            <a:off x="1793192" y="4254381"/>
            <a:ext cx="5469308" cy="8546"/>
          </a:xfrm>
          <a:prstGeom prst="line">
            <a:avLst/>
          </a:prstGeom>
          <a:ln>
            <a:solidFill>
              <a:srgbClr val="FF0000"/>
            </a:solidFill>
          </a:ln>
        </p:spPr>
        <p:style>
          <a:lnRef idx="1">
            <a:schemeClr val="accent5"/>
          </a:lnRef>
          <a:fillRef idx="0">
            <a:schemeClr val="accent5"/>
          </a:fillRef>
          <a:effectRef idx="0">
            <a:schemeClr val="accent5"/>
          </a:effectRef>
          <a:fontRef idx="minor">
            <a:schemeClr val="tx1"/>
          </a:fontRef>
        </p:style>
      </p:cxnSp>
      <p:sp>
        <p:nvSpPr>
          <p:cNvPr id="15" name="文本框 14"/>
          <p:cNvSpPr txBox="1"/>
          <p:nvPr/>
        </p:nvSpPr>
        <p:spPr>
          <a:xfrm>
            <a:off x="1331762" y="5864451"/>
            <a:ext cx="6654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b="1" dirty="0"/>
              <a:t>Symbol Table is NOT a part of run-time environments but can provide information to create run-time environments.</a:t>
            </a:r>
            <a:endParaRPr lang="zh-CN" altLang="en-US" b="1" dirty="0"/>
          </a:p>
        </p:txBody>
      </p:sp>
    </p:spTree>
    <p:extLst>
      <p:ext uri="{BB962C8B-B14F-4D97-AF65-F5344CB8AC3E}">
        <p14:creationId xmlns:p14="http://schemas.microsoft.com/office/powerpoint/2010/main" val="2382117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Symbol Table-Structure</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328024537"/>
              </p:ext>
            </p:extLst>
          </p:nvPr>
        </p:nvGraphicFramePr>
        <p:xfrm>
          <a:off x="1524000" y="2012299"/>
          <a:ext cx="6096000" cy="1807673"/>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rowSpan="2">
                  <a:txBody>
                    <a:bodyPr/>
                    <a:lstStyle/>
                    <a:p>
                      <a:pPr algn="ctr"/>
                      <a:r>
                        <a:rPr lang="en-US" altLang="zh-CN" b="1" dirty="0"/>
                        <a:t>NAME</a:t>
                      </a:r>
                      <a:endParaRPr lang="zh-CN" altLang="en-US" b="1" dirty="0"/>
                    </a:p>
                  </a:txBody>
                  <a:tcPr anchor="ctr"/>
                </a:tc>
                <a:tc gridSpan="3">
                  <a:txBody>
                    <a:bodyPr/>
                    <a:lstStyle/>
                    <a:p>
                      <a:pPr algn="ctr"/>
                      <a:r>
                        <a:rPr lang="en-US" altLang="zh-CN" dirty="0"/>
                        <a:t>INFORMATION</a:t>
                      </a:r>
                      <a:endParaRPr lang="zh-CN" altLang="en-US" dirty="0"/>
                    </a:p>
                  </a:txBody>
                  <a:tcPr anchor="ct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0"/>
                  </a:ext>
                </a:extLst>
              </a:tr>
              <a:tr h="370840">
                <a:tc vMerge="1">
                  <a:txBody>
                    <a:bodyPr/>
                    <a:lstStyle/>
                    <a:p>
                      <a:pPr algn="l"/>
                      <a:endParaRPr lang="en-US" altLang="zh-CN" dirty="0"/>
                    </a:p>
                  </a:txBody>
                  <a:tcPr anchor="ctr"/>
                </a:tc>
                <a:tc>
                  <a:txBody>
                    <a:bodyPr/>
                    <a:lstStyle/>
                    <a:p>
                      <a:pPr algn="ctr"/>
                      <a:r>
                        <a:rPr lang="en-US" altLang="zh-CN" dirty="0"/>
                        <a:t>Category</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err="1"/>
                        <a:t>addr</a:t>
                      </a:r>
                      <a:endParaRPr lang="zh-CN" altLang="en-US" dirty="0"/>
                    </a:p>
                  </a:txBody>
                  <a:tcPr anchor="ctr"/>
                </a:tc>
                <a:extLst>
                  <a:ext uri="{0D108BD9-81ED-4DB2-BD59-A6C34878D82A}">
                    <a16:rowId xmlns:a16="http://schemas.microsoft.com/office/drawing/2014/main" val="10001"/>
                  </a:ext>
                </a:extLst>
              </a:tr>
              <a:tr h="370840">
                <a:tc>
                  <a:txBody>
                    <a:bodyPr/>
                    <a:lstStyle/>
                    <a:p>
                      <a:pPr algn="l"/>
                      <a:r>
                        <a:rPr lang="en-US" altLang="zh-CN" dirty="0"/>
                        <a:t>     , 6</a:t>
                      </a:r>
                      <a:endParaRPr lang="zh-CN" altLang="en-US" dirty="0"/>
                    </a:p>
                  </a:txBody>
                  <a:tcPr anchor="ctr"/>
                </a:tc>
                <a:tc gridSpan="3">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2"/>
                  </a:ext>
                </a:extLst>
              </a:tr>
              <a:tr h="370840">
                <a:tc>
                  <a:txBody>
                    <a:bodyPr/>
                    <a:lstStyle/>
                    <a:p>
                      <a:pPr algn="l"/>
                      <a:r>
                        <a:rPr lang="en-US" altLang="zh-CN" dirty="0"/>
                        <a:t>     , 4</a:t>
                      </a:r>
                      <a:endParaRPr lang="zh-CN" altLang="en-US" dirty="0"/>
                    </a:p>
                  </a:txBody>
                  <a:tcPr anchor="ctr"/>
                </a:tc>
                <a:tc gridSpan="3">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3"/>
                  </a:ext>
                </a:extLst>
              </a:tr>
              <a:tr h="324313">
                <a:tc>
                  <a:txBody>
                    <a:bodyPr/>
                    <a:lstStyle/>
                    <a:p>
                      <a:pPr algn="l"/>
                      <a:r>
                        <a:rPr lang="en-US" altLang="zh-CN" dirty="0"/>
                        <a:t>     , 1</a:t>
                      </a:r>
                      <a:endParaRPr lang="zh-CN" altLang="en-US" dirty="0"/>
                    </a:p>
                  </a:txBody>
                  <a:tcPr anchor="ctr"/>
                </a:tc>
                <a:tc gridSpan="3">
                  <a:txBody>
                    <a:bodyPr/>
                    <a:lstStyle/>
                    <a:p>
                      <a:r>
                        <a:rPr lang="en-US" altLang="zh-CN" dirty="0"/>
                        <a:t>      array            ……</a:t>
                      </a:r>
                      <a:r>
                        <a:rPr lang="en-US" altLang="zh-CN" baseline="0" dirty="0"/>
                        <a:t>                </a:t>
                      </a:r>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4"/>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266756993"/>
              </p:ext>
            </p:extLst>
          </p:nvPr>
        </p:nvGraphicFramePr>
        <p:xfrm>
          <a:off x="133477" y="4232985"/>
          <a:ext cx="3124200" cy="37084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gridCol w="208280">
                  <a:extLst>
                    <a:ext uri="{9D8B030D-6E8A-4147-A177-3AD203B41FA5}">
                      <a16:colId xmlns:a16="http://schemas.microsoft.com/office/drawing/2014/main" val="20012"/>
                    </a:ext>
                  </a:extLst>
                </a:gridCol>
                <a:gridCol w="208280">
                  <a:extLst>
                    <a:ext uri="{9D8B030D-6E8A-4147-A177-3AD203B41FA5}">
                      <a16:colId xmlns:a16="http://schemas.microsoft.com/office/drawing/2014/main" val="20013"/>
                    </a:ext>
                  </a:extLst>
                </a:gridCol>
                <a:gridCol w="208280">
                  <a:extLst>
                    <a:ext uri="{9D8B030D-6E8A-4147-A177-3AD203B41FA5}">
                      <a16:colId xmlns:a16="http://schemas.microsoft.com/office/drawing/2014/main" val="20014"/>
                    </a:ext>
                  </a:extLst>
                </a:gridCol>
              </a:tblGrid>
              <a:tr h="370840">
                <a:tc>
                  <a:txBody>
                    <a:bodyPr/>
                    <a:lstStyle/>
                    <a:p>
                      <a:pPr algn="ctr"/>
                      <a:r>
                        <a:rPr lang="en-US" altLang="zh-CN" dirty="0"/>
                        <a:t>…</a:t>
                      </a:r>
                      <a:endParaRPr lang="zh-CN" altLang="en-US" dirty="0"/>
                    </a:p>
                  </a:txBody>
                  <a:tcPr anchor="ctr"/>
                </a:tc>
                <a:tc>
                  <a:txBody>
                    <a:bodyPr/>
                    <a:lstStyle/>
                    <a:p>
                      <a:pPr algn="ctr"/>
                      <a:r>
                        <a:rPr lang="en-US" altLang="zh-CN" dirty="0"/>
                        <a:t>S</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m</a:t>
                      </a:r>
                      <a:endParaRPr lang="zh-CN" altLang="en-US" dirty="0"/>
                    </a:p>
                  </a:txBody>
                  <a:tcPr anchor="ctr"/>
                </a:tc>
                <a:tc>
                  <a:txBody>
                    <a:bodyPr/>
                    <a:lstStyle/>
                    <a:p>
                      <a:pPr algn="ctr"/>
                      <a:r>
                        <a:rPr lang="en-US" altLang="zh-CN" dirty="0"/>
                        <a:t>p</a:t>
                      </a:r>
                      <a:endParaRPr lang="zh-CN" altLang="en-US" dirty="0"/>
                    </a:p>
                  </a:txBody>
                  <a:tcPr anchor="ctr"/>
                </a:tc>
                <a:tc>
                  <a:txBody>
                    <a:bodyPr/>
                    <a:lstStyle/>
                    <a:p>
                      <a:pPr algn="ctr"/>
                      <a:r>
                        <a:rPr lang="en-US" altLang="zh-CN" dirty="0"/>
                        <a:t>l</a:t>
                      </a:r>
                      <a:endParaRPr lang="zh-CN" altLang="en-US" dirty="0"/>
                    </a:p>
                  </a:txBody>
                  <a:tcPr anchor="ctr"/>
                </a:tc>
                <a:tc>
                  <a:txBody>
                    <a:bodyPr/>
                    <a:lstStyle/>
                    <a:p>
                      <a:pPr algn="ctr"/>
                      <a:r>
                        <a:rPr lang="en-US" altLang="zh-CN" dirty="0"/>
                        <a:t>e</a:t>
                      </a:r>
                      <a:endParaRPr lang="zh-CN" altLang="en-US" dirty="0"/>
                    </a:p>
                  </a:txBody>
                  <a:tcPr anchor="ctr"/>
                </a:tc>
                <a:tc>
                  <a:txBody>
                    <a:bodyPr/>
                    <a:lstStyle/>
                    <a:p>
                      <a:pPr algn="ctr"/>
                      <a:r>
                        <a:rPr lang="en-US" altLang="zh-CN" dirty="0"/>
                        <a:t>L</a:t>
                      </a:r>
                      <a:endParaRPr lang="zh-CN" altLang="en-US" dirty="0"/>
                    </a:p>
                  </a:txBody>
                  <a:tcPr anchor="ctr"/>
                </a:tc>
                <a:tc>
                  <a:txBody>
                    <a:bodyPr/>
                    <a:lstStyle/>
                    <a:p>
                      <a:pPr algn="ctr"/>
                      <a:r>
                        <a:rPr lang="en-US" altLang="zh-CN" dirty="0"/>
                        <a:t>e</a:t>
                      </a:r>
                      <a:endParaRPr lang="zh-CN" altLang="en-US" dirty="0"/>
                    </a:p>
                  </a:txBody>
                  <a:tcPr anchor="ctr"/>
                </a:tc>
                <a:tc>
                  <a:txBody>
                    <a:bodyPr/>
                    <a:lstStyle/>
                    <a:p>
                      <a:pPr algn="ctr"/>
                      <a:r>
                        <a:rPr lang="en-US" altLang="zh-CN" dirty="0"/>
                        <a:t>n</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10000"/>
                  </a:ext>
                </a:extLst>
              </a:tr>
            </a:tbl>
          </a:graphicData>
        </a:graphic>
      </p:graphicFrame>
      <p:grpSp>
        <p:nvGrpSpPr>
          <p:cNvPr id="18" name="组合 17"/>
          <p:cNvGrpSpPr/>
          <p:nvPr/>
        </p:nvGrpSpPr>
        <p:grpSpPr>
          <a:xfrm>
            <a:off x="444381" y="2973938"/>
            <a:ext cx="1384419" cy="1222049"/>
            <a:chOff x="1093863" y="2358639"/>
            <a:chExt cx="822023" cy="1222049"/>
          </a:xfrm>
        </p:grpSpPr>
        <p:cxnSp>
          <p:nvCxnSpPr>
            <p:cNvPr id="7" name="直接连接符 6"/>
            <p:cNvCxnSpPr/>
            <p:nvPr/>
          </p:nvCxnSpPr>
          <p:spPr>
            <a:xfrm>
              <a:off x="1110953" y="2358639"/>
              <a:ext cx="804933" cy="1384"/>
            </a:xfrm>
            <a:prstGeom prst="line">
              <a:avLst/>
            </a:prstGeom>
            <a:ln w="19050">
              <a:solidFill>
                <a:schemeClr val="accent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1093863" y="2358639"/>
              <a:ext cx="8544" cy="1222049"/>
            </a:xfrm>
            <a:prstGeom prst="line">
              <a:avLst/>
            </a:prstGeom>
            <a:ln w="1905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1640791" y="3341408"/>
            <a:ext cx="188009" cy="888761"/>
            <a:chOff x="1093863" y="2358639"/>
            <a:chExt cx="822023" cy="1222049"/>
          </a:xfrm>
        </p:grpSpPr>
        <p:cxnSp>
          <p:nvCxnSpPr>
            <p:cNvPr id="20" name="直接连接符 19"/>
            <p:cNvCxnSpPr/>
            <p:nvPr/>
          </p:nvCxnSpPr>
          <p:spPr>
            <a:xfrm>
              <a:off x="1110953" y="2358639"/>
              <a:ext cx="804933" cy="1384"/>
            </a:xfrm>
            <a:prstGeom prst="line">
              <a:avLst/>
            </a:prstGeom>
            <a:ln w="19050">
              <a:solidFill>
                <a:schemeClr val="accent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093863" y="2358639"/>
              <a:ext cx="8544" cy="1222049"/>
            </a:xfrm>
            <a:prstGeom prst="line">
              <a:avLst/>
            </a:prstGeom>
            <a:ln w="1905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flipH="1">
            <a:off x="1837346" y="3956705"/>
            <a:ext cx="640933" cy="282011"/>
            <a:chOff x="1093863" y="2358639"/>
            <a:chExt cx="780401" cy="1222049"/>
          </a:xfrm>
        </p:grpSpPr>
        <p:cxnSp>
          <p:nvCxnSpPr>
            <p:cNvPr id="23" name="直接连接符 22"/>
            <p:cNvCxnSpPr/>
            <p:nvPr/>
          </p:nvCxnSpPr>
          <p:spPr>
            <a:xfrm>
              <a:off x="1110951" y="2358639"/>
              <a:ext cx="763313" cy="0"/>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093863" y="2358639"/>
              <a:ext cx="8544" cy="1222049"/>
            </a:xfrm>
            <a:prstGeom prst="line">
              <a:avLst/>
            </a:prstGeom>
            <a:ln w="1905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a:xfrm flipV="1">
            <a:off x="1820254" y="3631965"/>
            <a:ext cx="0" cy="324740"/>
          </a:xfrm>
          <a:prstGeom prst="line">
            <a:avLst/>
          </a:prstGeom>
          <a:ln w="19050">
            <a:solidFill>
              <a:schemeClr val="accent1"/>
            </a:solidFill>
            <a:headEnd type="none"/>
            <a:tailEnd type="oval"/>
          </a:ln>
        </p:spPr>
        <p:style>
          <a:lnRef idx="1">
            <a:schemeClr val="accent1"/>
          </a:lnRef>
          <a:fillRef idx="0">
            <a:schemeClr val="accent1"/>
          </a:fillRef>
          <a:effectRef idx="0">
            <a:schemeClr val="accent1"/>
          </a:effectRef>
          <a:fontRef idx="minor">
            <a:schemeClr val="tx1"/>
          </a:fontRef>
        </p:style>
      </p:cxnSp>
      <p:graphicFrame>
        <p:nvGraphicFramePr>
          <p:cNvPr id="32" name="表格 31"/>
          <p:cNvGraphicFramePr>
            <a:graphicFrameLocks noGrp="1"/>
          </p:cNvGraphicFramePr>
          <p:nvPr>
            <p:extLst>
              <p:ext uri="{D42A27DB-BD31-4B8C-83A1-F6EECF244321}">
                <p14:modId xmlns:p14="http://schemas.microsoft.com/office/powerpoint/2010/main" val="4110901264"/>
              </p:ext>
            </p:extLst>
          </p:nvPr>
        </p:nvGraphicFramePr>
        <p:xfrm>
          <a:off x="4691639" y="4541855"/>
          <a:ext cx="3273040" cy="1112520"/>
        </p:xfrm>
        <a:graphic>
          <a:graphicData uri="http://schemas.openxmlformats.org/drawingml/2006/table">
            <a:tbl>
              <a:tblPr firstRow="1" bandRow="1">
                <a:tableStyleId>{5940675A-B579-460E-94D1-54222C63F5DA}</a:tableStyleId>
              </a:tblPr>
              <a:tblGrid>
                <a:gridCol w="818260">
                  <a:extLst>
                    <a:ext uri="{9D8B030D-6E8A-4147-A177-3AD203B41FA5}">
                      <a16:colId xmlns:a16="http://schemas.microsoft.com/office/drawing/2014/main" val="20000"/>
                    </a:ext>
                  </a:extLst>
                </a:gridCol>
                <a:gridCol w="818260">
                  <a:extLst>
                    <a:ext uri="{9D8B030D-6E8A-4147-A177-3AD203B41FA5}">
                      <a16:colId xmlns:a16="http://schemas.microsoft.com/office/drawing/2014/main" val="20001"/>
                    </a:ext>
                  </a:extLst>
                </a:gridCol>
                <a:gridCol w="818260">
                  <a:extLst>
                    <a:ext uri="{9D8B030D-6E8A-4147-A177-3AD203B41FA5}">
                      <a16:colId xmlns:a16="http://schemas.microsoft.com/office/drawing/2014/main" val="20002"/>
                    </a:ext>
                  </a:extLst>
                </a:gridCol>
                <a:gridCol w="818260">
                  <a:extLst>
                    <a:ext uri="{9D8B030D-6E8A-4147-A177-3AD203B41FA5}">
                      <a16:colId xmlns:a16="http://schemas.microsoft.com/office/drawing/2014/main" val="20003"/>
                    </a:ext>
                  </a:extLst>
                </a:gridCol>
              </a:tblGrid>
              <a:tr h="370840">
                <a:tc gridSpan="2">
                  <a:txBody>
                    <a:bodyPr/>
                    <a:lstStyle/>
                    <a:p>
                      <a:pPr algn="ctr"/>
                      <a:r>
                        <a:rPr lang="en-US" altLang="zh-CN" dirty="0"/>
                        <a:t>Dimension</a:t>
                      </a:r>
                      <a:endParaRPr lang="zh-CN" altLang="en-US" dirty="0"/>
                    </a:p>
                  </a:txBody>
                  <a:tcPr anchor="ctr"/>
                </a:tc>
                <a:tc hMerge="1">
                  <a:txBody>
                    <a:bodyPr/>
                    <a:lstStyle/>
                    <a:p>
                      <a:endParaRPr lang="zh-CN" altLang="en-US"/>
                    </a:p>
                  </a:txBody>
                  <a:tcPr/>
                </a:tc>
                <a:tc gridSpan="2">
                  <a:txBody>
                    <a:bodyPr/>
                    <a:lstStyle/>
                    <a:p>
                      <a:pPr algn="ctr"/>
                      <a:r>
                        <a:rPr lang="en-US" altLang="zh-CN" dirty="0"/>
                        <a:t>First </a:t>
                      </a:r>
                      <a:r>
                        <a:rPr lang="en-US" altLang="zh-CN" dirty="0" err="1"/>
                        <a:t>Addr</a:t>
                      </a: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0"/>
                  </a:ext>
                </a:extLst>
              </a:tr>
              <a:tr h="370840">
                <a:tc>
                  <a:txBody>
                    <a:bodyPr/>
                    <a:lstStyle/>
                    <a:p>
                      <a:pPr algn="ctr"/>
                      <a:r>
                        <a:rPr lang="en-US" altLang="zh-CN" dirty="0"/>
                        <a:t>Upper 1</a:t>
                      </a:r>
                      <a:endParaRPr lang="zh-CN" altLang="en-US" dirty="0"/>
                    </a:p>
                  </a:txBody>
                  <a:tcPr anchor="ctr"/>
                </a:tc>
                <a:tc>
                  <a:txBody>
                    <a:bodyPr/>
                    <a:lstStyle/>
                    <a:p>
                      <a:pPr algn="ctr"/>
                      <a:r>
                        <a:rPr lang="en-US" altLang="zh-CN" dirty="0"/>
                        <a:t>Upper</a:t>
                      </a:r>
                      <a:r>
                        <a:rPr lang="en-US" altLang="zh-CN" baseline="0" dirty="0"/>
                        <a:t> 2</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Upper</a:t>
                      </a:r>
                      <a:r>
                        <a:rPr lang="en-US" altLang="zh-CN" baseline="0" dirty="0"/>
                        <a:t> N</a:t>
                      </a:r>
                      <a:endParaRPr lang="zh-CN" altLang="en-US" dirty="0"/>
                    </a:p>
                  </a:txBody>
                  <a:tcPr anchor="ctr"/>
                </a:tc>
                <a:extLst>
                  <a:ext uri="{0D108BD9-81ED-4DB2-BD59-A6C34878D82A}">
                    <a16:rowId xmlns:a16="http://schemas.microsoft.com/office/drawing/2014/main" val="10001"/>
                  </a:ext>
                </a:extLst>
              </a:tr>
              <a:tr h="370840">
                <a:tc>
                  <a:txBody>
                    <a:bodyPr/>
                    <a:lstStyle/>
                    <a:p>
                      <a:pPr algn="ctr"/>
                      <a:r>
                        <a:rPr lang="en-US" altLang="zh-CN" dirty="0"/>
                        <a:t>Lower 1</a:t>
                      </a:r>
                      <a:endParaRPr lang="zh-CN" altLang="en-US" dirty="0"/>
                    </a:p>
                  </a:txBody>
                  <a:tcPr anchor="ctr"/>
                </a:tc>
                <a:tc>
                  <a:txBody>
                    <a:bodyPr/>
                    <a:lstStyle/>
                    <a:p>
                      <a:pPr algn="ctr"/>
                      <a:r>
                        <a:rPr lang="en-US" altLang="zh-CN" dirty="0"/>
                        <a:t>Lower 2</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Lower N</a:t>
                      </a:r>
                      <a:endParaRPr lang="zh-CN" altLang="en-US" dirty="0"/>
                    </a:p>
                  </a:txBody>
                  <a:tcPr anchor="ctr"/>
                </a:tc>
                <a:extLst>
                  <a:ext uri="{0D108BD9-81ED-4DB2-BD59-A6C34878D82A}">
                    <a16:rowId xmlns:a16="http://schemas.microsoft.com/office/drawing/2014/main" val="10002"/>
                  </a:ext>
                </a:extLst>
              </a:tr>
            </a:tbl>
          </a:graphicData>
        </a:graphic>
      </p:graphicFrame>
      <p:sp>
        <p:nvSpPr>
          <p:cNvPr id="34" name="文本框 33"/>
          <p:cNvSpPr txBox="1"/>
          <p:nvPr/>
        </p:nvSpPr>
        <p:spPr>
          <a:xfrm>
            <a:off x="3666146" y="1478423"/>
            <a:ext cx="1705916" cy="369332"/>
          </a:xfrm>
          <a:prstGeom prst="rect">
            <a:avLst/>
          </a:prstGeom>
          <a:noFill/>
        </p:spPr>
        <p:txBody>
          <a:bodyPr wrap="none" rtlCol="0">
            <a:spAutoFit/>
          </a:bodyPr>
          <a:lstStyle/>
          <a:p>
            <a:r>
              <a:rPr lang="en-US" altLang="zh-CN" b="1" dirty="0"/>
              <a:t>Symbol Table </a:t>
            </a:r>
            <a:endParaRPr lang="zh-CN" altLang="en-US" b="1" dirty="0"/>
          </a:p>
        </p:txBody>
      </p:sp>
      <p:cxnSp>
        <p:nvCxnSpPr>
          <p:cNvPr id="36" name="直接连接符 35"/>
          <p:cNvCxnSpPr/>
          <p:nvPr/>
        </p:nvCxnSpPr>
        <p:spPr>
          <a:xfrm flipH="1">
            <a:off x="6929212" y="3621994"/>
            <a:ext cx="955363" cy="747"/>
          </a:xfrm>
          <a:prstGeom prst="line">
            <a:avLst/>
          </a:prstGeom>
          <a:ln w="19050">
            <a:solidFill>
              <a:schemeClr val="accent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341264" y="4631821"/>
            <a:ext cx="358923" cy="0"/>
          </a:xfrm>
          <a:prstGeom prst="line">
            <a:avLst/>
          </a:prstGeom>
          <a:ln w="1905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7896314" y="3623417"/>
            <a:ext cx="8547" cy="52129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4349809" y="4153256"/>
            <a:ext cx="3546506" cy="0"/>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4349809" y="4144710"/>
            <a:ext cx="1" cy="495656"/>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5128667" y="4150188"/>
            <a:ext cx="2525050" cy="369332"/>
          </a:xfrm>
          <a:prstGeom prst="rect">
            <a:avLst/>
          </a:prstGeom>
        </p:spPr>
        <p:txBody>
          <a:bodyPr wrap="none">
            <a:spAutoFit/>
          </a:bodyPr>
          <a:lstStyle/>
          <a:p>
            <a:r>
              <a:rPr lang="zh-CN" altLang="en-US" b="1" dirty="0"/>
              <a:t>Insider Vector Table</a:t>
            </a:r>
          </a:p>
        </p:txBody>
      </p:sp>
    </p:spTree>
    <p:extLst>
      <p:ext uri="{BB962C8B-B14F-4D97-AF65-F5344CB8AC3E}">
        <p14:creationId xmlns:p14="http://schemas.microsoft.com/office/powerpoint/2010/main" val="102900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Symbol Table Per Scope</a:t>
            </a:r>
            <a:endParaRPr lang="zh-CN" altLang="en-US" dirty="0"/>
          </a:p>
        </p:txBody>
      </p:sp>
      <p:sp>
        <p:nvSpPr>
          <p:cNvPr id="3" name="内容占位符 2"/>
          <p:cNvSpPr>
            <a:spLocks noGrp="1"/>
          </p:cNvSpPr>
          <p:nvPr>
            <p:ph idx="1"/>
          </p:nvPr>
        </p:nvSpPr>
        <p:spPr>
          <a:xfrm>
            <a:off x="828675" y="1600201"/>
            <a:ext cx="7486650" cy="4689504"/>
          </a:xfrm>
        </p:spPr>
        <p:txBody>
          <a:bodyPr/>
          <a:lstStyle/>
          <a:p>
            <a:r>
              <a:rPr lang="en-US" altLang="zh-CN" dirty="0"/>
              <a:t>The term "scope of identifier </a:t>
            </a:r>
            <a:r>
              <a:rPr lang="en-US" altLang="zh-CN" i="1" dirty="0"/>
              <a:t>x</a:t>
            </a:r>
            <a:r>
              <a:rPr lang="en-US" altLang="zh-CN" dirty="0"/>
              <a:t>' really refers to the scope of a particular declaration of </a:t>
            </a:r>
            <a:r>
              <a:rPr lang="en-US" altLang="zh-CN" i="1" dirty="0"/>
              <a:t>x</a:t>
            </a:r>
            <a:r>
              <a:rPr lang="en-US" altLang="zh-CN" dirty="0"/>
              <a:t>. The term scope by itself refers to a portion of a program that is the scope of one or more declarations.</a:t>
            </a:r>
          </a:p>
          <a:p>
            <a:r>
              <a:rPr lang="en-US" altLang="zh-CN" dirty="0"/>
              <a:t>Scopes are important, because the same identifier can be declared for different purposes in different parts of a program. Common names like </a:t>
            </a:r>
            <a:r>
              <a:rPr lang="en-US" altLang="zh-CN" i="1" dirty="0" err="1"/>
              <a:t>i</a:t>
            </a:r>
            <a:r>
              <a:rPr lang="en-US" altLang="zh-CN" dirty="0"/>
              <a:t> and </a:t>
            </a:r>
            <a:r>
              <a:rPr lang="en-US" altLang="zh-CN" i="1" dirty="0"/>
              <a:t>x </a:t>
            </a:r>
            <a:r>
              <a:rPr lang="en-US" altLang="zh-CN" dirty="0"/>
              <a:t>often have multiple uses. As another example, subclasses can </a:t>
            </a:r>
            <a:r>
              <a:rPr lang="en-US" altLang="zh-CN" dirty="0" err="1"/>
              <a:t>redeclare</a:t>
            </a:r>
            <a:r>
              <a:rPr lang="en-US" altLang="zh-CN" dirty="0"/>
              <a:t> a method name to override a method in a superclass.</a:t>
            </a:r>
          </a:p>
          <a:p>
            <a:r>
              <a:rPr lang="en-US" altLang="zh-CN" dirty="0"/>
              <a:t>If blocks can be nested, several declarations of the same identifier can appear within a single block. The following syntax results in nested blocks when </a:t>
            </a:r>
            <a:r>
              <a:rPr lang="en-US" altLang="zh-CN" i="1" dirty="0" err="1"/>
              <a:t>stmts</a:t>
            </a:r>
            <a:r>
              <a:rPr lang="en-US" altLang="zh-CN" dirty="0"/>
              <a:t> can generate a block:</a:t>
            </a:r>
          </a:p>
          <a:p>
            <a:endParaRPr lang="en-US" altLang="zh-CN" dirty="0"/>
          </a:p>
          <a:p>
            <a:r>
              <a:rPr lang="en-US" altLang="zh-CN" dirty="0"/>
              <a:t>The </a:t>
            </a:r>
            <a:r>
              <a:rPr lang="en-US" altLang="zh-CN" b="1" i="1" dirty="0">
                <a:solidFill>
                  <a:srgbClr val="7030A0"/>
                </a:solidFill>
              </a:rPr>
              <a:t>most- closely nested </a:t>
            </a:r>
            <a:r>
              <a:rPr lang="en-US" altLang="zh-CN" dirty="0"/>
              <a:t>rule for blocks is that an identifier </a:t>
            </a:r>
            <a:r>
              <a:rPr lang="en-US" altLang="zh-CN" i="1" dirty="0"/>
              <a:t>x</a:t>
            </a:r>
            <a:r>
              <a:rPr lang="en-US" altLang="zh-CN" dirty="0"/>
              <a:t> is in the scope of the most-closely nested declaration of </a:t>
            </a:r>
            <a:r>
              <a:rPr lang="en-US" altLang="zh-CN" i="1" dirty="0"/>
              <a:t>x</a:t>
            </a:r>
            <a:r>
              <a:rPr lang="en-US" altLang="zh-CN" dirty="0"/>
              <a:t>; that is, the declaration of </a:t>
            </a:r>
            <a:r>
              <a:rPr lang="en-US" altLang="zh-CN" i="1" dirty="0"/>
              <a:t>x</a:t>
            </a:r>
            <a:r>
              <a:rPr lang="en-US" altLang="zh-CN" dirty="0"/>
              <a:t> found by examining blocks inside-out, starting with the block in which </a:t>
            </a:r>
            <a:r>
              <a:rPr lang="en-US" altLang="zh-CN" i="1" dirty="0"/>
              <a:t>x</a:t>
            </a:r>
            <a:r>
              <a:rPr lang="en-US" altLang="zh-CN" dirty="0"/>
              <a:t> appears.</a:t>
            </a:r>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3035937" y="4120541"/>
            <a:ext cx="3134086" cy="468551"/>
          </a:xfrm>
          <a:prstGeom prst="rect">
            <a:avLst/>
          </a:prstGeom>
        </p:spPr>
      </p:pic>
    </p:spTree>
    <p:extLst>
      <p:ext uri="{BB962C8B-B14F-4D97-AF65-F5344CB8AC3E}">
        <p14:creationId xmlns:p14="http://schemas.microsoft.com/office/powerpoint/2010/main" val="97757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Symbol Table Per Scope</a:t>
            </a:r>
            <a:endParaRPr lang="zh-CN" altLang="en-US" dirty="0"/>
          </a:p>
        </p:txBody>
      </p:sp>
      <p:pic>
        <p:nvPicPr>
          <p:cNvPr id="5" name="图片 4"/>
          <p:cNvPicPr>
            <a:picLocks noChangeAspect="1"/>
          </p:cNvPicPr>
          <p:nvPr/>
        </p:nvPicPr>
        <p:blipFill>
          <a:blip r:embed="rId2"/>
          <a:stretch>
            <a:fillRect/>
          </a:stretch>
        </p:blipFill>
        <p:spPr>
          <a:xfrm>
            <a:off x="0" y="1505663"/>
            <a:ext cx="9144000" cy="4735435"/>
          </a:xfrm>
          <a:prstGeom prst="rect">
            <a:avLst/>
          </a:prstGeom>
        </p:spPr>
      </p:pic>
    </p:spTree>
    <p:extLst>
      <p:ext uri="{BB962C8B-B14F-4D97-AF65-F5344CB8AC3E}">
        <p14:creationId xmlns:p14="http://schemas.microsoft.com/office/powerpoint/2010/main" val="2120883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Symbol Table Per Scope-Implementation</a:t>
            </a:r>
            <a:endParaRPr lang="zh-CN" altLang="en-US" dirty="0"/>
          </a:p>
        </p:txBody>
      </p:sp>
      <p:pic>
        <p:nvPicPr>
          <p:cNvPr id="4" name="图片 3"/>
          <p:cNvPicPr>
            <a:picLocks noChangeAspect="1"/>
          </p:cNvPicPr>
          <p:nvPr/>
        </p:nvPicPr>
        <p:blipFill>
          <a:blip r:embed="rId2"/>
          <a:stretch>
            <a:fillRect/>
          </a:stretch>
        </p:blipFill>
        <p:spPr>
          <a:xfrm>
            <a:off x="419100" y="1485835"/>
            <a:ext cx="5545865" cy="5040213"/>
          </a:xfrm>
          <a:prstGeom prst="rect">
            <a:avLst/>
          </a:prstGeom>
        </p:spPr>
      </p:pic>
      <p:cxnSp>
        <p:nvCxnSpPr>
          <p:cNvPr id="6" name="直接箭头连接符 5"/>
          <p:cNvCxnSpPr/>
          <p:nvPr/>
        </p:nvCxnSpPr>
        <p:spPr>
          <a:xfrm>
            <a:off x="3315768" y="2862841"/>
            <a:ext cx="2777383" cy="854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178611" y="2623560"/>
            <a:ext cx="2597920"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Create a new symbol table.</a:t>
            </a:r>
            <a:endParaRPr lang="zh-CN" altLang="en-US" dirty="0">
              <a:latin typeface="微软雅黑" panose="020B0503020204020204" pitchFamily="34" charset="-122"/>
              <a:ea typeface="微软雅黑" panose="020B0503020204020204" pitchFamily="34" charset="-122"/>
            </a:endParaRPr>
          </a:p>
        </p:txBody>
      </p:sp>
      <p:cxnSp>
        <p:nvCxnSpPr>
          <p:cNvPr id="9" name="直接箭头连接符 8"/>
          <p:cNvCxnSpPr/>
          <p:nvPr/>
        </p:nvCxnSpPr>
        <p:spPr>
          <a:xfrm>
            <a:off x="5194418" y="3647629"/>
            <a:ext cx="1009828" cy="9971"/>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262645" y="3451078"/>
            <a:ext cx="2597920"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Put a new entry in the current table.</a:t>
            </a:r>
            <a:endParaRPr lang="zh-CN" altLang="en-US" dirty="0">
              <a:latin typeface="微软雅黑" panose="020B0503020204020204" pitchFamily="34" charset="-122"/>
              <a:ea typeface="微软雅黑" panose="020B0503020204020204" pitchFamily="34" charset="-122"/>
            </a:endParaRPr>
          </a:p>
        </p:txBody>
      </p:sp>
      <p:cxnSp>
        <p:nvCxnSpPr>
          <p:cNvPr id="12" name="直接箭头连接符 11"/>
          <p:cNvCxnSpPr/>
          <p:nvPr/>
        </p:nvCxnSpPr>
        <p:spPr>
          <a:xfrm>
            <a:off x="4201682" y="4449510"/>
            <a:ext cx="1994019" cy="11395"/>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235583" y="4287142"/>
            <a:ext cx="2597920" cy="1754326"/>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Get an entry for an identifier by searching the chain of tables, starting</a:t>
            </a:r>
          </a:p>
          <a:p>
            <a:r>
              <a:rPr lang="en-US" altLang="zh-CN" dirty="0">
                <a:latin typeface="微软雅黑" panose="020B0503020204020204" pitchFamily="34" charset="-122"/>
                <a:ea typeface="微软雅黑" panose="020B0503020204020204" pitchFamily="34" charset="-122"/>
              </a:rPr>
              <a:t>with the table for the current block.</a:t>
            </a:r>
            <a:endParaRPr lang="zh-CN" altLang="en-US" dirty="0">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2119357" y="4760007"/>
            <a:ext cx="3409772" cy="0"/>
          </a:xfrm>
          <a:prstGeom prst="line">
            <a:avLst/>
          </a:prstGeom>
          <a:ln>
            <a:solidFill>
              <a:srgbClr val="FF0000"/>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83568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Storage Organization</a:t>
            </a:r>
            <a:endParaRPr lang="zh-CN" altLang="en-US" dirty="0"/>
          </a:p>
        </p:txBody>
      </p:sp>
      <p:sp>
        <p:nvSpPr>
          <p:cNvPr id="3" name="内容占位符 2"/>
          <p:cNvSpPr>
            <a:spLocks noGrp="1"/>
          </p:cNvSpPr>
          <p:nvPr>
            <p:ph idx="1"/>
          </p:nvPr>
        </p:nvSpPr>
        <p:spPr/>
        <p:txBody>
          <a:bodyPr>
            <a:normAutofit/>
          </a:bodyPr>
          <a:lstStyle/>
          <a:p>
            <a:pPr marL="342900" lvl="0" indent="-342900" defTabSz="914400" fontAlgn="base">
              <a:lnSpc>
                <a:spcPct val="100000"/>
              </a:lnSpc>
              <a:spcBef>
                <a:spcPct val="20000"/>
              </a:spcBef>
              <a:spcAft>
                <a:spcPct val="0"/>
              </a:spcAft>
              <a:buFontTx/>
              <a:buChar char="•"/>
              <a:tabLst>
                <a:tab pos="365125" algn="l"/>
              </a:tabLst>
            </a:pPr>
            <a:r>
              <a:rPr lang="en-US" altLang="zh-CN" sz="2200" b="1" dirty="0">
                <a:solidFill>
                  <a:srgbClr val="000000"/>
                </a:solidFill>
              </a:rPr>
              <a:t>Runtime Environment</a:t>
            </a:r>
            <a:endParaRPr lang="en-US" altLang="zh-CN" sz="2200" dirty="0">
              <a:solidFill>
                <a:srgbClr val="000000"/>
              </a:solidFill>
            </a:endParaRPr>
          </a:p>
          <a:p>
            <a:pPr marL="522288" lvl="1" indent="11113" defTabSz="914400" fontAlgn="base">
              <a:lnSpc>
                <a:spcPct val="100000"/>
              </a:lnSpc>
              <a:spcBef>
                <a:spcPct val="20000"/>
              </a:spcBef>
              <a:spcAft>
                <a:spcPct val="0"/>
              </a:spcAft>
              <a:buNone/>
              <a:tabLst>
                <a:tab pos="365125" algn="l"/>
              </a:tabLst>
            </a:pPr>
            <a:r>
              <a:rPr lang="en-US" altLang="zh-CN" sz="2200" dirty="0">
                <a:solidFill>
                  <a:srgbClr val="000000"/>
                </a:solidFill>
              </a:rPr>
              <a:t>The structure of the target computer’s </a:t>
            </a:r>
            <a:r>
              <a:rPr lang="en-US" altLang="zh-CN" sz="2200" b="1" dirty="0">
                <a:solidFill>
                  <a:srgbClr val="000000"/>
                </a:solidFill>
              </a:rPr>
              <a:t>registers and memory</a:t>
            </a:r>
            <a:r>
              <a:rPr lang="en-US" altLang="zh-CN" sz="2200" dirty="0">
                <a:solidFill>
                  <a:srgbClr val="000000"/>
                </a:solidFill>
              </a:rPr>
              <a:t> that serves to manage memory and maintain the information needed </a:t>
            </a:r>
            <a:r>
              <a:rPr lang="en-US" altLang="zh-CN" sz="2200" b="1" dirty="0">
                <a:solidFill>
                  <a:srgbClr val="000000"/>
                </a:solidFill>
              </a:rPr>
              <a:t>to guide the execution process</a:t>
            </a:r>
          </a:p>
          <a:p>
            <a:pPr marL="522288" lvl="1" indent="11113" defTabSz="914400" fontAlgn="base">
              <a:lnSpc>
                <a:spcPct val="100000"/>
              </a:lnSpc>
              <a:spcBef>
                <a:spcPct val="20000"/>
              </a:spcBef>
              <a:spcAft>
                <a:spcPct val="0"/>
              </a:spcAft>
              <a:buNone/>
              <a:tabLst>
                <a:tab pos="365125" algn="l"/>
              </a:tabLst>
            </a:pPr>
            <a:endParaRPr lang="en-US" altLang="zh-CN" sz="2200" b="1" dirty="0">
              <a:solidFill>
                <a:srgbClr val="000000"/>
              </a:solidFill>
            </a:endParaRPr>
          </a:p>
          <a:p>
            <a:pPr marL="342900" lvl="0" indent="-342900" defTabSz="914400" fontAlgn="base">
              <a:lnSpc>
                <a:spcPct val="100000"/>
              </a:lnSpc>
              <a:spcBef>
                <a:spcPct val="20000"/>
              </a:spcBef>
              <a:spcAft>
                <a:spcPct val="0"/>
              </a:spcAft>
              <a:buFontTx/>
              <a:buChar char="•"/>
              <a:tabLst>
                <a:tab pos="365125" algn="l"/>
              </a:tabLst>
            </a:pPr>
            <a:r>
              <a:rPr lang="en-US" altLang="zh-CN" sz="2200" b="1" dirty="0">
                <a:solidFill>
                  <a:srgbClr val="000000"/>
                </a:solidFill>
              </a:rPr>
              <a:t>Three kinds of runtime environments</a:t>
            </a:r>
            <a:endParaRPr lang="en-US" altLang="zh-CN" sz="2200" dirty="0">
              <a:solidFill>
                <a:srgbClr val="000000"/>
              </a:solidFill>
            </a:endParaRPr>
          </a:p>
          <a:p>
            <a:pPr marL="522288" lvl="1" indent="11113" defTabSz="914400" fontAlgn="base">
              <a:lnSpc>
                <a:spcPct val="100000"/>
              </a:lnSpc>
              <a:spcBef>
                <a:spcPct val="20000"/>
              </a:spcBef>
              <a:spcAft>
                <a:spcPct val="0"/>
              </a:spcAft>
              <a:buNone/>
              <a:tabLst>
                <a:tab pos="365125" algn="l"/>
              </a:tabLst>
            </a:pPr>
            <a:r>
              <a:rPr lang="en-US" altLang="zh-CN" sz="2200" dirty="0">
                <a:solidFill>
                  <a:srgbClr val="000000"/>
                </a:solidFill>
              </a:rPr>
              <a:t>(1) </a:t>
            </a:r>
            <a:r>
              <a:rPr lang="en-US" altLang="zh-CN" sz="2200" b="1" dirty="0">
                <a:solidFill>
                  <a:srgbClr val="000000"/>
                </a:solidFill>
              </a:rPr>
              <a:t>Fully static</a:t>
            </a:r>
            <a:r>
              <a:rPr lang="en-US" altLang="zh-CN" sz="2200" dirty="0">
                <a:solidFill>
                  <a:srgbClr val="000000"/>
                </a:solidFill>
              </a:rPr>
              <a:t> environment; FORTRAN77</a:t>
            </a:r>
          </a:p>
          <a:p>
            <a:pPr marL="522288" lvl="1" indent="11113" defTabSz="914400" fontAlgn="base">
              <a:lnSpc>
                <a:spcPct val="100000"/>
              </a:lnSpc>
              <a:spcBef>
                <a:spcPct val="20000"/>
              </a:spcBef>
              <a:spcAft>
                <a:spcPct val="0"/>
              </a:spcAft>
              <a:buNone/>
              <a:tabLst>
                <a:tab pos="365125" algn="l"/>
              </a:tabLst>
            </a:pPr>
            <a:r>
              <a:rPr lang="en-US" altLang="zh-CN" sz="2200" dirty="0">
                <a:solidFill>
                  <a:srgbClr val="000000"/>
                </a:solidFill>
              </a:rPr>
              <a:t>(2) </a:t>
            </a:r>
            <a:r>
              <a:rPr lang="en-US" altLang="zh-CN" sz="2200" b="1" dirty="0">
                <a:solidFill>
                  <a:srgbClr val="000000"/>
                </a:solidFill>
              </a:rPr>
              <a:t>Stack-Based</a:t>
            </a:r>
            <a:r>
              <a:rPr lang="en-US" altLang="zh-CN" sz="2200" dirty="0">
                <a:solidFill>
                  <a:srgbClr val="000000"/>
                </a:solidFill>
              </a:rPr>
              <a:t> environment;	C </a:t>
            </a:r>
            <a:r>
              <a:rPr lang="en-US" altLang="zh-CN" sz="2200" dirty="0" err="1">
                <a:solidFill>
                  <a:srgbClr val="000000"/>
                </a:solidFill>
              </a:rPr>
              <a:t>C</a:t>
            </a:r>
            <a:r>
              <a:rPr lang="en-US" altLang="zh-CN" sz="2200" dirty="0">
                <a:solidFill>
                  <a:srgbClr val="000000"/>
                </a:solidFill>
              </a:rPr>
              <a:t>++</a:t>
            </a:r>
          </a:p>
          <a:p>
            <a:pPr marL="522288" lvl="1" indent="11113" defTabSz="914400" fontAlgn="base">
              <a:lnSpc>
                <a:spcPct val="100000"/>
              </a:lnSpc>
              <a:spcBef>
                <a:spcPct val="20000"/>
              </a:spcBef>
              <a:spcAft>
                <a:spcPct val="0"/>
              </a:spcAft>
              <a:buNone/>
              <a:tabLst>
                <a:tab pos="365125" algn="l"/>
              </a:tabLst>
            </a:pPr>
            <a:r>
              <a:rPr lang="en-US" altLang="zh-CN" sz="2200" dirty="0">
                <a:solidFill>
                  <a:srgbClr val="000000"/>
                </a:solidFill>
              </a:rPr>
              <a:t>(3) </a:t>
            </a:r>
            <a:r>
              <a:rPr lang="en-US" altLang="zh-CN" sz="2200" b="1" dirty="0">
                <a:solidFill>
                  <a:srgbClr val="000000"/>
                </a:solidFill>
              </a:rPr>
              <a:t>Fully dynamic</a:t>
            </a:r>
            <a:r>
              <a:rPr lang="en-US" altLang="zh-CN" sz="2200" dirty="0">
                <a:solidFill>
                  <a:srgbClr val="000000"/>
                </a:solidFill>
              </a:rPr>
              <a:t> environment; LISP</a:t>
            </a:r>
            <a:endParaRPr lang="zh-CN" altLang="en-US" sz="2200" dirty="0">
              <a:solidFill>
                <a:srgbClr val="000000"/>
              </a:solidFill>
            </a:endParaRPr>
          </a:p>
          <a:p>
            <a:endParaRPr lang="zh-CN" altLang="en-US" dirty="0"/>
          </a:p>
        </p:txBody>
      </p:sp>
    </p:spTree>
    <p:extLst>
      <p:ext uri="{BB962C8B-B14F-4D97-AF65-F5344CB8AC3E}">
        <p14:creationId xmlns:p14="http://schemas.microsoft.com/office/powerpoint/2010/main" val="469567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Storage Organization</a:t>
            </a:r>
            <a:endParaRPr lang="zh-CN" altLang="en-US" dirty="0"/>
          </a:p>
        </p:txBody>
      </p:sp>
      <p:sp>
        <p:nvSpPr>
          <p:cNvPr id="3" name="内容占位符 2"/>
          <p:cNvSpPr>
            <a:spLocks noGrp="1"/>
          </p:cNvSpPr>
          <p:nvPr>
            <p:ph idx="1"/>
          </p:nvPr>
        </p:nvSpPr>
        <p:spPr/>
        <p:txBody>
          <a:bodyPr>
            <a:normAutofit fontScale="92500" lnSpcReduction="10000"/>
          </a:bodyPr>
          <a:lstStyle/>
          <a:p>
            <a:pPr marL="342900" lvl="0" indent="-342900" defTabSz="914400" fontAlgn="base">
              <a:lnSpc>
                <a:spcPct val="80000"/>
              </a:lnSpc>
              <a:spcBef>
                <a:spcPct val="20000"/>
              </a:spcBef>
              <a:spcAft>
                <a:spcPct val="0"/>
              </a:spcAft>
              <a:buFontTx/>
              <a:buChar char="•"/>
            </a:pPr>
            <a:r>
              <a:rPr lang="en-US" altLang="zh-CN" sz="2800" dirty="0">
                <a:solidFill>
                  <a:srgbClr val="000000"/>
                </a:solidFill>
                <a:latin typeface="Times New Roman"/>
                <a:ea typeface="宋体"/>
              </a:rPr>
              <a:t>Main issues will be discussed in more detail in the chapter: </a:t>
            </a:r>
          </a:p>
          <a:p>
            <a:pPr marL="742950" lvl="1" indent="-285750" defTabSz="914400" fontAlgn="base">
              <a:lnSpc>
                <a:spcPct val="80000"/>
              </a:lnSpc>
              <a:spcBef>
                <a:spcPct val="20000"/>
              </a:spcBef>
              <a:spcAft>
                <a:spcPct val="0"/>
              </a:spcAft>
              <a:buFontTx/>
              <a:buChar char="–"/>
            </a:pPr>
            <a:r>
              <a:rPr lang="en-US" altLang="zh-CN" sz="2400" dirty="0">
                <a:solidFill>
                  <a:srgbClr val="000000"/>
                </a:solidFill>
                <a:latin typeface="Times New Roman"/>
                <a:ea typeface="宋体"/>
              </a:rPr>
              <a:t>For each environment, the language features and their properties</a:t>
            </a:r>
          </a:p>
          <a:p>
            <a:pPr marL="742950" lvl="1" indent="-285750" defTabSz="914400" fontAlgn="base">
              <a:lnSpc>
                <a:spcPct val="80000"/>
              </a:lnSpc>
              <a:spcBef>
                <a:spcPct val="20000"/>
              </a:spcBef>
              <a:spcAft>
                <a:spcPct val="0"/>
              </a:spcAft>
              <a:buNone/>
            </a:pPr>
            <a:r>
              <a:rPr lang="en-US" altLang="zh-CN" sz="2400" dirty="0">
                <a:solidFill>
                  <a:srgbClr val="000000"/>
                </a:solidFill>
                <a:latin typeface="Times New Roman"/>
                <a:ea typeface="宋体"/>
              </a:rPr>
              <a:t>	(1) </a:t>
            </a:r>
            <a:r>
              <a:rPr lang="en-US" altLang="zh-CN" sz="2400" b="1" dirty="0">
                <a:solidFill>
                  <a:srgbClr val="000000"/>
                </a:solidFill>
                <a:latin typeface="Times New Roman"/>
                <a:ea typeface="宋体"/>
              </a:rPr>
              <a:t>Scoping and allocation</a:t>
            </a:r>
            <a:r>
              <a:rPr lang="en-US" altLang="zh-CN" sz="2400" dirty="0">
                <a:solidFill>
                  <a:srgbClr val="000000"/>
                </a:solidFill>
                <a:latin typeface="Times New Roman"/>
                <a:ea typeface="宋体"/>
              </a:rPr>
              <a:t> issues;</a:t>
            </a:r>
          </a:p>
          <a:p>
            <a:pPr marL="742950" lvl="1" indent="-285750" defTabSz="914400" fontAlgn="base">
              <a:lnSpc>
                <a:spcPct val="80000"/>
              </a:lnSpc>
              <a:spcBef>
                <a:spcPct val="20000"/>
              </a:spcBef>
              <a:spcAft>
                <a:spcPct val="0"/>
              </a:spcAft>
              <a:buNone/>
            </a:pPr>
            <a:r>
              <a:rPr lang="en-US" altLang="zh-CN" sz="2400" dirty="0">
                <a:solidFill>
                  <a:srgbClr val="000000"/>
                </a:solidFill>
                <a:latin typeface="Times New Roman"/>
                <a:ea typeface="宋体"/>
              </a:rPr>
              <a:t>	(2) Nature of </a:t>
            </a:r>
            <a:r>
              <a:rPr lang="en-US" altLang="zh-CN" sz="2400" b="1" dirty="0">
                <a:solidFill>
                  <a:srgbClr val="000000"/>
                </a:solidFill>
                <a:latin typeface="Times New Roman"/>
                <a:ea typeface="宋体"/>
              </a:rPr>
              <a:t>procedure calls</a:t>
            </a:r>
            <a:r>
              <a:rPr lang="en-US" altLang="zh-CN" sz="2400" dirty="0">
                <a:solidFill>
                  <a:srgbClr val="000000"/>
                </a:solidFill>
                <a:latin typeface="Times New Roman"/>
                <a:ea typeface="宋体"/>
              </a:rPr>
              <a:t>;</a:t>
            </a:r>
          </a:p>
          <a:p>
            <a:pPr marL="742950" lvl="1" indent="-285750" defTabSz="914400" fontAlgn="base">
              <a:lnSpc>
                <a:spcPct val="80000"/>
              </a:lnSpc>
              <a:spcBef>
                <a:spcPct val="20000"/>
              </a:spcBef>
              <a:spcAft>
                <a:spcPct val="0"/>
              </a:spcAft>
              <a:buNone/>
            </a:pPr>
            <a:r>
              <a:rPr lang="en-US" altLang="zh-CN" sz="2400" dirty="0">
                <a:solidFill>
                  <a:srgbClr val="000000"/>
                </a:solidFill>
                <a:latin typeface="Times New Roman"/>
                <a:ea typeface="宋体"/>
              </a:rPr>
              <a:t>	(3) </a:t>
            </a:r>
            <a:r>
              <a:rPr lang="en-US" altLang="zh-CN" sz="2400" b="1" dirty="0">
                <a:solidFill>
                  <a:srgbClr val="000000"/>
                </a:solidFill>
                <a:latin typeface="Times New Roman"/>
                <a:ea typeface="宋体"/>
              </a:rPr>
              <a:t>Parameter passing</a:t>
            </a:r>
            <a:r>
              <a:rPr lang="en-US" altLang="zh-CN" sz="2400" dirty="0">
                <a:solidFill>
                  <a:srgbClr val="000000"/>
                </a:solidFill>
                <a:latin typeface="Times New Roman"/>
                <a:ea typeface="宋体"/>
              </a:rPr>
              <a:t> mechanisms</a:t>
            </a:r>
          </a:p>
          <a:p>
            <a:pPr marL="342900" lvl="0" indent="-342900" defTabSz="914400" fontAlgn="base">
              <a:lnSpc>
                <a:spcPct val="80000"/>
              </a:lnSpc>
              <a:spcBef>
                <a:spcPct val="20000"/>
              </a:spcBef>
              <a:spcAft>
                <a:spcPct val="0"/>
              </a:spcAft>
              <a:buFontTx/>
              <a:buChar char="•"/>
            </a:pPr>
            <a:r>
              <a:rPr lang="en-US" altLang="zh-CN" sz="2800" dirty="0">
                <a:solidFill>
                  <a:srgbClr val="000000"/>
                </a:solidFill>
                <a:latin typeface="Times New Roman"/>
                <a:ea typeface="宋体"/>
              </a:rPr>
              <a:t>Focus on the general structure of the environment</a:t>
            </a:r>
          </a:p>
          <a:p>
            <a:pPr marL="342900" lvl="0" indent="-342900" defTabSz="914400" fontAlgn="base">
              <a:lnSpc>
                <a:spcPct val="80000"/>
              </a:lnSpc>
              <a:spcBef>
                <a:spcPct val="20000"/>
              </a:spcBef>
              <a:spcAft>
                <a:spcPct val="0"/>
              </a:spcAft>
              <a:buFontTx/>
              <a:buChar char="•"/>
            </a:pPr>
            <a:endParaRPr lang="en-US" altLang="zh-CN" sz="2800" b="1" dirty="0">
              <a:solidFill>
                <a:srgbClr val="000000"/>
              </a:solidFill>
              <a:latin typeface="Times New Roman"/>
              <a:ea typeface="宋体"/>
            </a:endParaRPr>
          </a:p>
          <a:p>
            <a:pPr marL="342900" lvl="0" indent="-342900" defTabSz="914400" fontAlgn="base">
              <a:lnSpc>
                <a:spcPct val="80000"/>
              </a:lnSpc>
              <a:spcBef>
                <a:spcPct val="20000"/>
              </a:spcBef>
              <a:spcAft>
                <a:spcPct val="0"/>
              </a:spcAft>
              <a:buFontTx/>
              <a:buChar char="•"/>
            </a:pPr>
            <a:r>
              <a:rPr lang="en-US" altLang="zh-CN" sz="2800" b="1" dirty="0">
                <a:solidFill>
                  <a:srgbClr val="000000"/>
                </a:solidFill>
                <a:latin typeface="Times New Roman"/>
                <a:ea typeface="宋体"/>
              </a:rPr>
              <a:t>Note:</a:t>
            </a:r>
            <a:r>
              <a:rPr lang="en-US" altLang="zh-CN" sz="2800" dirty="0">
                <a:solidFill>
                  <a:srgbClr val="000000"/>
                </a:solidFill>
                <a:latin typeface="Times New Roman"/>
                <a:ea typeface="宋体"/>
              </a:rPr>
              <a:t> </a:t>
            </a:r>
          </a:p>
          <a:p>
            <a:pPr marL="742950" lvl="1" indent="-285750" defTabSz="914400" fontAlgn="base">
              <a:lnSpc>
                <a:spcPct val="80000"/>
              </a:lnSpc>
              <a:spcBef>
                <a:spcPct val="20000"/>
              </a:spcBef>
              <a:spcAft>
                <a:spcPct val="0"/>
              </a:spcAft>
              <a:buFontTx/>
              <a:buChar char="–"/>
            </a:pPr>
            <a:r>
              <a:rPr lang="en-US" altLang="zh-CN" sz="2400" dirty="0">
                <a:solidFill>
                  <a:srgbClr val="000000"/>
                </a:solidFill>
                <a:latin typeface="Times New Roman"/>
                <a:ea typeface="宋体"/>
              </a:rPr>
              <a:t>The compiler can only maintain an environment only indirectly</a:t>
            </a:r>
          </a:p>
          <a:p>
            <a:pPr marL="742950" lvl="1" indent="-285750" defTabSz="914400" fontAlgn="base">
              <a:lnSpc>
                <a:spcPct val="80000"/>
              </a:lnSpc>
              <a:spcBef>
                <a:spcPct val="20000"/>
              </a:spcBef>
              <a:spcAft>
                <a:spcPct val="0"/>
              </a:spcAft>
              <a:buFontTx/>
              <a:buChar char="–"/>
            </a:pPr>
            <a:r>
              <a:rPr lang="en-US" altLang="zh-CN" sz="2400" dirty="0">
                <a:solidFill>
                  <a:srgbClr val="000000"/>
                </a:solidFill>
                <a:latin typeface="Times New Roman"/>
                <a:ea typeface="宋体"/>
              </a:rPr>
              <a:t>It must generate code to perform the necessary maintenance operations during program execution.</a:t>
            </a:r>
            <a:endParaRPr lang="zh-CN" altLang="en-US" sz="2400" dirty="0">
              <a:solidFill>
                <a:srgbClr val="000000"/>
              </a:solidFill>
              <a:latin typeface="Times New Roman"/>
              <a:ea typeface="宋体"/>
            </a:endParaRPr>
          </a:p>
          <a:p>
            <a:endParaRPr lang="zh-CN" altLang="en-US" dirty="0"/>
          </a:p>
        </p:txBody>
      </p:sp>
    </p:spTree>
    <p:extLst>
      <p:ext uri="{BB962C8B-B14F-4D97-AF65-F5344CB8AC3E}">
        <p14:creationId xmlns:p14="http://schemas.microsoft.com/office/powerpoint/2010/main" val="219998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Storage Organization</a:t>
            </a:r>
            <a:endParaRPr lang="zh-CN" altLang="en-US" dirty="0"/>
          </a:p>
        </p:txBody>
      </p:sp>
      <p:pic>
        <p:nvPicPr>
          <p:cNvPr id="4" name="图片 3"/>
          <p:cNvPicPr>
            <a:picLocks noChangeAspect="1"/>
          </p:cNvPicPr>
          <p:nvPr/>
        </p:nvPicPr>
        <p:blipFill>
          <a:blip r:embed="rId2"/>
          <a:stretch>
            <a:fillRect/>
          </a:stretch>
        </p:blipFill>
        <p:spPr>
          <a:xfrm>
            <a:off x="883831" y="1732752"/>
            <a:ext cx="7514364" cy="4351853"/>
          </a:xfrm>
          <a:prstGeom prst="rect">
            <a:avLst/>
          </a:prstGeom>
        </p:spPr>
      </p:pic>
    </p:spTree>
    <p:extLst>
      <p:ext uri="{BB962C8B-B14F-4D97-AF65-F5344CB8AC3E}">
        <p14:creationId xmlns:p14="http://schemas.microsoft.com/office/powerpoint/2010/main" val="179670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Storage Organization</a:t>
            </a:r>
            <a:endParaRPr lang="zh-CN" altLang="en-US" dirty="0"/>
          </a:p>
        </p:txBody>
      </p:sp>
      <p:sp>
        <p:nvSpPr>
          <p:cNvPr id="4" name="矩形 3"/>
          <p:cNvSpPr/>
          <p:nvPr/>
        </p:nvSpPr>
        <p:spPr>
          <a:xfrm>
            <a:off x="299102" y="1386139"/>
            <a:ext cx="8691073" cy="5312223"/>
          </a:xfrm>
          <a:prstGeom prst="rect">
            <a:avLst/>
          </a:prstGeom>
        </p:spPr>
        <p:txBody>
          <a:bodyPr wrap="square">
            <a:spAutoFit/>
          </a:bodyPr>
          <a:lstStyle/>
          <a:p>
            <a:pPr marL="342900" lvl="0" indent="-342900" fontAlgn="base">
              <a:lnSpc>
                <a:spcPct val="90000"/>
              </a:lnSpc>
              <a:spcBef>
                <a:spcPct val="20000"/>
              </a:spcBef>
              <a:spcAft>
                <a:spcPct val="0"/>
              </a:spcAft>
              <a:buFontTx/>
              <a:buChar char="•"/>
            </a:pPr>
            <a:r>
              <a:rPr lang="en-US" altLang="zh-CN" sz="2800" dirty="0">
                <a:solidFill>
                  <a:srgbClr val="000000"/>
                </a:solidFill>
                <a:latin typeface="Times New Roman"/>
                <a:ea typeface="宋体"/>
              </a:rPr>
              <a:t>The global and/or static data of a program can be </a:t>
            </a:r>
            <a:r>
              <a:rPr lang="en-US" altLang="zh-CN" sz="2800" b="1" dirty="0">
                <a:solidFill>
                  <a:srgbClr val="000000"/>
                </a:solidFill>
                <a:latin typeface="Times New Roman"/>
                <a:ea typeface="宋体"/>
              </a:rPr>
              <a:t>fixed in memory prior to execution</a:t>
            </a:r>
            <a:endParaRPr lang="en-US" altLang="zh-CN" sz="2800" dirty="0">
              <a:solidFill>
                <a:srgbClr val="000000"/>
              </a:solidFill>
              <a:latin typeface="Times New Roman"/>
              <a:ea typeface="宋体"/>
            </a:endParaRPr>
          </a:p>
          <a:p>
            <a:pPr marL="742950" lvl="1" indent="-285750" fontAlgn="base">
              <a:lnSpc>
                <a:spcPct val="90000"/>
              </a:lnSpc>
              <a:spcBef>
                <a:spcPct val="20000"/>
              </a:spcBef>
              <a:spcAft>
                <a:spcPct val="0"/>
              </a:spcAft>
              <a:buFontTx/>
              <a:buChar char="–"/>
            </a:pPr>
            <a:r>
              <a:rPr lang="en-US" altLang="zh-CN" sz="2400" dirty="0">
                <a:solidFill>
                  <a:srgbClr val="000000"/>
                </a:solidFill>
                <a:latin typeface="Times New Roman"/>
                <a:ea typeface="宋体"/>
              </a:rPr>
              <a:t>Data are allocated separately in a fixed area in a similar fashion to the code</a:t>
            </a:r>
          </a:p>
          <a:p>
            <a:pPr marL="1143000" lvl="2" indent="-228600" fontAlgn="base">
              <a:lnSpc>
                <a:spcPct val="90000"/>
              </a:lnSpc>
              <a:spcBef>
                <a:spcPct val="20000"/>
              </a:spcBef>
              <a:spcAft>
                <a:spcPct val="0"/>
              </a:spcAft>
              <a:buFontTx/>
              <a:buChar char="•"/>
            </a:pPr>
            <a:r>
              <a:rPr lang="en-US" altLang="zh-CN" sz="2000" dirty="0">
                <a:solidFill>
                  <a:srgbClr val="000000"/>
                </a:solidFill>
                <a:latin typeface="Times New Roman"/>
                <a:ea typeface="宋体"/>
              </a:rPr>
              <a:t>In Fortran77, all data are in this class;</a:t>
            </a:r>
          </a:p>
          <a:p>
            <a:pPr marL="1143000" lvl="2" indent="-228600" fontAlgn="base">
              <a:lnSpc>
                <a:spcPct val="90000"/>
              </a:lnSpc>
              <a:spcBef>
                <a:spcPct val="20000"/>
              </a:spcBef>
              <a:spcAft>
                <a:spcPct val="0"/>
              </a:spcAft>
              <a:buFontTx/>
              <a:buChar char="•"/>
            </a:pPr>
            <a:r>
              <a:rPr lang="en-US" altLang="zh-CN" sz="2000" dirty="0">
                <a:solidFill>
                  <a:srgbClr val="000000"/>
                </a:solidFill>
                <a:latin typeface="Times New Roman"/>
                <a:ea typeface="宋体"/>
              </a:rPr>
              <a:t>In Pascal, global variables are in this class;</a:t>
            </a:r>
          </a:p>
          <a:p>
            <a:pPr marL="1143000" lvl="2" indent="-228600" fontAlgn="base">
              <a:lnSpc>
                <a:spcPct val="90000"/>
              </a:lnSpc>
              <a:spcBef>
                <a:spcPct val="20000"/>
              </a:spcBef>
              <a:spcAft>
                <a:spcPct val="0"/>
              </a:spcAft>
              <a:buFontTx/>
              <a:buChar char="•"/>
            </a:pPr>
            <a:r>
              <a:rPr lang="en-US" altLang="zh-CN" sz="2000" dirty="0">
                <a:solidFill>
                  <a:srgbClr val="000000"/>
                </a:solidFill>
                <a:latin typeface="Times New Roman"/>
                <a:ea typeface="宋体"/>
              </a:rPr>
              <a:t>In C, the external and static variables are in this class</a:t>
            </a:r>
          </a:p>
          <a:p>
            <a:pPr marL="1143000" lvl="2" indent="-228600" fontAlgn="base">
              <a:lnSpc>
                <a:spcPct val="90000"/>
              </a:lnSpc>
              <a:spcBef>
                <a:spcPct val="20000"/>
              </a:spcBef>
              <a:spcAft>
                <a:spcPct val="0"/>
              </a:spcAft>
              <a:buFontTx/>
              <a:buChar char="•"/>
            </a:pPr>
            <a:endParaRPr lang="en-US" altLang="zh-CN" sz="2000" dirty="0">
              <a:solidFill>
                <a:srgbClr val="000000"/>
              </a:solidFill>
              <a:latin typeface="Times New Roman"/>
              <a:ea typeface="宋体"/>
            </a:endParaRPr>
          </a:p>
          <a:p>
            <a:pPr marL="342900" lvl="0" indent="-342900" fontAlgn="base">
              <a:lnSpc>
                <a:spcPct val="90000"/>
              </a:lnSpc>
              <a:spcBef>
                <a:spcPct val="20000"/>
              </a:spcBef>
              <a:spcAft>
                <a:spcPct val="0"/>
              </a:spcAft>
              <a:buFontTx/>
              <a:buChar char="•"/>
            </a:pPr>
            <a:r>
              <a:rPr lang="en-US" altLang="zh-CN" sz="2800" dirty="0">
                <a:solidFill>
                  <a:srgbClr val="000000"/>
                </a:solidFill>
                <a:latin typeface="Times New Roman"/>
                <a:ea typeface="宋体"/>
              </a:rPr>
              <a:t>The </a:t>
            </a:r>
            <a:r>
              <a:rPr lang="en-US" altLang="zh-CN" sz="2800" b="1" dirty="0">
                <a:solidFill>
                  <a:srgbClr val="000000"/>
                </a:solidFill>
                <a:latin typeface="Times New Roman"/>
                <a:ea typeface="宋体"/>
              </a:rPr>
              <a:t>constants</a:t>
            </a:r>
            <a:r>
              <a:rPr lang="en-US" altLang="zh-CN" sz="2800" dirty="0">
                <a:solidFill>
                  <a:srgbClr val="000000"/>
                </a:solidFill>
                <a:latin typeface="Times New Roman"/>
                <a:ea typeface="宋体"/>
              </a:rPr>
              <a:t> are usually allocated memory </a:t>
            </a:r>
            <a:r>
              <a:rPr lang="en-US" altLang="zh-CN" sz="2800" b="1" dirty="0">
                <a:solidFill>
                  <a:srgbClr val="000000"/>
                </a:solidFill>
                <a:latin typeface="Times New Roman"/>
                <a:ea typeface="宋体"/>
              </a:rPr>
              <a:t>in the global/static area</a:t>
            </a:r>
          </a:p>
          <a:p>
            <a:pPr marL="742950" lvl="1" indent="-285750" fontAlgn="base">
              <a:lnSpc>
                <a:spcPct val="90000"/>
              </a:lnSpc>
              <a:spcBef>
                <a:spcPct val="20000"/>
              </a:spcBef>
              <a:spcAft>
                <a:spcPct val="0"/>
              </a:spcAft>
              <a:buFontTx/>
              <a:buChar char="–"/>
            </a:pPr>
            <a:r>
              <a:rPr lang="en-US" altLang="zh-CN" sz="2400" dirty="0" err="1">
                <a:solidFill>
                  <a:srgbClr val="000000"/>
                </a:solidFill>
                <a:latin typeface="Times New Roman"/>
                <a:ea typeface="宋体"/>
              </a:rPr>
              <a:t>Const</a:t>
            </a:r>
            <a:r>
              <a:rPr lang="en-US" altLang="zh-CN" sz="2400" dirty="0">
                <a:solidFill>
                  <a:srgbClr val="000000"/>
                </a:solidFill>
                <a:latin typeface="Times New Roman"/>
                <a:ea typeface="宋体"/>
              </a:rPr>
              <a:t> declarations of C and Pascal;</a:t>
            </a:r>
          </a:p>
          <a:p>
            <a:pPr marL="742950" lvl="1" indent="-285750" fontAlgn="base">
              <a:lnSpc>
                <a:spcPct val="90000"/>
              </a:lnSpc>
              <a:spcBef>
                <a:spcPct val="20000"/>
              </a:spcBef>
              <a:spcAft>
                <a:spcPct val="0"/>
              </a:spcAft>
              <a:buFontTx/>
              <a:buChar char="–"/>
            </a:pPr>
            <a:r>
              <a:rPr lang="en-US" altLang="zh-CN" sz="2400" dirty="0">
                <a:solidFill>
                  <a:srgbClr val="000000"/>
                </a:solidFill>
                <a:latin typeface="Times New Roman"/>
                <a:ea typeface="宋体"/>
              </a:rPr>
              <a:t>Literal values used in the code, </a:t>
            </a:r>
          </a:p>
          <a:p>
            <a:pPr marL="1143000" lvl="2" indent="-228600" fontAlgn="base">
              <a:lnSpc>
                <a:spcPct val="90000"/>
              </a:lnSpc>
              <a:spcBef>
                <a:spcPct val="20000"/>
              </a:spcBef>
              <a:spcAft>
                <a:spcPct val="0"/>
              </a:spcAft>
              <a:buFontTx/>
              <a:buChar char="•"/>
            </a:pPr>
            <a:r>
              <a:rPr lang="en-US" altLang="zh-CN" sz="2000" dirty="0">
                <a:solidFill>
                  <a:srgbClr val="000000"/>
                </a:solidFill>
                <a:latin typeface="Times New Roman"/>
                <a:ea typeface="宋体"/>
              </a:rPr>
              <a:t>such as </a:t>
            </a:r>
            <a:r>
              <a:rPr lang="en-US" altLang="zh-CN" sz="2000" dirty="0">
                <a:solidFill>
                  <a:srgbClr val="000000"/>
                </a:solidFill>
                <a:latin typeface="Arial" panose="020B0604020202020204" pitchFamily="34" charset="0"/>
                <a:ea typeface="宋体"/>
              </a:rPr>
              <a:t>“</a:t>
            </a:r>
            <a:r>
              <a:rPr lang="en-US" altLang="zh-CN" sz="2000" dirty="0" err="1">
                <a:solidFill>
                  <a:srgbClr val="000000"/>
                </a:solidFill>
                <a:latin typeface="Times New Roman"/>
                <a:ea typeface="宋体"/>
              </a:rPr>
              <a:t>Hello%D</a:t>
            </a:r>
            <a:r>
              <a:rPr lang="en-US" altLang="zh-CN" sz="2000" dirty="0">
                <a:solidFill>
                  <a:srgbClr val="000000"/>
                </a:solidFill>
                <a:latin typeface="Times New Roman"/>
                <a:ea typeface="宋体"/>
              </a:rPr>
              <a:t>\n</a:t>
            </a:r>
            <a:r>
              <a:rPr lang="en-US" altLang="zh-CN" sz="2000" dirty="0">
                <a:solidFill>
                  <a:srgbClr val="000000"/>
                </a:solidFill>
                <a:latin typeface="Arial" panose="020B0604020202020204" pitchFamily="34" charset="0"/>
                <a:ea typeface="宋体"/>
              </a:rPr>
              <a:t>”</a:t>
            </a:r>
            <a:r>
              <a:rPr lang="en-US" altLang="zh-CN" sz="2000" dirty="0">
                <a:solidFill>
                  <a:srgbClr val="000000"/>
                </a:solidFill>
                <a:latin typeface="Times New Roman"/>
                <a:ea typeface="宋体"/>
              </a:rPr>
              <a:t> and integer value 12345:</a:t>
            </a:r>
          </a:p>
          <a:p>
            <a:pPr marL="1143000" lvl="2" indent="-228600" fontAlgn="base">
              <a:lnSpc>
                <a:spcPct val="90000"/>
              </a:lnSpc>
              <a:spcBef>
                <a:spcPct val="20000"/>
              </a:spcBef>
              <a:spcAft>
                <a:spcPct val="0"/>
              </a:spcAft>
              <a:buFontTx/>
              <a:buChar char="•"/>
            </a:pPr>
            <a:r>
              <a:rPr lang="en-US" altLang="zh-CN" sz="2000" dirty="0" err="1">
                <a:solidFill>
                  <a:srgbClr val="000000"/>
                </a:solidFill>
                <a:latin typeface="Times New Roman"/>
                <a:ea typeface="宋体"/>
              </a:rPr>
              <a:t>Printf</a:t>
            </a:r>
            <a:r>
              <a:rPr lang="en-US" altLang="zh-CN" sz="2000" dirty="0">
                <a:solidFill>
                  <a:srgbClr val="000000"/>
                </a:solidFill>
                <a:latin typeface="Times New Roman"/>
                <a:ea typeface="宋体"/>
              </a:rPr>
              <a:t>(</a:t>
            </a:r>
            <a:r>
              <a:rPr lang="en-US" altLang="zh-CN" sz="2000" dirty="0">
                <a:solidFill>
                  <a:srgbClr val="000000"/>
                </a:solidFill>
                <a:latin typeface="Arial" panose="020B0604020202020204" pitchFamily="34" charset="0"/>
                <a:ea typeface="宋体"/>
              </a:rPr>
              <a:t>“</a:t>
            </a:r>
            <a:r>
              <a:rPr lang="en-US" altLang="zh-CN" sz="2000" dirty="0">
                <a:solidFill>
                  <a:srgbClr val="000000"/>
                </a:solidFill>
                <a:latin typeface="Times New Roman"/>
                <a:ea typeface="宋体"/>
              </a:rPr>
              <a:t>Hello %d\n</a:t>
            </a:r>
            <a:r>
              <a:rPr lang="en-US" altLang="zh-CN" sz="2000" dirty="0">
                <a:solidFill>
                  <a:srgbClr val="000000"/>
                </a:solidFill>
                <a:latin typeface="Arial" panose="020B0604020202020204" pitchFamily="34" charset="0"/>
                <a:ea typeface="宋体"/>
              </a:rPr>
              <a:t>”</a:t>
            </a:r>
            <a:r>
              <a:rPr lang="en-US" altLang="zh-CN" sz="2000" dirty="0">
                <a:solidFill>
                  <a:srgbClr val="000000"/>
                </a:solidFill>
                <a:latin typeface="Times New Roman"/>
                <a:ea typeface="宋体"/>
              </a:rPr>
              <a:t>,12345);</a:t>
            </a:r>
            <a:endParaRPr lang="zh-CN" altLang="en-US" sz="2000" dirty="0">
              <a:solidFill>
                <a:srgbClr val="000000"/>
              </a:solidFill>
              <a:latin typeface="Times New Roman"/>
              <a:ea typeface="宋体"/>
            </a:endParaRPr>
          </a:p>
        </p:txBody>
      </p:sp>
    </p:spTree>
    <p:extLst>
      <p:ext uri="{BB962C8B-B14F-4D97-AF65-F5344CB8AC3E}">
        <p14:creationId xmlns:p14="http://schemas.microsoft.com/office/powerpoint/2010/main" val="2639071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Storage Organization</a:t>
            </a:r>
            <a:endParaRPr lang="zh-CN" altLang="en-US" dirty="0"/>
          </a:p>
        </p:txBody>
      </p:sp>
      <p:sp>
        <p:nvSpPr>
          <p:cNvPr id="4" name="Rectangle 3"/>
          <p:cNvSpPr txBox="1">
            <a:spLocks noChangeArrowheads="1"/>
          </p:cNvSpPr>
          <p:nvPr/>
        </p:nvSpPr>
        <p:spPr bwMode="auto">
          <a:xfrm>
            <a:off x="617434" y="1491568"/>
            <a:ext cx="7772400" cy="5063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The memory area used for </a:t>
            </a: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dynamic data</a:t>
            </a: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 can be organized in many different ways</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Typically, this memory can be divided into a stack area and a heap area;</a:t>
            </a:r>
          </a:p>
          <a:p>
            <a:pPr marL="1143000" marR="0" lvl="2" indent="-228600" algn="l" defTabSz="914400" rtl="0" eaLnBrk="1" fontAlgn="base" latinLnBrk="0" hangingPunct="1">
              <a:lnSpc>
                <a:spcPct val="80000"/>
              </a:lnSpc>
              <a:spcBef>
                <a:spcPct val="20000"/>
              </a:spcBef>
              <a:spcAft>
                <a:spcPct val="0"/>
              </a:spcAft>
              <a:buClrTx/>
              <a:buSzTx/>
              <a:buFontTx/>
              <a:buChar char="•"/>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A stack area</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used for data whose allocation occurs in FIFO fashion;</a:t>
            </a:r>
          </a:p>
          <a:p>
            <a:pPr marL="1143000" marR="0" lvl="2" indent="-228600" algn="l" defTabSz="914400" rtl="0" eaLnBrk="1" fontAlgn="base" latinLnBrk="0" hangingPunct="1">
              <a:lnSpc>
                <a:spcPct val="80000"/>
              </a:lnSpc>
              <a:spcBef>
                <a:spcPct val="20000"/>
              </a:spcBef>
              <a:spcAft>
                <a:spcPct val="0"/>
              </a:spcAft>
              <a:buClrTx/>
              <a:buSzTx/>
              <a:buFontTx/>
              <a:buChar char="•"/>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A heap area</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used for dynamic allocation occurs not in FIFO fashion.</a:t>
            </a:r>
          </a:p>
          <a:p>
            <a:pPr marL="1143000" marR="0" lvl="2" indent="-228600" algn="l" defTabSz="914400" rtl="0" eaLnBrk="1" fontAlgn="base" latinLnBrk="0" hangingPunct="1">
              <a:lnSpc>
                <a:spcPct val="80000"/>
              </a:lnSpc>
              <a:spcBef>
                <a:spcPct val="20000"/>
              </a:spcBef>
              <a:spcAft>
                <a:spcPct val="0"/>
              </a:spcAft>
              <a:buClrTx/>
              <a:buSzTx/>
              <a:buFontTx/>
              <a:buChar char="•"/>
              <a:tabLst/>
              <a:defRPr/>
            </a:pPr>
            <a:endPar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Generally, the architecture of the target machine includes a processor stack for procedure calls and returns.</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Sometimes, a compiler will have to arrange for the </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explicit allocation of the processor stack</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in an appropriate place in memory.</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3066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Storage Organization</a:t>
            </a:r>
            <a:endParaRPr lang="zh-CN" altLang="en-US" dirty="0"/>
          </a:p>
        </p:txBody>
      </p:sp>
      <p:pic>
        <p:nvPicPr>
          <p:cNvPr id="4" name="图片 3"/>
          <p:cNvPicPr>
            <a:picLocks noChangeAspect="1"/>
          </p:cNvPicPr>
          <p:nvPr/>
        </p:nvPicPr>
        <p:blipFill>
          <a:blip r:embed="rId2"/>
          <a:stretch>
            <a:fillRect/>
          </a:stretch>
        </p:blipFill>
        <p:spPr>
          <a:xfrm>
            <a:off x="558038" y="1538613"/>
            <a:ext cx="8181747" cy="5216465"/>
          </a:xfrm>
          <a:prstGeom prst="rect">
            <a:avLst/>
          </a:prstGeom>
        </p:spPr>
      </p:pic>
    </p:spTree>
    <p:extLst>
      <p:ext uri="{BB962C8B-B14F-4D97-AF65-F5344CB8AC3E}">
        <p14:creationId xmlns:p14="http://schemas.microsoft.com/office/powerpoint/2010/main" val="52267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Stack Allocation of Space-Activation Trees</a:t>
            </a:r>
            <a:endParaRPr lang="zh-CN" altLang="en-US" dirty="0"/>
          </a:p>
        </p:txBody>
      </p:sp>
      <p:sp>
        <p:nvSpPr>
          <p:cNvPr id="5" name="内容占位符 2"/>
          <p:cNvSpPr>
            <a:spLocks noGrp="1"/>
          </p:cNvSpPr>
          <p:nvPr>
            <p:ph idx="1"/>
          </p:nvPr>
        </p:nvSpPr>
        <p:spPr>
          <a:xfrm>
            <a:off x="828675" y="1600200"/>
            <a:ext cx="7486650" cy="1587381"/>
          </a:xfrm>
        </p:spPr>
        <p:txBody>
          <a:bodyPr/>
          <a:lstStyle/>
          <a:p>
            <a:r>
              <a:rPr lang="en-US" altLang="zh-CN" dirty="0"/>
              <a:t>Almost all compilers for languages that use procedures, functions, or methods as units of user-defined actions manage at least part of their run-time memory as a stack. Each time a procedure1 is called, space for its local variables is pushed onto a stack, and when the procedure terminates, that space is popped off the stack.</a:t>
            </a:r>
          </a:p>
          <a:p>
            <a:r>
              <a:rPr lang="en-US" altLang="zh-CN" dirty="0"/>
              <a:t>The following example illustrates nesting of procedure calls.</a:t>
            </a:r>
            <a:endParaRPr lang="zh-CN" altLang="en-US" dirty="0"/>
          </a:p>
        </p:txBody>
      </p:sp>
      <p:pic>
        <p:nvPicPr>
          <p:cNvPr id="3" name="图片 2"/>
          <p:cNvPicPr>
            <a:picLocks noChangeAspect="1"/>
          </p:cNvPicPr>
          <p:nvPr/>
        </p:nvPicPr>
        <p:blipFill>
          <a:blip r:embed="rId2"/>
          <a:stretch>
            <a:fillRect/>
          </a:stretch>
        </p:blipFill>
        <p:spPr>
          <a:xfrm>
            <a:off x="966299" y="3199635"/>
            <a:ext cx="3306599" cy="3658365"/>
          </a:xfrm>
          <a:prstGeom prst="rect">
            <a:avLst/>
          </a:prstGeom>
        </p:spPr>
      </p:pic>
      <p:sp>
        <p:nvSpPr>
          <p:cNvPr id="6" name="右箭头 5"/>
          <p:cNvSpPr/>
          <p:nvPr/>
        </p:nvSpPr>
        <p:spPr>
          <a:xfrm>
            <a:off x="4366901" y="3837063"/>
            <a:ext cx="538386" cy="2563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3"/>
          <a:stretch>
            <a:fillRect/>
          </a:stretch>
        </p:blipFill>
        <p:spPr>
          <a:xfrm>
            <a:off x="5107804" y="3202490"/>
            <a:ext cx="4036196" cy="2162175"/>
          </a:xfrm>
          <a:prstGeom prst="rect">
            <a:avLst/>
          </a:prstGeom>
        </p:spPr>
      </p:pic>
      <p:sp>
        <p:nvSpPr>
          <p:cNvPr id="8" name="矩形 7"/>
          <p:cNvSpPr/>
          <p:nvPr/>
        </p:nvSpPr>
        <p:spPr>
          <a:xfrm>
            <a:off x="4371174" y="5513694"/>
            <a:ext cx="4572000" cy="830997"/>
          </a:xfrm>
          <a:prstGeom prst="rect">
            <a:avLst/>
          </a:prstGeom>
        </p:spPr>
        <p:txBody>
          <a:bodyPr>
            <a:spAutoFit/>
          </a:bodyPr>
          <a:lstStyle/>
          <a:p>
            <a:pPr marL="228600" indent="-228600">
              <a:buAutoNum type="arabicPeriod"/>
            </a:pPr>
            <a:r>
              <a:rPr lang="en-US" altLang="zh-CN" sz="1200" dirty="0">
                <a:latin typeface="微软雅黑" panose="020B0503020204020204" pitchFamily="34" charset="-122"/>
                <a:ea typeface="微软雅黑" panose="020B0503020204020204" pitchFamily="34" charset="-122"/>
              </a:rPr>
              <a:t>The sequence of procedure </a:t>
            </a:r>
            <a:r>
              <a:rPr lang="en-US" altLang="zh-CN" sz="1200" b="1" dirty="0">
                <a:latin typeface="微软雅黑" panose="020B0503020204020204" pitchFamily="34" charset="-122"/>
                <a:ea typeface="微软雅黑" panose="020B0503020204020204" pitchFamily="34" charset="-122"/>
              </a:rPr>
              <a:t>calls</a:t>
            </a:r>
            <a:r>
              <a:rPr lang="en-US" altLang="zh-CN" sz="1200" dirty="0">
                <a:latin typeface="微软雅黑" panose="020B0503020204020204" pitchFamily="34" charset="-122"/>
                <a:ea typeface="微软雅黑" panose="020B0503020204020204" pitchFamily="34" charset="-122"/>
              </a:rPr>
              <a:t> corresponds to a preorder traversal of the activation tree.</a:t>
            </a:r>
          </a:p>
          <a:p>
            <a:pPr marL="228600" indent="-228600">
              <a:buAutoNum type="arabicPeriod"/>
            </a:pPr>
            <a:r>
              <a:rPr lang="en-US" altLang="zh-CN" sz="1200" dirty="0">
                <a:latin typeface="微软雅黑" panose="020B0503020204020204" pitchFamily="34" charset="-122"/>
                <a:ea typeface="微软雅黑" panose="020B0503020204020204" pitchFamily="34" charset="-122"/>
              </a:rPr>
              <a:t>The sequence of </a:t>
            </a:r>
            <a:r>
              <a:rPr lang="en-US" altLang="zh-CN" sz="1200" b="1" dirty="0">
                <a:latin typeface="微软雅黑" panose="020B0503020204020204" pitchFamily="34" charset="-122"/>
                <a:ea typeface="微软雅黑" panose="020B0503020204020204" pitchFamily="34" charset="-122"/>
              </a:rPr>
              <a:t>returns</a:t>
            </a:r>
            <a:r>
              <a:rPr lang="en-US" altLang="zh-CN" sz="1200" dirty="0">
                <a:latin typeface="微软雅黑" panose="020B0503020204020204" pitchFamily="34" charset="-122"/>
                <a:ea typeface="微软雅黑" panose="020B0503020204020204" pitchFamily="34" charset="-122"/>
              </a:rPr>
              <a:t> corresponds to a </a:t>
            </a:r>
            <a:r>
              <a:rPr lang="en-US" altLang="zh-CN" sz="1200" dirty="0" err="1">
                <a:latin typeface="微软雅黑" panose="020B0503020204020204" pitchFamily="34" charset="-122"/>
                <a:ea typeface="微软雅黑" panose="020B0503020204020204" pitchFamily="34" charset="-122"/>
              </a:rPr>
              <a:t>postorder</a:t>
            </a:r>
            <a:r>
              <a:rPr lang="en-US" altLang="zh-CN" sz="1200" dirty="0">
                <a:latin typeface="微软雅黑" panose="020B0503020204020204" pitchFamily="34" charset="-122"/>
                <a:ea typeface="微软雅黑" panose="020B0503020204020204" pitchFamily="34" charset="-122"/>
              </a:rPr>
              <a:t> traversal of the activation tree .</a:t>
            </a:r>
            <a:endParaRPr lang="zh-CN"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52564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Stack Allocation of Space-Activation Record</a:t>
            </a:r>
            <a:endParaRPr lang="zh-CN" altLang="en-US" dirty="0"/>
          </a:p>
        </p:txBody>
      </p:sp>
      <p:sp>
        <p:nvSpPr>
          <p:cNvPr id="3" name="内容占位符 2"/>
          <p:cNvSpPr>
            <a:spLocks noGrp="1"/>
          </p:cNvSpPr>
          <p:nvPr>
            <p:ph idx="1"/>
          </p:nvPr>
        </p:nvSpPr>
        <p:spPr>
          <a:xfrm>
            <a:off x="828675" y="1600200"/>
            <a:ext cx="7486650" cy="4572000"/>
          </a:xfrm>
        </p:spPr>
        <p:txBody>
          <a:bodyPr/>
          <a:lstStyle/>
          <a:p>
            <a:r>
              <a:rPr lang="en-US" altLang="zh-CN" dirty="0"/>
              <a:t>Procedure calls and returns are usually managed by a run-time stack called the control stack. Each live activation has an </a:t>
            </a:r>
            <a:r>
              <a:rPr lang="en-US" altLang="zh-CN" b="1" dirty="0">
                <a:solidFill>
                  <a:srgbClr val="7030A0"/>
                </a:solidFill>
              </a:rPr>
              <a:t>activation record </a:t>
            </a:r>
            <a:r>
              <a:rPr lang="en-US" altLang="zh-CN" dirty="0"/>
              <a:t>( sometimes called a </a:t>
            </a:r>
            <a:r>
              <a:rPr lang="en-US" altLang="zh-CN" b="1" dirty="0">
                <a:solidFill>
                  <a:srgbClr val="7030A0"/>
                </a:solidFill>
              </a:rPr>
              <a:t>frame</a:t>
            </a:r>
            <a:r>
              <a:rPr lang="en-US" altLang="zh-CN" dirty="0"/>
              <a:t>) on the control stack, with the root of the activation tree at the bottom, and the entire sequence of activation records on the stack corresponding to the path in the activation tree to the activation where control currently resides. The latter activation has its record at the top of the stack.</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630765648"/>
              </p:ext>
            </p:extLst>
          </p:nvPr>
        </p:nvGraphicFramePr>
        <p:xfrm>
          <a:off x="959265" y="3374307"/>
          <a:ext cx="2954709" cy="1532568"/>
        </p:xfrm>
        <a:graphic>
          <a:graphicData uri="http://schemas.openxmlformats.org/drawingml/2006/table">
            <a:tbl>
              <a:tblPr/>
              <a:tblGrid>
                <a:gridCol w="2954709">
                  <a:extLst>
                    <a:ext uri="{9D8B030D-6E8A-4147-A177-3AD203B41FA5}">
                      <a16:colId xmlns:a16="http://schemas.microsoft.com/office/drawing/2014/main" val="20000"/>
                    </a:ext>
                  </a:extLst>
                </a:gridCol>
              </a:tblGrid>
              <a:tr h="522880">
                <a:tc>
                  <a:txBody>
                    <a:bodyPr/>
                    <a:lstStyle/>
                    <a:p>
                      <a:pPr algn="ctr">
                        <a:spcAft>
                          <a:spcPts val="0"/>
                        </a:spcAft>
                      </a:pPr>
                      <a:r>
                        <a:rPr lang="en-US" sz="1200" kern="100" dirty="0">
                          <a:effectLst/>
                          <a:latin typeface="Times New Roman" panose="02020603050405020304" pitchFamily="18" charset="0"/>
                          <a:ea typeface="宋体" panose="02010600030101010101" pitchFamily="2" charset="-122"/>
                        </a:rPr>
                        <a:t>Space for arguments</a:t>
                      </a:r>
                      <a:endParaRPr lang="zh-CN" sz="1050" kern="100" dirty="0">
                        <a:effectLst/>
                        <a:latin typeface="Times New Roman" panose="02020603050405020304" pitchFamily="18" charset="0"/>
                        <a:ea typeface="宋体" panose="02010600030101010101" pitchFamily="2" charset="-122"/>
                      </a:endParaRPr>
                    </a:p>
                    <a:p>
                      <a:pPr algn="ctr">
                        <a:spcAft>
                          <a:spcPts val="0"/>
                        </a:spcAft>
                      </a:pPr>
                      <a:r>
                        <a:rPr lang="en-US" sz="1200" kern="100" dirty="0">
                          <a:effectLst/>
                          <a:latin typeface="Times New Roman" panose="02020603050405020304" pitchFamily="18" charset="0"/>
                          <a:ea typeface="宋体" panose="02010600030101010101" pitchFamily="2" charset="-122"/>
                        </a:rPr>
                        <a:t>( parameters )</a:t>
                      </a:r>
                      <a:endParaRPr lang="zh-CN" sz="105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6806">
                <a:tc>
                  <a:txBody>
                    <a:bodyPr/>
                    <a:lstStyle/>
                    <a:p>
                      <a:pPr algn="ctr">
                        <a:spcAft>
                          <a:spcPts val="0"/>
                        </a:spcAft>
                      </a:pPr>
                      <a:r>
                        <a:rPr lang="en-US" sz="1200" kern="100" dirty="0">
                          <a:effectLst/>
                          <a:latin typeface="Times New Roman" panose="02020603050405020304" pitchFamily="18" charset="0"/>
                          <a:ea typeface="宋体" panose="02010600030101010101" pitchFamily="2" charset="-122"/>
                        </a:rPr>
                        <a:t>Space for bookkeeping information, including return address</a:t>
                      </a:r>
                      <a:endParaRPr lang="zh-CN" sz="105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1441">
                <a:tc>
                  <a:txBody>
                    <a:bodyPr/>
                    <a:lstStyle/>
                    <a:p>
                      <a:pPr algn="ctr">
                        <a:spcAft>
                          <a:spcPts val="0"/>
                        </a:spcAft>
                      </a:pPr>
                      <a:r>
                        <a:rPr lang="en-US" sz="1200" kern="100">
                          <a:effectLst/>
                          <a:latin typeface="Times New Roman" panose="02020603050405020304" pitchFamily="18" charset="0"/>
                          <a:ea typeface="宋体" panose="02010600030101010101" pitchFamily="2" charset="-122"/>
                        </a:rPr>
                        <a:t>Space for local data</a:t>
                      </a:r>
                      <a:endParaRPr lang="zh-CN" sz="105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1441">
                <a:tc>
                  <a:txBody>
                    <a:bodyPr/>
                    <a:lstStyle/>
                    <a:p>
                      <a:pPr algn="ctr">
                        <a:spcAft>
                          <a:spcPts val="0"/>
                        </a:spcAft>
                      </a:pPr>
                      <a:r>
                        <a:rPr lang="en-US" sz="1200" kern="100" dirty="0">
                          <a:effectLst/>
                          <a:latin typeface="Times New Roman" panose="02020603050405020304" pitchFamily="18" charset="0"/>
                          <a:ea typeface="宋体" panose="02010600030101010101" pitchFamily="2" charset="-122"/>
                        </a:rPr>
                        <a:t>Space for local temporaries</a:t>
                      </a:r>
                      <a:endParaRPr lang="zh-CN" sz="105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5" name="图片 4"/>
          <p:cNvPicPr>
            <a:picLocks noChangeAspect="1"/>
          </p:cNvPicPr>
          <p:nvPr/>
        </p:nvPicPr>
        <p:blipFill>
          <a:blip r:embed="rId2"/>
          <a:stretch>
            <a:fillRect/>
          </a:stretch>
        </p:blipFill>
        <p:spPr>
          <a:xfrm>
            <a:off x="4469179" y="3045612"/>
            <a:ext cx="2591901" cy="2970627"/>
          </a:xfrm>
          <a:prstGeom prst="rect">
            <a:avLst/>
          </a:prstGeom>
        </p:spPr>
      </p:pic>
      <p:cxnSp>
        <p:nvCxnSpPr>
          <p:cNvPr id="7" name="直接连接符 6"/>
          <p:cNvCxnSpPr/>
          <p:nvPr/>
        </p:nvCxnSpPr>
        <p:spPr>
          <a:xfrm flipV="1">
            <a:off x="3905427" y="3153398"/>
            <a:ext cx="905855" cy="222190"/>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913974" y="3879791"/>
            <a:ext cx="905854" cy="42729"/>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879791" y="4383994"/>
            <a:ext cx="897309" cy="692208"/>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922520" y="4640366"/>
            <a:ext cx="880216" cy="837488"/>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127903" y="5785503"/>
            <a:ext cx="184731" cy="369332"/>
          </a:xfrm>
          <a:prstGeom prst="rect">
            <a:avLst/>
          </a:prstGeom>
          <a:noFill/>
        </p:spPr>
        <p:txBody>
          <a:bodyPr wrap="none" rtlCol="0">
            <a:spAutoFit/>
          </a:bodyPr>
          <a:lstStyle/>
          <a:p>
            <a:endParaRPr lang="zh-CN" altLang="en-US" dirty="0"/>
          </a:p>
        </p:txBody>
      </p:sp>
      <p:pic>
        <p:nvPicPr>
          <p:cNvPr id="21" name="图片 20"/>
          <p:cNvPicPr>
            <a:picLocks noChangeAspect="1"/>
          </p:cNvPicPr>
          <p:nvPr/>
        </p:nvPicPr>
        <p:blipFill>
          <a:blip r:embed="rId3"/>
          <a:stretch>
            <a:fillRect/>
          </a:stretch>
        </p:blipFill>
        <p:spPr>
          <a:xfrm>
            <a:off x="3438206" y="5997894"/>
            <a:ext cx="4593468" cy="860106"/>
          </a:xfrm>
          <a:prstGeom prst="rect">
            <a:avLst/>
          </a:prstGeom>
        </p:spPr>
      </p:pic>
      <p:sp>
        <p:nvSpPr>
          <p:cNvPr id="6" name="文本框 5"/>
          <p:cNvSpPr txBox="1"/>
          <p:nvPr/>
        </p:nvSpPr>
        <p:spPr>
          <a:xfrm>
            <a:off x="7238289" y="4093436"/>
            <a:ext cx="1316052" cy="830997"/>
          </a:xfrm>
          <a:prstGeom prst="rect">
            <a:avLst/>
          </a:prstGeom>
          <a:noFill/>
        </p:spPr>
        <p:txBody>
          <a:bodyPr wrap="square" rtlCol="0">
            <a:spAutoFit/>
          </a:bodyPr>
          <a:lstStyle/>
          <a:p>
            <a:r>
              <a:rPr lang="en-US" altLang="zh-CN" sz="1200" dirty="0"/>
              <a:t>pointing to the activation record of the caller</a:t>
            </a:r>
            <a:endParaRPr lang="zh-CN" altLang="en-US" sz="1200" dirty="0"/>
          </a:p>
        </p:txBody>
      </p:sp>
      <p:cxnSp>
        <p:nvCxnSpPr>
          <p:cNvPr id="10" name="直接箭头连接符 9"/>
          <p:cNvCxnSpPr>
            <a:endCxn id="6" idx="1"/>
          </p:cNvCxnSpPr>
          <p:nvPr/>
        </p:nvCxnSpPr>
        <p:spPr>
          <a:xfrm>
            <a:off x="6383708" y="4119073"/>
            <a:ext cx="854581" cy="38986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04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Stack Allocation of Space-Activation Record</a:t>
            </a:r>
            <a:endParaRPr lang="zh-CN" altLang="en-US" dirty="0"/>
          </a:p>
        </p:txBody>
      </p:sp>
      <p:sp>
        <p:nvSpPr>
          <p:cNvPr id="3" name="Rectangle 3"/>
          <p:cNvSpPr txBox="1">
            <a:spLocks noChangeArrowheads="1"/>
          </p:cNvSpPr>
          <p:nvPr/>
        </p:nvSpPr>
        <p:spPr bwMode="auto">
          <a:xfrm>
            <a:off x="822533" y="1504059"/>
            <a:ext cx="6885774" cy="4814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Some parts of an activation record have the </a:t>
            </a:r>
            <a:r>
              <a:rPr kumimoji="0" lang="en-US" altLang="zh-CN" sz="1800" b="1" i="0" u="none" strike="noStrike" kern="1200" cap="none" spc="0" normalizeH="0" baseline="0" noProof="0" dirty="0">
                <a:ln>
                  <a:noFill/>
                </a:ln>
                <a:solidFill>
                  <a:srgbClr val="000000"/>
                </a:solidFill>
                <a:effectLst/>
                <a:uLnTx/>
                <a:uFillTx/>
                <a:latin typeface="Times New Roman"/>
                <a:ea typeface="宋体"/>
                <a:cs typeface="+mn-cs"/>
              </a:rPr>
              <a:t>same size for all procedures</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Space for bookkeeping information</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Other parts of an activation record may </a:t>
            </a:r>
            <a:r>
              <a:rPr kumimoji="0" lang="en-US" altLang="zh-CN" sz="1800" b="1" i="0" u="none" strike="noStrike" kern="1200" cap="none" spc="0" normalizeH="0" baseline="0" noProof="0" dirty="0">
                <a:ln>
                  <a:noFill/>
                </a:ln>
                <a:solidFill>
                  <a:srgbClr val="000000"/>
                </a:solidFill>
                <a:effectLst/>
                <a:uLnTx/>
                <a:uFillTx/>
                <a:latin typeface="Times New Roman"/>
                <a:ea typeface="宋体"/>
                <a:cs typeface="+mn-cs"/>
              </a:rPr>
              <a:t>remain fixed for each individual procedure</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 </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Space for arguments and local data</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Some parts of activation record may be </a:t>
            </a:r>
            <a:r>
              <a:rPr kumimoji="0" lang="en-US" altLang="zh-CN" sz="1800" b="1" i="0" u="none" strike="noStrike" kern="1200" cap="none" spc="0" normalizeH="0" baseline="0" noProof="0" dirty="0">
                <a:ln>
                  <a:noFill/>
                </a:ln>
                <a:solidFill>
                  <a:srgbClr val="000000"/>
                </a:solidFill>
                <a:effectLst/>
                <a:uLnTx/>
                <a:uFillTx/>
                <a:latin typeface="Times New Roman"/>
                <a:ea typeface="宋体"/>
                <a:cs typeface="+mn-cs"/>
              </a:rPr>
              <a:t>allocated automatically</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 on procedure calls:</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 Storing the return address</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Other parts of activation record may need to be </a:t>
            </a:r>
            <a:r>
              <a:rPr kumimoji="0" lang="en-US" altLang="zh-CN" sz="1800" b="1" i="0" u="none" strike="noStrike" kern="1200" cap="none" spc="0" normalizeH="0" baseline="0" noProof="0" dirty="0">
                <a:ln>
                  <a:noFill/>
                </a:ln>
                <a:solidFill>
                  <a:srgbClr val="000000"/>
                </a:solidFill>
                <a:effectLst/>
                <a:uLnTx/>
                <a:uFillTx/>
                <a:latin typeface="Times New Roman"/>
                <a:ea typeface="宋体"/>
                <a:cs typeface="+mn-cs"/>
              </a:rPr>
              <a:t>allocated explicitly</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 by instructions generated by the compiler:</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Local temporary space</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800" b="1" i="0" u="none" strike="noStrike" kern="1200" cap="none" spc="0" normalizeH="0" baseline="0" noProof="0" dirty="0">
                <a:ln>
                  <a:noFill/>
                </a:ln>
                <a:solidFill>
                  <a:srgbClr val="000000"/>
                </a:solidFill>
                <a:effectLst/>
                <a:uLnTx/>
                <a:uFillTx/>
                <a:latin typeface="Times New Roman"/>
                <a:ea typeface="宋体"/>
                <a:cs typeface="+mn-cs"/>
              </a:rPr>
              <a:t>Depending on the language</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 activation records may be allocated in different areas:</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Fortran77 in the static area;</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C and Pascal in the stack area; referred to as stack frames</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LISP in the heap area.</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984220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Stack Allocation of Space-Activation Record</a:t>
            </a:r>
            <a:endParaRPr lang="zh-CN" altLang="en-US" dirty="0"/>
          </a:p>
        </p:txBody>
      </p:sp>
      <p:sp>
        <p:nvSpPr>
          <p:cNvPr id="3" name="Rectangle 3"/>
          <p:cNvSpPr txBox="1">
            <a:spLocks noChangeArrowheads="1"/>
          </p:cNvSpPr>
          <p:nvPr/>
        </p:nvSpPr>
        <p:spPr>
          <a:xfrm>
            <a:off x="728529" y="1528006"/>
            <a:ext cx="7772400" cy="482441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sz="2800" b="1" dirty="0"/>
              <a:t>Processor registers are also part of the structure of the runtime environment</a:t>
            </a:r>
            <a:endParaRPr lang="en-US" altLang="zh-CN" sz="2800" dirty="0"/>
          </a:p>
          <a:p>
            <a:pPr lvl="1"/>
            <a:r>
              <a:rPr lang="en-US" altLang="zh-CN" sz="2400" dirty="0"/>
              <a:t>Registers may be used to store temporaries, local variables, or even global variables;</a:t>
            </a:r>
          </a:p>
          <a:p>
            <a:pPr lvl="1"/>
            <a:r>
              <a:rPr lang="en-US" altLang="zh-CN" sz="2400" dirty="0"/>
              <a:t>In newer RISC processor, keep entire static area and whole activation records;</a:t>
            </a:r>
          </a:p>
          <a:p>
            <a:pPr lvl="1"/>
            <a:r>
              <a:rPr lang="en-US" altLang="zh-CN" sz="2400" dirty="0"/>
              <a:t>Special-purpose registers to keep track of execution</a:t>
            </a:r>
          </a:p>
          <a:p>
            <a:pPr lvl="2"/>
            <a:r>
              <a:rPr lang="en-US" altLang="zh-CN" sz="1800" dirty="0"/>
              <a:t>PC 	program counter;</a:t>
            </a:r>
          </a:p>
          <a:p>
            <a:pPr lvl="2"/>
            <a:r>
              <a:rPr lang="en-US" altLang="zh-CN" sz="1800" dirty="0"/>
              <a:t>SP	stack pointer;</a:t>
            </a:r>
          </a:p>
          <a:p>
            <a:pPr lvl="2"/>
            <a:r>
              <a:rPr lang="en-US" altLang="zh-CN" sz="1800" dirty="0"/>
              <a:t>FP	frame pointer;</a:t>
            </a:r>
          </a:p>
          <a:p>
            <a:pPr lvl="2"/>
            <a:r>
              <a:rPr lang="en-US" altLang="zh-CN" sz="1800" dirty="0"/>
              <a:t>AP	argument pointer</a:t>
            </a:r>
            <a:endParaRPr lang="zh-CN" altLang="en-US" sz="1800" dirty="0"/>
          </a:p>
        </p:txBody>
      </p:sp>
    </p:spTree>
    <p:extLst>
      <p:ext uri="{BB962C8B-B14F-4D97-AF65-F5344CB8AC3E}">
        <p14:creationId xmlns:p14="http://schemas.microsoft.com/office/powerpoint/2010/main" val="303678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8.3 Stack Allocation of Space-Calling Sequence</a:t>
            </a:r>
            <a:endParaRPr lang="zh-CN" altLang="en-US" dirty="0"/>
          </a:p>
        </p:txBody>
      </p:sp>
      <p:sp>
        <p:nvSpPr>
          <p:cNvPr id="5" name="Rectangle 3"/>
          <p:cNvSpPr txBox="1">
            <a:spLocks noChangeArrowheads="1"/>
          </p:cNvSpPr>
          <p:nvPr/>
        </p:nvSpPr>
        <p:spPr>
          <a:xfrm>
            <a:off x="668708" y="1454150"/>
            <a:ext cx="7772400" cy="5403850"/>
          </a:xfrm>
          <a:prstGeom prst="rect">
            <a:avLst/>
          </a:prstGeom>
        </p:spPr>
        <p:txBody>
          <a:bodyPr vert="horz" lIns="0" tIns="45720" rIns="0" bIns="45720" rtlCol="0">
            <a:normAutofit fontScale="925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sz="2800" b="1" dirty="0"/>
              <a:t>The sequence of operations when calling the functions</a:t>
            </a:r>
            <a:r>
              <a:rPr lang="en-US" altLang="zh-CN" sz="2800" dirty="0"/>
              <a:t>: </a:t>
            </a:r>
            <a:r>
              <a:rPr lang="en-US" altLang="zh-CN" sz="2800" b="1" i="1" dirty="0">
                <a:solidFill>
                  <a:srgbClr val="FF3300"/>
                </a:solidFill>
              </a:rPr>
              <a:t>calling sequence</a:t>
            </a:r>
            <a:endParaRPr lang="en-US" altLang="zh-CN" sz="2800" b="1" dirty="0">
              <a:solidFill>
                <a:srgbClr val="FF3300"/>
              </a:solidFill>
            </a:endParaRPr>
          </a:p>
          <a:p>
            <a:pPr lvl="1"/>
            <a:r>
              <a:rPr lang="en-US" altLang="zh-CN" sz="2400" dirty="0"/>
              <a:t>The allocation of memory for the activation record;</a:t>
            </a:r>
          </a:p>
          <a:p>
            <a:pPr lvl="1"/>
            <a:r>
              <a:rPr lang="en-US" altLang="zh-CN" sz="2400" dirty="0"/>
              <a:t>The computation and storing of the arguments;</a:t>
            </a:r>
          </a:p>
          <a:p>
            <a:pPr lvl="1"/>
            <a:r>
              <a:rPr lang="en-US" altLang="zh-CN" sz="2400" dirty="0"/>
              <a:t>The storing and setting of necessary registers to affect the call</a:t>
            </a:r>
          </a:p>
          <a:p>
            <a:endParaRPr lang="en-US" altLang="zh-CN" sz="2800" dirty="0"/>
          </a:p>
          <a:p>
            <a:r>
              <a:rPr lang="en-US" altLang="zh-CN" sz="2800" b="1" dirty="0"/>
              <a:t>The additional operations when a procedure or function returns: </a:t>
            </a:r>
            <a:r>
              <a:rPr lang="en-US" altLang="zh-CN" sz="2800" b="1" i="1" dirty="0">
                <a:solidFill>
                  <a:srgbClr val="FF3300"/>
                </a:solidFill>
              </a:rPr>
              <a:t>return sequence (VS call</a:t>
            </a:r>
            <a:r>
              <a:rPr lang="en-US" altLang="zh-CN" sz="2800" i="1" dirty="0">
                <a:solidFill>
                  <a:srgbClr val="FF3300"/>
                </a:solidFill>
              </a:rPr>
              <a:t>)</a:t>
            </a:r>
          </a:p>
          <a:p>
            <a:pPr lvl="1"/>
            <a:r>
              <a:rPr lang="en-US" altLang="zh-CN" sz="2400" dirty="0"/>
              <a:t>The placing of the return value where the caller can access it;</a:t>
            </a:r>
          </a:p>
          <a:p>
            <a:pPr lvl="1"/>
            <a:r>
              <a:rPr lang="en-US" altLang="zh-CN" sz="2400" dirty="0"/>
              <a:t>The readjustment of registers;</a:t>
            </a:r>
          </a:p>
          <a:p>
            <a:pPr lvl="1"/>
            <a:r>
              <a:rPr lang="en-US" altLang="zh-CN" sz="2400" dirty="0"/>
              <a:t>The possible releasing for activation record memory</a:t>
            </a:r>
            <a:endParaRPr lang="zh-CN" altLang="en-US" sz="2400" dirty="0"/>
          </a:p>
        </p:txBody>
      </p:sp>
    </p:spTree>
    <p:extLst>
      <p:ext uri="{BB962C8B-B14F-4D97-AF65-F5344CB8AC3E}">
        <p14:creationId xmlns:p14="http://schemas.microsoft.com/office/powerpoint/2010/main" val="798056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8.3 Stack Allocation of Space-Calling Sequence</a:t>
            </a:r>
            <a:endParaRPr lang="zh-CN" altLang="en-US" dirty="0"/>
          </a:p>
        </p:txBody>
      </p:sp>
      <p:sp>
        <p:nvSpPr>
          <p:cNvPr id="6" name="Rectangle 3"/>
          <p:cNvSpPr txBox="1">
            <a:spLocks noChangeArrowheads="1"/>
          </p:cNvSpPr>
          <p:nvPr/>
        </p:nvSpPr>
        <p:spPr bwMode="auto">
          <a:xfrm>
            <a:off x="643071" y="1476731"/>
            <a:ext cx="7772400" cy="511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tab pos="631825" algn="l"/>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The important aspects of the design of the calling sequence:</a:t>
            </a:r>
          </a:p>
          <a:p>
            <a:pPr marL="1076325" marR="0" lvl="1" indent="-554038" algn="l" defTabSz="914400" rtl="0" eaLnBrk="1" fontAlgn="base" latinLnBrk="0" hangingPunct="1">
              <a:lnSpc>
                <a:spcPct val="100000"/>
              </a:lnSpc>
              <a:spcBef>
                <a:spcPct val="20000"/>
              </a:spcBef>
              <a:spcAft>
                <a:spcPct val="0"/>
              </a:spcAft>
              <a:buClrTx/>
              <a:buSzTx/>
              <a:buFontTx/>
              <a:buNone/>
              <a:tabLst>
                <a:tab pos="631825" algn="l"/>
              </a:tabLst>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 How to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divide the calling sequence</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operations between the caller and </a:t>
            </a:r>
            <a:r>
              <a:rPr kumimoji="0"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callee</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17638" marR="0" lvl="2" indent="-161925" algn="l" defTabSz="914400" rtl="0" eaLnBrk="1" fontAlgn="base" latinLnBrk="0" hangingPunct="1">
              <a:lnSpc>
                <a:spcPct val="100000"/>
              </a:lnSpc>
              <a:spcBef>
                <a:spcPct val="20000"/>
              </a:spcBef>
              <a:spcAft>
                <a:spcPct val="0"/>
              </a:spcAft>
              <a:buClrTx/>
              <a:buSzTx/>
              <a:buFontTx/>
              <a:buChar char="•"/>
              <a:tabLst>
                <a:tab pos="631825" algn="l"/>
              </a:tabLst>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 minimum, the caller is responsible for computing the arguments and placing them in locations where they may be found by the </a:t>
            </a:r>
            <a:r>
              <a:rPr kumimoji="0" lang="en-US" altLang="zh-CN"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callee</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17638" marR="0" lvl="2" indent="-161925" algn="l" defTabSz="914400" rtl="0" eaLnBrk="1" fontAlgn="base" latinLnBrk="0" hangingPunct="1">
              <a:lnSpc>
                <a:spcPct val="100000"/>
              </a:lnSpc>
              <a:spcBef>
                <a:spcPct val="20000"/>
              </a:spcBef>
              <a:spcAft>
                <a:spcPct val="0"/>
              </a:spcAft>
              <a:buClrTx/>
              <a:buSzTx/>
              <a:buFontTx/>
              <a:buNone/>
              <a:tabLst>
                <a:tab pos="631825" algn="l"/>
              </a:tabLst>
              <a:defRPr/>
            </a:pP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076325" marR="0" lvl="1" indent="-554038" algn="l" defTabSz="914400" rtl="0" eaLnBrk="1" fontAlgn="base" latinLnBrk="0" hangingPunct="1">
              <a:lnSpc>
                <a:spcPct val="100000"/>
              </a:lnSpc>
              <a:spcBef>
                <a:spcPct val="20000"/>
              </a:spcBef>
              <a:spcAft>
                <a:spcPct val="0"/>
              </a:spcAft>
              <a:buClrTx/>
              <a:buSzTx/>
              <a:buFontTx/>
              <a:buNone/>
              <a:tabLst>
                <a:tab pos="631825" algn="l"/>
              </a:tabLst>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 To what extent to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rely on processor support for calls</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rather that generating explicit code for each step of the calling sequence</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68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Stack Allocation of Space-Calling Sequence</a:t>
            </a:r>
            <a:endParaRPr lang="zh-CN" altLang="en-US" dirty="0"/>
          </a:p>
        </p:txBody>
      </p:sp>
      <p:pic>
        <p:nvPicPr>
          <p:cNvPr id="4" name="图片 3"/>
          <p:cNvPicPr>
            <a:picLocks noChangeAspect="1"/>
          </p:cNvPicPr>
          <p:nvPr/>
        </p:nvPicPr>
        <p:blipFill>
          <a:blip r:embed="rId2"/>
          <a:stretch>
            <a:fillRect/>
          </a:stretch>
        </p:blipFill>
        <p:spPr>
          <a:xfrm>
            <a:off x="811540" y="1401512"/>
            <a:ext cx="3872313" cy="2820112"/>
          </a:xfrm>
          <a:prstGeom prst="rect">
            <a:avLst/>
          </a:prstGeom>
        </p:spPr>
      </p:pic>
      <p:pic>
        <p:nvPicPr>
          <p:cNvPr id="5" name="图片 4"/>
          <p:cNvPicPr>
            <a:picLocks noChangeAspect="1"/>
          </p:cNvPicPr>
          <p:nvPr/>
        </p:nvPicPr>
        <p:blipFill>
          <a:blip r:embed="rId3"/>
          <a:stretch>
            <a:fillRect/>
          </a:stretch>
        </p:blipFill>
        <p:spPr>
          <a:xfrm>
            <a:off x="722252" y="4799061"/>
            <a:ext cx="2986622" cy="317051"/>
          </a:xfrm>
          <a:prstGeom prst="rect">
            <a:avLst/>
          </a:prstGeom>
        </p:spPr>
      </p:pic>
      <p:sp>
        <p:nvSpPr>
          <p:cNvPr id="7" name="文本框 6"/>
          <p:cNvSpPr txBox="1"/>
          <p:nvPr/>
        </p:nvSpPr>
        <p:spPr>
          <a:xfrm>
            <a:off x="658026" y="4392538"/>
            <a:ext cx="1685077" cy="369332"/>
          </a:xfrm>
          <a:prstGeom prst="rect">
            <a:avLst/>
          </a:prstGeom>
          <a:noFill/>
        </p:spPr>
        <p:txBody>
          <a:bodyPr wrap="none" rtlCol="0">
            <a:spAutoFit/>
          </a:bodyPr>
          <a:lstStyle/>
          <a:p>
            <a:r>
              <a:rPr lang="en-US" altLang="zh-CN" dirty="0"/>
              <a:t>Function call</a:t>
            </a:r>
            <a:endParaRPr lang="zh-CN" altLang="en-US" dirty="0"/>
          </a:p>
        </p:txBody>
      </p:sp>
      <p:pic>
        <p:nvPicPr>
          <p:cNvPr id="9" name="图片 8"/>
          <p:cNvPicPr>
            <a:picLocks noChangeAspect="1"/>
          </p:cNvPicPr>
          <p:nvPr/>
        </p:nvPicPr>
        <p:blipFill>
          <a:blip r:embed="rId4"/>
          <a:stretch>
            <a:fillRect/>
          </a:stretch>
        </p:blipFill>
        <p:spPr>
          <a:xfrm>
            <a:off x="4773315" y="3324804"/>
            <a:ext cx="4304186" cy="1341200"/>
          </a:xfrm>
          <a:prstGeom prst="rect">
            <a:avLst/>
          </a:prstGeom>
        </p:spPr>
      </p:pic>
      <p:sp>
        <p:nvSpPr>
          <p:cNvPr id="10" name="文本框 9"/>
          <p:cNvSpPr txBox="1"/>
          <p:nvPr/>
        </p:nvSpPr>
        <p:spPr>
          <a:xfrm>
            <a:off x="4732946" y="2912690"/>
            <a:ext cx="1915909" cy="369332"/>
          </a:xfrm>
          <a:prstGeom prst="rect">
            <a:avLst/>
          </a:prstGeom>
          <a:noFill/>
        </p:spPr>
        <p:txBody>
          <a:bodyPr wrap="none" rtlCol="0">
            <a:spAutoFit/>
          </a:bodyPr>
          <a:lstStyle/>
          <a:p>
            <a:r>
              <a:rPr lang="en-US" altLang="zh-CN" dirty="0"/>
              <a:t>Function return</a:t>
            </a:r>
            <a:endParaRPr lang="zh-CN" altLang="en-US" dirty="0"/>
          </a:p>
        </p:txBody>
      </p:sp>
      <p:pic>
        <p:nvPicPr>
          <p:cNvPr id="11" name="图片 10"/>
          <p:cNvPicPr>
            <a:picLocks noChangeAspect="1"/>
          </p:cNvPicPr>
          <p:nvPr/>
        </p:nvPicPr>
        <p:blipFill>
          <a:blip r:embed="rId5"/>
          <a:stretch>
            <a:fillRect/>
          </a:stretch>
        </p:blipFill>
        <p:spPr>
          <a:xfrm>
            <a:off x="750206" y="5101839"/>
            <a:ext cx="4985384" cy="1300251"/>
          </a:xfrm>
          <a:prstGeom prst="rect">
            <a:avLst/>
          </a:prstGeom>
        </p:spPr>
      </p:pic>
      <p:sp>
        <p:nvSpPr>
          <p:cNvPr id="12" name="矩形 11"/>
          <p:cNvSpPr/>
          <p:nvPr/>
        </p:nvSpPr>
        <p:spPr>
          <a:xfrm>
            <a:off x="4695914" y="1418780"/>
            <a:ext cx="4572000" cy="523220"/>
          </a:xfrm>
          <a:prstGeom prst="rect">
            <a:avLst/>
          </a:prstGeom>
        </p:spPr>
        <p:txBody>
          <a:bodyPr>
            <a:spAutoFit/>
          </a:bodyPr>
          <a:lstStyle/>
          <a:p>
            <a:r>
              <a:rPr lang="en-US" altLang="zh-CN" sz="1400" dirty="0">
                <a:latin typeface="微软雅黑" panose="020B0503020204020204" pitchFamily="34" charset="-122"/>
                <a:ea typeface="微软雅黑" panose="020B0503020204020204" pitchFamily="34" charset="-122"/>
              </a:rPr>
              <a:t>A register </a:t>
            </a:r>
            <a:r>
              <a:rPr lang="en-US" altLang="zh-CN" sz="1400" i="1" dirty="0" err="1">
                <a:latin typeface="微软雅黑" panose="020B0503020204020204" pitchFamily="34" charset="-122"/>
                <a:ea typeface="微软雅黑" panose="020B0503020204020204" pitchFamily="34" charset="-122"/>
              </a:rPr>
              <a:t>top_sp</a:t>
            </a:r>
            <a:r>
              <a:rPr lang="en-US" altLang="zh-CN" sz="1400">
                <a:latin typeface="微软雅黑" panose="020B0503020204020204" pitchFamily="34" charset="-122"/>
                <a:ea typeface="微软雅黑" panose="020B0503020204020204" pitchFamily="34" charset="-122"/>
              </a:rPr>
              <a:t> points </a:t>
            </a:r>
            <a:r>
              <a:rPr lang="en-US" altLang="zh-CN" sz="1400" dirty="0">
                <a:latin typeface="微软雅黑" panose="020B0503020204020204" pitchFamily="34" charset="-122"/>
                <a:ea typeface="微软雅黑" panose="020B0503020204020204" pitchFamily="34" charset="-122"/>
              </a:rPr>
              <a:t>to the end of the machine status field in the current top activation record.</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476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Stack Allocation of Space-Calling Sequence</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866" y="1679244"/>
            <a:ext cx="5249008" cy="4525006"/>
          </a:xfrm>
          <a:prstGeom prst="rect">
            <a:avLst/>
          </a:prstGeom>
        </p:spPr>
      </p:pic>
    </p:spTree>
    <p:extLst>
      <p:ext uri="{BB962C8B-B14F-4D97-AF65-F5344CB8AC3E}">
        <p14:creationId xmlns:p14="http://schemas.microsoft.com/office/powerpoint/2010/main" val="16534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Fully Static Runtime Environments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3400272580"/>
              </p:ext>
            </p:extLst>
          </p:nvPr>
        </p:nvGraphicFramePr>
        <p:xfrm>
          <a:off x="1572071" y="1541640"/>
          <a:ext cx="5332932" cy="5225769"/>
        </p:xfrm>
        <a:graphic>
          <a:graphicData uri="http://schemas.openxmlformats.org/presentationml/2006/ole">
            <mc:AlternateContent xmlns:mc="http://schemas.openxmlformats.org/markup-compatibility/2006">
              <mc:Choice xmlns:v="urn:schemas-microsoft-com:vml" Requires="v">
                <p:oleObj spid="_x0000_s1070" name="文档" r:id="rId3" imgW="3675877" imgH="3610332" progId="Word.Document.8">
                  <p:embed/>
                </p:oleObj>
              </mc:Choice>
              <mc:Fallback>
                <p:oleObj name="文档" r:id="rId3" imgW="3675877" imgH="361033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2071" y="1541640"/>
                        <a:ext cx="5332932" cy="522576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8976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Fully Static Runtime Environments</a:t>
            </a:r>
            <a:endParaRPr lang="zh-CN" altLang="en-US" dirty="0"/>
          </a:p>
        </p:txBody>
      </p:sp>
      <p:sp>
        <p:nvSpPr>
          <p:cNvPr id="4" name="Rectangle 3"/>
          <p:cNvSpPr txBox="1">
            <a:spLocks noChangeArrowheads="1"/>
          </p:cNvSpPr>
          <p:nvPr/>
        </p:nvSpPr>
        <p:spPr bwMode="auto">
          <a:xfrm>
            <a:off x="591796" y="1538183"/>
            <a:ext cx="7772400" cy="502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All data are static, remaining fixed in memory for the duration of program execution</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For a language, such as FORTRAN77, no pointer or dynamic allocation, no recursive procedure calling</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 global variables and all variables are allocated statically.</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Each procedure has only a single activation record.</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All variable, whether local or global, can be accessed directly via fixed address.</a:t>
            </a:r>
            <a:endPar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7690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Fully Static Runtime Environments</a:t>
            </a:r>
            <a:endParaRPr lang="zh-CN" altLang="en-US" dirty="0"/>
          </a:p>
        </p:txBody>
      </p:sp>
      <p:sp>
        <p:nvSpPr>
          <p:cNvPr id="4" name="矩形 3"/>
          <p:cNvSpPr/>
          <p:nvPr/>
        </p:nvSpPr>
        <p:spPr>
          <a:xfrm>
            <a:off x="1110952" y="1733375"/>
            <a:ext cx="6939185" cy="3785652"/>
          </a:xfrm>
          <a:prstGeom prst="rect">
            <a:avLst/>
          </a:prstGeom>
        </p:spPr>
        <p:txBody>
          <a:bodyPr wrap="square">
            <a:spAutoFit/>
          </a:bodyPr>
          <a:lstStyle/>
          <a:p>
            <a:r>
              <a:rPr lang="en-US" altLang="zh-CN" sz="2000" dirty="0">
                <a:latin typeface="微软雅黑" panose="020B0503020204020204" pitchFamily="34" charset="-122"/>
                <a:ea typeface="微软雅黑" panose="020B0503020204020204" pitchFamily="34" charset="-122"/>
              </a:rPr>
              <a:t>Relative little overhead in terms of bookkeeping information to retain in each activation record;</a:t>
            </a:r>
          </a:p>
          <a:p>
            <a:r>
              <a:rPr lang="en-US" altLang="zh-CN" sz="2000" dirty="0">
                <a:latin typeface="微软雅黑" panose="020B0503020204020204" pitchFamily="34" charset="-122"/>
                <a:ea typeface="微软雅黑" panose="020B0503020204020204" pitchFamily="34" charset="-122"/>
              </a:rPr>
              <a:t>And no extra information about the environment needs to be kept in an activation record;</a:t>
            </a:r>
            <a:endParaRPr lang="zh-CN" altLang="en-US"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The calling sequence is simple.</a:t>
            </a:r>
          </a:p>
          <a:p>
            <a:pPr marL="800100" lvl="1" indent="-34290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Each argument is computed and stored into its appropriate parameter location;</a:t>
            </a:r>
          </a:p>
          <a:p>
            <a:pPr marL="800100" lvl="1" indent="-34290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The return address is saved, and jump to the beginning of the code of the </a:t>
            </a:r>
            <a:r>
              <a:rPr lang="en-US" altLang="zh-CN" sz="2000" dirty="0" err="1">
                <a:latin typeface="微软雅黑" panose="020B0503020204020204" pitchFamily="34" charset="-122"/>
                <a:ea typeface="微软雅黑" panose="020B0503020204020204" pitchFamily="34" charset="-122"/>
              </a:rPr>
              <a:t>callee</a:t>
            </a:r>
            <a:r>
              <a:rPr lang="en-US" altLang="zh-CN" sz="2000" dirty="0">
                <a:latin typeface="微软雅黑" panose="020B0503020204020204" pitchFamily="34" charset="-122"/>
                <a:ea typeface="微软雅黑" panose="020B0503020204020204" pitchFamily="34" charset="-122"/>
              </a:rPr>
              <a:t>;</a:t>
            </a:r>
          </a:p>
          <a:p>
            <a:pPr marL="800100" lvl="1" indent="-34290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On return, a simple jump is made to the return address.</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6035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Fully Static Runtime Environments</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994488794"/>
              </p:ext>
            </p:extLst>
          </p:nvPr>
        </p:nvGraphicFramePr>
        <p:xfrm>
          <a:off x="2156390" y="2003751"/>
          <a:ext cx="3364194" cy="1854200"/>
        </p:xfrm>
        <a:graphic>
          <a:graphicData uri="http://schemas.openxmlformats.org/drawingml/2006/table">
            <a:tbl>
              <a:tblPr firstRow="1" bandRow="1">
                <a:tableStyleId>{5940675A-B579-460E-94D1-54222C63F5DA}</a:tableStyleId>
              </a:tblPr>
              <a:tblGrid>
                <a:gridCol w="3364194">
                  <a:extLst>
                    <a:ext uri="{9D8B030D-6E8A-4147-A177-3AD203B41FA5}">
                      <a16:colId xmlns:a16="http://schemas.microsoft.com/office/drawing/2014/main" val="20000"/>
                    </a:ext>
                  </a:extLst>
                </a:gridCol>
              </a:tblGrid>
              <a:tr h="370840">
                <a:tc>
                  <a:txBody>
                    <a:bodyPr/>
                    <a:lstStyle/>
                    <a:p>
                      <a:r>
                        <a:rPr lang="en-US" altLang="zh-CN" dirty="0"/>
                        <a:t>Actual</a:t>
                      </a:r>
                      <a:r>
                        <a:rPr lang="en-US" altLang="zh-CN" baseline="0" dirty="0"/>
                        <a:t> Parameters</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Return</a:t>
                      </a:r>
                      <a:r>
                        <a:rPr lang="en-US" altLang="zh-CN" baseline="0" dirty="0"/>
                        <a:t> value</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Return</a:t>
                      </a:r>
                      <a:r>
                        <a:rPr lang="en-US" altLang="zh-CN" baseline="0" dirty="0"/>
                        <a:t> address and Saved Registers</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Local data</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Temporaries</a:t>
                      </a:r>
                      <a:endParaRPr lang="zh-CN" altLang="en-US" dirty="0"/>
                    </a:p>
                  </a:txBody>
                  <a:tcPr/>
                </a:tc>
                <a:extLst>
                  <a:ext uri="{0D108BD9-81ED-4DB2-BD59-A6C34878D82A}">
                    <a16:rowId xmlns:a16="http://schemas.microsoft.com/office/drawing/2014/main" val="10004"/>
                  </a:ext>
                </a:extLst>
              </a:tr>
            </a:tbl>
          </a:graphicData>
        </a:graphic>
      </p:graphicFrame>
      <p:sp>
        <p:nvSpPr>
          <p:cNvPr id="5" name="文本框 4"/>
          <p:cNvSpPr txBox="1"/>
          <p:nvPr/>
        </p:nvSpPr>
        <p:spPr>
          <a:xfrm>
            <a:off x="2119357" y="1410056"/>
            <a:ext cx="3762568" cy="369332"/>
          </a:xfrm>
          <a:prstGeom prst="rect">
            <a:avLst/>
          </a:prstGeom>
          <a:noFill/>
        </p:spPr>
        <p:txBody>
          <a:bodyPr wrap="none" rtlCol="0">
            <a:spAutoFit/>
          </a:bodyPr>
          <a:lstStyle/>
          <a:p>
            <a:r>
              <a:rPr lang="en-US" altLang="zh-CN" dirty="0"/>
              <a:t>Fortran 77  (activation record)</a:t>
            </a:r>
            <a:endParaRPr lang="zh-CN" altLang="en-US" dirty="0"/>
          </a:p>
        </p:txBody>
      </p:sp>
      <p:cxnSp>
        <p:nvCxnSpPr>
          <p:cNvPr id="7" name="直接箭头连接符 6"/>
          <p:cNvCxnSpPr/>
          <p:nvPr/>
        </p:nvCxnSpPr>
        <p:spPr>
          <a:xfrm>
            <a:off x="1803162" y="2179177"/>
            <a:ext cx="0" cy="111095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873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a:t>
            </a:r>
            <a:endParaRPr lang="zh-CN" altLang="en-US" dirty="0"/>
          </a:p>
        </p:txBody>
      </p:sp>
      <p:sp>
        <p:nvSpPr>
          <p:cNvPr id="3" name="Rectangle 3"/>
          <p:cNvSpPr txBox="1">
            <a:spLocks noChangeArrowheads="1"/>
          </p:cNvSpPr>
          <p:nvPr/>
        </p:nvSpPr>
        <p:spPr bwMode="auto">
          <a:xfrm>
            <a:off x="702892" y="1457384"/>
            <a:ext cx="7772400" cy="533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For a language,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in which</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Recursive calls are allowed;</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Local variables are newly allocated at each call;</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Activation records cannot be allocated statically</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endParaRPr kumimoji="0" lang="en-US" altLang="zh-CN" sz="24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Activation records must be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allocated in a stack-based fashion</a:t>
            </a: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 stack of activation records grows and shrinks with the chain of calls in the executing program.</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Each procedure may have several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different activation records on the call stack at one time</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each representing a distinct call.</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More complex strategy for bookkeeping and variable access,</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which depends heavily on the properties of the language being compiled.</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75848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4" name="Rectangle 3"/>
          <p:cNvSpPr txBox="1">
            <a:spLocks noChangeArrowheads="1"/>
          </p:cNvSpPr>
          <p:nvPr/>
        </p:nvSpPr>
        <p:spPr bwMode="auto">
          <a:xfrm>
            <a:off x="660163" y="1619754"/>
            <a:ext cx="7772400" cy="490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In a language where all properties are global (such as C language), the stack-based environment requires two things:</a:t>
            </a:r>
          </a:p>
          <a:p>
            <a:pPr marL="963613" marR="0" lvl="1" indent="-506413"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(1)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Frame pointer or fp</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 pointer to the current activation record to allow access to local variable;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Control link or dynamic link</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 point to a record of the immediately preceding activation</a:t>
            </a:r>
          </a:p>
          <a:p>
            <a:pPr marL="963613" marR="0" lvl="1" indent="-506413"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(2)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Stack pointer or sp</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 point to the last location allocated on the call stack</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395518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4" name="Rectangle 3"/>
          <p:cNvSpPr txBox="1">
            <a:spLocks noChangeArrowheads="1"/>
          </p:cNvSpPr>
          <p:nvPr/>
        </p:nvSpPr>
        <p:spPr>
          <a:xfrm>
            <a:off x="728529" y="1500113"/>
            <a:ext cx="7772400" cy="5165607"/>
          </a:xfrm>
          <a:prstGeom prst="rect">
            <a:avLst/>
          </a:prstGeom>
        </p:spPr>
        <p:txBody>
          <a:bodyPr vert="horz" lIns="0" tIns="45720" rIns="0" bIns="45720" rtlCol="0">
            <a:normAutofit fontScale="70000" lnSpcReduction="200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10000"/>
              </a:lnSpc>
            </a:pPr>
            <a:r>
              <a:rPr lang="en-US" altLang="zh-CN" sz="2400" b="1" dirty="0"/>
              <a:t>Example:</a:t>
            </a:r>
            <a:r>
              <a:rPr lang="en-US" altLang="zh-CN" sz="2400" dirty="0"/>
              <a:t> The simple recursive implementation of Euclid</a:t>
            </a:r>
            <a:r>
              <a:rPr lang="en-US" altLang="zh-CN" sz="2400" dirty="0">
                <a:latin typeface="Arial" panose="020B0604020202020204" pitchFamily="34" charset="0"/>
              </a:rPr>
              <a:t>’</a:t>
            </a:r>
            <a:r>
              <a:rPr lang="en-US" altLang="zh-CN" sz="2400" dirty="0"/>
              <a:t>s algorithm to compute the greatest common divisor of two non-negative integer</a:t>
            </a:r>
          </a:p>
          <a:p>
            <a:pPr lvl="1">
              <a:lnSpc>
                <a:spcPct val="120000"/>
              </a:lnSpc>
              <a:buFontTx/>
              <a:buNone/>
            </a:pPr>
            <a:r>
              <a:rPr lang="en-US" altLang="zh-CN" sz="1800" dirty="0"/>
              <a:t>	</a:t>
            </a:r>
          </a:p>
          <a:p>
            <a:pPr lvl="1">
              <a:lnSpc>
                <a:spcPct val="120000"/>
              </a:lnSpc>
              <a:buFontTx/>
              <a:buNone/>
            </a:pPr>
            <a:r>
              <a:rPr lang="en-US" altLang="zh-CN" sz="2200" dirty="0"/>
              <a:t>    # include &lt;</a:t>
            </a:r>
            <a:r>
              <a:rPr lang="en-US" altLang="zh-CN" sz="2200" dirty="0" err="1"/>
              <a:t>stdio.h</a:t>
            </a:r>
            <a:r>
              <a:rPr lang="en-US" altLang="zh-CN" sz="2200" dirty="0"/>
              <a:t>&gt;</a:t>
            </a:r>
          </a:p>
          <a:p>
            <a:pPr lvl="1">
              <a:lnSpc>
                <a:spcPct val="120000"/>
              </a:lnSpc>
              <a:buFontTx/>
              <a:buNone/>
            </a:pPr>
            <a:r>
              <a:rPr lang="en-US" altLang="zh-CN" sz="2200" dirty="0"/>
              <a:t>	</a:t>
            </a:r>
            <a:r>
              <a:rPr lang="en-US" altLang="zh-CN" sz="2200" dirty="0" err="1"/>
              <a:t>int</a:t>
            </a:r>
            <a:r>
              <a:rPr lang="en-US" altLang="zh-CN" sz="2200" dirty="0"/>
              <a:t> </a:t>
            </a:r>
            <a:r>
              <a:rPr lang="en-US" altLang="zh-CN" sz="2200" dirty="0" err="1"/>
              <a:t>x,y</a:t>
            </a:r>
            <a:r>
              <a:rPr lang="en-US" altLang="zh-CN" sz="2200" dirty="0"/>
              <a:t>;</a:t>
            </a:r>
          </a:p>
          <a:p>
            <a:pPr lvl="1">
              <a:lnSpc>
                <a:spcPct val="120000"/>
              </a:lnSpc>
              <a:buFontTx/>
              <a:buNone/>
            </a:pPr>
            <a:r>
              <a:rPr lang="en-US" altLang="zh-CN" sz="2200" dirty="0"/>
              <a:t>	</a:t>
            </a:r>
            <a:r>
              <a:rPr lang="en-US" altLang="zh-CN" sz="2200" dirty="0" err="1"/>
              <a:t>int</a:t>
            </a:r>
            <a:r>
              <a:rPr lang="en-US" altLang="zh-CN" sz="2200" dirty="0"/>
              <a:t> </a:t>
            </a:r>
            <a:r>
              <a:rPr lang="en-US" altLang="zh-CN" sz="2200" dirty="0" err="1"/>
              <a:t>gcd</a:t>
            </a:r>
            <a:r>
              <a:rPr lang="en-US" altLang="zh-CN" sz="2200" dirty="0"/>
              <a:t>(</a:t>
            </a:r>
            <a:r>
              <a:rPr lang="en-US" altLang="zh-CN" sz="2200" dirty="0" err="1"/>
              <a:t>int</a:t>
            </a:r>
            <a:r>
              <a:rPr lang="en-US" altLang="zh-CN" sz="2200" dirty="0"/>
              <a:t> </a:t>
            </a:r>
            <a:r>
              <a:rPr lang="en-US" altLang="zh-CN" sz="2200" dirty="0" err="1"/>
              <a:t>u,int</a:t>
            </a:r>
            <a:r>
              <a:rPr lang="en-US" altLang="zh-CN" sz="2200" dirty="0"/>
              <a:t> v)</a:t>
            </a:r>
          </a:p>
          <a:p>
            <a:pPr lvl="1">
              <a:lnSpc>
                <a:spcPct val="120000"/>
              </a:lnSpc>
              <a:buFontTx/>
              <a:buNone/>
            </a:pPr>
            <a:r>
              <a:rPr lang="en-US" altLang="zh-CN" sz="2200" dirty="0"/>
              <a:t>	{   if (v==0) return u;</a:t>
            </a:r>
          </a:p>
          <a:p>
            <a:pPr lvl="1">
              <a:lnSpc>
                <a:spcPct val="120000"/>
              </a:lnSpc>
              <a:buFontTx/>
              <a:buNone/>
            </a:pPr>
            <a:r>
              <a:rPr lang="en-US" altLang="zh-CN" sz="2200" dirty="0"/>
              <a:t>		  else return </a:t>
            </a:r>
            <a:r>
              <a:rPr lang="en-US" altLang="zh-CN" sz="2200" dirty="0" err="1"/>
              <a:t>gcd</a:t>
            </a:r>
            <a:r>
              <a:rPr lang="en-US" altLang="zh-CN" sz="2200" dirty="0"/>
              <a:t>(</a:t>
            </a:r>
            <a:r>
              <a:rPr lang="en-US" altLang="zh-CN" sz="2200" dirty="0" err="1"/>
              <a:t>v,u%v</a:t>
            </a:r>
            <a:r>
              <a:rPr lang="en-US" altLang="zh-CN" sz="2200" dirty="0"/>
              <a:t>);</a:t>
            </a:r>
          </a:p>
          <a:p>
            <a:pPr lvl="1">
              <a:lnSpc>
                <a:spcPct val="120000"/>
              </a:lnSpc>
              <a:buFontTx/>
              <a:buNone/>
            </a:pPr>
            <a:r>
              <a:rPr lang="en-US" altLang="zh-CN" sz="2200" dirty="0"/>
              <a:t>	}</a:t>
            </a:r>
          </a:p>
          <a:p>
            <a:pPr lvl="1">
              <a:lnSpc>
                <a:spcPct val="120000"/>
              </a:lnSpc>
              <a:buFontTx/>
              <a:buNone/>
            </a:pPr>
            <a:r>
              <a:rPr lang="en-US" altLang="zh-CN" sz="2200" dirty="0"/>
              <a:t>	main()</a:t>
            </a:r>
          </a:p>
          <a:p>
            <a:pPr lvl="1">
              <a:lnSpc>
                <a:spcPct val="120000"/>
              </a:lnSpc>
              <a:buFontTx/>
              <a:buNone/>
            </a:pPr>
            <a:r>
              <a:rPr lang="en-US" altLang="zh-CN" sz="2200" dirty="0"/>
              <a:t>	{   </a:t>
            </a:r>
            <a:r>
              <a:rPr lang="en-US" altLang="zh-CN" sz="2200" dirty="0" err="1"/>
              <a:t>scanf</a:t>
            </a:r>
            <a:r>
              <a:rPr lang="en-US" altLang="zh-CN" sz="2200" dirty="0"/>
              <a:t>(</a:t>
            </a:r>
            <a:r>
              <a:rPr lang="en-US" altLang="zh-CN" sz="2200" dirty="0">
                <a:latin typeface="Arial" panose="020B0604020202020204" pitchFamily="34" charset="0"/>
              </a:rPr>
              <a:t>“</a:t>
            </a:r>
            <a:r>
              <a:rPr lang="en-US" altLang="zh-CN" sz="2200" dirty="0"/>
              <a:t>%</a:t>
            </a:r>
            <a:r>
              <a:rPr lang="en-US" altLang="zh-CN" sz="2200" dirty="0" err="1"/>
              <a:t>d%d</a:t>
            </a:r>
            <a:r>
              <a:rPr lang="en-US" altLang="zh-CN" sz="2200" dirty="0">
                <a:latin typeface="Arial" panose="020B0604020202020204" pitchFamily="34" charset="0"/>
              </a:rPr>
              <a:t>”</a:t>
            </a:r>
            <a:r>
              <a:rPr lang="en-US" altLang="zh-CN" sz="2200" dirty="0"/>
              <a:t>,&amp;</a:t>
            </a:r>
            <a:r>
              <a:rPr lang="en-US" altLang="zh-CN" sz="2200" dirty="0" err="1"/>
              <a:t>x,&amp;y</a:t>
            </a:r>
            <a:r>
              <a:rPr lang="en-US" altLang="zh-CN" sz="2200" dirty="0"/>
              <a:t>);</a:t>
            </a:r>
          </a:p>
          <a:p>
            <a:pPr lvl="1">
              <a:lnSpc>
                <a:spcPct val="120000"/>
              </a:lnSpc>
              <a:buFontTx/>
              <a:buNone/>
            </a:pPr>
            <a:r>
              <a:rPr lang="en-US" altLang="zh-CN" sz="2200" dirty="0"/>
              <a:t>	    </a:t>
            </a:r>
            <a:r>
              <a:rPr lang="en-US" altLang="zh-CN" sz="2200" dirty="0" err="1"/>
              <a:t>printf</a:t>
            </a:r>
            <a:r>
              <a:rPr lang="en-US" altLang="zh-CN" sz="2200" dirty="0"/>
              <a:t>(</a:t>
            </a:r>
            <a:r>
              <a:rPr lang="en-US" altLang="zh-CN" sz="2200" dirty="0">
                <a:latin typeface="Arial" panose="020B0604020202020204" pitchFamily="34" charset="0"/>
              </a:rPr>
              <a:t>“</a:t>
            </a:r>
            <a:r>
              <a:rPr lang="en-US" altLang="zh-CN" sz="2200" dirty="0"/>
              <a:t>%d\n</a:t>
            </a:r>
            <a:r>
              <a:rPr lang="en-US" altLang="zh-CN" sz="2200" dirty="0">
                <a:latin typeface="Arial" panose="020B0604020202020204" pitchFamily="34" charset="0"/>
              </a:rPr>
              <a:t>”</a:t>
            </a:r>
            <a:r>
              <a:rPr lang="en-US" altLang="zh-CN" sz="2200" dirty="0"/>
              <a:t>,</a:t>
            </a:r>
            <a:r>
              <a:rPr lang="en-US" altLang="zh-CN" sz="2200" dirty="0" err="1"/>
              <a:t>gcd</a:t>
            </a:r>
            <a:r>
              <a:rPr lang="en-US" altLang="zh-CN" sz="2200" dirty="0"/>
              <a:t>(</a:t>
            </a:r>
            <a:r>
              <a:rPr lang="en-US" altLang="zh-CN" sz="2200" dirty="0" err="1"/>
              <a:t>x,y</a:t>
            </a:r>
            <a:r>
              <a:rPr lang="en-US" altLang="zh-CN" sz="2200" dirty="0"/>
              <a:t>));</a:t>
            </a:r>
          </a:p>
          <a:p>
            <a:pPr lvl="1">
              <a:lnSpc>
                <a:spcPct val="120000"/>
              </a:lnSpc>
              <a:buFontTx/>
              <a:buNone/>
            </a:pPr>
            <a:r>
              <a:rPr lang="en-US" altLang="zh-CN" sz="2200" dirty="0"/>
              <a:t>	    return 0;</a:t>
            </a:r>
          </a:p>
          <a:p>
            <a:pPr lvl="1">
              <a:lnSpc>
                <a:spcPct val="120000"/>
              </a:lnSpc>
              <a:buFontTx/>
              <a:buNone/>
            </a:pPr>
            <a:r>
              <a:rPr lang="en-US" altLang="zh-CN" sz="1800" dirty="0"/>
              <a:t>	}</a:t>
            </a:r>
          </a:p>
          <a:p>
            <a:pPr lvl="1">
              <a:lnSpc>
                <a:spcPct val="120000"/>
              </a:lnSpc>
              <a:buFontTx/>
              <a:buNone/>
            </a:pPr>
            <a:endParaRPr lang="en-US" altLang="zh-CN" sz="1800" dirty="0"/>
          </a:p>
          <a:p>
            <a:pPr>
              <a:lnSpc>
                <a:spcPct val="120000"/>
              </a:lnSpc>
              <a:buFontTx/>
              <a:buNone/>
            </a:pPr>
            <a:r>
              <a:rPr lang="en-US" altLang="zh-CN" sz="2400" dirty="0"/>
              <a:t>Suppose the user inputs the values 15 and 10 to this program. </a:t>
            </a:r>
            <a:endParaRPr lang="zh-CN" altLang="en-US" sz="2400" dirty="0"/>
          </a:p>
        </p:txBody>
      </p:sp>
    </p:spTree>
    <p:extLst>
      <p:ext uri="{BB962C8B-B14F-4D97-AF65-F5344CB8AC3E}">
        <p14:creationId xmlns:p14="http://schemas.microsoft.com/office/powerpoint/2010/main" val="246327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7" name="Object 103"/>
          <p:cNvGraphicFramePr>
            <a:graphicFrameLocks noChangeAspect="1"/>
          </p:cNvGraphicFramePr>
          <p:nvPr>
            <p:extLst>
              <p:ext uri="{D42A27DB-BD31-4B8C-83A1-F6EECF244321}">
                <p14:modId xmlns:p14="http://schemas.microsoft.com/office/powerpoint/2010/main" val="2377505436"/>
              </p:ext>
            </p:extLst>
          </p:nvPr>
        </p:nvGraphicFramePr>
        <p:xfrm>
          <a:off x="877888" y="1385888"/>
          <a:ext cx="6300787" cy="5151437"/>
        </p:xfrm>
        <a:graphic>
          <a:graphicData uri="http://schemas.openxmlformats.org/presentationml/2006/ole">
            <mc:AlternateContent xmlns:mc="http://schemas.openxmlformats.org/markup-compatibility/2006">
              <mc:Choice xmlns:v="urn:schemas-microsoft-com:vml" Requires="v">
                <p:oleObj spid="_x0000_s2090" name="Document" r:id="rId3" imgW="5177134" imgH="4205301" progId="Word.Document.8">
                  <p:embed/>
                </p:oleObj>
              </mc:Choice>
              <mc:Fallback>
                <p:oleObj name="Document" r:id="rId3" imgW="5177134" imgH="4205301" progId="Word.Document.8">
                  <p:embed/>
                  <p:pic>
                    <p:nvPicPr>
                      <p:cNvPr id="0" name=""/>
                      <p:cNvPicPr>
                        <a:picLocks noChangeAspect="1" noChangeArrowheads="1"/>
                      </p:cNvPicPr>
                      <p:nvPr/>
                    </p:nvPicPr>
                    <p:blipFill>
                      <a:blip r:embed="rId4"/>
                      <a:srcRect/>
                      <a:stretch>
                        <a:fillRect/>
                      </a:stretch>
                    </p:blipFill>
                    <p:spPr bwMode="auto">
                      <a:xfrm>
                        <a:off x="877888" y="1385888"/>
                        <a:ext cx="6300787" cy="51514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3997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2" name="矩形 1"/>
          <p:cNvSpPr/>
          <p:nvPr/>
        </p:nvSpPr>
        <p:spPr>
          <a:xfrm>
            <a:off x="841759" y="1400664"/>
            <a:ext cx="7575847" cy="5324535"/>
          </a:xfrm>
          <a:prstGeom prst="rect">
            <a:avLst/>
          </a:prstGeom>
        </p:spPr>
        <p:txBody>
          <a:bodyPr wrap="square">
            <a:spAutoFit/>
          </a:bodyPr>
          <a:lstStyle/>
          <a:p>
            <a:pPr marL="342900" lvl="0" indent="-342900" fontAlgn="base">
              <a:lnSpc>
                <a:spcPct val="80000"/>
              </a:lnSpc>
              <a:spcBef>
                <a:spcPct val="20000"/>
              </a:spcBef>
              <a:spcAft>
                <a:spcPct val="0"/>
              </a:spcAft>
            </a:pPr>
            <a:r>
              <a:rPr lang="en-US" altLang="zh-CN" sz="2000" b="1" dirty="0">
                <a:solidFill>
                  <a:srgbClr val="000000"/>
                </a:solidFill>
                <a:latin typeface="Times New Roman"/>
                <a:ea typeface="宋体"/>
              </a:rPr>
              <a:t>Example</a:t>
            </a:r>
            <a:r>
              <a:rPr lang="en-US" altLang="zh-CN" b="1" dirty="0">
                <a:solidFill>
                  <a:srgbClr val="000000"/>
                </a:solidFill>
                <a:latin typeface="Times New Roman"/>
                <a:ea typeface="宋体"/>
              </a:rPr>
              <a:t>:             </a:t>
            </a:r>
            <a:r>
              <a:rPr lang="en-US" altLang="zh-CN" b="1" dirty="0" err="1">
                <a:solidFill>
                  <a:srgbClr val="000000"/>
                </a:solidFill>
                <a:latin typeface="Times New Roman"/>
                <a:ea typeface="宋体"/>
              </a:rPr>
              <a:t>int</a:t>
            </a:r>
            <a:r>
              <a:rPr lang="en-US" altLang="zh-CN" b="1" dirty="0">
                <a:solidFill>
                  <a:srgbClr val="000000"/>
                </a:solidFill>
                <a:latin typeface="Times New Roman"/>
                <a:ea typeface="宋体"/>
              </a:rPr>
              <a:t> x=2;</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void g(</a:t>
            </a:r>
            <a:r>
              <a:rPr lang="en-US" altLang="zh-CN" b="1" dirty="0" err="1">
                <a:solidFill>
                  <a:srgbClr val="000000"/>
                </a:solidFill>
                <a:latin typeface="Times New Roman"/>
                <a:ea typeface="宋体"/>
              </a:rPr>
              <a:t>int</a:t>
            </a:r>
            <a:r>
              <a:rPr lang="en-US" altLang="zh-CN" b="1" dirty="0">
                <a:solidFill>
                  <a:srgbClr val="000000"/>
                </a:solidFill>
                <a:latin typeface="Times New Roman"/>
                <a:ea typeface="宋体"/>
              </a:rPr>
              <a:t>);/*prototype*/</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void f(</a:t>
            </a:r>
            <a:r>
              <a:rPr lang="en-US" altLang="zh-CN" b="1" dirty="0" err="1">
                <a:solidFill>
                  <a:srgbClr val="000000"/>
                </a:solidFill>
                <a:latin typeface="Times New Roman"/>
                <a:ea typeface="宋体"/>
              </a:rPr>
              <a:t>int</a:t>
            </a:r>
            <a:r>
              <a:rPr lang="en-US" altLang="zh-CN" b="1" dirty="0">
                <a:solidFill>
                  <a:srgbClr val="000000"/>
                </a:solidFill>
                <a:latin typeface="Times New Roman"/>
                <a:ea typeface="宋体"/>
              </a:rPr>
              <a:t> n)</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   static </a:t>
            </a:r>
            <a:r>
              <a:rPr lang="en-US" altLang="zh-CN" b="1" dirty="0" err="1">
                <a:solidFill>
                  <a:srgbClr val="000000"/>
                </a:solidFill>
                <a:latin typeface="Times New Roman"/>
                <a:ea typeface="宋体"/>
              </a:rPr>
              <a:t>int</a:t>
            </a:r>
            <a:r>
              <a:rPr lang="en-US" altLang="zh-CN" b="1" dirty="0">
                <a:solidFill>
                  <a:srgbClr val="000000"/>
                </a:solidFill>
                <a:latin typeface="Times New Roman"/>
                <a:ea typeface="宋体"/>
              </a:rPr>
              <a:t> x=1;</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g(n);</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x--;</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void g(</a:t>
            </a:r>
            <a:r>
              <a:rPr lang="en-US" altLang="zh-CN" b="1" dirty="0" err="1">
                <a:solidFill>
                  <a:srgbClr val="000000"/>
                </a:solidFill>
                <a:latin typeface="Times New Roman"/>
                <a:ea typeface="宋体"/>
              </a:rPr>
              <a:t>int</a:t>
            </a:r>
            <a:r>
              <a:rPr lang="en-US" altLang="zh-CN" b="1" dirty="0">
                <a:solidFill>
                  <a:srgbClr val="000000"/>
                </a:solidFill>
                <a:latin typeface="Times New Roman"/>
                <a:ea typeface="宋体"/>
              </a:rPr>
              <a:t> m)</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    </a:t>
            </a:r>
            <a:r>
              <a:rPr lang="en-US" altLang="zh-CN" b="1" dirty="0" err="1">
                <a:solidFill>
                  <a:srgbClr val="000000"/>
                </a:solidFill>
                <a:latin typeface="Times New Roman"/>
                <a:ea typeface="宋体"/>
              </a:rPr>
              <a:t>int</a:t>
            </a:r>
            <a:r>
              <a:rPr lang="en-US" altLang="zh-CN" b="1" dirty="0">
                <a:solidFill>
                  <a:srgbClr val="000000"/>
                </a:solidFill>
                <a:latin typeface="Times New Roman"/>
                <a:ea typeface="宋体"/>
              </a:rPr>
              <a:t> y=m-1;</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if (y&gt;0)</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    f(y);</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x--;</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g(y);</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main( )</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        g(x);</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return 0;</a:t>
            </a:r>
          </a:p>
          <a:p>
            <a:pPr marL="342900" lvl="0" indent="-342900" fontAlgn="base">
              <a:lnSpc>
                <a:spcPct val="80000"/>
              </a:lnSpc>
              <a:spcBef>
                <a:spcPct val="20000"/>
              </a:spcBef>
              <a:spcAft>
                <a:spcPct val="0"/>
              </a:spcAft>
            </a:pPr>
            <a:r>
              <a:rPr lang="en-US" altLang="zh-CN" b="1" dirty="0">
                <a:solidFill>
                  <a:srgbClr val="000000"/>
                </a:solidFill>
                <a:latin typeface="Times New Roman"/>
                <a:ea typeface="宋体"/>
              </a:rPr>
              <a:t>			}</a:t>
            </a:r>
            <a:endParaRPr lang="zh-CN" altLang="en-US" b="1" dirty="0">
              <a:solidFill>
                <a:srgbClr val="000000"/>
              </a:solidFill>
              <a:latin typeface="Times New Roman"/>
              <a:ea typeface="宋体"/>
            </a:endParaRPr>
          </a:p>
        </p:txBody>
      </p:sp>
    </p:spTree>
    <p:extLst>
      <p:ext uri="{BB962C8B-B14F-4D97-AF65-F5344CB8AC3E}">
        <p14:creationId xmlns:p14="http://schemas.microsoft.com/office/powerpoint/2010/main" val="2770860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554084041"/>
              </p:ext>
            </p:extLst>
          </p:nvPr>
        </p:nvGraphicFramePr>
        <p:xfrm>
          <a:off x="1385888" y="1584325"/>
          <a:ext cx="5983287" cy="4833938"/>
        </p:xfrm>
        <a:graphic>
          <a:graphicData uri="http://schemas.openxmlformats.org/presentationml/2006/ole">
            <mc:AlternateContent xmlns:mc="http://schemas.openxmlformats.org/markup-compatibility/2006">
              <mc:Choice xmlns:v="urn:schemas-microsoft-com:vml" Requires="v">
                <p:oleObj spid="_x0000_s3112" name="Document" r:id="rId3" imgW="4987011" imgH="4006934" progId="Word.Document.8">
                  <p:embed/>
                </p:oleObj>
              </mc:Choice>
              <mc:Fallback>
                <p:oleObj name="Document" r:id="rId3" imgW="4987011" imgH="4006934" progId="Word.Document.8">
                  <p:embed/>
                  <p:pic>
                    <p:nvPicPr>
                      <p:cNvPr id="0" name=""/>
                      <p:cNvPicPr>
                        <a:picLocks noChangeAspect="1" noChangeArrowheads="1"/>
                      </p:cNvPicPr>
                      <p:nvPr/>
                    </p:nvPicPr>
                    <p:blipFill>
                      <a:blip r:embed="rId4"/>
                      <a:srcRect/>
                      <a:stretch>
                        <a:fillRect/>
                      </a:stretch>
                    </p:blipFill>
                    <p:spPr bwMode="auto">
                      <a:xfrm>
                        <a:off x="1385888" y="1584325"/>
                        <a:ext cx="5983287" cy="48339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7233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3567556554"/>
              </p:ext>
            </p:extLst>
          </p:nvPr>
        </p:nvGraphicFramePr>
        <p:xfrm>
          <a:off x="655208" y="1459283"/>
          <a:ext cx="7958954" cy="5226934"/>
        </p:xfrm>
        <a:graphic>
          <a:graphicData uri="http://schemas.openxmlformats.org/presentationml/2006/ole">
            <mc:AlternateContent xmlns:mc="http://schemas.openxmlformats.org/markup-compatibility/2006">
              <mc:Choice xmlns:v="urn:schemas-microsoft-com:vml" Requires="v">
                <p:oleObj spid="_x0000_s4136" name="Document" r:id="rId3" imgW="5208640" imgH="3406074" progId="Word.Document.8">
                  <p:embed/>
                </p:oleObj>
              </mc:Choice>
              <mc:Fallback>
                <p:oleObj name="Document" r:id="rId3" imgW="5208640" imgH="3406074" progId="Word.Document.8">
                  <p:embed/>
                  <p:pic>
                    <p:nvPicPr>
                      <p:cNvPr id="0" name=""/>
                      <p:cNvPicPr>
                        <a:picLocks noChangeAspect="1" noChangeArrowheads="1"/>
                      </p:cNvPicPr>
                      <p:nvPr/>
                    </p:nvPicPr>
                    <p:blipFill>
                      <a:blip r:embed="rId4"/>
                      <a:srcRect/>
                      <a:stretch>
                        <a:fillRect/>
                      </a:stretch>
                    </p:blipFill>
                    <p:spPr bwMode="auto">
                      <a:xfrm>
                        <a:off x="655208" y="1459283"/>
                        <a:ext cx="7958954" cy="522693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68644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455985340"/>
              </p:ext>
            </p:extLst>
          </p:nvPr>
        </p:nvGraphicFramePr>
        <p:xfrm>
          <a:off x="969622" y="1751888"/>
          <a:ext cx="6969617" cy="4657458"/>
        </p:xfrm>
        <a:graphic>
          <a:graphicData uri="http://schemas.openxmlformats.org/presentationml/2006/ole">
            <mc:AlternateContent xmlns:mc="http://schemas.openxmlformats.org/markup-compatibility/2006">
              <mc:Choice xmlns:v="urn:schemas-microsoft-com:vml" Requires="v">
                <p:oleObj spid="_x0000_s5159" name="Document" r:id="rId3" imgW="4783127" imgH="3182866" progId="Word.Document.8">
                  <p:embed/>
                </p:oleObj>
              </mc:Choice>
              <mc:Fallback>
                <p:oleObj name="Document" r:id="rId3" imgW="4783127" imgH="3182866" progId="Word.Document.8">
                  <p:embed/>
                  <p:pic>
                    <p:nvPicPr>
                      <p:cNvPr id="0" name=""/>
                      <p:cNvPicPr>
                        <a:picLocks noChangeAspect="1" noChangeArrowheads="1"/>
                      </p:cNvPicPr>
                      <p:nvPr/>
                    </p:nvPicPr>
                    <p:blipFill>
                      <a:blip r:embed="rId4"/>
                      <a:srcRect/>
                      <a:stretch>
                        <a:fillRect/>
                      </a:stretch>
                    </p:blipFill>
                    <p:spPr bwMode="auto">
                      <a:xfrm>
                        <a:off x="969622" y="1751888"/>
                        <a:ext cx="6969617" cy="465745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29298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5" name="Rectangle 3"/>
          <p:cNvSpPr txBox="1">
            <a:spLocks noChangeArrowheads="1"/>
          </p:cNvSpPr>
          <p:nvPr/>
        </p:nvSpPr>
        <p:spPr bwMode="auto">
          <a:xfrm>
            <a:off x="685800" y="1773238"/>
            <a:ext cx="7772400"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3200" b="0" i="0" u="none" strike="noStrike" kern="1200" cap="none" spc="0" normalizeH="0" baseline="0" noProof="0">
                <a:ln>
                  <a:noFill/>
                </a:ln>
                <a:solidFill>
                  <a:srgbClr val="000000"/>
                </a:solidFill>
                <a:effectLst/>
                <a:uLnTx/>
                <a:uFillTx/>
                <a:latin typeface="Times New Roman"/>
                <a:ea typeface="宋体"/>
                <a:cs typeface="+mn-cs"/>
              </a:rPr>
              <a:t>Access to Names: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Parameters and local variable can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no longer be accessed by fixed addresses</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instead they must be found by offset from the current frame pointer.</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In most language, the offset can be statically computable by the compiler.</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059887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3" name="矩形 2"/>
          <p:cNvSpPr/>
          <p:nvPr/>
        </p:nvSpPr>
        <p:spPr>
          <a:xfrm>
            <a:off x="7268198" y="1968861"/>
            <a:ext cx="1764707" cy="2492990"/>
          </a:xfrm>
          <a:prstGeom prst="rect">
            <a:avLst/>
          </a:prstGeom>
        </p:spPr>
        <p:txBody>
          <a:bodyPr wrap="square">
            <a:spAutoFit/>
          </a:bodyPr>
          <a:lstStyle/>
          <a:p>
            <a:pPr marL="342900" marR="0" lvl="0" indent="-342900" defTabSz="914400" eaLnBrk="1" fontAlgn="base" latinLnBrk="0" hangingPunct="1">
              <a:lnSpc>
                <a:spcPct val="80000"/>
              </a:lnSpc>
              <a:spcBef>
                <a:spcPct val="2000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a:ea typeface="宋体"/>
              </a:rPr>
              <a:t>void g(</a:t>
            </a:r>
            <a:r>
              <a:rPr kumimoji="0" lang="en-US" altLang="zh-CN" sz="2000" b="1" i="0" u="none" strike="noStrike" kern="0" cap="none" spc="0" normalizeH="0" baseline="0" noProof="0" dirty="0" err="1">
                <a:ln>
                  <a:noFill/>
                </a:ln>
                <a:solidFill>
                  <a:srgbClr val="000000"/>
                </a:solidFill>
                <a:effectLst/>
                <a:uLnTx/>
                <a:uFillTx/>
                <a:latin typeface="Times New Roman"/>
                <a:ea typeface="宋体"/>
              </a:rPr>
              <a:t>int</a:t>
            </a:r>
            <a:r>
              <a:rPr kumimoji="0" lang="en-US" altLang="zh-CN" sz="2000" b="1" i="0" u="none" strike="noStrike" kern="0" cap="none" spc="0" normalizeH="0" baseline="0" noProof="0" dirty="0">
                <a:ln>
                  <a:noFill/>
                </a:ln>
                <a:solidFill>
                  <a:srgbClr val="000000"/>
                </a:solidFill>
                <a:effectLst/>
                <a:uLnTx/>
                <a:uFillTx/>
                <a:latin typeface="Times New Roman"/>
                <a:ea typeface="宋体"/>
              </a:rPr>
              <a:t> m)</a:t>
            </a:r>
          </a:p>
          <a:p>
            <a:pPr marL="342900" marR="0" lvl="0" indent="-342900" defTabSz="914400" eaLnBrk="1" fontAlgn="base" latinLnBrk="0" hangingPunct="1">
              <a:lnSpc>
                <a:spcPct val="80000"/>
              </a:lnSpc>
              <a:spcBef>
                <a:spcPct val="2000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a:ea typeface="宋体"/>
              </a:rPr>
              <a:t>{ </a:t>
            </a:r>
            <a:r>
              <a:rPr kumimoji="0" lang="en-US" altLang="zh-CN" sz="2000" b="1" i="0" u="none" strike="noStrike" kern="0" cap="none" spc="0" normalizeH="0" baseline="0" noProof="0" dirty="0" err="1">
                <a:ln>
                  <a:noFill/>
                </a:ln>
                <a:solidFill>
                  <a:srgbClr val="000000"/>
                </a:solidFill>
                <a:effectLst/>
                <a:uLnTx/>
                <a:uFillTx/>
                <a:latin typeface="Times New Roman"/>
                <a:ea typeface="宋体"/>
              </a:rPr>
              <a:t>int</a:t>
            </a:r>
            <a:r>
              <a:rPr kumimoji="0" lang="en-US" altLang="zh-CN" sz="2000" b="1" i="0" u="none" strike="noStrike" kern="0" cap="none" spc="0" normalizeH="0" baseline="0" noProof="0" dirty="0">
                <a:ln>
                  <a:noFill/>
                </a:ln>
                <a:solidFill>
                  <a:srgbClr val="000000"/>
                </a:solidFill>
                <a:effectLst/>
                <a:uLnTx/>
                <a:uFillTx/>
                <a:latin typeface="Times New Roman"/>
                <a:ea typeface="宋体"/>
              </a:rPr>
              <a:t> y=m-1;</a:t>
            </a:r>
          </a:p>
          <a:p>
            <a:pPr marL="342900" marR="0" lvl="0" indent="-342900" defTabSz="914400" eaLnBrk="1" fontAlgn="base" latinLnBrk="0" hangingPunct="1">
              <a:lnSpc>
                <a:spcPct val="80000"/>
              </a:lnSpc>
              <a:spcBef>
                <a:spcPct val="20000"/>
              </a:spcBef>
              <a:spcAft>
                <a:spcPct val="0"/>
              </a:spcAft>
              <a:buClrTx/>
              <a:buSzTx/>
              <a:buFontTx/>
              <a:buNone/>
              <a:tabLst/>
              <a:defRPr/>
            </a:pPr>
            <a:r>
              <a:rPr lang="en-US" altLang="zh-CN" sz="2000" b="1" kern="0" dirty="0">
                <a:solidFill>
                  <a:srgbClr val="000000"/>
                </a:solidFill>
                <a:latin typeface="Times New Roman"/>
                <a:ea typeface="宋体"/>
              </a:rPr>
              <a:t>   </a:t>
            </a:r>
            <a:r>
              <a:rPr kumimoji="0" lang="en-US" altLang="zh-CN" sz="2000" b="1" i="0" u="none" strike="noStrike" kern="0" cap="none" spc="0" normalizeH="0" baseline="0" noProof="0" dirty="0">
                <a:ln>
                  <a:noFill/>
                </a:ln>
                <a:solidFill>
                  <a:srgbClr val="000000"/>
                </a:solidFill>
                <a:effectLst/>
                <a:uLnTx/>
                <a:uFillTx/>
                <a:latin typeface="Times New Roman"/>
                <a:ea typeface="宋体"/>
              </a:rPr>
              <a:t>if (y&gt;0){ </a:t>
            </a:r>
          </a:p>
          <a:p>
            <a:pPr marL="342900" marR="0" lvl="0" indent="-342900" defTabSz="914400" eaLnBrk="1" fontAlgn="base" latinLnBrk="0" hangingPunct="1">
              <a:lnSpc>
                <a:spcPct val="80000"/>
              </a:lnSpc>
              <a:spcBef>
                <a:spcPct val="20000"/>
              </a:spcBef>
              <a:spcAft>
                <a:spcPct val="0"/>
              </a:spcAft>
              <a:buClrTx/>
              <a:buSzTx/>
              <a:buFontTx/>
              <a:buNone/>
              <a:tabLst/>
              <a:defRPr/>
            </a:pPr>
            <a:r>
              <a:rPr lang="en-US" altLang="zh-CN" sz="2000" b="1" kern="0" dirty="0">
                <a:solidFill>
                  <a:srgbClr val="000000"/>
                </a:solidFill>
                <a:latin typeface="Times New Roman"/>
                <a:ea typeface="宋体"/>
              </a:rPr>
              <a:t>     </a:t>
            </a:r>
            <a:r>
              <a:rPr kumimoji="0" lang="en-US" altLang="zh-CN" sz="2000" b="1" i="0" u="none" strike="noStrike" kern="0" cap="none" spc="0" normalizeH="0" baseline="0" noProof="0" dirty="0">
                <a:ln>
                  <a:noFill/>
                </a:ln>
                <a:solidFill>
                  <a:srgbClr val="000000"/>
                </a:solidFill>
                <a:effectLst/>
                <a:uLnTx/>
                <a:uFillTx/>
                <a:latin typeface="Times New Roman"/>
                <a:ea typeface="宋体"/>
              </a:rPr>
              <a:t>f(y);</a:t>
            </a:r>
          </a:p>
          <a:p>
            <a:pPr marL="342900" marR="0" lvl="0" indent="-342900" defTabSz="914400" eaLnBrk="1" fontAlgn="base" latinLnBrk="0" hangingPunct="1">
              <a:lnSpc>
                <a:spcPct val="80000"/>
              </a:lnSpc>
              <a:spcBef>
                <a:spcPct val="2000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a:ea typeface="宋体"/>
              </a:rPr>
              <a:t>	x--;</a:t>
            </a:r>
          </a:p>
          <a:p>
            <a:pPr marL="342900" marR="0" lvl="0" indent="-342900" defTabSz="914400" eaLnBrk="1" fontAlgn="base" latinLnBrk="0" hangingPunct="1">
              <a:lnSpc>
                <a:spcPct val="80000"/>
              </a:lnSpc>
              <a:spcBef>
                <a:spcPct val="2000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a:ea typeface="宋体"/>
              </a:rPr>
              <a:t>	g(y);</a:t>
            </a:r>
          </a:p>
          <a:p>
            <a:pPr marL="342900" marR="0" lvl="0" indent="-342900" defTabSz="914400" eaLnBrk="1" fontAlgn="base" latinLnBrk="0" hangingPunct="1">
              <a:lnSpc>
                <a:spcPct val="80000"/>
              </a:lnSpc>
              <a:spcBef>
                <a:spcPct val="20000"/>
              </a:spcBef>
              <a:spcAft>
                <a:spcPct val="0"/>
              </a:spcAft>
              <a:buClrTx/>
              <a:buSzTx/>
              <a:buFontTx/>
              <a:buNone/>
              <a:tabLst/>
              <a:defRPr/>
            </a:pPr>
            <a:r>
              <a:rPr lang="en-US" altLang="zh-CN" sz="2000" b="1" kern="0" dirty="0">
                <a:solidFill>
                  <a:srgbClr val="000000"/>
                </a:solidFill>
                <a:latin typeface="Times New Roman"/>
                <a:ea typeface="宋体"/>
              </a:rPr>
              <a:t>   </a:t>
            </a:r>
            <a:r>
              <a:rPr kumimoji="0" lang="en-US" altLang="zh-CN" sz="2000" b="1" i="0" u="none" strike="noStrike" kern="0" cap="none" spc="0" normalizeH="0" baseline="0" noProof="0" dirty="0">
                <a:ln>
                  <a:noFill/>
                </a:ln>
                <a:solidFill>
                  <a:srgbClr val="000000"/>
                </a:solidFill>
                <a:effectLst/>
                <a:uLnTx/>
                <a:uFillTx/>
                <a:latin typeface="Times New Roman"/>
                <a:ea typeface="宋体"/>
              </a:rPr>
              <a:t>}</a:t>
            </a:r>
          </a:p>
          <a:p>
            <a:pPr marL="342900" marR="0" lvl="0" indent="-342900" defTabSz="914400" eaLnBrk="1" fontAlgn="base" latinLnBrk="0" hangingPunct="1">
              <a:lnSpc>
                <a:spcPct val="80000"/>
              </a:lnSpc>
              <a:spcBef>
                <a:spcPct val="2000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a:ea typeface="宋体"/>
              </a:rPr>
              <a:t>}</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2285316122"/>
              </p:ext>
            </p:extLst>
          </p:nvPr>
        </p:nvGraphicFramePr>
        <p:xfrm>
          <a:off x="889460" y="1792614"/>
          <a:ext cx="5848350" cy="4337050"/>
        </p:xfrm>
        <a:graphic>
          <a:graphicData uri="http://schemas.openxmlformats.org/presentationml/2006/ole">
            <mc:AlternateContent xmlns:mc="http://schemas.openxmlformats.org/markup-compatibility/2006">
              <mc:Choice xmlns:v="urn:schemas-microsoft-com:vml" Requires="v">
                <p:oleObj spid="_x0000_s6181" name="Document" r:id="rId3" imgW="4880904" imgH="3597960" progId="Word.Document.8">
                  <p:embed/>
                </p:oleObj>
              </mc:Choice>
              <mc:Fallback>
                <p:oleObj name="Document" r:id="rId3" imgW="4880904" imgH="3597960" progId="Word.Document.8">
                  <p:embed/>
                  <p:pic>
                    <p:nvPicPr>
                      <p:cNvPr id="0" name=""/>
                      <p:cNvPicPr>
                        <a:picLocks noChangeAspect="1" noChangeArrowheads="1"/>
                      </p:cNvPicPr>
                      <p:nvPr/>
                    </p:nvPicPr>
                    <p:blipFill>
                      <a:blip r:embed="rId4"/>
                      <a:srcRect/>
                      <a:stretch>
                        <a:fillRect/>
                      </a:stretch>
                    </p:blipFill>
                    <p:spPr bwMode="auto">
                      <a:xfrm>
                        <a:off x="889460" y="1792614"/>
                        <a:ext cx="5848350" cy="43370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8898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2576200421"/>
              </p:ext>
            </p:extLst>
          </p:nvPr>
        </p:nvGraphicFramePr>
        <p:xfrm>
          <a:off x="409308" y="1307595"/>
          <a:ext cx="7974013" cy="6265863"/>
        </p:xfrm>
        <a:graphic>
          <a:graphicData uri="http://schemas.openxmlformats.org/presentationml/2006/ole">
            <mc:AlternateContent xmlns:mc="http://schemas.openxmlformats.org/markup-compatibility/2006">
              <mc:Choice xmlns:v="urn:schemas-microsoft-com:vml" Requires="v">
                <p:oleObj spid="_x0000_s7204" name="Document" r:id="rId3" imgW="5111671" imgH="4025801" progId="Word.Document.8">
                  <p:embed/>
                </p:oleObj>
              </mc:Choice>
              <mc:Fallback>
                <p:oleObj name="Document" r:id="rId3" imgW="5111671" imgH="4025801"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308" y="1307595"/>
                        <a:ext cx="7974013" cy="626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5"/>
          <p:cNvSpPr>
            <a:spLocks noChangeShapeType="1"/>
          </p:cNvSpPr>
          <p:nvPr/>
        </p:nvSpPr>
        <p:spPr bwMode="auto">
          <a:xfrm>
            <a:off x="1488808" y="4690558"/>
            <a:ext cx="865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6"/>
          <p:cNvSpPr>
            <a:spLocks noChangeShapeType="1"/>
          </p:cNvSpPr>
          <p:nvPr/>
        </p:nvSpPr>
        <p:spPr bwMode="auto">
          <a:xfrm>
            <a:off x="4657458" y="4042858"/>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8"/>
          <p:cNvSpPr>
            <a:spLocks noChangeShapeType="1"/>
          </p:cNvSpPr>
          <p:nvPr/>
        </p:nvSpPr>
        <p:spPr bwMode="auto">
          <a:xfrm>
            <a:off x="4657458" y="4403220"/>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9"/>
          <p:cNvSpPr>
            <a:spLocks noChangeShapeType="1"/>
          </p:cNvSpPr>
          <p:nvPr/>
        </p:nvSpPr>
        <p:spPr bwMode="auto">
          <a:xfrm>
            <a:off x="4657458" y="4690558"/>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10"/>
          <p:cNvSpPr>
            <a:spLocks noChangeShapeType="1"/>
          </p:cNvSpPr>
          <p:nvPr/>
        </p:nvSpPr>
        <p:spPr bwMode="auto">
          <a:xfrm>
            <a:off x="4657458" y="6274883"/>
            <a:ext cx="647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p:cNvSpPr>
            <a:spLocks noChangeShapeType="1"/>
          </p:cNvSpPr>
          <p:nvPr/>
        </p:nvSpPr>
        <p:spPr bwMode="auto">
          <a:xfrm flipV="1">
            <a:off x="4657458" y="4042858"/>
            <a:ext cx="0" cy="574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2"/>
          <p:cNvSpPr>
            <a:spLocks noChangeShapeType="1"/>
          </p:cNvSpPr>
          <p:nvPr/>
        </p:nvSpPr>
        <p:spPr bwMode="auto">
          <a:xfrm flipV="1">
            <a:off x="5017821" y="440322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3"/>
          <p:cNvSpPr>
            <a:spLocks noChangeShapeType="1"/>
          </p:cNvSpPr>
          <p:nvPr/>
        </p:nvSpPr>
        <p:spPr bwMode="auto">
          <a:xfrm>
            <a:off x="4657458" y="4690558"/>
            <a:ext cx="0" cy="1584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4"/>
          <p:cNvSpPr>
            <a:spLocks noChangeShapeType="1"/>
          </p:cNvSpPr>
          <p:nvPr/>
        </p:nvSpPr>
        <p:spPr bwMode="auto">
          <a:xfrm>
            <a:off x="5378183" y="4690558"/>
            <a:ext cx="0" cy="20177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87103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3" name="Object 4"/>
          <p:cNvGraphicFramePr>
            <a:graphicFrameLocks noChangeAspect="1"/>
          </p:cNvGraphicFramePr>
          <p:nvPr>
            <p:extLst>
              <p:ext uri="{D42A27DB-BD31-4B8C-83A1-F6EECF244321}">
                <p14:modId xmlns:p14="http://schemas.microsoft.com/office/powerpoint/2010/main" val="1504751503"/>
              </p:ext>
            </p:extLst>
          </p:nvPr>
        </p:nvGraphicFramePr>
        <p:xfrm>
          <a:off x="518207" y="1696013"/>
          <a:ext cx="8499475" cy="5012436"/>
        </p:xfrm>
        <a:graphic>
          <a:graphicData uri="http://schemas.openxmlformats.org/presentationml/2006/ole">
            <mc:AlternateContent xmlns:mc="http://schemas.openxmlformats.org/markup-compatibility/2006">
              <mc:Choice xmlns:v="urn:schemas-microsoft-com:vml" Requires="v">
                <p:oleObj spid="_x0000_s8227" name="文档" r:id="rId3" imgW="4346896" imgH="2707029" progId="Word.Document.8">
                  <p:embed/>
                </p:oleObj>
              </mc:Choice>
              <mc:Fallback>
                <p:oleObj name="文档" r:id="rId3" imgW="4346896" imgH="2707029"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207" y="1696013"/>
                        <a:ext cx="8499475" cy="501243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97823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3" name="Rectangle 3"/>
          <p:cNvSpPr txBox="1">
            <a:spLocks noChangeArrowheads="1"/>
          </p:cNvSpPr>
          <p:nvPr/>
        </p:nvSpPr>
        <p:spPr bwMode="auto">
          <a:xfrm>
            <a:off x="685800" y="1382713"/>
            <a:ext cx="7772400" cy="54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The calling sequence: </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When a procedure is called</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Compute the arguments</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 and store them in their correct positions in the new activation record of the procedure;</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Store the fp</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 as the control link in the new activation record;</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Change the fp</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 so that it points to the beginning of the new activation record;</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Store the return address</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 in the new activation record;</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Perform a jump</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 to the code of the procedure to be called.</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When a procedure exits</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Copy the </a:t>
            </a: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fp</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 to the </a:t>
            </a: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sp</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Load the control link into the </a:t>
            </a: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fp</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Perform a jump to the return address;</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Change the </a:t>
            </a:r>
            <a:r>
              <a:rPr kumimoji="0" lang="en-US" altLang="zh-CN" sz="2000" b="1" i="0" u="none" strike="noStrike" kern="1200" cap="none" spc="0" normalizeH="0" baseline="0" noProof="0">
                <a:ln>
                  <a:noFill/>
                </a:ln>
                <a:solidFill>
                  <a:srgbClr val="000000"/>
                </a:solidFill>
                <a:effectLst/>
                <a:uLnTx/>
                <a:uFillTx/>
                <a:latin typeface="Times New Roman"/>
                <a:ea typeface="宋体"/>
                <a:cs typeface="+mn-cs"/>
              </a:rPr>
              <a:t>sp </a:t>
            </a: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to pop the arguments.</a:t>
            </a:r>
            <a:endPar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800931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3" name="Object 4"/>
          <p:cNvGraphicFramePr>
            <a:graphicFrameLocks noChangeAspect="1"/>
          </p:cNvGraphicFramePr>
          <p:nvPr>
            <p:extLst>
              <p:ext uri="{D42A27DB-BD31-4B8C-83A1-F6EECF244321}">
                <p14:modId xmlns:p14="http://schemas.microsoft.com/office/powerpoint/2010/main" val="382521306"/>
              </p:ext>
            </p:extLst>
          </p:nvPr>
        </p:nvGraphicFramePr>
        <p:xfrm>
          <a:off x="-389872" y="1700183"/>
          <a:ext cx="9637713" cy="4737100"/>
        </p:xfrm>
        <a:graphic>
          <a:graphicData uri="http://schemas.openxmlformats.org/presentationml/2006/ole">
            <mc:AlternateContent xmlns:mc="http://schemas.openxmlformats.org/markup-compatibility/2006">
              <mc:Choice xmlns:v="urn:schemas-microsoft-com:vml" Requires="v">
                <p:oleObj spid="_x0000_s9249" name="Document" r:id="rId3" imgW="5317503" imgH="2619903" progId="Word.Document.8">
                  <p:embed/>
                </p:oleObj>
              </mc:Choice>
              <mc:Fallback>
                <p:oleObj name="Document" r:id="rId3" imgW="5317503" imgH="261990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872" y="1700183"/>
                        <a:ext cx="9637713" cy="473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Line 5"/>
          <p:cNvSpPr>
            <a:spLocks noChangeShapeType="1"/>
          </p:cNvSpPr>
          <p:nvPr/>
        </p:nvSpPr>
        <p:spPr bwMode="auto">
          <a:xfrm>
            <a:off x="1631016" y="4598958"/>
            <a:ext cx="10080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6"/>
          <p:cNvSpPr>
            <a:spLocks noChangeShapeType="1"/>
          </p:cNvSpPr>
          <p:nvPr/>
        </p:nvSpPr>
        <p:spPr bwMode="auto">
          <a:xfrm>
            <a:off x="1557991" y="5391120"/>
            <a:ext cx="10810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7"/>
          <p:cNvSpPr>
            <a:spLocks noChangeShapeType="1"/>
          </p:cNvSpPr>
          <p:nvPr/>
        </p:nvSpPr>
        <p:spPr bwMode="auto">
          <a:xfrm flipH="1">
            <a:off x="1991378" y="4383058"/>
            <a:ext cx="12239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8"/>
          <p:cNvSpPr>
            <a:spLocks noChangeShapeType="1"/>
          </p:cNvSpPr>
          <p:nvPr/>
        </p:nvSpPr>
        <p:spPr bwMode="auto">
          <a:xfrm flipV="1">
            <a:off x="1991378" y="3590895"/>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111133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3" name="Object 4"/>
          <p:cNvGraphicFramePr>
            <a:graphicFrameLocks noChangeAspect="1"/>
          </p:cNvGraphicFramePr>
          <p:nvPr>
            <p:extLst>
              <p:ext uri="{D42A27DB-BD31-4B8C-83A1-F6EECF244321}">
                <p14:modId xmlns:p14="http://schemas.microsoft.com/office/powerpoint/2010/main" val="1807200360"/>
              </p:ext>
            </p:extLst>
          </p:nvPr>
        </p:nvGraphicFramePr>
        <p:xfrm>
          <a:off x="253229" y="1962447"/>
          <a:ext cx="8785225" cy="4675188"/>
        </p:xfrm>
        <a:graphic>
          <a:graphicData uri="http://schemas.openxmlformats.org/presentationml/2006/ole">
            <mc:AlternateContent xmlns:mc="http://schemas.openxmlformats.org/markup-compatibility/2006">
              <mc:Choice xmlns:v="urn:schemas-microsoft-com:vml" Requires="v">
                <p:oleObj spid="_x0000_s10273" name="文档" r:id="rId3" imgW="4975528" imgH="2649425" progId="Word.Document.8">
                  <p:embed/>
                </p:oleObj>
              </mc:Choice>
              <mc:Fallback>
                <p:oleObj name="文档" r:id="rId3" imgW="4975528" imgH="2649425"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29" y="1962447"/>
                        <a:ext cx="8785225" cy="467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Line 5"/>
          <p:cNvSpPr>
            <a:spLocks noChangeShapeType="1"/>
          </p:cNvSpPr>
          <p:nvPr/>
        </p:nvSpPr>
        <p:spPr bwMode="auto">
          <a:xfrm>
            <a:off x="2196329" y="4124622"/>
            <a:ext cx="10080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6"/>
          <p:cNvSpPr>
            <a:spLocks noChangeShapeType="1"/>
          </p:cNvSpPr>
          <p:nvPr/>
        </p:nvSpPr>
        <p:spPr bwMode="auto">
          <a:xfrm>
            <a:off x="2053454" y="5348585"/>
            <a:ext cx="12239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7"/>
          <p:cNvSpPr>
            <a:spLocks noChangeShapeType="1"/>
          </p:cNvSpPr>
          <p:nvPr/>
        </p:nvSpPr>
        <p:spPr bwMode="auto">
          <a:xfrm flipH="1">
            <a:off x="2629717" y="3908722"/>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8"/>
          <p:cNvSpPr>
            <a:spLocks noChangeShapeType="1"/>
          </p:cNvSpPr>
          <p:nvPr/>
        </p:nvSpPr>
        <p:spPr bwMode="auto">
          <a:xfrm flipV="1">
            <a:off x="2629717" y="2757785"/>
            <a:ext cx="0" cy="11509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83242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3" name="Object 4"/>
          <p:cNvGraphicFramePr>
            <a:graphicFrameLocks noChangeAspect="1"/>
          </p:cNvGraphicFramePr>
          <p:nvPr>
            <p:extLst>
              <p:ext uri="{D42A27DB-BD31-4B8C-83A1-F6EECF244321}">
                <p14:modId xmlns:p14="http://schemas.microsoft.com/office/powerpoint/2010/main" val="3304033296"/>
              </p:ext>
            </p:extLst>
          </p:nvPr>
        </p:nvGraphicFramePr>
        <p:xfrm>
          <a:off x="318375" y="1737141"/>
          <a:ext cx="8497887" cy="4806950"/>
        </p:xfrm>
        <a:graphic>
          <a:graphicData uri="http://schemas.openxmlformats.org/presentationml/2006/ole">
            <mc:AlternateContent xmlns:mc="http://schemas.openxmlformats.org/markup-compatibility/2006">
              <mc:Choice xmlns:v="urn:schemas-microsoft-com:vml" Requires="v">
                <p:oleObj spid="_x0000_s11297" name="文档" r:id="rId3" imgW="5158011" imgH="2917643" progId="Word.Document.8">
                  <p:embed/>
                </p:oleObj>
              </mc:Choice>
              <mc:Fallback>
                <p:oleObj name="文档" r:id="rId3" imgW="5158011" imgH="291764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375" y="1737141"/>
                        <a:ext cx="8497887" cy="480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Line 5"/>
          <p:cNvSpPr>
            <a:spLocks noChangeShapeType="1"/>
          </p:cNvSpPr>
          <p:nvPr/>
        </p:nvSpPr>
        <p:spPr bwMode="auto">
          <a:xfrm>
            <a:off x="2191625" y="5048666"/>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6"/>
          <p:cNvSpPr>
            <a:spLocks noChangeShapeType="1"/>
          </p:cNvSpPr>
          <p:nvPr/>
        </p:nvSpPr>
        <p:spPr bwMode="auto">
          <a:xfrm flipH="1">
            <a:off x="2407525" y="4761329"/>
            <a:ext cx="11509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7"/>
          <p:cNvSpPr>
            <a:spLocks noChangeShapeType="1"/>
          </p:cNvSpPr>
          <p:nvPr/>
        </p:nvSpPr>
        <p:spPr bwMode="auto">
          <a:xfrm flipV="1">
            <a:off x="2407525" y="3680241"/>
            <a:ext cx="0" cy="10810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8"/>
          <p:cNvSpPr>
            <a:spLocks noChangeShapeType="1"/>
          </p:cNvSpPr>
          <p:nvPr/>
        </p:nvSpPr>
        <p:spPr bwMode="auto">
          <a:xfrm flipV="1">
            <a:off x="2407525" y="3464341"/>
            <a:ext cx="719137"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9"/>
          <p:cNvSpPr>
            <a:spLocks noChangeShapeType="1"/>
          </p:cNvSpPr>
          <p:nvPr/>
        </p:nvSpPr>
        <p:spPr bwMode="auto">
          <a:xfrm>
            <a:off x="2334500" y="3392904"/>
            <a:ext cx="5762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88626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9" name="Object 4"/>
          <p:cNvGraphicFramePr>
            <a:graphicFrameLocks noChangeAspect="1"/>
          </p:cNvGraphicFramePr>
          <p:nvPr>
            <p:extLst>
              <p:ext uri="{D42A27DB-BD31-4B8C-83A1-F6EECF244321}">
                <p14:modId xmlns:p14="http://schemas.microsoft.com/office/powerpoint/2010/main" val="3517182947"/>
              </p:ext>
            </p:extLst>
          </p:nvPr>
        </p:nvGraphicFramePr>
        <p:xfrm>
          <a:off x="93930" y="1673225"/>
          <a:ext cx="8785225" cy="5184775"/>
        </p:xfrm>
        <a:graphic>
          <a:graphicData uri="http://schemas.openxmlformats.org/presentationml/2006/ole">
            <mc:AlternateContent xmlns:mc="http://schemas.openxmlformats.org/markup-compatibility/2006">
              <mc:Choice xmlns:v="urn:schemas-microsoft-com:vml" Requires="v">
                <p:oleObj spid="_x0000_s12321" name="文档" r:id="rId3" imgW="5659838" imgH="3340673" progId="Word.Document.8">
                  <p:embed/>
                </p:oleObj>
              </mc:Choice>
              <mc:Fallback>
                <p:oleObj name="文档" r:id="rId3" imgW="5659838" imgH="334067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30" y="1673225"/>
                        <a:ext cx="8785225" cy="51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Line 5"/>
          <p:cNvSpPr>
            <a:spLocks noChangeShapeType="1"/>
          </p:cNvSpPr>
          <p:nvPr/>
        </p:nvSpPr>
        <p:spPr bwMode="auto">
          <a:xfrm>
            <a:off x="2254517" y="57054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6"/>
          <p:cNvSpPr>
            <a:spLocks noChangeShapeType="1"/>
          </p:cNvSpPr>
          <p:nvPr/>
        </p:nvSpPr>
        <p:spPr bwMode="auto">
          <a:xfrm>
            <a:off x="2183080" y="5273675"/>
            <a:ext cx="7191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7"/>
          <p:cNvSpPr>
            <a:spLocks noChangeShapeType="1"/>
          </p:cNvSpPr>
          <p:nvPr/>
        </p:nvSpPr>
        <p:spPr bwMode="auto">
          <a:xfrm flipH="1">
            <a:off x="2398980" y="4841875"/>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8"/>
          <p:cNvSpPr>
            <a:spLocks noChangeShapeType="1"/>
          </p:cNvSpPr>
          <p:nvPr/>
        </p:nvSpPr>
        <p:spPr bwMode="auto">
          <a:xfrm flipV="1">
            <a:off x="2398980" y="3976687"/>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9"/>
          <p:cNvSpPr>
            <a:spLocks noChangeShapeType="1"/>
          </p:cNvSpPr>
          <p:nvPr/>
        </p:nvSpPr>
        <p:spPr bwMode="auto">
          <a:xfrm flipV="1">
            <a:off x="2398980" y="3760787"/>
            <a:ext cx="5746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0"/>
          <p:cNvSpPr>
            <a:spLocks noChangeShapeType="1"/>
          </p:cNvSpPr>
          <p:nvPr/>
        </p:nvSpPr>
        <p:spPr bwMode="auto">
          <a:xfrm flipH="1">
            <a:off x="2470417" y="3402012"/>
            <a:ext cx="792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1"/>
          <p:cNvSpPr>
            <a:spLocks noChangeShapeType="1"/>
          </p:cNvSpPr>
          <p:nvPr/>
        </p:nvSpPr>
        <p:spPr bwMode="auto">
          <a:xfrm flipV="1">
            <a:off x="2470417" y="2681287"/>
            <a:ext cx="0" cy="720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26983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9" name="Object 4"/>
          <p:cNvGraphicFramePr>
            <a:graphicFrameLocks noChangeAspect="1"/>
          </p:cNvGraphicFramePr>
          <p:nvPr>
            <p:extLst>
              <p:ext uri="{D42A27DB-BD31-4B8C-83A1-F6EECF244321}">
                <p14:modId xmlns:p14="http://schemas.microsoft.com/office/powerpoint/2010/main" val="1763991871"/>
              </p:ext>
            </p:extLst>
          </p:nvPr>
        </p:nvGraphicFramePr>
        <p:xfrm>
          <a:off x="296018" y="1661044"/>
          <a:ext cx="8394700" cy="5411787"/>
        </p:xfrm>
        <a:graphic>
          <a:graphicData uri="http://schemas.openxmlformats.org/presentationml/2006/ole">
            <mc:AlternateContent xmlns:mc="http://schemas.openxmlformats.org/markup-compatibility/2006">
              <mc:Choice xmlns:v="urn:schemas-microsoft-com:vml" Requires="v">
                <p:oleObj spid="_x0000_s13345" name="文档" r:id="rId3" imgW="5571315" imgH="3584781" progId="Word.Document.8">
                  <p:embed/>
                </p:oleObj>
              </mc:Choice>
              <mc:Fallback>
                <p:oleObj name="文档" r:id="rId3" imgW="5571315" imgH="3584781"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18" y="1661044"/>
                        <a:ext cx="8394700" cy="541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Line 5"/>
          <p:cNvSpPr>
            <a:spLocks noChangeShapeType="1"/>
          </p:cNvSpPr>
          <p:nvPr/>
        </p:nvSpPr>
        <p:spPr bwMode="auto">
          <a:xfrm>
            <a:off x="1974078" y="5990602"/>
            <a:ext cx="9571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6"/>
          <p:cNvSpPr>
            <a:spLocks noChangeShapeType="1"/>
          </p:cNvSpPr>
          <p:nvPr/>
        </p:nvSpPr>
        <p:spPr bwMode="auto">
          <a:xfrm>
            <a:off x="2051051" y="5087507"/>
            <a:ext cx="865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7"/>
          <p:cNvSpPr>
            <a:spLocks noChangeShapeType="1"/>
          </p:cNvSpPr>
          <p:nvPr/>
        </p:nvSpPr>
        <p:spPr bwMode="auto">
          <a:xfrm flipH="1">
            <a:off x="2343047" y="4756669"/>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8"/>
          <p:cNvSpPr>
            <a:spLocks noChangeShapeType="1"/>
          </p:cNvSpPr>
          <p:nvPr/>
        </p:nvSpPr>
        <p:spPr bwMode="auto">
          <a:xfrm>
            <a:off x="2343047" y="3964506"/>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9"/>
          <p:cNvSpPr>
            <a:spLocks noChangeShapeType="1"/>
          </p:cNvSpPr>
          <p:nvPr/>
        </p:nvSpPr>
        <p:spPr bwMode="auto">
          <a:xfrm flipV="1">
            <a:off x="2343047" y="3748606"/>
            <a:ext cx="50482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0"/>
          <p:cNvSpPr>
            <a:spLocks noChangeShapeType="1"/>
          </p:cNvSpPr>
          <p:nvPr/>
        </p:nvSpPr>
        <p:spPr bwMode="auto">
          <a:xfrm flipH="1">
            <a:off x="2271609" y="338983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1"/>
          <p:cNvSpPr>
            <a:spLocks noChangeShapeType="1"/>
          </p:cNvSpPr>
          <p:nvPr/>
        </p:nvSpPr>
        <p:spPr bwMode="auto">
          <a:xfrm flipV="1">
            <a:off x="2271609" y="2597669"/>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13665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5" name="Rectangle 3"/>
          <p:cNvSpPr txBox="1">
            <a:spLocks noChangeArrowheads="1"/>
          </p:cNvSpPr>
          <p:nvPr/>
        </p:nvSpPr>
        <p:spPr bwMode="auto">
          <a:xfrm>
            <a:off x="702892" y="1831145"/>
            <a:ext cx="7772400"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Dealing with variable-length data</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 number of arguments in a call may vary from call to call, and</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 size of an array parameter or a local array variable may vary from call to call</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An example of situation 1 is the printf function in C:</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Printf(</a:t>
            </a:r>
            <a:r>
              <a:rPr kumimoji="0"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%d%s%c</a:t>
            </a:r>
            <a:r>
              <a:rPr kumimoji="0"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,n,prompt,ch)</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Has four arguments, while</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Printf(</a:t>
            </a:r>
            <a:r>
              <a:rPr kumimoji="0"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Hello, world\n</a:t>
            </a:r>
            <a:r>
              <a:rPr kumimoji="0"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altLang="zh-CN" sz="2000" b="0" i="0" u="none" strike="noStrike" kern="1200" cap="none" spc="0" normalizeH="0" baseline="0" noProof="0">
                <a:ln>
                  <a:noFill/>
                </a:ln>
                <a:solidFill>
                  <a:srgbClr val="000000"/>
                </a:solidFill>
                <a:effectLst/>
                <a:uLnTx/>
                <a:uFillTx/>
                <a:latin typeface="Times New Roman"/>
                <a:ea typeface="宋体"/>
                <a:cs typeface="+mn-cs"/>
              </a:rPr>
              <a:t>Has only one argument</a:t>
            </a:r>
            <a:endPar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30366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4" name="Rectangle 3"/>
          <p:cNvSpPr txBox="1">
            <a:spLocks noChangeArrowheads="1"/>
          </p:cNvSpPr>
          <p:nvPr/>
        </p:nvSpPr>
        <p:spPr bwMode="auto">
          <a:xfrm>
            <a:off x="660162" y="1696326"/>
            <a:ext cx="77724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C compiler typically deal with this by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pushing the arguments to a call in reverse order</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onto the runtime stack. The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first parameter is always located at a fixed offset from the fp</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in the implementation described above</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Another option is to use a processor mechanism such as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ap (argument pointer)</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in VAX architecture.</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49200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4" name="Rectangle 3"/>
          <p:cNvSpPr txBox="1">
            <a:spLocks noChangeArrowheads="1"/>
          </p:cNvSpPr>
          <p:nvPr/>
        </p:nvSpPr>
        <p:spPr bwMode="auto">
          <a:xfrm>
            <a:off x="634525" y="1540440"/>
            <a:ext cx="7772400" cy="518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Local Temporaries and Nested Declarations:</a:t>
            </a: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936625" marR="0" lvl="1" indent="-414338"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Two more complications to the basic stack-based runtime environment</a:t>
            </a:r>
          </a:p>
          <a:p>
            <a:pPr marL="936625" marR="0" lvl="1" indent="-414338"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(1) Local temporaries are partial results of computations that must be saved across procedure calls, for example:</a:t>
            </a:r>
          </a:p>
          <a:p>
            <a:pPr marL="936625" marR="0" lvl="1" indent="-414338"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x[i] = (i + j) *(i/k + f(j))</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The three partial results need to be saved across the call to f:</a:t>
            </a:r>
          </a:p>
          <a:p>
            <a:pPr marL="936625" marR="0" lvl="1" indent="-414338"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The address x[i];</a:t>
            </a:r>
          </a:p>
          <a:p>
            <a:pPr marL="936625" marR="0" lvl="1" indent="-414338"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The sum i+j;</a:t>
            </a:r>
          </a:p>
          <a:p>
            <a:pPr marL="936625" marR="0" lvl="1" indent="-414338"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The quotient i/k;</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94394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3313181093"/>
              </p:ext>
            </p:extLst>
          </p:nvPr>
        </p:nvGraphicFramePr>
        <p:xfrm>
          <a:off x="109909" y="1458676"/>
          <a:ext cx="8717897" cy="4796846"/>
        </p:xfrm>
        <a:graphic>
          <a:graphicData uri="http://schemas.openxmlformats.org/presentationml/2006/ole">
            <mc:AlternateContent xmlns:mc="http://schemas.openxmlformats.org/markup-compatibility/2006">
              <mc:Choice xmlns:v="urn:schemas-microsoft-com:vml" Requires="v">
                <p:oleObj spid="_x0000_s14365" name="Document" r:id="rId3" imgW="5599387" imgH="3065863" progId="Word.Document.8">
                  <p:embed/>
                </p:oleObj>
              </mc:Choice>
              <mc:Fallback>
                <p:oleObj name="Document" r:id="rId3" imgW="5599387" imgH="3065863" progId="Word.Document.8">
                  <p:embed/>
                  <p:pic>
                    <p:nvPicPr>
                      <p:cNvPr id="0" name=""/>
                      <p:cNvPicPr>
                        <a:picLocks noChangeAspect="1" noChangeArrowheads="1"/>
                      </p:cNvPicPr>
                      <p:nvPr/>
                    </p:nvPicPr>
                    <p:blipFill>
                      <a:blip r:embed="rId4"/>
                      <a:srcRect/>
                      <a:stretch>
                        <a:fillRect/>
                      </a:stretch>
                    </p:blipFill>
                    <p:spPr bwMode="auto">
                      <a:xfrm>
                        <a:off x="109909" y="1458676"/>
                        <a:ext cx="8717897" cy="4796846"/>
                      </a:xfrm>
                      <a:prstGeom prst="rect">
                        <a:avLst/>
                      </a:prstGeom>
                      <a:noFill/>
                      <a:ln>
                        <a:noFill/>
                      </a:ln>
                      <a:effectLst/>
                    </p:spPr>
                  </p:pic>
                </p:oleObj>
              </mc:Fallback>
            </mc:AlternateContent>
          </a:graphicData>
        </a:graphic>
      </p:graphicFrame>
      <p:sp>
        <p:nvSpPr>
          <p:cNvPr id="7" name="Line 7"/>
          <p:cNvSpPr>
            <a:spLocks noChangeShapeType="1"/>
          </p:cNvSpPr>
          <p:nvPr/>
        </p:nvSpPr>
        <p:spPr bwMode="auto">
          <a:xfrm flipH="1">
            <a:off x="2332245" y="2904977"/>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8"/>
          <p:cNvSpPr>
            <a:spLocks noChangeShapeType="1"/>
          </p:cNvSpPr>
          <p:nvPr/>
        </p:nvSpPr>
        <p:spPr bwMode="auto">
          <a:xfrm flipV="1">
            <a:off x="2340791" y="2039790"/>
            <a:ext cx="0" cy="865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89793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sp>
        <p:nvSpPr>
          <p:cNvPr id="4" name="Rectangle 3"/>
          <p:cNvSpPr txBox="1">
            <a:spLocks noChangeArrowheads="1"/>
          </p:cNvSpPr>
          <p:nvPr/>
        </p:nvSpPr>
        <p:spPr bwMode="auto">
          <a:xfrm>
            <a:off x="1110953" y="1267939"/>
            <a:ext cx="7415613" cy="5590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Nested declarations present a similar problem. Consider the C code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void p( </a:t>
            </a:r>
            <a:r>
              <a:rPr kumimoji="0" lang="en-US" altLang="zh-CN" sz="1600" b="1"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x, double y)</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 char a;</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I;</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endPar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A:{double x;</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j;</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endPar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endPar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B:{char *a;</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k;</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endPar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endPar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rPr>
              <a:t>		}</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16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There are two block (also called compound statement), labeled A and B nested inside the body of procedure p.</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The nested local declaration does not need to be allocated until entered;</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Both A and B do not need to be allocated simultaneously.</a:t>
            </a:r>
            <a:endParaRPr kumimoji="0" lang="zh-CN" altLang="en-US" sz="16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422984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3728255074"/>
              </p:ext>
            </p:extLst>
          </p:nvPr>
        </p:nvGraphicFramePr>
        <p:xfrm>
          <a:off x="162370" y="1612068"/>
          <a:ext cx="8469313" cy="5335588"/>
        </p:xfrm>
        <a:graphic>
          <a:graphicData uri="http://schemas.openxmlformats.org/presentationml/2006/ole">
            <mc:AlternateContent xmlns:mc="http://schemas.openxmlformats.org/markup-compatibility/2006">
              <mc:Choice xmlns:v="urn:schemas-microsoft-com:vml" Requires="v">
                <p:oleObj spid="_x0000_s15388" name="文档" r:id="rId3" imgW="5571315" imgH="3494551" progId="Word.Document.8">
                  <p:embed/>
                </p:oleObj>
              </mc:Choice>
              <mc:Fallback>
                <p:oleObj name="文档" r:id="rId3" imgW="5571315" imgH="3494551"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370" y="1612068"/>
                        <a:ext cx="8469313" cy="533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5"/>
          <p:cNvSpPr>
            <a:spLocks noChangeShapeType="1"/>
          </p:cNvSpPr>
          <p:nvPr/>
        </p:nvSpPr>
        <p:spPr bwMode="auto">
          <a:xfrm>
            <a:off x="1676845" y="5647493"/>
            <a:ext cx="865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6"/>
          <p:cNvSpPr>
            <a:spLocks noChangeShapeType="1"/>
          </p:cNvSpPr>
          <p:nvPr/>
        </p:nvSpPr>
        <p:spPr bwMode="auto">
          <a:xfrm>
            <a:off x="1605408" y="4063168"/>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7"/>
          <p:cNvSpPr>
            <a:spLocks noChangeShapeType="1"/>
          </p:cNvSpPr>
          <p:nvPr/>
        </p:nvSpPr>
        <p:spPr bwMode="auto">
          <a:xfrm flipH="1">
            <a:off x="1965770" y="3918706"/>
            <a:ext cx="10080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8"/>
          <p:cNvSpPr>
            <a:spLocks noChangeShapeType="1"/>
          </p:cNvSpPr>
          <p:nvPr/>
        </p:nvSpPr>
        <p:spPr bwMode="auto">
          <a:xfrm flipV="1">
            <a:off x="1965770" y="2910643"/>
            <a:ext cx="0" cy="100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09962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Environments-Without Local Procedures</a:t>
            </a:r>
            <a:endParaRPr lang="zh-CN" altLang="en-US" dirty="0"/>
          </a:p>
        </p:txBody>
      </p:sp>
      <p:graphicFrame>
        <p:nvGraphicFramePr>
          <p:cNvPr id="4" name="Object 75"/>
          <p:cNvGraphicFramePr>
            <a:graphicFrameLocks noChangeAspect="1"/>
          </p:cNvGraphicFramePr>
          <p:nvPr>
            <p:extLst>
              <p:ext uri="{D42A27DB-BD31-4B8C-83A1-F6EECF244321}">
                <p14:modId xmlns:p14="http://schemas.microsoft.com/office/powerpoint/2010/main" val="2391863066"/>
              </p:ext>
            </p:extLst>
          </p:nvPr>
        </p:nvGraphicFramePr>
        <p:xfrm>
          <a:off x="326966" y="1599428"/>
          <a:ext cx="8559800" cy="5172075"/>
        </p:xfrm>
        <a:graphic>
          <a:graphicData uri="http://schemas.openxmlformats.org/presentationml/2006/ole">
            <mc:AlternateContent xmlns:mc="http://schemas.openxmlformats.org/markup-compatibility/2006">
              <mc:Choice xmlns:v="urn:schemas-microsoft-com:vml" Requires="v">
                <p:oleObj spid="_x0000_s16412" name="文档" r:id="rId3" imgW="5431735" imgH="3286669" progId="Word.Document.8">
                  <p:embed/>
                </p:oleObj>
              </mc:Choice>
              <mc:Fallback>
                <p:oleObj name="文档" r:id="rId3" imgW="5431735" imgH="3286669"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966" y="1599428"/>
                        <a:ext cx="8559800" cy="517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76"/>
          <p:cNvSpPr>
            <a:spLocks noChangeShapeType="1"/>
          </p:cNvSpPr>
          <p:nvPr/>
        </p:nvSpPr>
        <p:spPr bwMode="auto">
          <a:xfrm>
            <a:off x="2057341" y="5425303"/>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77"/>
          <p:cNvSpPr>
            <a:spLocks noChangeShapeType="1"/>
          </p:cNvSpPr>
          <p:nvPr/>
        </p:nvSpPr>
        <p:spPr bwMode="auto">
          <a:xfrm>
            <a:off x="1841441" y="3840978"/>
            <a:ext cx="865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78"/>
          <p:cNvSpPr>
            <a:spLocks noChangeShapeType="1"/>
          </p:cNvSpPr>
          <p:nvPr/>
        </p:nvSpPr>
        <p:spPr bwMode="auto">
          <a:xfrm flipH="1">
            <a:off x="2417704" y="3625078"/>
            <a:ext cx="7207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79"/>
          <p:cNvSpPr>
            <a:spLocks noChangeShapeType="1"/>
          </p:cNvSpPr>
          <p:nvPr/>
        </p:nvSpPr>
        <p:spPr bwMode="auto">
          <a:xfrm flipV="1">
            <a:off x="2417704" y="2543991"/>
            <a:ext cx="0" cy="1081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31845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 Local Procedures</a:t>
            </a:r>
            <a:endParaRPr lang="zh-CN" altLang="en-US" dirty="0"/>
          </a:p>
        </p:txBody>
      </p:sp>
      <p:sp>
        <p:nvSpPr>
          <p:cNvPr id="4" name="Rectangle 3"/>
          <p:cNvSpPr txBox="1">
            <a:spLocks noChangeArrowheads="1"/>
          </p:cNvSpPr>
          <p:nvPr/>
        </p:nvSpPr>
        <p:spPr bwMode="auto">
          <a:xfrm>
            <a:off x="1010540" y="1339376"/>
            <a:ext cx="7772400" cy="5454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Consider the non-local and non-global references</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Example: Pascal program showing nonlocal,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nonglobal</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reference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Program </a:t>
            </a:r>
            <a:r>
              <a:rPr kumimoji="0" lang="en-US" altLang="zh-CN" sz="1600" b="0" i="0" u="none" strike="noStrike" kern="1200" cap="none" spc="0" normalizeH="0" baseline="0" noProof="0" dirty="0" err="1">
                <a:ln>
                  <a:noFill/>
                </a:ln>
                <a:solidFill>
                  <a:srgbClr val="000000"/>
                </a:solidFill>
                <a:effectLst/>
                <a:uLnTx/>
                <a:uFillTx/>
                <a:latin typeface="Times New Roman"/>
                <a:ea typeface="宋体"/>
                <a:cs typeface="+mn-cs"/>
              </a:rPr>
              <a:t>nonlocalRef</a:t>
            </a: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Procedure 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600" b="0" i="0" u="none" strike="noStrike" kern="1200" cap="none" spc="0" normalizeH="0" baseline="0" noProof="0" dirty="0" err="1">
                <a:ln>
                  <a:noFill/>
                </a:ln>
                <a:solidFill>
                  <a:srgbClr val="000000"/>
                </a:solidFill>
                <a:effectLst/>
                <a:uLnTx/>
                <a:uFillTx/>
                <a:latin typeface="Times New Roman"/>
                <a:ea typeface="宋体"/>
                <a:cs typeface="+mn-cs"/>
              </a:rPr>
              <a:t>Var</a:t>
            </a: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N: integer;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Procedure Q;</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Begin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 a reference to N is now non-local </a:t>
            </a:r>
            <a:r>
              <a:rPr kumimoji="0" lang="en-US" altLang="zh-CN" sz="1600" b="0" i="0" u="none" strike="noStrike" kern="1200" cap="none" spc="0" normalizeH="0" baseline="0" noProof="0" dirty="0" err="1">
                <a:ln>
                  <a:noFill/>
                </a:ln>
                <a:solidFill>
                  <a:srgbClr val="000000"/>
                </a:solidFill>
                <a:effectLst/>
                <a:uLnTx/>
                <a:uFillTx/>
                <a:latin typeface="Times New Roman"/>
                <a:ea typeface="宋体"/>
                <a:cs typeface="+mn-cs"/>
              </a:rPr>
              <a:t>andnon</a:t>
            </a: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-global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end; (* q*)</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Procedure R(N: integer);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Begin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Q;</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End;(*r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Begin(*p*)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N:=1;</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R(2);</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End ;(*p*)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Begin (* main*)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Times New Roman"/>
                <a:ea typeface="宋体"/>
                <a:cs typeface="+mn-cs"/>
              </a:rPr>
              <a:t>	End.</a:t>
            </a:r>
            <a:endParaRPr kumimoji="0" lang="zh-CN" altLang="en-US" sz="16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988861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 Local Procedures</a:t>
            </a:r>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1292680662"/>
              </p:ext>
            </p:extLst>
          </p:nvPr>
        </p:nvGraphicFramePr>
        <p:xfrm>
          <a:off x="390525" y="1526893"/>
          <a:ext cx="8453438" cy="4872037"/>
        </p:xfrm>
        <a:graphic>
          <a:graphicData uri="http://schemas.openxmlformats.org/presentationml/2006/ole">
            <mc:AlternateContent xmlns:mc="http://schemas.openxmlformats.org/markup-compatibility/2006">
              <mc:Choice xmlns:v="urn:schemas-microsoft-com:vml" Requires="v">
                <p:oleObj spid="_x0000_s17432" name="文档" r:id="rId3" imgW="5206864" imgH="3009810" progId="Word.Document.8">
                  <p:embed/>
                </p:oleObj>
              </mc:Choice>
              <mc:Fallback>
                <p:oleObj name="文档" r:id="rId3" imgW="5206864" imgH="300981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525" y="1526893"/>
                        <a:ext cx="8453438" cy="4872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5"/>
          <p:cNvSpPr>
            <a:spLocks noChangeShapeType="1"/>
          </p:cNvSpPr>
          <p:nvPr/>
        </p:nvSpPr>
        <p:spPr bwMode="auto">
          <a:xfrm>
            <a:off x="1187450" y="5395630"/>
            <a:ext cx="7921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 name="Line 6"/>
          <p:cNvSpPr>
            <a:spLocks noChangeShapeType="1"/>
          </p:cNvSpPr>
          <p:nvPr/>
        </p:nvSpPr>
        <p:spPr bwMode="auto">
          <a:xfrm>
            <a:off x="1116013" y="5035268"/>
            <a:ext cx="8636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Line 7"/>
          <p:cNvSpPr>
            <a:spLocks noChangeShapeType="1"/>
          </p:cNvSpPr>
          <p:nvPr/>
        </p:nvSpPr>
        <p:spPr bwMode="auto">
          <a:xfrm flipH="1">
            <a:off x="1403350" y="4890805"/>
            <a:ext cx="9366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 name="Line 8"/>
          <p:cNvSpPr>
            <a:spLocks noChangeShapeType="1"/>
          </p:cNvSpPr>
          <p:nvPr/>
        </p:nvSpPr>
        <p:spPr bwMode="auto">
          <a:xfrm flipV="1">
            <a:off x="1403350" y="4532030"/>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 name="Line 9"/>
          <p:cNvSpPr>
            <a:spLocks noChangeShapeType="1"/>
          </p:cNvSpPr>
          <p:nvPr/>
        </p:nvSpPr>
        <p:spPr bwMode="auto">
          <a:xfrm>
            <a:off x="1403350" y="4532030"/>
            <a:ext cx="72072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 name="Line 10"/>
          <p:cNvSpPr>
            <a:spLocks noChangeShapeType="1"/>
          </p:cNvSpPr>
          <p:nvPr/>
        </p:nvSpPr>
        <p:spPr bwMode="auto">
          <a:xfrm flipH="1">
            <a:off x="1476375" y="4243105"/>
            <a:ext cx="18002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 name="Line 12"/>
          <p:cNvSpPr>
            <a:spLocks noChangeShapeType="1"/>
          </p:cNvSpPr>
          <p:nvPr/>
        </p:nvSpPr>
        <p:spPr bwMode="auto">
          <a:xfrm flipV="1">
            <a:off x="1476375" y="3379505"/>
            <a:ext cx="0" cy="8636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Line 13"/>
          <p:cNvSpPr>
            <a:spLocks noChangeShapeType="1"/>
          </p:cNvSpPr>
          <p:nvPr/>
        </p:nvSpPr>
        <p:spPr bwMode="auto">
          <a:xfrm>
            <a:off x="1476375" y="3379505"/>
            <a:ext cx="6477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14"/>
          <p:cNvSpPr>
            <a:spLocks noChangeShapeType="1"/>
          </p:cNvSpPr>
          <p:nvPr/>
        </p:nvSpPr>
        <p:spPr bwMode="auto">
          <a:xfrm flipH="1">
            <a:off x="1403350" y="3019143"/>
            <a:ext cx="15843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Line 15"/>
          <p:cNvSpPr>
            <a:spLocks noChangeShapeType="1"/>
          </p:cNvSpPr>
          <p:nvPr/>
        </p:nvSpPr>
        <p:spPr bwMode="auto">
          <a:xfrm flipV="1">
            <a:off x="1403350" y="2442880"/>
            <a:ext cx="0" cy="576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28831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 Local Procedures</a:t>
            </a:r>
            <a:endParaRPr lang="zh-CN" altLang="en-US" dirty="0"/>
          </a:p>
        </p:txBody>
      </p:sp>
      <p:sp>
        <p:nvSpPr>
          <p:cNvPr id="4" name="Rectangle 3"/>
          <p:cNvSpPr txBox="1">
            <a:spLocks noChangeArrowheads="1"/>
          </p:cNvSpPr>
          <p:nvPr/>
        </p:nvSpPr>
        <p:spPr bwMode="auto">
          <a:xfrm>
            <a:off x="685800" y="1583168"/>
            <a:ext cx="7772400" cy="518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N cannot be found using any of the bookkeeping</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information that is kept in the runtime environment up to now</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To solve the above problem about variable access, we add an extra piece of bookkeeping information called the </a:t>
            </a:r>
            <a:r>
              <a:rPr kumimoji="0" lang="en-US" altLang="zh-CN" sz="2800" b="1" i="1" u="none" strike="noStrike" kern="1200" cap="none" spc="0" normalizeH="0" baseline="0" noProof="0">
                <a:ln>
                  <a:noFill/>
                </a:ln>
                <a:solidFill>
                  <a:srgbClr val="000000"/>
                </a:solidFill>
                <a:effectLst/>
                <a:uLnTx/>
                <a:uFillTx/>
                <a:latin typeface="Times New Roman"/>
                <a:ea typeface="宋体"/>
                <a:cs typeface="+mn-cs"/>
              </a:rPr>
              <a:t>access link</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to each activation record</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Access link</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represents the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defining environment</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of the procedure;</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Control link</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represents the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calling environment</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of the procedure.</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944180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 Local Procedures</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416914114"/>
              </p:ext>
            </p:extLst>
          </p:nvPr>
        </p:nvGraphicFramePr>
        <p:xfrm>
          <a:off x="591025" y="1678136"/>
          <a:ext cx="8208963" cy="5686425"/>
        </p:xfrm>
        <a:graphic>
          <a:graphicData uri="http://schemas.openxmlformats.org/presentationml/2006/ole">
            <mc:AlternateContent xmlns:mc="http://schemas.openxmlformats.org/markup-compatibility/2006">
              <mc:Choice xmlns:v="urn:schemas-microsoft-com:vml" Requires="v">
                <p:oleObj spid="_x0000_s18455" name="文档" r:id="rId3" imgW="5206864" imgH="3614292" progId="Word.Document.8">
                  <p:embed/>
                </p:oleObj>
              </mc:Choice>
              <mc:Fallback>
                <p:oleObj name="文档" r:id="rId3" imgW="5206864" imgH="361429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025" y="1678136"/>
                        <a:ext cx="8208963" cy="568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p:cNvSpPr>
            <a:spLocks noChangeShapeType="1"/>
          </p:cNvSpPr>
          <p:nvPr/>
        </p:nvSpPr>
        <p:spPr bwMode="auto">
          <a:xfrm>
            <a:off x="4839175" y="4702323"/>
            <a:ext cx="12239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Line 6"/>
          <p:cNvSpPr>
            <a:spLocks noChangeShapeType="1"/>
          </p:cNvSpPr>
          <p:nvPr/>
        </p:nvSpPr>
        <p:spPr bwMode="auto">
          <a:xfrm flipV="1">
            <a:off x="6063138" y="3694261"/>
            <a:ext cx="0" cy="10080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 name="Line 7"/>
          <p:cNvSpPr>
            <a:spLocks noChangeShapeType="1"/>
          </p:cNvSpPr>
          <p:nvPr/>
        </p:nvSpPr>
        <p:spPr bwMode="auto">
          <a:xfrm flipH="1">
            <a:off x="5918675" y="3694261"/>
            <a:ext cx="1444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 name="Line 8"/>
          <p:cNvSpPr>
            <a:spLocks noChangeShapeType="1"/>
          </p:cNvSpPr>
          <p:nvPr/>
        </p:nvSpPr>
        <p:spPr bwMode="auto">
          <a:xfrm>
            <a:off x="4839175" y="5638948"/>
            <a:ext cx="13684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 name="Line 9"/>
          <p:cNvSpPr>
            <a:spLocks noChangeShapeType="1"/>
          </p:cNvSpPr>
          <p:nvPr/>
        </p:nvSpPr>
        <p:spPr bwMode="auto">
          <a:xfrm flipV="1">
            <a:off x="6207600" y="3694261"/>
            <a:ext cx="0" cy="19446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 name="Line 10"/>
          <p:cNvSpPr>
            <a:spLocks noChangeShapeType="1"/>
          </p:cNvSpPr>
          <p:nvPr/>
        </p:nvSpPr>
        <p:spPr bwMode="auto">
          <a:xfrm flipH="1">
            <a:off x="6136163" y="3694261"/>
            <a:ext cx="7143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Line 11"/>
          <p:cNvSpPr>
            <a:spLocks noChangeShapeType="1"/>
          </p:cNvSpPr>
          <p:nvPr/>
        </p:nvSpPr>
        <p:spPr bwMode="auto">
          <a:xfrm>
            <a:off x="1383188" y="6358086"/>
            <a:ext cx="71913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12"/>
          <p:cNvSpPr>
            <a:spLocks noChangeShapeType="1"/>
          </p:cNvSpPr>
          <p:nvPr/>
        </p:nvSpPr>
        <p:spPr bwMode="auto">
          <a:xfrm>
            <a:off x="1383188" y="5997723"/>
            <a:ext cx="6477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Line 13"/>
          <p:cNvSpPr>
            <a:spLocks noChangeShapeType="1"/>
          </p:cNvSpPr>
          <p:nvPr/>
        </p:nvSpPr>
        <p:spPr bwMode="auto">
          <a:xfrm flipH="1">
            <a:off x="2030888" y="5926286"/>
            <a:ext cx="12969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Line 14"/>
          <p:cNvSpPr>
            <a:spLocks noChangeShapeType="1"/>
          </p:cNvSpPr>
          <p:nvPr/>
        </p:nvSpPr>
        <p:spPr bwMode="auto">
          <a:xfrm flipV="1">
            <a:off x="2030888" y="5134123"/>
            <a:ext cx="0" cy="7921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Line 15"/>
          <p:cNvSpPr>
            <a:spLocks noChangeShapeType="1"/>
          </p:cNvSpPr>
          <p:nvPr/>
        </p:nvSpPr>
        <p:spPr bwMode="auto">
          <a:xfrm>
            <a:off x="2030888" y="5134123"/>
            <a:ext cx="2159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Line 16"/>
          <p:cNvSpPr>
            <a:spLocks noChangeShapeType="1"/>
          </p:cNvSpPr>
          <p:nvPr/>
        </p:nvSpPr>
        <p:spPr bwMode="auto">
          <a:xfrm flipH="1">
            <a:off x="1959450" y="4989661"/>
            <a:ext cx="14398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Line 17"/>
          <p:cNvSpPr>
            <a:spLocks noChangeShapeType="1"/>
          </p:cNvSpPr>
          <p:nvPr/>
        </p:nvSpPr>
        <p:spPr bwMode="auto">
          <a:xfrm flipV="1">
            <a:off x="1959450" y="3694261"/>
            <a:ext cx="0" cy="12954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 name="Line 18"/>
          <p:cNvSpPr>
            <a:spLocks noChangeShapeType="1"/>
          </p:cNvSpPr>
          <p:nvPr/>
        </p:nvSpPr>
        <p:spPr bwMode="auto">
          <a:xfrm>
            <a:off x="1959450" y="3694261"/>
            <a:ext cx="287338"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Line 19"/>
          <p:cNvSpPr>
            <a:spLocks noChangeShapeType="1"/>
          </p:cNvSpPr>
          <p:nvPr/>
        </p:nvSpPr>
        <p:spPr bwMode="auto">
          <a:xfrm flipH="1">
            <a:off x="1959450" y="3406923"/>
            <a:ext cx="14398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Line 20"/>
          <p:cNvSpPr>
            <a:spLocks noChangeShapeType="1"/>
          </p:cNvSpPr>
          <p:nvPr/>
        </p:nvSpPr>
        <p:spPr bwMode="auto">
          <a:xfrm flipV="1">
            <a:off x="1959450" y="2686198"/>
            <a:ext cx="0" cy="72072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230692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Stack-Based Runtime Environments-With Local Procedures</a:t>
            </a:r>
            <a:endParaRPr lang="zh-CN" altLang="en-US" dirty="0"/>
          </a:p>
        </p:txBody>
      </p:sp>
      <p:sp>
        <p:nvSpPr>
          <p:cNvPr id="22" name="Rectangle 3"/>
          <p:cNvSpPr txBox="1">
            <a:spLocks noChangeArrowheads="1"/>
          </p:cNvSpPr>
          <p:nvPr/>
        </p:nvSpPr>
        <p:spPr bwMode="auto">
          <a:xfrm>
            <a:off x="611188" y="1628775"/>
            <a:ext cx="7772400" cy="396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3200" b="1" i="0" u="none" strike="noStrike" kern="1200" cap="none" spc="0" normalizeH="0" baseline="0" noProof="0" dirty="0">
                <a:ln>
                  <a:noFill/>
                </a:ln>
                <a:solidFill>
                  <a:srgbClr val="000000"/>
                </a:solidFill>
                <a:effectLst/>
                <a:uLnTx/>
                <a:uFillTx/>
                <a:latin typeface="Times New Roman"/>
                <a:ea typeface="宋体"/>
                <a:cs typeface="+mn-cs"/>
              </a:rPr>
              <a:t>Note: </a:t>
            </a:r>
            <a:endParaRPr kumimoji="0" lang="en-US" altLang="zh-CN" sz="3200" b="0" i="0" u="none" strike="noStrike" kern="1200" cap="none" spc="0" normalizeH="0" baseline="0" noProof="0" dirty="0">
              <a:ln>
                <a:noFill/>
              </a:ln>
              <a:solidFill>
                <a:srgbClr val="000000"/>
              </a:solidFill>
              <a:effectLst/>
              <a:uLnTx/>
              <a:uFillTx/>
              <a:latin typeface="Times New Roman"/>
              <a:ea typeface="宋体"/>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The activation record of procedure p itself contains no access link, as any nonlocal reference with p must be a global reference and is accessed via the global reference mechanism</a:t>
            </a:r>
          </a:p>
          <a:p>
            <a:pPr marL="742950" marR="0" lvl="1" indent="-285750" algn="l" defTabSz="914400" rtl="0" eaLnBrk="1" fontAlgn="base" latinLnBrk="0" hangingPunct="1">
              <a:lnSpc>
                <a:spcPct val="90000"/>
              </a:lnSpc>
              <a:spcBef>
                <a:spcPct val="20000"/>
              </a:spcBef>
              <a:spcAft>
                <a:spcPct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This is the simplest situation, where the nonlocal reference is to a declaration </a:t>
            </a: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in the next outermost scope.</a:t>
            </a:r>
            <a:endPar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836772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972529" y="117504"/>
            <a:ext cx="7485512" cy="1096962"/>
          </a:xfrm>
          <a:prstGeom prst="rect">
            <a:avLst/>
          </a:prstGeom>
        </p:spPr>
        <p:txBody>
          <a:bodyPr vert="horz" lIns="0" tIns="45720" rIns="0" bIns="45720" rtlCol="0" anchor="b">
            <a:normAutofit/>
          </a:bodyPr>
          <a:lst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a:lstStyle>
          <a:p>
            <a:r>
              <a:rPr lang="en-US" altLang="zh-CN" dirty="0"/>
              <a:t>8.5 Stack-Based Runtime Environments-With Local Procedures</a:t>
            </a:r>
            <a:endParaRPr lang="zh-CN" altLang="en-US" dirty="0"/>
          </a:p>
        </p:txBody>
      </p:sp>
      <p:sp>
        <p:nvSpPr>
          <p:cNvPr id="5" name="Rectangle 3"/>
          <p:cNvSpPr txBox="1">
            <a:spLocks noChangeArrowheads="1"/>
          </p:cNvSpPr>
          <p:nvPr/>
        </p:nvSpPr>
        <p:spPr bwMode="auto">
          <a:xfrm>
            <a:off x="1001994" y="1382713"/>
            <a:ext cx="7772400" cy="54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Example: Pascal code demonstrating access chaining</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400" b="1" i="0" u="none" strike="noStrike" kern="1200" cap="none" spc="0" normalizeH="0" baseline="0" noProof="0" dirty="0">
                <a:ln>
                  <a:noFill/>
                </a:ln>
                <a:solidFill>
                  <a:srgbClr val="000000"/>
                </a:solidFill>
                <a:effectLst/>
                <a:uLnTx/>
                <a:uFillTx/>
                <a:latin typeface="Times New Roman"/>
                <a:ea typeface="宋体"/>
                <a:cs typeface="+mn-cs"/>
              </a:rPr>
              <a:t>Program chain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Procedure 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400" b="0" i="0" u="none" strike="noStrike" kern="1200" cap="none" spc="0" normalizeH="0" baseline="0" noProof="0" dirty="0" err="1">
                <a:ln>
                  <a:noFill/>
                </a:ln>
                <a:solidFill>
                  <a:srgbClr val="000000"/>
                </a:solidFill>
                <a:effectLst/>
                <a:uLnTx/>
                <a:uFillTx/>
                <a:latin typeface="Times New Roman"/>
                <a:ea typeface="宋体"/>
                <a:cs typeface="+mn-cs"/>
              </a:rPr>
              <a:t>var</a:t>
            </a: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x: integer;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Procedure q;</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Procedure 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Begin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x:=2;</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endPar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if </a:t>
            </a: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then 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end;(*r*)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begin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end;(*q*)</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begin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q;</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a:ea typeface="宋体"/>
                <a:cs typeface="+mn-cs"/>
              </a:rPr>
              <a:t>		end;(*p*)</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lang="en-US" altLang="zh-CN" sz="1400" dirty="0">
              <a:solidFill>
                <a:srgbClr val="000000"/>
              </a:solidFill>
              <a:latin typeface="Times New Roman"/>
              <a:ea typeface="宋体"/>
            </a:endParaRPr>
          </a:p>
          <a:p>
            <a:pPr lvl="0" eaLnBrk="1" hangingPunct="1">
              <a:buNone/>
              <a:defRPr/>
            </a:pPr>
            <a:r>
              <a:rPr lang="en-US" altLang="zh-CN" sz="1400" dirty="0">
                <a:solidFill>
                  <a:srgbClr val="000000"/>
                </a:solidFill>
                <a:latin typeface="Times New Roman"/>
                <a:ea typeface="宋体"/>
              </a:rPr>
              <a:t>                    begin(* main *)</a:t>
            </a:r>
          </a:p>
          <a:p>
            <a:pPr lvl="0" eaLnBrk="1" hangingPunct="1">
              <a:buNone/>
              <a:defRPr/>
            </a:pPr>
            <a:r>
              <a:rPr lang="en-US" altLang="zh-CN" sz="1400" dirty="0">
                <a:solidFill>
                  <a:srgbClr val="000000"/>
                </a:solidFill>
                <a:latin typeface="Times New Roman"/>
                <a:ea typeface="宋体"/>
              </a:rPr>
              <a:t>	                    p;</a:t>
            </a:r>
          </a:p>
          <a:p>
            <a:pPr lvl="0" eaLnBrk="1" hangingPunct="1">
              <a:buNone/>
              <a:defRPr/>
            </a:pPr>
            <a:r>
              <a:rPr lang="en-US" altLang="zh-CN" sz="1400" dirty="0">
                <a:solidFill>
                  <a:srgbClr val="000000"/>
                </a:solidFill>
                <a:latin typeface="Times New Roman"/>
                <a:ea typeface="宋体"/>
              </a:rPr>
              <a:t>		end.</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zh-CN" altLang="en-US" sz="1400" b="1" i="0" u="sng"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7658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8.5 Stack-Based Runtime Environments-With Local Procedures</a:t>
            </a:r>
            <a:endParaRPr lang="zh-CN" altLang="en-US" dirty="0"/>
          </a:p>
        </p:txBody>
      </p:sp>
      <p:sp>
        <p:nvSpPr>
          <p:cNvPr id="5" name="Rectangle 2"/>
          <p:cNvSpPr txBox="1">
            <a:spLocks noChangeArrowheads="1"/>
          </p:cNvSpPr>
          <p:nvPr/>
        </p:nvSpPr>
        <p:spPr bwMode="auto">
          <a:xfrm>
            <a:off x="651616" y="1261648"/>
            <a:ext cx="7772400" cy="54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3200" b="0" i="0" u="none" strike="noStrike" kern="1200" cap="none" spc="0" normalizeH="0" baseline="0" noProof="0" dirty="0">
                <a:ln>
                  <a:noFill/>
                </a:ln>
                <a:solidFill>
                  <a:srgbClr val="000000"/>
                </a:solidFill>
                <a:effectLst/>
                <a:uLnTx/>
                <a:uFillTx/>
                <a:latin typeface="Times New Roman"/>
                <a:ea typeface="宋体"/>
                <a:cs typeface="+mn-cs"/>
              </a:rPr>
              <a:t>		</a:t>
            </a:r>
            <a:endPar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In this code, the assignment to x inside r, which refers to the x of p, must </a:t>
            </a: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traverse two scope levels</a:t>
            </a: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 to find x</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In this environment, x must be reached by following tow access links, a process that is called </a:t>
            </a: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access chaining</a:t>
            </a:r>
            <a:endPar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3401553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8.5 Stack-Based Runtime Environments-With Local Procedures</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646425396"/>
              </p:ext>
            </p:extLst>
          </p:nvPr>
        </p:nvGraphicFramePr>
        <p:xfrm>
          <a:off x="553148" y="1289109"/>
          <a:ext cx="8004175" cy="5332413"/>
        </p:xfrm>
        <a:graphic>
          <a:graphicData uri="http://schemas.openxmlformats.org/presentationml/2006/ole">
            <mc:AlternateContent xmlns:mc="http://schemas.openxmlformats.org/markup-compatibility/2006">
              <mc:Choice xmlns:v="urn:schemas-microsoft-com:vml" Requires="v">
                <p:oleObj spid="_x0000_s19478" name="Document" r:id="rId3" imgW="5134401" imgH="3406074" progId="Word.Document.8">
                  <p:embed/>
                </p:oleObj>
              </mc:Choice>
              <mc:Fallback>
                <p:oleObj name="Document" r:id="rId3" imgW="5134401" imgH="3406074" progId="Word.Document.8">
                  <p:embed/>
                  <p:pic>
                    <p:nvPicPr>
                      <p:cNvPr id="0" name=""/>
                      <p:cNvPicPr>
                        <a:picLocks noChangeAspect="1" noChangeArrowheads="1"/>
                      </p:cNvPicPr>
                      <p:nvPr/>
                    </p:nvPicPr>
                    <p:blipFill>
                      <a:blip r:embed="rId4"/>
                      <a:srcRect/>
                      <a:stretch>
                        <a:fillRect/>
                      </a:stretch>
                    </p:blipFill>
                    <p:spPr bwMode="auto">
                      <a:xfrm>
                        <a:off x="553148" y="1289109"/>
                        <a:ext cx="8004175" cy="533241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8395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8.5 Stack-Based Runtime Environments-With Local Procedures</a:t>
            </a:r>
            <a:endParaRPr lang="zh-CN" altLang="en-US" dirty="0"/>
          </a:p>
        </p:txBody>
      </p:sp>
      <p:sp>
        <p:nvSpPr>
          <p:cNvPr id="5" name="Rectangle 3"/>
          <p:cNvSpPr txBox="1">
            <a:spLocks noChangeArrowheads="1"/>
          </p:cNvSpPr>
          <p:nvPr/>
        </p:nvSpPr>
        <p:spPr bwMode="auto">
          <a:xfrm>
            <a:off x="506338" y="1457384"/>
            <a:ext cx="7772400" cy="533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Note:</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amount of chaining</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determined by</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comparing the nesting level at the point of access with one of the declaration of the name</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In the above situation, the assignment to x is at nesting level 3, and x is declared at the nesting level 1, so two access links must be followed</a:t>
            </a:r>
          </a:p>
          <a:p>
            <a:pPr marL="742950" marR="0" lvl="1" indent="-285750" algn="l" defTabSz="914400" rtl="0" eaLnBrk="1" fontAlgn="base" latinLnBrk="0" hangingPunct="1">
              <a:lnSpc>
                <a:spcPct val="80000"/>
              </a:lnSpc>
              <a:spcBef>
                <a:spcPct val="20000"/>
              </a:spcBef>
              <a:spcAft>
                <a:spcPct val="0"/>
              </a:spcAft>
              <a:buClrTx/>
              <a:buSzTx/>
              <a:buFontTx/>
              <a:buNone/>
              <a:tabLst/>
              <a:defRPr/>
            </a:pPr>
            <a:endParaRPr kumimoji="0" lang="en-US" altLang="zh-CN" sz="2400" b="0" i="0" u="none" strike="noStrike" kern="1200" cap="none" spc="0" normalizeH="0" baseline="0" noProof="0">
              <a:ln>
                <a:noFill/>
              </a:ln>
              <a:solidFill>
                <a:srgbClr val="000000"/>
              </a:solidFill>
              <a:effectLst/>
              <a:uLnTx/>
              <a:uFillTx/>
              <a:latin typeface="Times New Roman"/>
              <a:ea typeface="宋体"/>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However, the access chaining is an inefficient method for variable access, for each nonlocal reference with a large nesting difference, a lengthy sequence of instruction must be executed.</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There is a method of implementing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access links in a lookup table indexed by nesting level</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called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display</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to avoid the execution overhead of chaining.</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656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8.5 Stack-Based Runtime Environments-With Local Procedures</a:t>
            </a:r>
            <a:endParaRPr lang="zh-CN" altLang="en-US" dirty="0"/>
          </a:p>
        </p:txBody>
      </p:sp>
      <p:sp>
        <p:nvSpPr>
          <p:cNvPr id="6" name="Rectangle 3"/>
          <p:cNvSpPr txBox="1">
            <a:spLocks noChangeArrowheads="1"/>
          </p:cNvSpPr>
          <p:nvPr/>
        </p:nvSpPr>
        <p:spPr bwMode="auto">
          <a:xfrm>
            <a:off x="608888" y="1382713"/>
            <a:ext cx="7772400" cy="54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The calling sequence</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The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changes needed</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to implement access links:</a:t>
            </a:r>
          </a:p>
          <a:p>
            <a:pPr marL="966788" marR="0" lvl="1" indent="-509588"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(1) The access link must be pushed onto the runtime stack just before the fp during a call</a:t>
            </a:r>
          </a:p>
          <a:p>
            <a:pPr marL="966788" marR="0" lvl="1" indent="-509588"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(2) The sp must be adjusted by an extra amount to remove the access link after an exit</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How to find the access link of a procedure during a call?</a:t>
            </a:r>
          </a:p>
          <a:p>
            <a:pPr marL="966788" marR="0" lvl="1" indent="-509588"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Using the (compile-time) nesting level information attached to the declaration of the procedure</a:t>
            </a:r>
          </a:p>
          <a:p>
            <a:pPr marL="966788" marR="0" lvl="1" indent="-509588"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Generate an access chain as if to access a variable at the same nesting level</a:t>
            </a:r>
          </a:p>
          <a:p>
            <a:pPr marL="966788" marR="0" lvl="1" indent="-509588" algn="l" defTabSz="914400" rtl="0" eaLnBrk="1" fontAlgn="base" latinLnBrk="0" hangingPunct="1">
              <a:lnSpc>
                <a:spcPct val="80000"/>
              </a:lnSpc>
              <a:spcBef>
                <a:spcPct val="20000"/>
              </a:spcBef>
              <a:spcAft>
                <a:spcPct val="0"/>
              </a:spcAft>
              <a:buClrTx/>
              <a:buSzTx/>
              <a:buFontTx/>
              <a:buChar char="–"/>
              <a:tabLst/>
              <a:defRPr/>
            </a:pP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The access link and the control link are the same, if the procedure is local</a:t>
            </a:r>
            <a:endPar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79504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8.6 Fully Dynamic Runtime Environments</a:t>
            </a:r>
            <a:endParaRPr lang="zh-CN" altLang="en-US" dirty="0"/>
          </a:p>
        </p:txBody>
      </p:sp>
      <p:sp>
        <p:nvSpPr>
          <p:cNvPr id="7" name="Rectangle 3"/>
          <p:cNvSpPr txBox="1">
            <a:spLocks noChangeArrowheads="1"/>
          </p:cNvSpPr>
          <p:nvPr/>
        </p:nvSpPr>
        <p:spPr bwMode="auto">
          <a:xfrm>
            <a:off x="737075" y="1754231"/>
            <a:ext cx="7772400" cy="413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A stack-based environment will result in a </a:t>
            </a:r>
            <a:r>
              <a:rPr kumimoji="0" lang="en-US" altLang="zh-CN" sz="2000" b="1" i="0" u="none" strike="noStrike" kern="1200" cap="none" spc="0" normalizeH="0" baseline="0" noProof="0" dirty="0">
                <a:ln>
                  <a:noFill/>
                </a:ln>
                <a:solidFill>
                  <a:srgbClr val="FF3300"/>
                </a:solidFill>
                <a:effectLst/>
                <a:uLnTx/>
                <a:uFillTx/>
                <a:latin typeface="Times New Roman"/>
                <a:ea typeface="宋体"/>
                <a:cs typeface="+mn-cs"/>
              </a:rPr>
              <a:t>dangling reference</a:t>
            </a: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when the procedure is exited if a local variable in a procedure can be returned to the caller</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The simplest example: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 dangle(void)</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 </a:t>
            </a:r>
            <a:r>
              <a:rPr kumimoji="0" lang="en-US" altLang="zh-CN" sz="2000" b="1"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x;</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return &amp;x;}</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Where, the address of a local variable is returned.</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An assignment </a:t>
            </a:r>
            <a:r>
              <a:rPr kumimoji="0" lang="en-US" altLang="zh-CN" sz="2000" b="1" i="0" u="none" strike="noStrike" kern="1200" cap="none" spc="0" normalizeH="0" baseline="0" noProof="0" dirty="0" err="1">
                <a:ln>
                  <a:noFill/>
                </a:ln>
                <a:solidFill>
                  <a:srgbClr val="000000"/>
                </a:solidFill>
                <a:effectLst/>
                <a:uLnTx/>
                <a:uFillTx/>
                <a:latin typeface="Times New Roman"/>
                <a:ea typeface="宋体"/>
                <a:cs typeface="+mn-cs"/>
              </a:rPr>
              <a:t>addr</a:t>
            </a: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 dangle( ) now cause </a:t>
            </a:r>
            <a:r>
              <a:rPr kumimoji="0" lang="en-US" altLang="zh-CN" sz="2000" b="1" i="0" u="none" strike="noStrike" kern="1200" cap="none" spc="0" normalizeH="0" baseline="0" noProof="0" dirty="0" err="1">
                <a:ln>
                  <a:noFill/>
                </a:ln>
                <a:solidFill>
                  <a:srgbClr val="000000"/>
                </a:solidFill>
                <a:effectLst/>
                <a:uLnTx/>
                <a:uFillTx/>
                <a:latin typeface="Times New Roman"/>
                <a:ea typeface="宋体"/>
                <a:cs typeface="+mn-cs"/>
              </a:rPr>
              <a:t>addr</a:t>
            </a: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 to </a:t>
            </a:r>
            <a:r>
              <a:rPr kumimoji="0" lang="en-US" altLang="zh-CN" sz="2000" b="1" i="0" u="none" strike="noStrike" kern="1200" cap="none" spc="0" normalizeH="0" baseline="0" noProof="0" dirty="0">
                <a:ln>
                  <a:noFill/>
                </a:ln>
                <a:solidFill>
                  <a:srgbClr val="FF3300"/>
                </a:solidFill>
                <a:effectLst/>
                <a:uLnTx/>
                <a:uFillTx/>
                <a:latin typeface="Times New Roman"/>
                <a:ea typeface="宋体"/>
                <a:cs typeface="+mn-cs"/>
              </a:rPr>
              <a:t>point to an unsafe location in the activation stack</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339914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8.6 Fully Dynamic Runtime Environments</a:t>
            </a:r>
            <a:endParaRPr lang="zh-CN" altLang="en-US" dirty="0"/>
          </a:p>
        </p:txBody>
      </p:sp>
      <p:sp>
        <p:nvSpPr>
          <p:cNvPr id="3" name="Rectangle 3"/>
          <p:cNvSpPr txBox="1">
            <a:spLocks noChangeArrowheads="1"/>
          </p:cNvSpPr>
          <p:nvPr/>
        </p:nvSpPr>
        <p:spPr bwMode="auto">
          <a:xfrm>
            <a:off x="617434" y="1450473"/>
            <a:ext cx="7772400" cy="5317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 somewhat more complex instance of </a:t>
            </a:r>
            <a:r>
              <a:rPr kumimoji="0" lang="en-US" altLang="zh-CN" sz="2400" b="1" i="0" u="none" strike="noStrike" kern="1200" cap="none" spc="0" normalizeH="0" baseline="0" noProof="0" dirty="0">
                <a:ln>
                  <a:noFill/>
                </a:ln>
                <a:solidFill>
                  <a:srgbClr val="FF3300"/>
                </a:solidFill>
                <a:effectLst/>
                <a:uLnTx/>
                <a:uFillTx/>
                <a:latin typeface="Times New Roman"/>
                <a:ea typeface="宋体"/>
                <a:cs typeface="+mn-cs"/>
              </a:rPr>
              <a:t>a dangling reference</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 occurs if a local function can be returned by a call</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Typedef</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proc)(void);</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Proc g(</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x)</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int</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f(void) /*illegal local function*/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{return x;}</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return f;</a:t>
            </a:r>
            <a:r>
              <a:rPr kumimoji="0" lang="en-US" altLang="zh-CN" sz="2400" b="0" i="0" u="none" strike="noStrike" kern="1200" cap="none" spc="0" normalizeH="0" noProof="0" dirty="0">
                <a:ln>
                  <a:noFill/>
                </a:ln>
                <a:solidFill>
                  <a:srgbClr val="000000"/>
                </a:solidFill>
                <a:effectLst/>
                <a:uLnTx/>
                <a:uFillTx/>
                <a:latin typeface="Times New Roman"/>
                <a:ea typeface="宋体"/>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main()</a:t>
            </a:r>
            <a:r>
              <a:rPr kumimoji="0" lang="en-US" altLang="zh-CN" sz="2400" b="0" i="0" u="none" strike="noStrike" kern="1200" cap="none" spc="0" normalizeH="0" noProof="0" dirty="0">
                <a:ln>
                  <a:noFill/>
                </a:ln>
                <a:solidFill>
                  <a:srgbClr val="000000"/>
                </a:solidFill>
                <a:effectLst/>
                <a:uLnTx/>
                <a:uFillTx/>
                <a:latin typeface="Times New Roman"/>
                <a:ea typeface="宋体"/>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proc c;</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c= g(2);</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printf</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%d\</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n</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宋体"/>
                <a:cs typeface="+mn-cs"/>
              </a:rPr>
              <a:t>”</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,c</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should print 2*/</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return 0;</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332933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8.6 Fully Dynamic Runtime Environments</a:t>
            </a:r>
            <a:endParaRPr lang="zh-CN" altLang="en-US" dirty="0"/>
          </a:p>
        </p:txBody>
      </p:sp>
      <p:sp>
        <p:nvSpPr>
          <p:cNvPr id="5" name="Rectangle 3"/>
          <p:cNvSpPr txBox="1">
            <a:spLocks noChangeArrowheads="1"/>
          </p:cNvSpPr>
          <p:nvPr/>
        </p:nvSpPr>
        <p:spPr bwMode="auto">
          <a:xfrm>
            <a:off x="608888" y="1527175"/>
            <a:ext cx="7772400" cy="533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Of course,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C language</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avoids the above problem by prohibiting local procedure </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Other languages, like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Mudula-2</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which have local procedures as well as procedure variables, parameters, and returned values,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must state a special rule that makes such program erroneous</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In the </a:t>
            </a:r>
            <a:r>
              <a:rPr kumimoji="0" lang="en-US" altLang="zh-CN" sz="2800" b="1" i="0" u="none" strike="noStrike" kern="1200" cap="none" spc="0" normalizeH="0" baseline="0" noProof="0">
                <a:ln>
                  <a:noFill/>
                </a:ln>
                <a:solidFill>
                  <a:srgbClr val="FF3300"/>
                </a:solidFill>
                <a:effectLst/>
                <a:uLnTx/>
                <a:uFillTx/>
                <a:latin typeface="Times New Roman"/>
                <a:ea typeface="宋体"/>
                <a:cs typeface="+mn-cs"/>
              </a:rPr>
              <a:t>functional programming languages</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such as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LISP and ML</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the functions must be able to be locally defined, passed as parameters, and returned as results.</a:t>
            </a:r>
            <a:endPar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237055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8.6 Fully Dynamic Runtime Environments</a:t>
            </a:r>
            <a:endParaRPr lang="zh-CN" altLang="en-US" dirty="0"/>
          </a:p>
        </p:txBody>
      </p:sp>
      <p:sp>
        <p:nvSpPr>
          <p:cNvPr id="7" name="Rectangle 3"/>
          <p:cNvSpPr txBox="1">
            <a:spLocks noChangeArrowheads="1"/>
          </p:cNvSpPr>
          <p:nvPr/>
        </p:nvSpPr>
        <p:spPr bwMode="auto">
          <a:xfrm>
            <a:off x="625979" y="1395309"/>
            <a:ext cx="7772400" cy="554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Thus, a stack-based runtime environment is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inadequate</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and a more general form of environment is required, called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Fully Dynamic Environment</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FF33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In fully dynamic environment, the basic structure of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activation record remains the same</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The space must be allocated for parameters and local variables, and there is still a need for control and access links</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2800" b="1"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When control is returned to the caller, the </a:t>
            </a:r>
            <a:r>
              <a:rPr kumimoji="0" lang="en-US" altLang="zh-CN" sz="2800" b="1" i="0" u="none" strike="noStrike" kern="1200" cap="none" spc="0" normalizeH="0" baseline="0" noProof="0">
                <a:ln>
                  <a:noFill/>
                </a:ln>
                <a:solidFill>
                  <a:srgbClr val="FF3300"/>
                </a:solidFill>
                <a:effectLst/>
                <a:uLnTx/>
                <a:uFillTx/>
                <a:latin typeface="Times New Roman"/>
                <a:ea typeface="宋体"/>
                <a:cs typeface="+mn-cs"/>
              </a:rPr>
              <a:t>exited activation record remains in memory</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 to be de-allocated at some later time</a:t>
            </a:r>
            <a:endPar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95476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8.7 Dynamic Memory in Object-Oriented Languages</a:t>
            </a:r>
            <a:endParaRPr lang="zh-CN" altLang="en-US" dirty="0"/>
          </a:p>
        </p:txBody>
      </p:sp>
      <p:sp>
        <p:nvSpPr>
          <p:cNvPr id="5" name="Rectangle 3"/>
          <p:cNvSpPr txBox="1">
            <a:spLocks noChangeArrowheads="1"/>
          </p:cNvSpPr>
          <p:nvPr/>
        </p:nvSpPr>
        <p:spPr bwMode="auto">
          <a:xfrm>
            <a:off x="651617" y="1454150"/>
            <a:ext cx="7772400" cy="540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OO language requires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special mechanisms</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in the runtime environment to implement their added features: </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Objects, methods, inheritance, and dynamic binding</a:t>
            </a:r>
          </a:p>
          <a:p>
            <a:pPr marL="342900" marR="0" lvl="0" indent="-342900" algn="l" defTabSz="914400" rtl="0" eaLnBrk="1" fontAlgn="base" latinLnBrk="0" hangingPunct="1">
              <a:lnSpc>
                <a:spcPct val="90000"/>
              </a:lnSpc>
              <a:spcBef>
                <a:spcPct val="20000"/>
              </a:spcBef>
              <a:spcAft>
                <a:spcPct val="0"/>
              </a:spcAft>
              <a:buClrTx/>
              <a:buSzTx/>
              <a:buFontTx/>
              <a:buNone/>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OO languages </a:t>
            </a:r>
            <a:r>
              <a:rPr kumimoji="0" lang="en-US" altLang="zh-CN" sz="2800" b="0" i="0" u="none" strike="noStrike" kern="1200" cap="none" spc="0" normalizeH="0" baseline="0" noProof="0">
                <a:ln>
                  <a:noFill/>
                </a:ln>
                <a:solidFill>
                  <a:srgbClr val="FF3300"/>
                </a:solidFill>
                <a:effectLst/>
                <a:uLnTx/>
                <a:uFillTx/>
                <a:latin typeface="Times New Roman"/>
                <a:ea typeface="宋体"/>
                <a:cs typeface="+mn-cs"/>
              </a:rPr>
              <a:t>vary greatly</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in their requirements for the runtime environment.</a:t>
            </a:r>
          </a:p>
          <a:p>
            <a:pPr marL="342900" marR="0" lvl="0" indent="-342900" algn="l" defTabSz="914400" rtl="0" eaLnBrk="1" fontAlgn="base" latinLnBrk="0" hangingPunct="1">
              <a:lnSpc>
                <a:spcPct val="90000"/>
              </a:lnSpc>
              <a:spcBef>
                <a:spcPct val="20000"/>
              </a:spcBef>
              <a:spcAft>
                <a:spcPct val="0"/>
              </a:spcAft>
              <a:buClrTx/>
              <a:buSzTx/>
              <a:buFontTx/>
              <a:buNone/>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Two good representatives of the extreme:</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Smalltake requires fully dynamic environment;</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C++ retains the stack-based environment of C in much of its design efforts.</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833978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8.7 Dynamic Memory in Object-Oriented Languages</a:t>
            </a:r>
            <a:endParaRPr lang="zh-CN" altLang="en-US" dirty="0"/>
          </a:p>
        </p:txBody>
      </p:sp>
      <p:sp>
        <p:nvSpPr>
          <p:cNvPr id="3" name="Rectangle 3"/>
          <p:cNvSpPr txBox="1">
            <a:spLocks noChangeArrowheads="1"/>
          </p:cNvSpPr>
          <p:nvPr/>
        </p:nvSpPr>
        <p:spPr bwMode="auto">
          <a:xfrm>
            <a:off x="694345" y="1346289"/>
            <a:ext cx="7772400" cy="533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Object in memory</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can be viewed as a </a:t>
            </a:r>
            <a:r>
              <a:rPr kumimoji="0" lang="en-US" altLang="zh-CN" sz="2400" b="0" i="0" u="none" strike="noStrike" kern="1200" cap="none" spc="0" normalizeH="0" baseline="0" noProof="0">
                <a:ln>
                  <a:noFill/>
                </a:ln>
                <a:solidFill>
                  <a:srgbClr val="FF3300"/>
                </a:solidFill>
                <a:effectLst/>
                <a:uLnTx/>
                <a:uFillTx/>
                <a:latin typeface="Times New Roman"/>
                <a:ea typeface="宋体"/>
                <a:cs typeface="+mn-cs"/>
              </a:rPr>
              <a:t>cross between </a:t>
            </a:r>
            <a:r>
              <a:rPr kumimoji="0" lang="en-US" altLang="zh-CN" sz="2400" b="0" i="1" u="none" strike="noStrike" kern="1200" cap="none" spc="0" normalizeH="0" baseline="0" noProof="0">
                <a:ln>
                  <a:noFill/>
                </a:ln>
                <a:solidFill>
                  <a:srgbClr val="FF3300"/>
                </a:solidFill>
                <a:effectLst/>
                <a:uLnTx/>
                <a:uFillTx/>
                <a:latin typeface="Times New Roman"/>
                <a:ea typeface="宋体"/>
                <a:cs typeface="+mn-cs"/>
              </a:rPr>
              <a:t>a traditional record</a:t>
            </a:r>
            <a:r>
              <a:rPr kumimoji="0" lang="en-US" altLang="zh-CN" sz="2400" b="0" i="0" u="none" strike="noStrike" kern="1200" cap="none" spc="0" normalizeH="0" baseline="0" noProof="0">
                <a:ln>
                  <a:noFill/>
                </a:ln>
                <a:solidFill>
                  <a:srgbClr val="FF3300"/>
                </a:solidFill>
                <a:effectLst/>
                <a:uLnTx/>
                <a:uFillTx/>
                <a:latin typeface="Times New Roman"/>
                <a:ea typeface="宋体"/>
                <a:cs typeface="+mn-cs"/>
              </a:rPr>
              <a:t> structure and </a:t>
            </a:r>
            <a:r>
              <a:rPr kumimoji="0" lang="en-US" altLang="zh-CN" sz="2400" b="0" i="1" u="none" strike="noStrike" kern="1200" cap="none" spc="0" normalizeH="0" baseline="0" noProof="0">
                <a:ln>
                  <a:noFill/>
                </a:ln>
                <a:solidFill>
                  <a:srgbClr val="FF3300"/>
                </a:solidFill>
                <a:effectLst/>
                <a:uLnTx/>
                <a:uFillTx/>
                <a:latin typeface="Times New Roman"/>
                <a:ea typeface="宋体"/>
                <a:cs typeface="+mn-cs"/>
              </a:rPr>
              <a:t>an activation record</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400" b="0" i="1"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FF3300"/>
                </a:solidFill>
                <a:effectLst/>
                <a:uLnTx/>
                <a:uFillTx/>
                <a:latin typeface="Times New Roman"/>
                <a:ea typeface="宋体"/>
                <a:cs typeface="+mn-cs"/>
              </a:rPr>
              <a:t>One mechanism</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would be for initialization code to copy all the currently inherited features (and methods)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directly into the record structure</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(with methods as code pointer);</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FF3300"/>
                </a:solidFill>
                <a:effectLst/>
                <a:uLnTx/>
                <a:uFillTx/>
                <a:latin typeface="Times New Roman"/>
                <a:ea typeface="宋体"/>
                <a:cs typeface="+mn-cs"/>
              </a:rPr>
              <a:t>An alternative</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is to keep a complete description of the class structure in memory at each point during execution, with inheritance maintained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by superclass pointers</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and all method pointers kept as field in the class structure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Inheritance graph</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a:ln>
                  <a:noFill/>
                </a:ln>
                <a:solidFill>
                  <a:srgbClr val="FF3300"/>
                </a:solidFill>
                <a:effectLst/>
                <a:uLnTx/>
                <a:uFillTx/>
                <a:latin typeface="Times New Roman"/>
                <a:ea typeface="宋体"/>
                <a:cs typeface="+mn-cs"/>
              </a:rPr>
              <a:t>Another alternative</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is to compute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the list of code pointers</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for available methods of each class, and store this in (static) memory as a </a:t>
            </a:r>
            <a:r>
              <a:rPr kumimoji="0" lang="en-US" altLang="zh-CN" sz="2400" b="1" i="0" u="none" strike="noStrike" kern="1200" cap="none" spc="0" normalizeH="0" baseline="0" noProof="0">
                <a:ln>
                  <a:noFill/>
                </a:ln>
                <a:solidFill>
                  <a:srgbClr val="000000"/>
                </a:solidFill>
                <a:effectLst/>
                <a:uLnTx/>
                <a:uFillTx/>
                <a:latin typeface="Times New Roman"/>
                <a:ea typeface="宋体"/>
                <a:cs typeface="+mn-cs"/>
              </a:rPr>
              <a:t>virtual function table</a:t>
            </a: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It is the method of choice in C++.</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312250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8.7 Dynamic Memory in Object-Oriented Languages</a:t>
            </a:r>
            <a:endParaRPr lang="zh-CN" altLang="en-US" dirty="0"/>
          </a:p>
        </p:txBody>
      </p:sp>
      <p:sp>
        <p:nvSpPr>
          <p:cNvPr id="3" name="Rectangle 3"/>
          <p:cNvSpPr txBox="1">
            <a:spLocks noChangeArrowheads="1"/>
          </p:cNvSpPr>
          <p:nvPr/>
        </p:nvSpPr>
        <p:spPr bwMode="auto">
          <a:xfrm>
            <a:off x="426400" y="1427088"/>
            <a:ext cx="8496300" cy="536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Example: Consider the following C++ class declarations:</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Class A</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public:</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double x, y;</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void f();</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virtual void g();</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class B : public A</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public:</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double z;</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void f();</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virtual void h();</a:t>
            </a:r>
          </a:p>
          <a:p>
            <a:pPr marL="1143000" marR="0" lvl="2" indent="-228600" algn="l" defTabSz="914400" rtl="0" eaLnBrk="1" fontAlgn="base" latinLnBrk="0" hangingPunct="1">
              <a:lnSpc>
                <a:spcPct val="9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77606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8.7 Dynamic Memory in Object-Oriented Languages</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532613839"/>
              </p:ext>
            </p:extLst>
          </p:nvPr>
        </p:nvGraphicFramePr>
        <p:xfrm>
          <a:off x="1249868" y="1525945"/>
          <a:ext cx="6432802" cy="4859328"/>
        </p:xfrm>
        <a:graphic>
          <a:graphicData uri="http://schemas.openxmlformats.org/presentationml/2006/ole">
            <mc:AlternateContent xmlns:mc="http://schemas.openxmlformats.org/markup-compatibility/2006">
              <mc:Choice xmlns:v="urn:schemas-microsoft-com:vml" Requires="v">
                <p:oleObj spid="_x0000_s20492" name="Document" r:id="rId3" imgW="5602013" imgH="4215867" progId="Word.Document.8">
                  <p:embed/>
                </p:oleObj>
              </mc:Choice>
              <mc:Fallback>
                <p:oleObj name="Document" r:id="rId3" imgW="5602013" imgH="4215867" progId="Word.Document.8">
                  <p:embed/>
                  <p:pic>
                    <p:nvPicPr>
                      <p:cNvPr id="0" name=""/>
                      <p:cNvPicPr>
                        <a:picLocks noChangeAspect="1" noChangeArrowheads="1"/>
                      </p:cNvPicPr>
                      <p:nvPr/>
                    </p:nvPicPr>
                    <p:blipFill>
                      <a:blip r:embed="rId4"/>
                      <a:srcRect/>
                      <a:stretch>
                        <a:fillRect/>
                      </a:stretch>
                    </p:blipFill>
                    <p:spPr bwMode="auto">
                      <a:xfrm>
                        <a:off x="1249868" y="1525945"/>
                        <a:ext cx="6432802" cy="485932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015618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C027D-3D33-4E3A-AB84-0FDC281CBE5B}"/>
              </a:ext>
            </a:extLst>
          </p:cNvPr>
          <p:cNvSpPr>
            <a:spLocks noGrp="1"/>
          </p:cNvSpPr>
          <p:nvPr>
            <p:ph type="title"/>
          </p:nvPr>
        </p:nvSpPr>
        <p:spPr/>
        <p:txBody>
          <a:bodyPr/>
          <a:lstStyle/>
          <a:p>
            <a:r>
              <a:rPr lang="en-US" altLang="zh-CN" dirty="0"/>
              <a:t>8.7 Dynamic Memory in Object-Oriented Languages</a:t>
            </a:r>
            <a:endParaRPr lang="zh-CN" altLang="en-US" dirty="0"/>
          </a:p>
        </p:txBody>
      </p:sp>
      <p:sp>
        <p:nvSpPr>
          <p:cNvPr id="3" name="内容占位符 2">
            <a:extLst>
              <a:ext uri="{FF2B5EF4-FFF2-40B4-BE49-F238E27FC236}">
                <a16:creationId xmlns:a16="http://schemas.microsoft.com/office/drawing/2014/main" id="{8A22A4E9-28D0-4B8F-B5A2-7F3E5D44A5F3}"/>
              </a:ext>
            </a:extLst>
          </p:cNvPr>
          <p:cNvSpPr>
            <a:spLocks noGrp="1"/>
          </p:cNvSpPr>
          <p:nvPr>
            <p:ph idx="1"/>
          </p:nvPr>
        </p:nvSpPr>
        <p:spPr>
          <a:xfrm>
            <a:off x="828675" y="1600199"/>
            <a:ext cx="7486650" cy="4408715"/>
          </a:xfrm>
        </p:spPr>
        <p:txBody>
          <a:bodyPr>
            <a:normAutofit lnSpcReduction="10000"/>
          </a:bodyPr>
          <a:lstStyle/>
          <a:p>
            <a:r>
              <a:rPr lang="en-US" altLang="zh-CN" dirty="0"/>
              <a:t>A* </a:t>
            </a:r>
            <a:r>
              <a:rPr lang="en-US" altLang="zh-CN" dirty="0" err="1"/>
              <a:t>pA</a:t>
            </a:r>
            <a:r>
              <a:rPr lang="en-US" altLang="zh-CN" dirty="0"/>
              <a:t>= new B();</a:t>
            </a:r>
          </a:p>
          <a:p>
            <a:pPr marL="0" indent="0">
              <a:buNone/>
            </a:pPr>
            <a:r>
              <a:rPr lang="en-US" altLang="zh-CN" dirty="0"/>
              <a:t>       </a:t>
            </a:r>
            <a:r>
              <a:rPr lang="en-US" altLang="zh-CN" dirty="0" err="1"/>
              <a:t>pA</a:t>
            </a:r>
            <a:r>
              <a:rPr lang="en-US" altLang="zh-CN" dirty="0"/>
              <a:t>-&gt;g();</a:t>
            </a:r>
          </a:p>
          <a:p>
            <a:endParaRPr lang="en-US" altLang="zh-CN" dirty="0"/>
          </a:p>
          <a:p>
            <a:endParaRPr lang="en-US" altLang="zh-CN" dirty="0"/>
          </a:p>
          <a:p>
            <a:endParaRPr lang="en-US" altLang="zh-CN" dirty="0"/>
          </a:p>
          <a:p>
            <a:r>
              <a:rPr lang="en-US" altLang="zh-CN" dirty="0"/>
              <a:t>class B : public A</a:t>
            </a:r>
          </a:p>
          <a:p>
            <a:pPr marL="0" indent="0">
              <a:buNone/>
            </a:pPr>
            <a:r>
              <a:rPr lang="en-US" altLang="zh-CN" dirty="0"/>
              <a:t>  { public:</a:t>
            </a:r>
          </a:p>
          <a:p>
            <a:pPr marL="0" indent="0">
              <a:buNone/>
            </a:pPr>
            <a:r>
              <a:rPr lang="en-US" altLang="zh-CN" dirty="0"/>
              <a:t>              double z;</a:t>
            </a:r>
          </a:p>
          <a:p>
            <a:pPr marL="0" indent="0">
              <a:buNone/>
            </a:pPr>
            <a:r>
              <a:rPr lang="en-US" altLang="zh-CN" dirty="0"/>
              <a:t>              void f();</a:t>
            </a:r>
          </a:p>
          <a:p>
            <a:pPr marL="0" indent="0">
              <a:buNone/>
            </a:pPr>
            <a:r>
              <a:rPr lang="en-US" altLang="zh-CN" dirty="0"/>
              <a:t>              virtual void h();</a:t>
            </a:r>
          </a:p>
          <a:p>
            <a:pPr marL="0" indent="0">
              <a:buNone/>
            </a:pPr>
            <a:r>
              <a:rPr lang="en-US" altLang="zh-CN" dirty="0"/>
              <a:t>              virtual void g();</a:t>
            </a:r>
          </a:p>
          <a:p>
            <a:r>
              <a:rPr lang="en-US" altLang="zh-CN" dirty="0"/>
              <a:t>}</a:t>
            </a:r>
            <a:endParaRPr lang="zh-CN" altLang="en-US" dirty="0"/>
          </a:p>
        </p:txBody>
      </p:sp>
      <p:graphicFrame>
        <p:nvGraphicFramePr>
          <p:cNvPr id="12" name="Object 4">
            <a:extLst>
              <a:ext uri="{FF2B5EF4-FFF2-40B4-BE49-F238E27FC236}">
                <a16:creationId xmlns:a16="http://schemas.microsoft.com/office/drawing/2014/main" id="{C4C44AAE-EE3B-4F75-9608-252E4DB7DE47}"/>
              </a:ext>
            </a:extLst>
          </p:cNvPr>
          <p:cNvGraphicFramePr>
            <a:graphicFrameLocks noChangeAspect="1"/>
          </p:cNvGraphicFramePr>
          <p:nvPr>
            <p:extLst>
              <p:ext uri="{D42A27DB-BD31-4B8C-83A1-F6EECF244321}">
                <p14:modId xmlns:p14="http://schemas.microsoft.com/office/powerpoint/2010/main" val="4155465303"/>
              </p:ext>
            </p:extLst>
          </p:nvPr>
        </p:nvGraphicFramePr>
        <p:xfrm>
          <a:off x="2516837" y="1329644"/>
          <a:ext cx="6384568" cy="2474912"/>
        </p:xfrm>
        <a:graphic>
          <a:graphicData uri="http://schemas.openxmlformats.org/presentationml/2006/ole">
            <mc:AlternateContent xmlns:mc="http://schemas.openxmlformats.org/markup-compatibility/2006">
              <mc:Choice xmlns:v="urn:schemas-microsoft-com:vml" Requires="v">
                <p:oleObj spid="_x0000_s25607" name="Document" r:id="rId3" imgW="5590098" imgH="1729014" progId="Word.Document.8">
                  <p:embed/>
                </p:oleObj>
              </mc:Choice>
              <mc:Fallback>
                <p:oleObj name="Document" r:id="rId3" imgW="5590098" imgH="1729014" progId="Word.Document.8">
                  <p:embed/>
                  <p:pic>
                    <p:nvPicPr>
                      <p:cNvPr id="5" name="Object 4"/>
                      <p:cNvPicPr>
                        <a:picLocks noChangeAspect="1" noChangeArrowheads="1"/>
                      </p:cNvPicPr>
                      <p:nvPr/>
                    </p:nvPicPr>
                    <p:blipFill>
                      <a:blip r:embed="rId4"/>
                      <a:srcRect/>
                      <a:stretch>
                        <a:fillRect/>
                      </a:stretch>
                    </p:blipFill>
                    <p:spPr bwMode="auto">
                      <a:xfrm>
                        <a:off x="2516837" y="1329644"/>
                        <a:ext cx="6384568" cy="2474912"/>
                      </a:xfrm>
                      <a:prstGeom prst="rect">
                        <a:avLst/>
                      </a:prstGeom>
                      <a:noFill/>
                      <a:ln>
                        <a:noFill/>
                      </a:ln>
                      <a:effectLst/>
                    </p:spPr>
                  </p:pic>
                </p:oleObj>
              </mc:Fallback>
            </mc:AlternateContent>
          </a:graphicData>
        </a:graphic>
      </p:graphicFrame>
      <p:graphicFrame>
        <p:nvGraphicFramePr>
          <p:cNvPr id="13" name="Object 4">
            <a:extLst>
              <a:ext uri="{FF2B5EF4-FFF2-40B4-BE49-F238E27FC236}">
                <a16:creationId xmlns:a16="http://schemas.microsoft.com/office/drawing/2014/main" id="{41A20443-7976-49DA-BEAE-6EA4E234A925}"/>
              </a:ext>
            </a:extLst>
          </p:cNvPr>
          <p:cNvGraphicFramePr>
            <a:graphicFrameLocks noChangeAspect="1"/>
          </p:cNvGraphicFramePr>
          <p:nvPr>
            <p:extLst>
              <p:ext uri="{D42A27DB-BD31-4B8C-83A1-F6EECF244321}">
                <p14:modId xmlns:p14="http://schemas.microsoft.com/office/powerpoint/2010/main" val="1336807451"/>
              </p:ext>
            </p:extLst>
          </p:nvPr>
        </p:nvGraphicFramePr>
        <p:xfrm>
          <a:off x="2514600" y="3806825"/>
          <a:ext cx="6321425" cy="1957388"/>
        </p:xfrm>
        <a:graphic>
          <a:graphicData uri="http://schemas.openxmlformats.org/presentationml/2006/ole">
            <mc:AlternateContent xmlns:mc="http://schemas.openxmlformats.org/markup-compatibility/2006">
              <mc:Choice xmlns:v="urn:schemas-microsoft-com:vml" Requires="v">
                <p:oleObj spid="_x0000_s25608" name="Document" r:id="rId5" imgW="5590098" imgH="1730455" progId="Word.Document.8">
                  <p:embed/>
                </p:oleObj>
              </mc:Choice>
              <mc:Fallback>
                <p:oleObj name="Document" r:id="rId5" imgW="5590098" imgH="1730455" progId="Word.Document.8">
                  <p:embed/>
                  <p:pic>
                    <p:nvPicPr>
                      <p:cNvPr id="12" name="Object 4">
                        <a:extLst>
                          <a:ext uri="{FF2B5EF4-FFF2-40B4-BE49-F238E27FC236}">
                            <a16:creationId xmlns:a16="http://schemas.microsoft.com/office/drawing/2014/main" id="{C4C44AAE-EE3B-4F75-9608-252E4DB7DE47}"/>
                          </a:ext>
                        </a:extLst>
                      </p:cNvPr>
                      <p:cNvPicPr>
                        <a:picLocks noChangeAspect="1" noChangeArrowheads="1"/>
                      </p:cNvPicPr>
                      <p:nvPr/>
                    </p:nvPicPr>
                    <p:blipFill>
                      <a:blip r:embed="rId6"/>
                      <a:srcRect/>
                      <a:stretch>
                        <a:fillRect/>
                      </a:stretch>
                    </p:blipFill>
                    <p:spPr bwMode="auto">
                      <a:xfrm>
                        <a:off x="2514600" y="3806825"/>
                        <a:ext cx="6321425" cy="19573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45007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3" name="Rectangle 3"/>
          <p:cNvSpPr txBox="1">
            <a:spLocks noChangeArrowheads="1"/>
          </p:cNvSpPr>
          <p:nvPr/>
        </p:nvSpPr>
        <p:spPr bwMode="auto">
          <a:xfrm>
            <a:off x="719983" y="1574622"/>
            <a:ext cx="7772400" cy="518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In most language, even a stack-based environment needs some dynamic capabilities in order to handle </a:t>
            </a:r>
            <a:r>
              <a:rPr kumimoji="0" lang="en-US" altLang="zh-CN" sz="2800" b="0" i="0" u="none" strike="noStrike" kern="1200" cap="none" spc="0" normalizeH="0" baseline="0" noProof="0" dirty="0">
                <a:ln>
                  <a:noFill/>
                </a:ln>
                <a:solidFill>
                  <a:srgbClr val="FF3300"/>
                </a:solidFill>
                <a:effectLst/>
                <a:uLnTx/>
                <a:uFillTx/>
                <a:latin typeface="Times New Roman"/>
                <a:ea typeface="宋体"/>
                <a:cs typeface="+mn-cs"/>
              </a:rPr>
              <a:t>pointer allocation and de-allocation</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HEAP, the data structure to handle such allocation.</a:t>
            </a: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 </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Allocated as a linear block of memory, which provides two operations:</a:t>
            </a:r>
          </a:p>
          <a:p>
            <a:pPr marL="898525" marR="0" lvl="1" indent="-376238"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(1) </a:t>
            </a:r>
            <a:r>
              <a:rPr kumimoji="0" lang="en-US" altLang="zh-CN" sz="2400" b="0" i="0" u="none" strike="noStrike" kern="1200" cap="none" spc="0" normalizeH="0" baseline="0" noProof="0" dirty="0">
                <a:ln>
                  <a:noFill/>
                </a:ln>
                <a:solidFill>
                  <a:srgbClr val="FF3300"/>
                </a:solidFill>
                <a:effectLst/>
                <a:uLnTx/>
                <a:uFillTx/>
                <a:latin typeface="Times New Roman"/>
                <a:ea typeface="宋体"/>
                <a:cs typeface="+mn-cs"/>
              </a:rPr>
              <a:t>Allocate</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which takes a size parameter and returns a pointer to a block of memory of the correct size, or a null pointer if none exists.</a:t>
            </a:r>
          </a:p>
          <a:p>
            <a:pPr marL="898525" marR="0" lvl="1" indent="-376238"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(2) </a:t>
            </a:r>
            <a:r>
              <a:rPr kumimoji="0" lang="en-US" altLang="zh-CN" sz="2400" b="0" i="0" u="none" strike="noStrike" kern="1200" cap="none" spc="0" normalizeH="0" baseline="0" noProof="0" dirty="0">
                <a:ln>
                  <a:noFill/>
                </a:ln>
                <a:solidFill>
                  <a:srgbClr val="FF3300"/>
                </a:solidFill>
                <a:effectLst/>
                <a:uLnTx/>
                <a:uFillTx/>
                <a:latin typeface="Times New Roman"/>
                <a:ea typeface="宋体"/>
                <a:cs typeface="+mn-cs"/>
              </a:rPr>
              <a:t>Free</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which takes a pointer to an allocated block of memory and marks it as being free again</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77659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6" name="Rectangle 3"/>
          <p:cNvSpPr txBox="1">
            <a:spLocks noChangeArrowheads="1"/>
          </p:cNvSpPr>
          <p:nvPr/>
        </p:nvSpPr>
        <p:spPr bwMode="auto">
          <a:xfrm>
            <a:off x="651617" y="1382713"/>
            <a:ext cx="7772400" cy="54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These two operations exist under different names in many languages:</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New and dispose in Pascal;</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New and delete in C++;</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Malloc</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and free in the C language.</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A standard method for maintaining the heap and implementing these functions:</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(1) A circular linked list of free blocks;</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(2) Memory is taken by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malloc</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(3) Memory is return by free.</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800" b="0" i="0" u="none" strike="noStrike" kern="1200" cap="none" spc="0" normalizeH="0" baseline="0" noProof="0" dirty="0">
                <a:ln>
                  <a:noFill/>
                </a:ln>
                <a:solidFill>
                  <a:srgbClr val="000000"/>
                </a:solidFill>
                <a:effectLst/>
                <a:uLnTx/>
                <a:uFillTx/>
                <a:latin typeface="Times New Roman"/>
                <a:ea typeface="宋体"/>
                <a:cs typeface="+mn-cs"/>
              </a:rPr>
              <a:t>The drawbacks:</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(1) The free operation can not tell if the pointer </a:t>
            </a:r>
            <a:r>
              <a:rPr kumimoji="0" lang="en-US" altLang="zh-CN" sz="2400" b="0" i="0" u="none" strike="noStrike" kern="1200" cap="none" spc="0" normalizeH="0" baseline="0" noProof="0" dirty="0">
                <a:ln>
                  <a:noFill/>
                </a:ln>
                <a:solidFill>
                  <a:srgbClr val="FF3300"/>
                </a:solidFill>
                <a:effectLst/>
                <a:uLnTx/>
                <a:uFillTx/>
                <a:latin typeface="Times New Roman"/>
                <a:ea typeface="宋体"/>
                <a:cs typeface="+mn-cs"/>
              </a:rPr>
              <a:t>is legal or   not</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p>
          <a:p>
            <a:pPr marL="963613" marR="0" lvl="1" indent="-506413" algn="l" defTabSz="914400" rtl="0" eaLnBrk="1" fontAlgn="base" latinLnBrk="0" hangingPunct="1">
              <a:lnSpc>
                <a:spcPct val="80000"/>
              </a:lnSpc>
              <a:spcBef>
                <a:spcPct val="2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(2) Care must be taken to </a:t>
            </a:r>
            <a:r>
              <a:rPr kumimoji="0" lang="en-US" altLang="zh-CN" sz="2400" b="0" i="0" u="none" strike="noStrike" kern="1200" cap="none" spc="0" normalizeH="0" baseline="0" noProof="0" dirty="0">
                <a:ln>
                  <a:noFill/>
                </a:ln>
                <a:solidFill>
                  <a:srgbClr val="FF3300"/>
                </a:solidFill>
                <a:effectLst/>
                <a:uLnTx/>
                <a:uFillTx/>
                <a:latin typeface="Times New Roman"/>
                <a:ea typeface="宋体"/>
                <a:cs typeface="+mn-cs"/>
              </a:rPr>
              <a:t>coalesce blocks</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otherwise, the heap can quickly become fragmented.</a:t>
            </a:r>
            <a:endParaRPr kumimoji="0" lang="zh-CN" altLang="en-US" sz="24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92295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5" name="Rectangle 3"/>
          <p:cNvSpPr txBox="1">
            <a:spLocks noChangeArrowheads="1"/>
          </p:cNvSpPr>
          <p:nvPr/>
        </p:nvSpPr>
        <p:spPr bwMode="auto">
          <a:xfrm>
            <a:off x="694346" y="1313738"/>
            <a:ext cx="7772400" cy="5386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 different implementation of </a:t>
            </a:r>
            <a:r>
              <a:rPr kumimoji="0" lang="en-US" altLang="zh-CN" sz="2400" b="0" i="0" u="none" strike="noStrike" kern="1200" cap="none" spc="0" normalizeH="0" baseline="0" noProof="0" dirty="0" err="1">
                <a:ln>
                  <a:noFill/>
                </a:ln>
                <a:solidFill>
                  <a:srgbClr val="000000"/>
                </a:solidFill>
                <a:effectLst/>
                <a:uLnTx/>
                <a:uFillTx/>
                <a:latin typeface="Times New Roman"/>
                <a:ea typeface="宋体"/>
                <a:cs typeface="+mn-cs"/>
              </a:rPr>
              <a:t>malloc</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and free, using a circular linked list data structure that keep track of both allocated and free block. </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The code is given in the following figures:</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#define NULL 0</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#define MEMSIZE 8096 /* change for different sizes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typedef</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double align;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typedef</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union header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struct</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 union header *next;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unsigned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usedsize</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unsigned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freesize</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 s;</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align a;</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 header;</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static header men[MEMSIZE];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	static header *</a:t>
            </a:r>
            <a:r>
              <a:rPr kumimoji="0" lang="en-US" altLang="zh-CN" sz="2200" b="0" i="0" u="none" strike="noStrike" kern="1200" cap="none" spc="0" normalizeH="0" baseline="0" noProof="0" dirty="0" err="1">
                <a:ln>
                  <a:noFill/>
                </a:ln>
                <a:solidFill>
                  <a:srgbClr val="000000"/>
                </a:solidFill>
                <a:effectLst/>
                <a:uLnTx/>
                <a:uFillTx/>
                <a:latin typeface="Times New Roman"/>
                <a:ea typeface="宋体"/>
                <a:cs typeface="+mn-cs"/>
              </a:rPr>
              <a:t>memptr</a:t>
            </a:r>
            <a:r>
              <a:rPr kumimoji="0" lang="en-US" altLang="zh-CN" sz="2200" b="0" i="0" u="none" strike="noStrike" kern="1200" cap="none" spc="0" normalizeH="0" baseline="0" noProof="0" dirty="0">
                <a:ln>
                  <a:noFill/>
                </a:ln>
                <a:solidFill>
                  <a:srgbClr val="000000"/>
                </a:solidFill>
                <a:effectLst/>
                <a:uLnTx/>
                <a:uFillTx/>
                <a:latin typeface="Times New Roman"/>
                <a:ea typeface="宋体"/>
                <a:cs typeface="+mn-cs"/>
              </a:rPr>
              <a:t>=NULL;</a:t>
            </a:r>
            <a:endParaRPr kumimoji="0" lang="zh-CN" altLang="en-US" sz="22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61374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7" name="Rectangle 3"/>
          <p:cNvSpPr txBox="1">
            <a:spLocks noChangeArrowheads="1"/>
          </p:cNvSpPr>
          <p:nvPr/>
        </p:nvSpPr>
        <p:spPr>
          <a:xfrm>
            <a:off x="745620" y="1469150"/>
            <a:ext cx="7772400" cy="5688012"/>
          </a:xfrm>
          <a:prstGeom prst="rect">
            <a:avLst/>
          </a:prstGeom>
        </p:spPr>
        <p:txBody>
          <a:bodyPr vert="horz" lIns="0" tIns="45720" rIns="0" bIns="45720" rtlCol="0">
            <a:normAutofit fontScale="92500" lnSpcReduction="200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80000"/>
              </a:lnSpc>
              <a:buFontTx/>
              <a:buNone/>
            </a:pPr>
            <a:r>
              <a:rPr lang="en-US" altLang="zh-CN" sz="2400"/>
              <a:t>void *malloc(unsigned nbytes)</a:t>
            </a:r>
          </a:p>
          <a:p>
            <a:pPr>
              <a:lnSpc>
                <a:spcPct val="80000"/>
              </a:lnSpc>
              <a:buFontTx/>
              <a:buNone/>
            </a:pPr>
            <a:r>
              <a:rPr lang="en-US" altLang="zh-CN" sz="2400"/>
              <a:t>{header *p, *newp;</a:t>
            </a:r>
          </a:p>
          <a:p>
            <a:pPr>
              <a:lnSpc>
                <a:spcPct val="80000"/>
              </a:lnSpc>
              <a:buFontTx/>
              <a:buNone/>
            </a:pPr>
            <a:r>
              <a:rPr lang="en-US" altLang="zh-CN" sz="2400"/>
              <a:t>	unsigned nunits;</a:t>
            </a:r>
          </a:p>
          <a:p>
            <a:pPr>
              <a:lnSpc>
                <a:spcPct val="80000"/>
              </a:lnSpc>
              <a:buFontTx/>
              <a:buNone/>
            </a:pPr>
            <a:r>
              <a:rPr lang="en-US" altLang="zh-CN" sz="2400"/>
              <a:t>	nunits = (nbytes+sizeof(header)-1)/sizeof(header)+1;</a:t>
            </a:r>
          </a:p>
          <a:p>
            <a:pPr>
              <a:lnSpc>
                <a:spcPct val="80000"/>
              </a:lnSpc>
              <a:buFontTx/>
              <a:buNone/>
            </a:pPr>
            <a:r>
              <a:rPr lang="en-US" altLang="zh-CN" sz="2400"/>
              <a:t>	</a:t>
            </a:r>
          </a:p>
          <a:p>
            <a:pPr>
              <a:lnSpc>
                <a:spcPct val="80000"/>
              </a:lnSpc>
              <a:buFontTx/>
              <a:buNone/>
            </a:pPr>
            <a:r>
              <a:rPr lang="en-US" altLang="zh-CN" sz="2400"/>
              <a:t>   if (memptr == NULL)</a:t>
            </a:r>
          </a:p>
          <a:p>
            <a:pPr>
              <a:lnSpc>
                <a:spcPct val="80000"/>
              </a:lnSpc>
              <a:buFontTx/>
              <a:buNone/>
            </a:pPr>
            <a:r>
              <a:rPr lang="en-US" altLang="zh-CN" sz="2400"/>
              <a:t>	{ memptr-&gt;s.next = memptr = mem;</a:t>
            </a:r>
          </a:p>
          <a:p>
            <a:pPr>
              <a:lnSpc>
                <a:spcPct val="80000"/>
              </a:lnSpc>
              <a:buFontTx/>
              <a:buNone/>
            </a:pPr>
            <a:r>
              <a:rPr lang="en-US" altLang="zh-CN" sz="2400"/>
              <a:t>	 memptr-&gt;s.usedsize = 1;</a:t>
            </a:r>
          </a:p>
          <a:p>
            <a:pPr>
              <a:lnSpc>
                <a:spcPct val="80000"/>
              </a:lnSpc>
              <a:buFontTx/>
              <a:buNone/>
            </a:pPr>
            <a:r>
              <a:rPr lang="en-US" altLang="zh-CN" sz="2400"/>
              <a:t>	 memptr-&gt;s.freesize = MEMSIZE-1;</a:t>
            </a:r>
          </a:p>
          <a:p>
            <a:pPr>
              <a:lnSpc>
                <a:spcPct val="80000"/>
              </a:lnSpc>
              <a:buFontTx/>
              <a:buNone/>
            </a:pPr>
            <a:r>
              <a:rPr lang="en-US" altLang="zh-CN" sz="2400"/>
              <a:t>	}</a:t>
            </a:r>
          </a:p>
          <a:p>
            <a:pPr>
              <a:lnSpc>
                <a:spcPct val="80000"/>
              </a:lnSpc>
              <a:buFontTx/>
              <a:buNone/>
            </a:pPr>
            <a:r>
              <a:rPr lang="en-US" altLang="zh-CN" sz="2400"/>
              <a:t>	</a:t>
            </a:r>
          </a:p>
          <a:p>
            <a:pPr>
              <a:lnSpc>
                <a:spcPct val="80000"/>
              </a:lnSpc>
              <a:buFontTx/>
              <a:buNone/>
            </a:pPr>
            <a:r>
              <a:rPr lang="en-US" altLang="zh-CN" sz="2400"/>
              <a:t>   for(p=memptr;</a:t>
            </a:r>
          </a:p>
          <a:p>
            <a:pPr>
              <a:lnSpc>
                <a:spcPct val="80000"/>
              </a:lnSpc>
              <a:buFontTx/>
              <a:buNone/>
            </a:pPr>
            <a:r>
              <a:rPr lang="en-US" altLang="zh-CN" sz="2400"/>
              <a:t>	(p-&gt;s.next!=memptr) &amp;&amp; (p-&gt;s.freesize &lt;nunits);</a:t>
            </a:r>
          </a:p>
          <a:p>
            <a:pPr>
              <a:lnSpc>
                <a:spcPct val="80000"/>
              </a:lnSpc>
              <a:buFontTx/>
              <a:buNone/>
            </a:pPr>
            <a:r>
              <a:rPr lang="en-US" altLang="zh-CN" sz="2400"/>
              <a:t>		p=p-&gt;s.next);</a:t>
            </a:r>
          </a:p>
          <a:p>
            <a:pPr>
              <a:lnSpc>
                <a:spcPct val="80000"/>
              </a:lnSpc>
              <a:buFontTx/>
              <a:buNone/>
            </a:pPr>
            <a:r>
              <a:rPr lang="en-US" altLang="zh-CN" sz="2400"/>
              <a:t>	</a:t>
            </a:r>
            <a:endParaRPr lang="zh-CN" altLang="en-US" sz="2400" dirty="0"/>
          </a:p>
        </p:txBody>
      </p:sp>
    </p:spTree>
    <p:extLst>
      <p:ext uri="{BB962C8B-B14F-4D97-AF65-F5344CB8AC3E}">
        <p14:creationId xmlns:p14="http://schemas.microsoft.com/office/powerpoint/2010/main" val="1171354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5" name="Rectangle 2"/>
          <p:cNvSpPr txBox="1">
            <a:spLocks noChangeArrowheads="1"/>
          </p:cNvSpPr>
          <p:nvPr/>
        </p:nvSpPr>
        <p:spPr bwMode="auto">
          <a:xfrm>
            <a:off x="668708" y="1232939"/>
            <a:ext cx="7772400" cy="568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a:ea typeface="宋体"/>
                <a:cs typeface="+mn-cs"/>
              </a:rPr>
              <a:t>	</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if (p-&gt;s.freesize &lt; nunits) return NULL;</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 no block big enough */</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newp =p +p-&gt;s.usedsize;</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newp-&gt;s.usedsize = nunits;</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newp-&gt;s.freesize =p-&gt;s.freesize </a:t>
            </a:r>
            <a:r>
              <a:rPr kumimoji="0" lang="en-US" altLang="zh-CN" sz="28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nunits;</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newp-&gt;s.next = p-&gt;s.next;</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p-&gt;s.freesize=0;</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p-&gt;s.next = newp;</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memptr = newp;</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return (void *) (newp+1);</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845395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6" name="Rectangle 3"/>
          <p:cNvSpPr txBox="1">
            <a:spLocks noChangeArrowheads="1"/>
          </p:cNvSpPr>
          <p:nvPr/>
        </p:nvSpPr>
        <p:spPr bwMode="auto">
          <a:xfrm>
            <a:off x="628280" y="1586388"/>
            <a:ext cx="8207375" cy="54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void free(void *ap)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header *bp, *p, *prev;</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bp = (header *)ap </a:t>
            </a:r>
            <a:r>
              <a:rPr kumimoji="0" lang="en-US" altLang="zh-CN" sz="28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1;</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for (prev=memptr, p=memptr-&gt;s.next;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(p!=bp) &amp;&amp; (p!=memptr);</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prev=p, p=p-&gt;s.next);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if (p!=bp) return;</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 corrupted list, do nothing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prev-&gt;s.freesize +=p-&gt;s.usedsize + p-&gt;s.freesize;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prev-&gt;s.next = p-&gt;s.next;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memptr = prev;</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970908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395237981"/>
              </p:ext>
            </p:extLst>
          </p:nvPr>
        </p:nvGraphicFramePr>
        <p:xfrm>
          <a:off x="1124959" y="1675976"/>
          <a:ext cx="6446615" cy="4643758"/>
        </p:xfrm>
        <a:graphic>
          <a:graphicData uri="http://schemas.openxmlformats.org/presentationml/2006/ole">
            <mc:AlternateContent xmlns:mc="http://schemas.openxmlformats.org/markup-compatibility/2006">
              <mc:Choice xmlns:v="urn:schemas-microsoft-com:vml" Requires="v">
                <p:oleObj spid="_x0000_s21511" name="文档" r:id="rId3" imgW="4171957" imgH="3009810" progId="Word.Document.8">
                  <p:embed/>
                </p:oleObj>
              </mc:Choice>
              <mc:Fallback>
                <p:oleObj name="文档" r:id="rId3" imgW="4171957" imgH="300981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4959" y="1675976"/>
                        <a:ext cx="6446615" cy="464375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10340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graphicFrame>
        <p:nvGraphicFramePr>
          <p:cNvPr id="6" name="Object 4"/>
          <p:cNvGraphicFramePr>
            <a:graphicFrameLocks noChangeAspect="1"/>
          </p:cNvGraphicFramePr>
          <p:nvPr>
            <p:extLst>
              <p:ext uri="{D42A27DB-BD31-4B8C-83A1-F6EECF244321}">
                <p14:modId xmlns:p14="http://schemas.microsoft.com/office/powerpoint/2010/main" val="197353814"/>
              </p:ext>
            </p:extLst>
          </p:nvPr>
        </p:nvGraphicFramePr>
        <p:xfrm>
          <a:off x="230662" y="1839112"/>
          <a:ext cx="8496300" cy="4354512"/>
        </p:xfrm>
        <a:graphic>
          <a:graphicData uri="http://schemas.openxmlformats.org/presentationml/2006/ole">
            <mc:AlternateContent xmlns:mc="http://schemas.openxmlformats.org/markup-compatibility/2006">
              <mc:Choice xmlns:v="urn:schemas-microsoft-com:vml" Requires="v">
                <p:oleObj spid="_x0000_s22535" name="文档" r:id="rId3" imgW="4358391" imgH="2206594" progId="Word.Document.8">
                  <p:embed/>
                </p:oleObj>
              </mc:Choice>
              <mc:Fallback>
                <p:oleObj name="文档" r:id="rId3" imgW="4358391" imgH="2206594"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662" y="1839112"/>
                        <a:ext cx="8496300" cy="435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18382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753886208"/>
              </p:ext>
            </p:extLst>
          </p:nvPr>
        </p:nvGraphicFramePr>
        <p:xfrm>
          <a:off x="361149" y="1762496"/>
          <a:ext cx="8589963" cy="4795837"/>
        </p:xfrm>
        <a:graphic>
          <a:graphicData uri="http://schemas.openxmlformats.org/presentationml/2006/ole">
            <mc:AlternateContent xmlns:mc="http://schemas.openxmlformats.org/markup-compatibility/2006">
              <mc:Choice xmlns:v="urn:schemas-microsoft-com:vml" Requires="v">
                <p:oleObj spid="_x0000_s23559" name="Document" r:id="rId3" imgW="4212758" imgH="2613687" progId="Word.Document.8">
                  <p:embed/>
                </p:oleObj>
              </mc:Choice>
              <mc:Fallback>
                <p:oleObj name="Document" r:id="rId3" imgW="4212758" imgH="2613687" progId="Word.Document.8">
                  <p:embed/>
                  <p:pic>
                    <p:nvPicPr>
                      <p:cNvPr id="0" name=""/>
                      <p:cNvPicPr>
                        <a:picLocks noChangeAspect="1" noChangeArrowheads="1"/>
                      </p:cNvPicPr>
                      <p:nvPr/>
                    </p:nvPicPr>
                    <p:blipFill>
                      <a:blip r:embed="rId4"/>
                      <a:srcRect/>
                      <a:stretch>
                        <a:fillRect/>
                      </a:stretch>
                    </p:blipFill>
                    <p:spPr bwMode="auto">
                      <a:xfrm>
                        <a:off x="361149" y="1762496"/>
                        <a:ext cx="8589963" cy="479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878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197778819"/>
              </p:ext>
            </p:extLst>
          </p:nvPr>
        </p:nvGraphicFramePr>
        <p:xfrm>
          <a:off x="472200" y="1840402"/>
          <a:ext cx="8280400" cy="4827588"/>
        </p:xfrm>
        <a:graphic>
          <a:graphicData uri="http://schemas.openxmlformats.org/presentationml/2006/ole">
            <mc:AlternateContent xmlns:mc="http://schemas.openxmlformats.org/markup-compatibility/2006">
              <mc:Choice xmlns:v="urn:schemas-microsoft-com:vml" Requires="v">
                <p:oleObj spid="_x0000_s24583" name="Document" r:id="rId3" imgW="4396001" imgH="2811694" progId="Word.Document.8">
                  <p:embed/>
                </p:oleObj>
              </mc:Choice>
              <mc:Fallback>
                <p:oleObj name="Document" r:id="rId3" imgW="4396001" imgH="2811694" progId="Word.Document.8">
                  <p:embed/>
                  <p:pic>
                    <p:nvPicPr>
                      <p:cNvPr id="0" name=""/>
                      <p:cNvPicPr>
                        <a:picLocks noChangeAspect="1" noChangeArrowheads="1"/>
                      </p:cNvPicPr>
                      <p:nvPr/>
                    </p:nvPicPr>
                    <p:blipFill>
                      <a:blip r:embed="rId4"/>
                      <a:srcRect/>
                      <a:stretch>
                        <a:fillRect/>
                      </a:stretch>
                    </p:blipFill>
                    <p:spPr bwMode="auto">
                      <a:xfrm>
                        <a:off x="472200" y="1840402"/>
                        <a:ext cx="8280400" cy="482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247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6" name="Rectangle 3"/>
          <p:cNvSpPr txBox="1">
            <a:spLocks noChangeArrowheads="1"/>
          </p:cNvSpPr>
          <p:nvPr/>
        </p:nvSpPr>
        <p:spPr bwMode="auto">
          <a:xfrm>
            <a:off x="519588" y="1495603"/>
            <a:ext cx="8280400" cy="5362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The use of </a:t>
            </a:r>
            <a:r>
              <a:rPr kumimoji="0" lang="en-US" altLang="zh-CN" sz="2000" b="0" i="0" u="none" strike="noStrike" kern="1200" cap="none" spc="0" normalizeH="0" baseline="0" noProof="0" dirty="0" err="1">
                <a:ln>
                  <a:noFill/>
                </a:ln>
                <a:solidFill>
                  <a:srgbClr val="000000"/>
                </a:solidFill>
                <a:effectLst/>
                <a:uLnTx/>
                <a:uFillTx/>
                <a:latin typeface="Times New Roman"/>
                <a:ea typeface="宋体"/>
                <a:cs typeface="+mn-cs"/>
              </a:rPr>
              <a:t>malloc</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and free to perform dynamic allocation and de-allocation of pointer is called </a:t>
            </a:r>
            <a:r>
              <a:rPr kumimoji="0" lang="en-US" altLang="zh-CN" sz="2000" b="0" i="0" u="none" strike="noStrike" kern="1200" cap="none" spc="0" normalizeH="0" baseline="0" noProof="0" dirty="0">
                <a:ln>
                  <a:noFill/>
                </a:ln>
                <a:solidFill>
                  <a:srgbClr val="FF3300"/>
                </a:solidFill>
                <a:effectLst/>
                <a:uLnTx/>
                <a:uFillTx/>
                <a:latin typeface="Times New Roman"/>
                <a:ea typeface="宋体"/>
                <a:cs typeface="+mn-cs"/>
              </a:rPr>
              <a:t>manual method</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By contrast, the runtime stack is managed automatically by the calling sequence.</a:t>
            </a:r>
          </a:p>
          <a:p>
            <a:pPr marL="342900" marR="0" lvl="0" indent="-342900" algn="l" defTabSz="914400" rtl="0" eaLnBrk="1" fontAlgn="base" latinLnBrk="0" hangingPunct="1">
              <a:lnSpc>
                <a:spcPct val="90000"/>
              </a:lnSpc>
              <a:spcBef>
                <a:spcPct val="20000"/>
              </a:spcBef>
              <a:spcAft>
                <a:spcPct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err="1">
                <a:ln>
                  <a:noFill/>
                </a:ln>
                <a:solidFill>
                  <a:srgbClr val="FF3300"/>
                </a:solidFill>
                <a:effectLst/>
                <a:uLnTx/>
                <a:uFillTx/>
                <a:latin typeface="Times New Roman"/>
                <a:ea typeface="宋体"/>
                <a:cs typeface="+mn-cs"/>
              </a:rPr>
              <a:t>Garbarge</a:t>
            </a:r>
            <a:r>
              <a:rPr kumimoji="0" lang="en-US" altLang="zh-CN" sz="2000" b="0" i="0" u="none" strike="noStrike" kern="1200" cap="none" spc="0" normalizeH="0" baseline="0" noProof="0" dirty="0">
                <a:ln>
                  <a:noFill/>
                </a:ln>
                <a:solidFill>
                  <a:srgbClr val="FF3300"/>
                </a:solidFill>
                <a:effectLst/>
                <a:uLnTx/>
                <a:uFillTx/>
                <a:latin typeface="Times New Roman"/>
                <a:ea typeface="宋体"/>
                <a:cs typeface="+mn-cs"/>
              </a:rPr>
              <a:t> collection</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the process of reclamation of allocated but no longer used storage without an explicit call to free.</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The standard technique is to </a:t>
            </a:r>
            <a:r>
              <a:rPr kumimoji="0" lang="en-US" altLang="zh-CN" sz="2000" b="0" i="0" u="none" strike="noStrike" kern="1200" cap="none" spc="0" normalizeH="0" baseline="0" noProof="0" dirty="0">
                <a:ln>
                  <a:noFill/>
                </a:ln>
                <a:solidFill>
                  <a:srgbClr val="FF3300"/>
                </a:solidFill>
                <a:effectLst/>
                <a:uLnTx/>
                <a:uFillTx/>
                <a:latin typeface="Times New Roman"/>
                <a:ea typeface="宋体"/>
                <a:cs typeface="+mn-cs"/>
              </a:rPr>
              <a:t>perform mark and sweep garbage collection</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In this method no memory is freed until a call to </a:t>
            </a:r>
            <a:r>
              <a:rPr kumimoji="0" lang="en-US" altLang="zh-CN" sz="2000" b="0" i="0" u="none" strike="noStrike" kern="1200" cap="none" spc="0" normalizeH="0" baseline="0" noProof="0" dirty="0" err="1">
                <a:ln>
                  <a:noFill/>
                </a:ln>
                <a:solidFill>
                  <a:srgbClr val="000000"/>
                </a:solidFill>
                <a:effectLst/>
                <a:uLnTx/>
                <a:uFillTx/>
                <a:latin typeface="Times New Roman"/>
                <a:ea typeface="宋体"/>
                <a:cs typeface="+mn-cs"/>
              </a:rPr>
              <a:t>malloc</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fails, which does this in two passes.</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Follows all pointers recursively, </a:t>
            </a:r>
            <a:r>
              <a:rPr kumimoji="0" lang="en-US" altLang="zh-CN" sz="2000" b="0" i="0" u="none" strike="noStrike" kern="1200" cap="none" spc="0" normalizeH="0" baseline="0" noProof="0" dirty="0">
                <a:ln>
                  <a:noFill/>
                </a:ln>
                <a:solidFill>
                  <a:srgbClr val="FF3300"/>
                </a:solidFill>
                <a:effectLst/>
                <a:uLnTx/>
                <a:uFillTx/>
                <a:latin typeface="Times New Roman"/>
                <a:ea typeface="宋体"/>
                <a:cs typeface="+mn-cs"/>
              </a:rPr>
              <a:t>starting with all currently accessible pointer values and marks each block of storage reached</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an extra bit for the marking.</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Sweeps linearly through memory, </a:t>
            </a:r>
            <a:r>
              <a:rPr kumimoji="0" lang="en-US" altLang="zh-CN" sz="2000" b="0" i="0" u="none" strike="noStrike" kern="1200" cap="none" spc="0" normalizeH="0" baseline="0" noProof="0" dirty="0">
                <a:ln>
                  <a:noFill/>
                </a:ln>
                <a:solidFill>
                  <a:srgbClr val="FF3300"/>
                </a:solidFill>
                <a:effectLst/>
                <a:uLnTx/>
                <a:uFillTx/>
                <a:latin typeface="Times New Roman"/>
                <a:ea typeface="宋体"/>
                <a:cs typeface="+mn-cs"/>
              </a:rPr>
              <a:t>returning unmarked blocks to free memory</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Also perform memory compaction to leave only one large block of </a:t>
            </a:r>
            <a:r>
              <a:rPr kumimoji="0" lang="en-US" altLang="zh-CN" sz="2000" b="0" i="0" u="none" strike="noStrike" kern="1200" cap="none" spc="0" normalizeH="0" baseline="0" noProof="0" dirty="0">
                <a:ln>
                  <a:noFill/>
                </a:ln>
                <a:solidFill>
                  <a:srgbClr val="FF3300"/>
                </a:solidFill>
                <a:effectLst/>
                <a:uLnTx/>
                <a:uFillTx/>
                <a:latin typeface="Times New Roman"/>
                <a:ea typeface="宋体"/>
                <a:cs typeface="+mn-cs"/>
              </a:rPr>
              <a:t>contiguous free space</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at the other end.</a:t>
            </a:r>
            <a:endPar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9094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5" name="Rectangle 3"/>
          <p:cNvSpPr txBox="1">
            <a:spLocks noChangeArrowheads="1"/>
          </p:cNvSpPr>
          <p:nvPr/>
        </p:nvSpPr>
        <p:spPr bwMode="auto">
          <a:xfrm>
            <a:off x="570862" y="1382105"/>
            <a:ext cx="8207375" cy="5475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The Mark and Sweep garbage collection has several drawbacks:</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Requires extra storage;</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The double pass through memory cause a significant delay in processing</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endPar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 bookkeeping improvement can be made to this process by splitting available memory into two halves and allocating storage only from one half at a time.</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Called stop-and-copy or two-space garbage collection</a:t>
            </a:r>
            <a:r>
              <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rPr>
              <a:t>.</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All reached blocks are immediately copied to the second half of storage not in use;</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No extra mark bit is required and only one pass is required;</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It also performs compaction automatically;</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It does little to improve processing delays during storage reclamation.</a:t>
            </a:r>
            <a:endPar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3750348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28675" y="76200"/>
            <a:ext cx="7485512" cy="1096962"/>
          </a:xfrm>
        </p:spPr>
        <p:txBody>
          <a:bodyPr/>
          <a:lstStyle/>
          <a:p>
            <a:r>
              <a:rPr lang="en-US" altLang="zh-CN" dirty="0"/>
              <a:t>8.8 Heap Management</a:t>
            </a:r>
            <a:endParaRPr lang="zh-CN" altLang="en-US" dirty="0"/>
          </a:p>
        </p:txBody>
      </p:sp>
      <p:sp>
        <p:nvSpPr>
          <p:cNvPr id="6" name="Rectangle 3"/>
          <p:cNvSpPr txBox="1">
            <a:spLocks noChangeArrowheads="1"/>
          </p:cNvSpPr>
          <p:nvPr/>
        </p:nvSpPr>
        <p:spPr bwMode="auto">
          <a:xfrm>
            <a:off x="711437" y="1460456"/>
            <a:ext cx="7772400" cy="525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Generational garbage collection</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which adds a permanent storage area to the reclamation scheme of the previous paragraph</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Allocated objects that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survive long enough</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are simply copied into permanent space and are never deallocated during subsequent storage reclamations.</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altLang="zh-CN" sz="2800" b="0" i="0" u="none" strike="noStrike" kern="1200" cap="none" spc="0" normalizeH="0" baseline="0" noProof="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Search only a </a:t>
            </a:r>
            <a:r>
              <a:rPr kumimoji="0" lang="en-US" altLang="zh-CN" sz="2800" b="1" i="0" u="none" strike="noStrike" kern="1200" cap="none" spc="0" normalizeH="0" baseline="0" noProof="0">
                <a:ln>
                  <a:noFill/>
                </a:ln>
                <a:solidFill>
                  <a:srgbClr val="000000"/>
                </a:solidFill>
                <a:effectLst/>
                <a:uLnTx/>
                <a:uFillTx/>
                <a:latin typeface="Times New Roman"/>
                <a:ea typeface="宋体"/>
                <a:cs typeface="+mn-cs"/>
              </a:rPr>
              <a:t>very small section of memory for newer storage allocations</a:t>
            </a:r>
            <a:r>
              <a:rPr kumimoji="0" lang="en-US" altLang="zh-CN" sz="2800" b="0" i="0" u="none" strike="noStrike" kern="1200" cap="none" spc="0" normalizeH="0" baseline="0" noProof="0">
                <a:ln>
                  <a:noFill/>
                </a:ln>
                <a:solidFill>
                  <a:srgbClr val="000000"/>
                </a:solidFill>
                <a:effectLst/>
                <a:uLnTx/>
                <a:uFillTx/>
                <a:latin typeface="Times New Roman"/>
                <a:ea typeface="宋体"/>
                <a:cs typeface="+mn-cs"/>
              </a:rPr>
              <a:t>, and the time for such a search is reduced to a fraction of a second.</a:t>
            </a:r>
            <a:endParaRPr kumimoji="0" lang="zh-CN" altLang="en-US" sz="2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234015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terms/"/>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4873beb7-5857-4685-be1f-d57550cc96c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5123</Words>
  <Application>Microsoft Office PowerPoint</Application>
  <PresentationFormat>全屏显示(4:3)</PresentationFormat>
  <Paragraphs>597</Paragraphs>
  <Slides>83</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3</vt:i4>
      </vt:variant>
      <vt:variant>
        <vt:lpstr>幻灯片标题</vt:lpstr>
      </vt:variant>
      <vt:variant>
        <vt:i4>83</vt:i4>
      </vt:variant>
    </vt:vector>
  </HeadingPairs>
  <TitlesOfParts>
    <vt:vector size="92" baseType="lpstr">
      <vt:lpstr>微软雅黑</vt:lpstr>
      <vt:lpstr>Arial</vt:lpstr>
      <vt:lpstr>Euphemia</vt:lpstr>
      <vt:lpstr>Times New Roman</vt:lpstr>
      <vt:lpstr>Wingdings</vt:lpstr>
      <vt:lpstr>学术文献 16x9</vt:lpstr>
      <vt:lpstr>文档</vt:lpstr>
      <vt:lpstr>Document</vt:lpstr>
      <vt:lpstr>Microsoft Word 97 - 2003 文档</vt:lpstr>
      <vt:lpstr>Compilers</vt:lpstr>
      <vt:lpstr>RUN-TIME Environments</vt:lpstr>
      <vt:lpstr>Outlines</vt:lpstr>
      <vt:lpstr>8.1 Symbol Table</vt:lpstr>
      <vt:lpstr>8.1 Symbol Table-Structure</vt:lpstr>
      <vt:lpstr>8.1 Symbol Table Per Scope</vt:lpstr>
      <vt:lpstr>8.1 Symbol Table Per Scope</vt:lpstr>
      <vt:lpstr>8.1 Symbol Table Per Scope-Implementation</vt:lpstr>
      <vt:lpstr>8.2 Storage Organization</vt:lpstr>
      <vt:lpstr>8.2 Storage Organization</vt:lpstr>
      <vt:lpstr>8.2 Storage Organization</vt:lpstr>
      <vt:lpstr>8.2 Storage Organization</vt:lpstr>
      <vt:lpstr>8.2 Storage Organization</vt:lpstr>
      <vt:lpstr>8.2 Storage Organization</vt:lpstr>
      <vt:lpstr>8.3 Stack Allocation of Space-Activation Trees</vt:lpstr>
      <vt:lpstr>8.3 Stack Allocation of Space-Activation Record</vt:lpstr>
      <vt:lpstr>8.3 Stack Allocation of Space-Activation Record</vt:lpstr>
      <vt:lpstr>8.3 Stack Allocation of Space-Activation Record</vt:lpstr>
      <vt:lpstr>8.3 Stack Allocation of Space-Calling Sequence</vt:lpstr>
      <vt:lpstr>8.3 Stack Allocation of Space-Calling Sequence</vt:lpstr>
      <vt:lpstr>8.3 Stack Allocation of Space-Calling Sequence</vt:lpstr>
      <vt:lpstr>8.3 Stack Allocation of Space-Calling Sequence</vt:lpstr>
      <vt:lpstr>8.4 Fully Static Runtime Environments</vt:lpstr>
      <vt:lpstr>8.4 Fully Static Runtime Environments</vt:lpstr>
      <vt:lpstr>8.4 Fully Static Runtime Environments</vt:lpstr>
      <vt:lpstr>8.4 Fully Static Runtime Environments</vt:lpstr>
      <vt:lpstr>8.5 Stack-Based Runtime Environments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Environments-Without Local Procedures</vt:lpstr>
      <vt:lpstr>8.5 Stack-Based Runtime Environments-With Local Procedures</vt:lpstr>
      <vt:lpstr>8.5 Stack-Based Runtime Environments-With Local Procedures</vt:lpstr>
      <vt:lpstr>8.5 Stack-Based Runtime Environments-With Local Procedures</vt:lpstr>
      <vt:lpstr>8.5 Stack-Based Runtime Environments-With Local Procedures</vt:lpstr>
      <vt:lpstr>8.5 Stack-Based Runtime Environments-With Local Procedures</vt:lpstr>
      <vt:lpstr>PowerPoint 演示文稿</vt:lpstr>
      <vt:lpstr>8.5 Stack-Based Runtime Environments-With Local Procedures</vt:lpstr>
      <vt:lpstr>8.5 Stack-Based Runtime Environments-With Local Procedures</vt:lpstr>
      <vt:lpstr>8.5 Stack-Based Runtime Environments-With Local Procedures</vt:lpstr>
      <vt:lpstr>8.5 Stack-Based Runtime Environments-With Local Procedures</vt:lpstr>
      <vt:lpstr>8.6 Fully Dynamic Runtime Environments</vt:lpstr>
      <vt:lpstr>8.6 Fully Dynamic Runtime Environments</vt:lpstr>
      <vt:lpstr>8.6 Fully Dynamic Runtime Environments</vt:lpstr>
      <vt:lpstr>8.6 Fully Dynamic Runtime Environments</vt:lpstr>
      <vt:lpstr>8.7 Dynamic Memory in Object-Oriented Languages</vt:lpstr>
      <vt:lpstr>8.7 Dynamic Memory in Object-Oriented Languages</vt:lpstr>
      <vt:lpstr>8.7 Dynamic Memory in Object-Oriented Languages</vt:lpstr>
      <vt:lpstr>8.7 Dynamic Memory in Object-Oriented Languages</vt:lpstr>
      <vt:lpstr>8.7 Dynamic Memory in Object-Oriented Languages</vt:lpstr>
      <vt:lpstr>8.8 Heap Management</vt:lpstr>
      <vt:lpstr>8.8 Heap Management</vt:lpstr>
      <vt:lpstr>8.8 Heap Management</vt:lpstr>
      <vt:lpstr>8.8 Heap Management</vt:lpstr>
      <vt:lpstr>8.8 Heap Management</vt:lpstr>
      <vt:lpstr>8.8 Heap Management</vt:lpstr>
      <vt:lpstr>8.8 Heap Management</vt:lpstr>
      <vt:lpstr>8.8 Heap Management</vt:lpstr>
      <vt:lpstr>8.8 Heap Management</vt:lpstr>
      <vt:lpstr>8.8 Heap Management</vt:lpstr>
      <vt:lpstr>8.8 Heap Management</vt:lpstr>
      <vt:lpstr>8.8 Heap Management</vt:lpstr>
      <vt:lpstr>8.8 Heap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2020-05-26T06:21:05Z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