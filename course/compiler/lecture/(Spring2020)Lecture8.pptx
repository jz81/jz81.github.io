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261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5" r:id="rId21"/>
    <p:sldId id="294" r:id="rId22"/>
    <p:sldId id="293" r:id="rId23"/>
    <p:sldId id="292" r:id="rId24"/>
    <p:sldId id="296" r:id="rId25"/>
  </p:sldIdLst>
  <p:sldSz cx="9144000" cy="6858000" type="screen4x3"/>
  <p:notesSz cx="6858000" cy="9144000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816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9" d="100"/>
          <a:sy n="99" d="100"/>
        </p:scale>
        <p:origin x="357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91C0301E-2321-4F52-B85E-5901506D265C}" type="datetime1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2020/5/22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06834459-7356-44BF-850D-8B30C4FB3B6B}" type="slidenum">
              <a:rPr lang="en-US" altLang="zh-CN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‹#›</a:t>
            </a:fld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29B22C3-6CB1-491B-AD00-E0837F23A3F3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A3C37BE-C303-496D-B5CD-85F2937540FC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altLang="zh-CN" smtClean="0"/>
              <a:pPr/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49057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7572375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4" y="4511785"/>
            <a:ext cx="7572376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/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A7392AAC-879E-4B39-8824-AF6B730A809E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pic>
        <p:nvPicPr>
          <p:cNvPr id="11" name="图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334" y="0"/>
            <a:ext cx="1310643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9BA78444-6099-4C0A-A3A9-C6F3C5D7F289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包含图片的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 12"/>
          <p:cNvGrpSpPr/>
          <p:nvPr/>
        </p:nvGrpSpPr>
        <p:grpSpPr>
          <a:xfrm rot="10800000">
            <a:off x="0" y="5645511"/>
            <a:ext cx="9144000" cy="63125"/>
            <a:chOff x="507492" y="1501519"/>
            <a:chExt cx="8129016" cy="63125"/>
          </a:xfrm>
        </p:grpSpPr>
        <p:cxnSp>
          <p:nvCxnSpPr>
            <p:cNvPr id="17" name="直接连接符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 13"/>
          <p:cNvGrpSpPr/>
          <p:nvPr/>
        </p:nvGrpSpPr>
        <p:grpSpPr>
          <a:xfrm>
            <a:off x="0" y="1143001"/>
            <a:ext cx="9144000" cy="63125"/>
            <a:chOff x="507492" y="1501519"/>
            <a:chExt cx="8129016" cy="63125"/>
          </a:xfrm>
        </p:grpSpPr>
        <p:cxnSp>
          <p:nvCxnSpPr>
            <p:cNvPr id="15" name="直接连接符​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4300538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5" y="4511785"/>
            <a:ext cx="4300538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pic>
        <p:nvPicPr>
          <p:cNvPr id="10" name="图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4410" y="0"/>
            <a:ext cx="1310643" cy="2292094"/>
          </a:xfrm>
          <a:prstGeom prst="rect">
            <a:avLst/>
          </a:prstGeom>
        </p:spPr>
      </p:pic>
      <p:sp>
        <p:nvSpPr>
          <p:cNvPr id="11" name="图片占位符 10"/>
          <p:cNvSpPr>
            <a:spLocks noGrp="1"/>
          </p:cNvSpPr>
          <p:nvPr>
            <p:ph type="pic" sz="quarter" idx="13"/>
          </p:nvPr>
        </p:nvSpPr>
        <p:spPr>
          <a:xfrm>
            <a:off x="5235798" y="1310656"/>
            <a:ext cx="3908203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 rtlCol="0"/>
          <a:lstStyle>
            <a:lvl1pPr marL="0" indent="0" algn="ctr" rtl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19" name="说明文字"/>
          <p:cNvSpPr/>
          <p:nvPr/>
        </p:nvSpPr>
        <p:spPr>
          <a:xfrm>
            <a:off x="9258300" y="0"/>
            <a:ext cx="971550" cy="68580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zh-CN" altLang="en-US" sz="900" b="1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注意：</a:t>
            </a:r>
          </a:p>
          <a:p>
            <a:pPr rtl="0"/>
            <a:r>
              <a:rPr lang="zh-CN" altLang="en-US" sz="900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若要更改此幻灯片上的图像，请选择该图片，并将其删除。然后单击占位符中的图片图标以插入自己的图像。</a:t>
            </a:r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 7"/>
          <p:cNvGrpSpPr/>
          <p:nvPr/>
        </p:nvGrpSpPr>
        <p:grpSpPr>
          <a:xfrm>
            <a:off x="0" y="2514601"/>
            <a:ext cx="9144000" cy="3194035"/>
            <a:chOff x="647402" y="2514600"/>
            <a:chExt cx="10838688" cy="3194035"/>
          </a:xfrm>
        </p:grpSpPr>
        <p:grpSp>
          <p:nvGrpSpPr>
            <p:cNvPr id="9" name="组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直接连接符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​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矩形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zh-CN" altLang="en-US" sz="1350" noProof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直接连接符​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​​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28675" y="2971806"/>
            <a:ext cx="7553324" cy="1684150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4655956"/>
            <a:ext cx="7553324" cy="50975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l" rtl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AF5F6A19-70BF-4380-9A40-68C9536408C6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7" name="图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" y="0"/>
            <a:ext cx="1337391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28675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017EB90-196C-4C15-BD31-13E0E0436C73}" type="datetime1">
              <a:rPr lang="zh-CN" altLang="en-US" smtClean="0"/>
              <a:pPr/>
              <a:t>2020/5/22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8675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4583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4583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C2EC0F41-B48F-4298-A7F6-618EB9D22195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DB2D836-56E8-4B15-857C-14B1A5B3B67B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38D929F-7D8C-4CC3-8AC7-BB9B8FE2DEBF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带题注的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31386" y="1600200"/>
            <a:ext cx="4083939" cy="4572001"/>
          </a:xfrm>
        </p:spPr>
        <p:txBody>
          <a:bodyPr rtlCol="0">
            <a:normAutofit/>
          </a:bodyPr>
          <a:lstStyle>
            <a:lvl1pPr algn="l" rtl="0">
              <a:defRPr sz="1500"/>
            </a:lvl1pPr>
            <a:lvl2pPr algn="l" rtl="0">
              <a:defRPr sz="1200"/>
            </a:lvl2pPr>
            <a:lvl3pPr algn="l" rtl="0">
              <a:defRPr sz="1200"/>
            </a:lvl3pPr>
            <a:lvl4pPr algn="l" rtl="0">
              <a:defRPr sz="1050"/>
            </a:lvl4pPr>
            <a:lvl5pPr algn="l" rtl="0">
              <a:defRPr sz="1050"/>
            </a:lvl5pPr>
            <a:lvl6pPr algn="l" rtl="0">
              <a:defRPr sz="1050"/>
            </a:lvl6pPr>
            <a:lvl7pPr algn="l" rtl="0">
              <a:defRPr sz="1050"/>
            </a:lvl7pPr>
            <a:lvl8pPr algn="l" rtl="0">
              <a:defRPr sz="1050"/>
            </a:lvl8pPr>
            <a:lvl9pPr algn="l" rtl="0">
              <a:defRPr sz="10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3288411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/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7892ACC-8BC8-4C9E-9D2B-0669DA5038B6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带题注的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91003" y="1600200"/>
            <a:ext cx="4823184" cy="4572001"/>
          </a:xfrm>
        </p:spPr>
        <p:txBody>
          <a:bodyPr tIns="1188720" rtlCol="0">
            <a:normAutofit/>
          </a:bodyPr>
          <a:lstStyle>
            <a:lvl1pPr marL="0" indent="0" algn="ctr" rtl="0">
              <a:buNone/>
              <a:defRPr sz="15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2100"/>
            </a:lvl2pPr>
            <a:lvl3pPr marL="685800" indent="0" algn="l" rtl="0">
              <a:buNone/>
              <a:defRPr sz="1800"/>
            </a:lvl3pPr>
            <a:lvl4pPr marL="1028700" indent="0" algn="l" rtl="0">
              <a:buNone/>
              <a:defRPr sz="1500"/>
            </a:lvl4pPr>
            <a:lvl5pPr marL="1371600" indent="0" algn="l" rtl="0">
              <a:buNone/>
              <a:defRPr sz="1500"/>
            </a:lvl5pPr>
            <a:lvl6pPr marL="1714500" indent="0" algn="l" rtl="0">
              <a:buNone/>
              <a:defRPr sz="1500"/>
            </a:lvl6pPr>
            <a:lvl7pPr marL="2057400" indent="0" algn="l" rtl="0">
              <a:buNone/>
              <a:defRPr sz="1500"/>
            </a:lvl7pPr>
            <a:lvl8pPr marL="2400300" indent="0" algn="l" rtl="0">
              <a:buNone/>
              <a:defRPr sz="1500"/>
            </a:lvl8pPr>
            <a:lvl9pPr marL="2743200" indent="0" algn="l" rtl="0">
              <a:buNone/>
              <a:defRPr sz="15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2547747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118C275-B304-48F5-8C4F-015CBCF4E7C1}" type="datetime1">
              <a:rPr lang="zh-CN" altLang="en-US" smtClean="0"/>
              <a:pPr/>
              <a:t>2020/5/22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8791AA9-DDCB-4BA8-AD1D-963A3AA00622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垂直标题 1"/>
          <p:cNvSpPr>
            <a:spLocks noGrp="1"/>
          </p:cNvSpPr>
          <p:nvPr>
            <p:ph type="title" orient="vert"/>
          </p:nvPr>
        </p:nvSpPr>
        <p:spPr>
          <a:xfrm>
            <a:off x="7029450" y="365125"/>
            <a:ext cx="1285875" cy="5811838"/>
          </a:xfrm>
        </p:spPr>
        <p:txBody>
          <a:bodyPr vert="eaVert"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28675" y="365125"/>
            <a:ext cx="6074172" cy="5811838"/>
          </a:xfrm>
        </p:spPr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170426F-E661-472B-BE42-25E072CD46D9}" type="datetime1">
              <a:rPr lang="zh-CN" altLang="en-US" smtClean="0"/>
              <a:pPr/>
              <a:t>2020/5/22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grpSp>
        <p:nvGrpSpPr>
          <p:cNvPr id="7" name="组 6"/>
          <p:cNvGrpSpPr/>
          <p:nvPr/>
        </p:nvGrpSpPr>
        <p:grpSpPr>
          <a:xfrm rot="5400000">
            <a:off x="4181447" y="3239394"/>
            <a:ext cx="5632704" cy="63302"/>
            <a:chOff x="1073150" y="1219201"/>
            <a:chExt cx="10058400" cy="63125"/>
          </a:xfrm>
        </p:grpSpPr>
        <p:cxnSp>
          <p:nvCxnSpPr>
            <p:cNvPr id="8" name="直接连接符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​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28675" y="76200"/>
            <a:ext cx="748551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0"/>
            <a:ext cx="748665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  <a:p>
            <a:pPr lvl="5" rtl="0"/>
            <a:r>
              <a:rPr lang="zh-CN" altLang="en-US" noProof="0" dirty="0"/>
              <a:t>第六级</a:t>
            </a:r>
          </a:p>
          <a:p>
            <a:pPr lvl="6" rtl="0"/>
            <a:r>
              <a:rPr lang="zh-CN" altLang="en-US" noProof="0" dirty="0"/>
              <a:t>第七级</a:t>
            </a:r>
          </a:p>
          <a:p>
            <a:pPr lvl="7" rtl="0"/>
            <a:r>
              <a:rPr lang="zh-CN" altLang="en-US" noProof="0" dirty="0"/>
              <a:t>第八级</a:t>
            </a:r>
          </a:p>
          <a:p>
            <a:pPr lvl="8" rtl="0"/>
            <a:r>
              <a:rPr lang="zh-CN" altLang="en-US" noProof="0" dirty="0"/>
              <a:t>第九级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28675" y="6356352"/>
            <a:ext cx="137216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60B6A15-7713-4A08-BBFD-F297CCC2B976}" type="datetime1">
              <a:rPr lang="zh-CN" altLang="en-US" smtClean="0"/>
              <a:pPr/>
              <a:t>2020/5/22</a:t>
            </a:fld>
            <a:r>
              <a:rPr lang="zh-CN" altLang="en-US" dirty="0"/>
              <a:t>​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00844" y="6356350"/>
            <a:ext cx="474231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942587" y="6356352"/>
            <a:ext cx="13716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/>
            <a:fld id="{0FF54DE5-C571-48E8-A5BC-B369434E2F44}" type="slidenum">
              <a:rPr lang="en-US" altLang="zh-CN" noProof="0" smtClean="0"/>
              <a:pPr algn="r"/>
              <a:t>‹#›</a:t>
            </a:fld>
            <a:endParaRPr lang="zh-CN" altLang="en-US" noProof="0" dirty="0"/>
          </a:p>
        </p:txBody>
      </p:sp>
      <p:grpSp>
        <p:nvGrpSpPr>
          <p:cNvPr id="15" name="组 14"/>
          <p:cNvGrpSpPr/>
          <p:nvPr/>
        </p:nvGrpSpPr>
        <p:grpSpPr>
          <a:xfrm>
            <a:off x="827532" y="1219202"/>
            <a:ext cx="7488936" cy="84403"/>
            <a:chOff x="1073150" y="1219201"/>
            <a:chExt cx="10058400" cy="63125"/>
          </a:xfrm>
        </p:grpSpPr>
        <p:cxnSp>
          <p:nvCxnSpPr>
            <p:cNvPr id="13" name="直接连接符​​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1350"/>
        </a:spcBef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9pPr>
    </p:bodyStyle>
    <p:otherStyle>
      <a:defPPr>
        <a:defRPr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2" userDrawn="1">
          <p15:clr>
            <a:srgbClr val="F26B43"/>
          </p15:clr>
        </p15:guide>
        <p15:guide id="2" pos="5238" userDrawn="1">
          <p15:clr>
            <a:srgbClr val="F26B43"/>
          </p15:clr>
        </p15:guide>
        <p15:guide id="3" orient="horz" pos="1008" userDrawn="1">
          <p15:clr>
            <a:srgbClr val="F26B43"/>
          </p15:clr>
        </p15:guide>
        <p15:guide id="4" orient="horz" pos="38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828675" y="2576321"/>
            <a:ext cx="4300538" cy="1664768"/>
          </a:xfrm>
        </p:spPr>
        <p:txBody>
          <a:bodyPr rtlCol="0" anchor="ctr"/>
          <a:lstStyle/>
          <a:p>
            <a:pPr rtl="0"/>
            <a:r>
              <a:rPr lang="en-US" altLang="zh-CN" dirty="0"/>
              <a:t>Compilers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828675" y="3879543"/>
            <a:ext cx="4300538" cy="1473692"/>
          </a:xfrm>
        </p:spPr>
        <p:txBody>
          <a:bodyPr rtlCol="0">
            <a:normAutofit/>
          </a:bodyPr>
          <a:lstStyle/>
          <a:p>
            <a:pPr rtl="0"/>
            <a:r>
              <a:rPr lang="en-US" sz="2000" dirty="0"/>
              <a:t>Principles, Techniques, &amp; Tools</a:t>
            </a: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Taught by Jing Zhang </a:t>
            </a: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(jzhang@njust.edu.cn)</a:t>
            </a:r>
          </a:p>
        </p:txBody>
      </p:sp>
      <p:pic>
        <p:nvPicPr>
          <p:cNvPr id="4" name="图片占位符 3" descr="桌上一本打开的书，书架在背景中模糊显示" title="示例图片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5" r="88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en-US" altLang="zh-CN" dirty="0" smtClean="0"/>
              <a:t>RUN-TIME Environments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Symbol Table</a:t>
            </a:r>
            <a:endParaRPr lang="en-US" altLang="zh-CN" dirty="0"/>
          </a:p>
          <a:p>
            <a:r>
              <a:rPr lang="en-US" altLang="zh-CN" dirty="0" smtClean="0"/>
              <a:t>Storage Organization</a:t>
            </a:r>
          </a:p>
          <a:p>
            <a:r>
              <a:rPr lang="en-US" altLang="zh-CN" dirty="0"/>
              <a:t>Stack Allocation of </a:t>
            </a:r>
            <a:r>
              <a:rPr lang="en-US" altLang="zh-CN" dirty="0" smtClean="0"/>
              <a:t>Space</a:t>
            </a:r>
          </a:p>
          <a:p>
            <a:r>
              <a:rPr lang="en-US" altLang="zh-CN" dirty="0"/>
              <a:t>Fully Static Runtime </a:t>
            </a:r>
            <a:r>
              <a:rPr lang="en-US" altLang="zh-CN" dirty="0" smtClean="0"/>
              <a:t>Environments</a:t>
            </a:r>
          </a:p>
          <a:p>
            <a:r>
              <a:rPr lang="en-US" altLang="zh-CN" dirty="0"/>
              <a:t>Stack-Based Runtime </a:t>
            </a:r>
            <a:r>
              <a:rPr lang="en-US" altLang="zh-CN" dirty="0" smtClean="0"/>
              <a:t>Environments</a:t>
            </a:r>
          </a:p>
          <a:p>
            <a:r>
              <a:rPr lang="en-US" altLang="zh-CN" dirty="0"/>
              <a:t>Dynamic Memory</a:t>
            </a:r>
            <a:endParaRPr lang="en-US" altLang="zh-CN" dirty="0" smtClean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5570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8.1 Symbol Table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262641"/>
          </a:xfrm>
        </p:spPr>
        <p:txBody>
          <a:bodyPr/>
          <a:lstStyle/>
          <a:p>
            <a:r>
              <a:rPr lang="en-US" altLang="zh-CN" b="1" dirty="0">
                <a:solidFill>
                  <a:srgbClr val="7030A0"/>
                </a:solidFill>
              </a:rPr>
              <a:t>Symbol tables </a:t>
            </a:r>
            <a:r>
              <a:rPr lang="en-US" altLang="zh-CN" dirty="0"/>
              <a:t>are data structures that are used by compilers to hold </a:t>
            </a:r>
            <a:r>
              <a:rPr lang="en-US" altLang="zh-CN" dirty="0" smtClean="0"/>
              <a:t>information about </a:t>
            </a:r>
            <a:r>
              <a:rPr lang="en-US" altLang="zh-CN" dirty="0"/>
              <a:t>source-program constructs. The information is collected incrementally </a:t>
            </a:r>
            <a:r>
              <a:rPr lang="en-US" altLang="zh-CN" dirty="0" smtClean="0"/>
              <a:t>by the </a:t>
            </a:r>
            <a:r>
              <a:rPr lang="en-US" altLang="zh-CN" dirty="0"/>
              <a:t>analysis phases of a compiler and used by the synthesis phases to </a:t>
            </a:r>
            <a:r>
              <a:rPr lang="en-US" altLang="zh-CN" dirty="0" smtClean="0"/>
              <a:t>generate the </a:t>
            </a:r>
            <a:r>
              <a:rPr lang="en-US" altLang="zh-CN" dirty="0"/>
              <a:t>target code.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651" y="2529199"/>
            <a:ext cx="6088923" cy="3215073"/>
          </a:xfrm>
          <a:prstGeom prst="rect">
            <a:avLst/>
          </a:prstGeom>
        </p:spPr>
      </p:pic>
      <p:cxnSp>
        <p:nvCxnSpPr>
          <p:cNvPr id="8" name="直接连接符 7"/>
          <p:cNvCxnSpPr/>
          <p:nvPr/>
        </p:nvCxnSpPr>
        <p:spPr>
          <a:xfrm>
            <a:off x="4606183" y="3837062"/>
            <a:ext cx="273465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 flipV="1">
            <a:off x="1828800" y="4050706"/>
            <a:ext cx="5469308" cy="854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 flipV="1">
            <a:off x="1793192" y="4254381"/>
            <a:ext cx="5469308" cy="854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1331762" y="5864451"/>
            <a:ext cx="665400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 smtClean="0"/>
              <a:t>Symbol Table is NOT a part of run-time environments but can provide information to create run-time environments</a:t>
            </a:r>
            <a:r>
              <a:rPr lang="en-US" altLang="zh-CN" b="1" dirty="0"/>
              <a:t>.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382117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8.1 Symbol </a:t>
            </a:r>
            <a:r>
              <a:rPr lang="en-US" altLang="zh-CN" dirty="0" smtClean="0"/>
              <a:t>Table-Structure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024537"/>
              </p:ext>
            </p:extLst>
          </p:nvPr>
        </p:nvGraphicFramePr>
        <p:xfrm>
          <a:off x="1524000" y="2012299"/>
          <a:ext cx="6096000" cy="180767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/>
                <a:gridCol w="1524000"/>
                <a:gridCol w="1524000"/>
                <a:gridCol w="1524000"/>
              </a:tblGrid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/>
                        <a:t>NAME</a:t>
                      </a:r>
                      <a:endParaRPr lang="zh-CN" altLang="en-US" b="1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INFORMATION</a:t>
                      </a:r>
                      <a:endParaRPr lang="zh-CN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lang="en-US" altLang="zh-CN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Category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 smtClean="0"/>
                        <a:t>addr</a:t>
                      </a:r>
                      <a:endParaRPr lang="zh-CN" alt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dirty="0" smtClean="0"/>
                        <a:t>     , 6</a:t>
                      </a:r>
                      <a:endParaRPr lang="zh-CN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dirty="0" smtClean="0"/>
                        <a:t>     , 4</a:t>
                      </a:r>
                      <a:endParaRPr lang="zh-CN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  <a:tr h="324313">
                <a:tc>
                  <a:txBody>
                    <a:bodyPr/>
                    <a:lstStyle/>
                    <a:p>
                      <a:pPr algn="l"/>
                      <a:r>
                        <a:rPr lang="en-US" altLang="zh-CN" dirty="0" smtClean="0"/>
                        <a:t>     , 1</a:t>
                      </a:r>
                      <a:endParaRPr lang="zh-CN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r>
                        <a:rPr lang="en-US" altLang="zh-CN" dirty="0" smtClean="0"/>
                        <a:t>      array            ……</a:t>
                      </a:r>
                      <a:r>
                        <a:rPr lang="en-US" altLang="zh-CN" baseline="0" dirty="0" smtClean="0"/>
                        <a:t>                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56993"/>
              </p:ext>
            </p:extLst>
          </p:nvPr>
        </p:nvGraphicFramePr>
        <p:xfrm>
          <a:off x="133477" y="4232985"/>
          <a:ext cx="31242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a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m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a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</a:tr>
            </a:tbl>
          </a:graphicData>
        </a:graphic>
      </p:graphicFrame>
      <p:grpSp>
        <p:nvGrpSpPr>
          <p:cNvPr id="18" name="组合 17"/>
          <p:cNvGrpSpPr/>
          <p:nvPr/>
        </p:nvGrpSpPr>
        <p:grpSpPr>
          <a:xfrm>
            <a:off x="444381" y="2973938"/>
            <a:ext cx="1384419" cy="1222049"/>
            <a:chOff x="1093863" y="2358639"/>
            <a:chExt cx="822023" cy="1222049"/>
          </a:xfrm>
        </p:grpSpPr>
        <p:cxnSp>
          <p:nvCxnSpPr>
            <p:cNvPr id="7" name="直接连接符 6"/>
            <p:cNvCxnSpPr/>
            <p:nvPr/>
          </p:nvCxnSpPr>
          <p:spPr>
            <a:xfrm>
              <a:off x="1110953" y="2358639"/>
              <a:ext cx="804933" cy="1384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 flipH="1">
              <a:off x="1093863" y="2358639"/>
              <a:ext cx="8544" cy="1222049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组合 18"/>
          <p:cNvGrpSpPr/>
          <p:nvPr/>
        </p:nvGrpSpPr>
        <p:grpSpPr>
          <a:xfrm>
            <a:off x="1640791" y="3341408"/>
            <a:ext cx="188009" cy="888761"/>
            <a:chOff x="1093863" y="2358639"/>
            <a:chExt cx="822023" cy="1222049"/>
          </a:xfrm>
        </p:grpSpPr>
        <p:cxnSp>
          <p:nvCxnSpPr>
            <p:cNvPr id="20" name="直接连接符 19"/>
            <p:cNvCxnSpPr/>
            <p:nvPr/>
          </p:nvCxnSpPr>
          <p:spPr>
            <a:xfrm>
              <a:off x="1110953" y="2358639"/>
              <a:ext cx="804933" cy="1384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 flipH="1">
              <a:off x="1093863" y="2358639"/>
              <a:ext cx="8544" cy="1222049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组合 21"/>
          <p:cNvGrpSpPr/>
          <p:nvPr/>
        </p:nvGrpSpPr>
        <p:grpSpPr>
          <a:xfrm flipH="1">
            <a:off x="1837346" y="3956705"/>
            <a:ext cx="640933" cy="282011"/>
            <a:chOff x="1093863" y="2358639"/>
            <a:chExt cx="780401" cy="1222049"/>
          </a:xfrm>
        </p:grpSpPr>
        <p:cxnSp>
          <p:nvCxnSpPr>
            <p:cNvPr id="23" name="直接连接符 22"/>
            <p:cNvCxnSpPr/>
            <p:nvPr/>
          </p:nvCxnSpPr>
          <p:spPr>
            <a:xfrm>
              <a:off x="1110951" y="2358639"/>
              <a:ext cx="763313" cy="0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 flipH="1">
              <a:off x="1093863" y="2358639"/>
              <a:ext cx="8544" cy="1222049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直接连接符 24"/>
          <p:cNvCxnSpPr/>
          <p:nvPr/>
        </p:nvCxnSpPr>
        <p:spPr>
          <a:xfrm flipV="1">
            <a:off x="1820254" y="3631965"/>
            <a:ext cx="0" cy="324740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表格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901264"/>
              </p:ext>
            </p:extLst>
          </p:nvPr>
        </p:nvGraphicFramePr>
        <p:xfrm>
          <a:off x="4691639" y="4541855"/>
          <a:ext cx="32730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8260"/>
                <a:gridCol w="818260"/>
                <a:gridCol w="818260"/>
                <a:gridCol w="818260"/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Dimension</a:t>
                      </a:r>
                      <a:endParaRPr lang="zh-CN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First </a:t>
                      </a:r>
                      <a:r>
                        <a:rPr lang="en-US" altLang="zh-CN" dirty="0" err="1" smtClean="0"/>
                        <a:t>Addr</a:t>
                      </a:r>
                      <a:endParaRPr lang="zh-CN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Upper 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Upper</a:t>
                      </a:r>
                      <a:r>
                        <a:rPr lang="en-US" altLang="zh-CN" baseline="0" dirty="0" smtClean="0"/>
                        <a:t> 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Upper</a:t>
                      </a:r>
                      <a:r>
                        <a:rPr lang="en-US" altLang="zh-CN" baseline="0" dirty="0" smtClean="0"/>
                        <a:t> N</a:t>
                      </a:r>
                      <a:endParaRPr lang="zh-CN" alt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Lower 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Lower 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Lower N</a:t>
                      </a:r>
                      <a:endParaRPr lang="zh-CN" alt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4" name="文本框 33"/>
          <p:cNvSpPr txBox="1"/>
          <p:nvPr/>
        </p:nvSpPr>
        <p:spPr>
          <a:xfrm>
            <a:off x="3666146" y="1478423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Symbol Table </a:t>
            </a:r>
            <a:endParaRPr lang="zh-CN" altLang="en-US" b="1" dirty="0"/>
          </a:p>
        </p:txBody>
      </p:sp>
      <p:cxnSp>
        <p:nvCxnSpPr>
          <p:cNvPr id="36" name="直接连接符 35"/>
          <p:cNvCxnSpPr/>
          <p:nvPr/>
        </p:nvCxnSpPr>
        <p:spPr>
          <a:xfrm flipH="1">
            <a:off x="6929212" y="3621994"/>
            <a:ext cx="955363" cy="747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4341264" y="4631821"/>
            <a:ext cx="358923" cy="0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 flipH="1" flipV="1">
            <a:off x="7896314" y="3623417"/>
            <a:ext cx="8547" cy="521293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/>
          <p:nvPr/>
        </p:nvCxnSpPr>
        <p:spPr>
          <a:xfrm flipH="1">
            <a:off x="4349809" y="4153256"/>
            <a:ext cx="3546506" cy="0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/>
          <p:nvPr/>
        </p:nvCxnSpPr>
        <p:spPr>
          <a:xfrm flipH="1">
            <a:off x="4349809" y="4144710"/>
            <a:ext cx="1" cy="495656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/>
          <p:cNvSpPr/>
          <p:nvPr/>
        </p:nvSpPr>
        <p:spPr>
          <a:xfrm>
            <a:off x="5128667" y="4150188"/>
            <a:ext cx="25250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/>
              <a:t>Insider Vector Table</a:t>
            </a:r>
          </a:p>
        </p:txBody>
      </p:sp>
    </p:spTree>
    <p:extLst>
      <p:ext uri="{BB962C8B-B14F-4D97-AF65-F5344CB8AC3E}">
        <p14:creationId xmlns:p14="http://schemas.microsoft.com/office/powerpoint/2010/main" val="102900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8.1 Symbol Table Per Scope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1"/>
            <a:ext cx="7486650" cy="4689504"/>
          </a:xfrm>
        </p:spPr>
        <p:txBody>
          <a:bodyPr/>
          <a:lstStyle/>
          <a:p>
            <a:r>
              <a:rPr lang="en-US" altLang="zh-CN" dirty="0"/>
              <a:t>The term "scope of identifier </a:t>
            </a:r>
            <a:r>
              <a:rPr lang="en-US" altLang="zh-CN" i="1" dirty="0"/>
              <a:t>x</a:t>
            </a:r>
            <a:r>
              <a:rPr lang="en-US" altLang="zh-CN" dirty="0"/>
              <a:t>' really refers to the scope of a particular </a:t>
            </a:r>
            <a:r>
              <a:rPr lang="en-US" altLang="zh-CN" dirty="0" smtClean="0"/>
              <a:t>declaration of </a:t>
            </a:r>
            <a:r>
              <a:rPr lang="en-US" altLang="zh-CN" i="1" dirty="0"/>
              <a:t>x</a:t>
            </a:r>
            <a:r>
              <a:rPr lang="en-US" altLang="zh-CN" dirty="0"/>
              <a:t>. The term scope by itself refers to a portion of a program that </a:t>
            </a:r>
            <a:r>
              <a:rPr lang="en-US" altLang="zh-CN" dirty="0" smtClean="0"/>
              <a:t>is the </a:t>
            </a:r>
            <a:r>
              <a:rPr lang="en-US" altLang="zh-CN" dirty="0"/>
              <a:t>scope of one or more </a:t>
            </a:r>
            <a:r>
              <a:rPr lang="en-US" altLang="zh-CN" dirty="0" smtClean="0"/>
              <a:t>declarations.</a:t>
            </a:r>
          </a:p>
          <a:p>
            <a:r>
              <a:rPr lang="en-US" altLang="zh-CN" dirty="0" smtClean="0"/>
              <a:t>Scopes </a:t>
            </a:r>
            <a:r>
              <a:rPr lang="en-US" altLang="zh-CN" dirty="0"/>
              <a:t>are important, because the same identifier can be declared for </a:t>
            </a:r>
            <a:r>
              <a:rPr lang="en-US" altLang="zh-CN" dirty="0" smtClean="0"/>
              <a:t>different purposes </a:t>
            </a:r>
            <a:r>
              <a:rPr lang="en-US" altLang="zh-CN" dirty="0"/>
              <a:t>in different parts of a program. Common names like </a:t>
            </a:r>
            <a:r>
              <a:rPr lang="en-US" altLang="zh-CN" i="1" dirty="0" err="1"/>
              <a:t>i</a:t>
            </a:r>
            <a:r>
              <a:rPr lang="en-US" altLang="zh-CN" dirty="0"/>
              <a:t> and </a:t>
            </a:r>
            <a:r>
              <a:rPr lang="en-US" altLang="zh-CN" i="1" dirty="0"/>
              <a:t>x </a:t>
            </a:r>
            <a:r>
              <a:rPr lang="en-US" altLang="zh-CN" dirty="0" smtClean="0"/>
              <a:t>often have </a:t>
            </a:r>
            <a:r>
              <a:rPr lang="en-US" altLang="zh-CN" dirty="0"/>
              <a:t>multiple uses. As another example, subclasses can </a:t>
            </a:r>
            <a:r>
              <a:rPr lang="en-US" altLang="zh-CN" dirty="0" err="1"/>
              <a:t>redeclare</a:t>
            </a:r>
            <a:r>
              <a:rPr lang="en-US" altLang="zh-CN" dirty="0"/>
              <a:t> a </a:t>
            </a:r>
            <a:r>
              <a:rPr lang="en-US" altLang="zh-CN" dirty="0" smtClean="0"/>
              <a:t>method name </a:t>
            </a:r>
            <a:r>
              <a:rPr lang="en-US" altLang="zh-CN" dirty="0"/>
              <a:t>to override a method in a superclass</a:t>
            </a:r>
            <a:r>
              <a:rPr lang="en-US" altLang="zh-CN" dirty="0" smtClean="0"/>
              <a:t>.</a:t>
            </a:r>
          </a:p>
          <a:p>
            <a:r>
              <a:rPr lang="en-US" altLang="zh-CN" dirty="0"/>
              <a:t>If blocks can be nested, several declarations of the same identifier can </a:t>
            </a:r>
            <a:r>
              <a:rPr lang="en-US" altLang="zh-CN" dirty="0" smtClean="0"/>
              <a:t>appear within </a:t>
            </a:r>
            <a:r>
              <a:rPr lang="en-US" altLang="zh-CN" dirty="0"/>
              <a:t>a single block. The following syntax results in nested blocks when </a:t>
            </a:r>
            <a:r>
              <a:rPr lang="en-US" altLang="zh-CN" i="1" dirty="0" err="1" smtClean="0"/>
              <a:t>stmts</a:t>
            </a:r>
            <a:r>
              <a:rPr lang="en-US" altLang="zh-CN" dirty="0" smtClean="0"/>
              <a:t> can </a:t>
            </a:r>
            <a:r>
              <a:rPr lang="en-US" altLang="zh-CN" dirty="0"/>
              <a:t>generate a block</a:t>
            </a:r>
            <a:r>
              <a:rPr lang="en-US" altLang="zh-CN" dirty="0" smtClean="0"/>
              <a:t>:</a:t>
            </a:r>
          </a:p>
          <a:p>
            <a:endParaRPr lang="en-US" altLang="zh-CN" dirty="0"/>
          </a:p>
          <a:p>
            <a:r>
              <a:rPr lang="en-US" altLang="zh-CN" dirty="0"/>
              <a:t>The </a:t>
            </a:r>
            <a:r>
              <a:rPr lang="en-US" altLang="zh-CN" b="1" i="1" dirty="0">
                <a:solidFill>
                  <a:srgbClr val="7030A0"/>
                </a:solidFill>
              </a:rPr>
              <a:t>most- closely nested </a:t>
            </a:r>
            <a:r>
              <a:rPr lang="en-US" altLang="zh-CN" dirty="0"/>
              <a:t>rule for blocks is that an identifier </a:t>
            </a:r>
            <a:r>
              <a:rPr lang="en-US" altLang="zh-CN" i="1" dirty="0"/>
              <a:t>x</a:t>
            </a:r>
            <a:r>
              <a:rPr lang="en-US" altLang="zh-CN" dirty="0"/>
              <a:t> is in the </a:t>
            </a:r>
            <a:r>
              <a:rPr lang="en-US" altLang="zh-CN" dirty="0" smtClean="0"/>
              <a:t>scope of </a:t>
            </a:r>
            <a:r>
              <a:rPr lang="en-US" altLang="zh-CN" dirty="0"/>
              <a:t>the most-closely nested declaration of </a:t>
            </a:r>
            <a:r>
              <a:rPr lang="en-US" altLang="zh-CN" i="1" dirty="0"/>
              <a:t>x</a:t>
            </a:r>
            <a:r>
              <a:rPr lang="en-US" altLang="zh-CN" dirty="0"/>
              <a:t>; that is, the </a:t>
            </a:r>
            <a:r>
              <a:rPr lang="en-US" altLang="zh-CN" dirty="0" smtClean="0"/>
              <a:t>declaration </a:t>
            </a:r>
            <a:r>
              <a:rPr lang="en-US" altLang="zh-CN" dirty="0"/>
              <a:t>of </a:t>
            </a:r>
            <a:r>
              <a:rPr lang="en-US" altLang="zh-CN" i="1" dirty="0"/>
              <a:t>x</a:t>
            </a:r>
            <a:r>
              <a:rPr lang="en-US" altLang="zh-CN" dirty="0"/>
              <a:t> </a:t>
            </a:r>
            <a:r>
              <a:rPr lang="en-US" altLang="zh-CN" dirty="0" smtClean="0"/>
              <a:t>found by </a:t>
            </a:r>
            <a:r>
              <a:rPr lang="en-US" altLang="zh-CN" dirty="0"/>
              <a:t>examining blocks inside-out, starting with the block in which </a:t>
            </a:r>
            <a:r>
              <a:rPr lang="en-US" altLang="zh-CN" i="1" dirty="0"/>
              <a:t>x</a:t>
            </a:r>
            <a:r>
              <a:rPr lang="en-US" altLang="zh-CN" dirty="0"/>
              <a:t> appears.</a:t>
            </a:r>
            <a:endParaRPr lang="en-US" altLang="zh-CN" dirty="0" smtClean="0"/>
          </a:p>
          <a:p>
            <a:endParaRPr lang="en-US" altLang="zh-CN" dirty="0"/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937" y="4120541"/>
            <a:ext cx="3134086" cy="468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79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8.1 Symbol Table Per Scope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5663"/>
            <a:ext cx="9144000" cy="4735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883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8.1 Symbol Table Per </a:t>
            </a:r>
            <a:r>
              <a:rPr lang="en-US" altLang="zh-CN" dirty="0" smtClean="0"/>
              <a:t>Scope-Implementation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485835"/>
            <a:ext cx="5545865" cy="5040213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>
            <a:off x="3315768" y="2862841"/>
            <a:ext cx="2777383" cy="8546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178611" y="2623560"/>
            <a:ext cx="259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Create a new symbol table.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5194418" y="3647629"/>
            <a:ext cx="1009828" cy="9971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262645" y="3451078"/>
            <a:ext cx="259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Put a new entry in the current table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4201682" y="4449510"/>
            <a:ext cx="1994019" cy="11395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6235583" y="4287142"/>
            <a:ext cx="25979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Get an entry for an identifier by searching the chain of tables, starting</a:t>
            </a: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with the table for the current block.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连接符 17"/>
          <p:cNvCxnSpPr/>
          <p:nvPr/>
        </p:nvCxnSpPr>
        <p:spPr>
          <a:xfrm>
            <a:off x="2119357" y="4760007"/>
            <a:ext cx="340977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688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</a:t>
            </a:r>
            <a:r>
              <a:rPr lang="en-US" altLang="zh-CN" dirty="0"/>
              <a:t>Storage Organization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  <a:tabLst>
                <a:tab pos="365125" algn="l"/>
              </a:tabLst>
            </a:pPr>
            <a:r>
              <a:rPr lang="en-US" altLang="zh-CN" sz="2200" b="1" dirty="0">
                <a:solidFill>
                  <a:srgbClr val="000000"/>
                </a:solidFill>
              </a:rPr>
              <a:t>Runtime Environment</a:t>
            </a:r>
            <a:endParaRPr lang="en-US" altLang="zh-CN" sz="2200" dirty="0">
              <a:solidFill>
                <a:srgbClr val="000000"/>
              </a:solidFill>
            </a:endParaRP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r>
              <a:rPr lang="en-US" altLang="zh-CN" sz="2200" dirty="0">
                <a:solidFill>
                  <a:srgbClr val="000000"/>
                </a:solidFill>
              </a:rPr>
              <a:t>The structure of the target computer’s </a:t>
            </a:r>
            <a:r>
              <a:rPr lang="en-US" altLang="zh-CN" sz="2200" b="1" dirty="0">
                <a:solidFill>
                  <a:srgbClr val="000000"/>
                </a:solidFill>
              </a:rPr>
              <a:t>registers and memory</a:t>
            </a:r>
            <a:r>
              <a:rPr lang="en-US" altLang="zh-CN" sz="2200" dirty="0">
                <a:solidFill>
                  <a:srgbClr val="000000"/>
                </a:solidFill>
              </a:rPr>
              <a:t> that serves to manage memory and maintain the information needed </a:t>
            </a:r>
            <a:r>
              <a:rPr lang="en-US" altLang="zh-CN" sz="2200" b="1" dirty="0">
                <a:solidFill>
                  <a:srgbClr val="000000"/>
                </a:solidFill>
              </a:rPr>
              <a:t>to guide the execution process</a:t>
            </a: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endParaRPr lang="en-US" altLang="zh-CN" sz="2200" b="1" dirty="0">
              <a:solidFill>
                <a:srgbClr val="000000"/>
              </a:solidFill>
            </a:endParaRPr>
          </a:p>
          <a:p>
            <a:pPr marL="342900" lvl="0" indent="-342900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  <a:tabLst>
                <a:tab pos="365125" algn="l"/>
              </a:tabLst>
            </a:pPr>
            <a:r>
              <a:rPr lang="en-US" altLang="zh-CN" sz="2200" b="1" dirty="0">
                <a:solidFill>
                  <a:srgbClr val="000000"/>
                </a:solidFill>
              </a:rPr>
              <a:t>Three kinds of runtime environments</a:t>
            </a:r>
            <a:endParaRPr lang="en-US" altLang="zh-CN" sz="2200" dirty="0">
              <a:solidFill>
                <a:srgbClr val="000000"/>
              </a:solidFill>
            </a:endParaRP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r>
              <a:rPr lang="en-US" altLang="zh-CN" sz="2200" dirty="0">
                <a:solidFill>
                  <a:srgbClr val="000000"/>
                </a:solidFill>
              </a:rPr>
              <a:t>(1) </a:t>
            </a:r>
            <a:r>
              <a:rPr lang="en-US" altLang="zh-CN" sz="2200" b="1" dirty="0">
                <a:solidFill>
                  <a:srgbClr val="000000"/>
                </a:solidFill>
              </a:rPr>
              <a:t>Fully static</a:t>
            </a:r>
            <a:r>
              <a:rPr lang="en-US" altLang="zh-CN" sz="2200" dirty="0">
                <a:solidFill>
                  <a:srgbClr val="000000"/>
                </a:solidFill>
              </a:rPr>
              <a:t> environment; FORTRAN77</a:t>
            </a: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r>
              <a:rPr lang="en-US" altLang="zh-CN" sz="2200" dirty="0">
                <a:solidFill>
                  <a:srgbClr val="000000"/>
                </a:solidFill>
              </a:rPr>
              <a:t>(2) </a:t>
            </a:r>
            <a:r>
              <a:rPr lang="en-US" altLang="zh-CN" sz="2200" b="1" dirty="0">
                <a:solidFill>
                  <a:srgbClr val="000000"/>
                </a:solidFill>
              </a:rPr>
              <a:t>Stack-Based</a:t>
            </a:r>
            <a:r>
              <a:rPr lang="en-US" altLang="zh-CN" sz="2200" dirty="0">
                <a:solidFill>
                  <a:srgbClr val="000000"/>
                </a:solidFill>
              </a:rPr>
              <a:t> environment;	C </a:t>
            </a:r>
            <a:r>
              <a:rPr lang="en-US" altLang="zh-CN" sz="2200" dirty="0" err="1">
                <a:solidFill>
                  <a:srgbClr val="000000"/>
                </a:solidFill>
              </a:rPr>
              <a:t>C</a:t>
            </a:r>
            <a:r>
              <a:rPr lang="en-US" altLang="zh-CN" sz="2200" dirty="0">
                <a:solidFill>
                  <a:srgbClr val="000000"/>
                </a:solidFill>
              </a:rPr>
              <a:t>++</a:t>
            </a: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r>
              <a:rPr lang="en-US" altLang="zh-CN" sz="2200" dirty="0">
                <a:solidFill>
                  <a:srgbClr val="000000"/>
                </a:solidFill>
              </a:rPr>
              <a:t>(3) </a:t>
            </a:r>
            <a:r>
              <a:rPr lang="en-US" altLang="zh-CN" sz="2200" b="1" dirty="0">
                <a:solidFill>
                  <a:srgbClr val="000000"/>
                </a:solidFill>
              </a:rPr>
              <a:t>Fully dynamic</a:t>
            </a:r>
            <a:r>
              <a:rPr lang="en-US" altLang="zh-CN" sz="2200" dirty="0">
                <a:solidFill>
                  <a:srgbClr val="000000"/>
                </a:solidFill>
              </a:rPr>
              <a:t> environment; LISP</a:t>
            </a:r>
            <a:endParaRPr lang="zh-CN" altLang="en-US" sz="2200" dirty="0">
              <a:solidFill>
                <a:srgbClr val="000000"/>
              </a:solidFill>
            </a:endParaRP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9567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342900" lvl="0" indent="-34290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Main issues will be discussed in more detail in the chapter: 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For each environment, the language features and their properties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None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	(1) </a:t>
            </a:r>
            <a:r>
              <a:rPr lang="en-US" altLang="zh-CN" sz="2400" b="1" dirty="0">
                <a:solidFill>
                  <a:srgbClr val="000000"/>
                </a:solidFill>
                <a:latin typeface="Times New Roman"/>
                <a:ea typeface="宋体"/>
              </a:rPr>
              <a:t>Scoping and allocation</a:t>
            </a: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 issues;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None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	(2) Nature of </a:t>
            </a:r>
            <a:r>
              <a:rPr lang="en-US" altLang="zh-CN" sz="2400" b="1" dirty="0">
                <a:solidFill>
                  <a:srgbClr val="000000"/>
                </a:solidFill>
                <a:latin typeface="Times New Roman"/>
                <a:ea typeface="宋体"/>
              </a:rPr>
              <a:t>procedure calls</a:t>
            </a: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;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None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	(3) </a:t>
            </a:r>
            <a:r>
              <a:rPr lang="en-US" altLang="zh-CN" sz="2400" b="1" dirty="0">
                <a:solidFill>
                  <a:srgbClr val="000000"/>
                </a:solidFill>
                <a:latin typeface="Times New Roman"/>
                <a:ea typeface="宋体"/>
              </a:rPr>
              <a:t>Parameter passing</a:t>
            </a: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 mechanisms</a:t>
            </a:r>
          </a:p>
          <a:p>
            <a:pPr marL="342900" lvl="0" indent="-34290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Focus on the general structure of the environment</a:t>
            </a:r>
          </a:p>
          <a:p>
            <a:pPr marL="342900" lvl="0" indent="-34290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endParaRPr lang="en-US" altLang="zh-CN" sz="2800" b="1" dirty="0">
              <a:solidFill>
                <a:srgbClr val="000000"/>
              </a:solidFill>
              <a:latin typeface="Times New Roman"/>
              <a:ea typeface="宋体"/>
            </a:endParaRPr>
          </a:p>
          <a:p>
            <a:pPr marL="342900" lvl="0" indent="-34290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b="1" dirty="0">
                <a:solidFill>
                  <a:srgbClr val="000000"/>
                </a:solidFill>
                <a:latin typeface="Times New Roman"/>
                <a:ea typeface="宋体"/>
              </a:rPr>
              <a:t>Note:</a:t>
            </a: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 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The compiler can only maintain an environment only indirectly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It must generate code to perform the necessary maintenance operations during program execution.</a:t>
            </a:r>
            <a:endParaRPr lang="zh-CN" altLang="en-US" sz="2400" dirty="0">
              <a:solidFill>
                <a:srgbClr val="000000"/>
              </a:solidFill>
              <a:latin typeface="Times New Roman"/>
              <a:ea typeface="宋体"/>
            </a:endParaRP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99981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831" y="1732752"/>
            <a:ext cx="7514364" cy="4351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01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99102" y="1386139"/>
            <a:ext cx="8691073" cy="53122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The global and/or static data of a program can be </a:t>
            </a:r>
            <a:r>
              <a:rPr lang="en-US" altLang="zh-CN" sz="2800" b="1" dirty="0">
                <a:solidFill>
                  <a:srgbClr val="000000"/>
                </a:solidFill>
                <a:latin typeface="Times New Roman"/>
                <a:ea typeface="宋体"/>
              </a:rPr>
              <a:t>fixed in memory prior to execution</a:t>
            </a:r>
            <a:endParaRPr lang="en-US" altLang="zh-CN" sz="2800" dirty="0">
              <a:solidFill>
                <a:srgbClr val="000000"/>
              </a:solidFill>
              <a:latin typeface="Times New Roman"/>
              <a:ea typeface="宋体"/>
            </a:endParaRPr>
          </a:p>
          <a:p>
            <a:pPr marL="742950" lvl="1" indent="-28575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Data are allocated separately in a fixed area in a similar fashion to the code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In Fortran77, all data are in this class;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In Pascal, global variables are in this class;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In C, the external and static variables are in this class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endParaRPr lang="en-US" altLang="zh-CN" sz="2000" dirty="0">
              <a:solidFill>
                <a:srgbClr val="000000"/>
              </a:solidFill>
              <a:latin typeface="Times New Roman"/>
              <a:ea typeface="宋体"/>
            </a:endParaRPr>
          </a:p>
          <a:p>
            <a:pPr marL="342900" lvl="0" indent="-3429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The </a:t>
            </a:r>
            <a:r>
              <a:rPr lang="en-US" altLang="zh-CN" sz="2800" b="1" dirty="0">
                <a:solidFill>
                  <a:srgbClr val="000000"/>
                </a:solidFill>
                <a:latin typeface="Times New Roman"/>
                <a:ea typeface="宋体"/>
              </a:rPr>
              <a:t>constants</a:t>
            </a: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 are usually allocated memory </a:t>
            </a:r>
            <a:r>
              <a:rPr lang="en-US" altLang="zh-CN" sz="2800" b="1" dirty="0">
                <a:solidFill>
                  <a:srgbClr val="000000"/>
                </a:solidFill>
                <a:latin typeface="Times New Roman"/>
                <a:ea typeface="宋体"/>
              </a:rPr>
              <a:t>in the global/static area</a:t>
            </a:r>
          </a:p>
          <a:p>
            <a:pPr marL="742950" lvl="1" indent="-28575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 err="1">
                <a:solidFill>
                  <a:srgbClr val="000000"/>
                </a:solidFill>
                <a:latin typeface="Times New Roman"/>
                <a:ea typeface="宋体"/>
              </a:rPr>
              <a:t>Const</a:t>
            </a: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 declarations of C and Pascal;</a:t>
            </a:r>
          </a:p>
          <a:p>
            <a:pPr marL="742950" lvl="1" indent="-28575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Literal values used in the code, 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such as </a:t>
            </a:r>
            <a:r>
              <a:rPr lang="en-US" altLang="zh-CN" sz="2000" dirty="0">
                <a:solidFill>
                  <a:srgbClr val="000000"/>
                </a:solidFill>
                <a:latin typeface="Arial" panose="020B0604020202020204" pitchFamily="34" charset="0"/>
                <a:ea typeface="宋体"/>
              </a:rPr>
              <a:t>“</a:t>
            </a:r>
            <a:r>
              <a:rPr lang="en-US" altLang="zh-CN" sz="2000" dirty="0" err="1">
                <a:solidFill>
                  <a:srgbClr val="000000"/>
                </a:solidFill>
                <a:latin typeface="Times New Roman"/>
                <a:ea typeface="宋体"/>
              </a:rPr>
              <a:t>Hello%D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\n</a:t>
            </a:r>
            <a:r>
              <a:rPr lang="en-US" altLang="zh-CN" sz="2000" dirty="0">
                <a:solidFill>
                  <a:srgbClr val="000000"/>
                </a:solidFill>
                <a:latin typeface="Arial" panose="020B0604020202020204" pitchFamily="34" charset="0"/>
                <a:ea typeface="宋体"/>
              </a:rPr>
              <a:t>”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 and i</a:t>
            </a:r>
            <a:r>
              <a:rPr lang="en-US" altLang="zh-CN" sz="2000" dirty="0" smtClean="0">
                <a:solidFill>
                  <a:srgbClr val="000000"/>
                </a:solidFill>
                <a:latin typeface="Times New Roman"/>
                <a:ea typeface="宋体"/>
              </a:rPr>
              <a:t>nteger 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value 12345: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 err="1">
                <a:solidFill>
                  <a:srgbClr val="000000"/>
                </a:solidFill>
                <a:latin typeface="Times New Roman"/>
                <a:ea typeface="宋体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(</a:t>
            </a:r>
            <a:r>
              <a:rPr lang="en-US" altLang="zh-CN" sz="2000" dirty="0">
                <a:solidFill>
                  <a:srgbClr val="000000"/>
                </a:solidFill>
                <a:latin typeface="Arial" panose="020B0604020202020204" pitchFamily="34" charset="0"/>
                <a:ea typeface="宋体"/>
              </a:rPr>
              <a:t>“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Hello %d\n</a:t>
            </a:r>
            <a:r>
              <a:rPr lang="en-US" altLang="zh-CN" sz="2000" dirty="0">
                <a:solidFill>
                  <a:srgbClr val="000000"/>
                </a:solidFill>
                <a:latin typeface="Arial" panose="020B0604020202020204" pitchFamily="34" charset="0"/>
                <a:ea typeface="宋体"/>
              </a:rPr>
              <a:t>”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,12345);</a:t>
            </a:r>
            <a:endParaRPr lang="zh-CN" altLang="en-US" sz="2000" dirty="0">
              <a:solidFill>
                <a:srgbClr val="000000"/>
              </a:solidFill>
              <a:latin typeface="Times New Roman"/>
              <a:ea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2639071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 bwMode="auto">
          <a:xfrm>
            <a:off x="617434" y="1491568"/>
            <a:ext cx="7772400" cy="50630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2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The memory area used for </a:t>
            </a:r>
            <a:r>
              <a:rPr kumimoji="0" lang="en-US" altLang="zh-CN" sz="2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dynamic data</a:t>
            </a:r>
            <a:r>
              <a:rPr kumimoji="0" lang="en-US" altLang="zh-CN" sz="2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can be organized in many different ways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Typically, this memory can be divided into a stack area and a heap area;</a:t>
            </a:r>
          </a:p>
          <a:p>
            <a:pPr marL="1143000" marR="0" lvl="2" indent="-2286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A stack area</a:t>
            </a:r>
            <a:r>
              <a:rPr kumimoji="0" lang="en-US" altLang="zh-CN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used for data whose allocation occurs in FIFO fashion;</a:t>
            </a:r>
          </a:p>
          <a:p>
            <a:pPr marL="1143000" marR="0" lvl="2" indent="-2286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A heap area</a:t>
            </a:r>
            <a:r>
              <a:rPr kumimoji="0" lang="en-US" altLang="zh-CN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used for dynamic allocation occurs not in FIFO fashion.</a:t>
            </a:r>
          </a:p>
          <a:p>
            <a:pPr marL="1143000" marR="0" lvl="2" indent="-2286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endParaRPr kumimoji="0" lang="en-US" altLang="zh-CN" sz="20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2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Generally, the architecture of the target machine includes a processor stack for procedure calls and returns.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Sometimes, a compiler will have to arrange for the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explicit allocation of the processor stack</a:t>
            </a: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in an appropriate place in memory.</a:t>
            </a:r>
            <a:endParaRPr kumimoji="0" lang="zh-CN" altLang="en-US" sz="24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669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38" y="1538613"/>
            <a:ext cx="8181747" cy="521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7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Stack </a:t>
            </a:r>
            <a:r>
              <a:rPr lang="en-US" altLang="zh-CN" dirty="0" smtClean="0"/>
              <a:t>Allocation </a:t>
            </a:r>
            <a:r>
              <a:rPr lang="en-US" altLang="zh-CN" dirty="0"/>
              <a:t>of Space-Activation Trees</a:t>
            </a:r>
            <a:endParaRPr lang="zh-CN" altLang="en-US" dirty="0"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587381"/>
          </a:xfrm>
        </p:spPr>
        <p:txBody>
          <a:bodyPr/>
          <a:lstStyle/>
          <a:p>
            <a:r>
              <a:rPr lang="en-US" altLang="zh-CN" dirty="0"/>
              <a:t>Almost all compilers for languages that use procedures, </a:t>
            </a:r>
            <a:r>
              <a:rPr lang="en-US" altLang="zh-CN" dirty="0" smtClean="0"/>
              <a:t>functions</a:t>
            </a:r>
            <a:r>
              <a:rPr lang="en-US" altLang="zh-CN" dirty="0"/>
              <a:t>, or </a:t>
            </a:r>
            <a:r>
              <a:rPr lang="en-US" altLang="zh-CN" dirty="0" smtClean="0"/>
              <a:t>methods as </a:t>
            </a:r>
            <a:r>
              <a:rPr lang="en-US" altLang="zh-CN" dirty="0"/>
              <a:t>units of user-defined actions manage at least part of their run-time </a:t>
            </a:r>
            <a:r>
              <a:rPr lang="en-US" altLang="zh-CN" dirty="0" smtClean="0"/>
              <a:t>memory as </a:t>
            </a:r>
            <a:r>
              <a:rPr lang="en-US" altLang="zh-CN" dirty="0"/>
              <a:t>a stack. Each time a procedure1 is called, space for its local variables </a:t>
            </a:r>
            <a:r>
              <a:rPr lang="en-US" altLang="zh-CN" dirty="0" smtClean="0"/>
              <a:t>is pushed </a:t>
            </a:r>
            <a:r>
              <a:rPr lang="en-US" altLang="zh-CN" dirty="0"/>
              <a:t>onto a stack, and when the procedure terminates, that space is </a:t>
            </a:r>
            <a:r>
              <a:rPr lang="en-US" altLang="zh-CN" dirty="0" smtClean="0"/>
              <a:t>popped off </a:t>
            </a:r>
            <a:r>
              <a:rPr lang="en-US" altLang="zh-CN" dirty="0"/>
              <a:t>the stack</a:t>
            </a:r>
            <a:r>
              <a:rPr lang="en-US" altLang="zh-CN" dirty="0" smtClean="0"/>
              <a:t>.</a:t>
            </a:r>
          </a:p>
          <a:p>
            <a:r>
              <a:rPr lang="en-US" altLang="zh-CN" dirty="0"/>
              <a:t>The following example illustrates nesting </a:t>
            </a:r>
            <a:r>
              <a:rPr lang="en-US" altLang="zh-CN" dirty="0" smtClean="0"/>
              <a:t>of procedure </a:t>
            </a:r>
            <a:r>
              <a:rPr lang="en-US" altLang="zh-CN" dirty="0"/>
              <a:t>calls.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99" y="3199635"/>
            <a:ext cx="3306599" cy="3658365"/>
          </a:xfrm>
          <a:prstGeom prst="rect">
            <a:avLst/>
          </a:prstGeom>
        </p:spPr>
      </p:pic>
      <p:sp>
        <p:nvSpPr>
          <p:cNvPr id="6" name="右箭头 5"/>
          <p:cNvSpPr/>
          <p:nvPr/>
        </p:nvSpPr>
        <p:spPr>
          <a:xfrm>
            <a:off x="4366901" y="3837063"/>
            <a:ext cx="538386" cy="25637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7804" y="3202490"/>
            <a:ext cx="4036196" cy="216217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4371174" y="5513694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pPr marL="228600" indent="-228600">
              <a:buAutoNum type="arabicPeriod"/>
            </a:pP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The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sequence of procedure 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calls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corresponds to a preorder traversal of 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the activation tree.</a:t>
            </a:r>
          </a:p>
          <a:p>
            <a:pPr marL="228600" indent="-228600">
              <a:buAutoNum type="arabicPeriod"/>
            </a:pP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The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sequence of 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returns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corresponds to a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postorder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traversal of the 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activation tree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52564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Stack Allocation of Space-Activation </a:t>
            </a:r>
            <a:r>
              <a:rPr lang="en-US" altLang="zh-CN" dirty="0" smtClean="0"/>
              <a:t>Record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4572000"/>
          </a:xfrm>
        </p:spPr>
        <p:txBody>
          <a:bodyPr/>
          <a:lstStyle/>
          <a:p>
            <a:r>
              <a:rPr lang="en-US" altLang="zh-CN" dirty="0"/>
              <a:t>Procedure calls and returns are usually managed by a run-time stack called </a:t>
            </a:r>
            <a:r>
              <a:rPr lang="en-US" altLang="zh-CN" dirty="0" smtClean="0"/>
              <a:t>the control </a:t>
            </a:r>
            <a:r>
              <a:rPr lang="en-US" altLang="zh-CN" dirty="0"/>
              <a:t>stack. Each live activation has an </a:t>
            </a:r>
            <a:r>
              <a:rPr lang="en-US" altLang="zh-CN" b="1" dirty="0">
                <a:solidFill>
                  <a:srgbClr val="7030A0"/>
                </a:solidFill>
              </a:rPr>
              <a:t>activation record </a:t>
            </a:r>
            <a:r>
              <a:rPr lang="en-US" altLang="zh-CN" dirty="0"/>
              <a:t>( sometimes called </a:t>
            </a:r>
            <a:r>
              <a:rPr lang="en-US" altLang="zh-CN" dirty="0" smtClean="0"/>
              <a:t>a </a:t>
            </a:r>
            <a:r>
              <a:rPr lang="en-US" altLang="zh-CN" b="1" dirty="0" smtClean="0">
                <a:solidFill>
                  <a:srgbClr val="7030A0"/>
                </a:solidFill>
              </a:rPr>
              <a:t>frame</a:t>
            </a:r>
            <a:r>
              <a:rPr lang="en-US" altLang="zh-CN" dirty="0"/>
              <a:t>) on the control stack, with the root of the activation tree at the </a:t>
            </a:r>
            <a:r>
              <a:rPr lang="en-US" altLang="zh-CN" dirty="0" smtClean="0"/>
              <a:t>bottom, and </a:t>
            </a:r>
            <a:r>
              <a:rPr lang="en-US" altLang="zh-CN" dirty="0"/>
              <a:t>the entire sequence of activation records on the stack corresponding to </a:t>
            </a:r>
            <a:r>
              <a:rPr lang="en-US" altLang="zh-CN" dirty="0" smtClean="0"/>
              <a:t>the path </a:t>
            </a:r>
            <a:r>
              <a:rPr lang="en-US" altLang="zh-CN" dirty="0"/>
              <a:t>in the activation tree to the activation where control currently </a:t>
            </a:r>
            <a:r>
              <a:rPr lang="en-US" altLang="zh-CN" dirty="0" smtClean="0"/>
              <a:t>resides. The </a:t>
            </a:r>
            <a:r>
              <a:rPr lang="en-US" altLang="zh-CN" dirty="0"/>
              <a:t>latter activation has its record at the top of the stack.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0765648"/>
              </p:ext>
            </p:extLst>
          </p:nvPr>
        </p:nvGraphicFramePr>
        <p:xfrm>
          <a:off x="959265" y="3374307"/>
          <a:ext cx="2954709" cy="1532568"/>
        </p:xfrm>
        <a:graphic>
          <a:graphicData uri="http://schemas.openxmlformats.org/drawingml/2006/table">
            <a:tbl>
              <a:tblPr/>
              <a:tblGrid>
                <a:gridCol w="2954709"/>
              </a:tblGrid>
              <a:tr h="52288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Space for arguments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( parameters )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680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Space for bookkeeping information, including return address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44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Space for local data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44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Space for local temporaries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79" y="3045612"/>
            <a:ext cx="2591901" cy="2970627"/>
          </a:xfrm>
          <a:prstGeom prst="rect">
            <a:avLst/>
          </a:prstGeom>
        </p:spPr>
      </p:pic>
      <p:cxnSp>
        <p:nvCxnSpPr>
          <p:cNvPr id="7" name="直接连接符 6"/>
          <p:cNvCxnSpPr/>
          <p:nvPr/>
        </p:nvCxnSpPr>
        <p:spPr>
          <a:xfrm flipV="1">
            <a:off x="3905427" y="3153398"/>
            <a:ext cx="905855" cy="22219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>
            <a:off x="3913974" y="3879791"/>
            <a:ext cx="905854" cy="42729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3879791" y="4383994"/>
            <a:ext cx="897309" cy="692208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3922520" y="4640366"/>
            <a:ext cx="880216" cy="837488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2127903" y="57855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8206" y="5997894"/>
            <a:ext cx="4593468" cy="86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04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84220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36780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98056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39965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44016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学术文献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9411639_TF03431380_TF03431380" id="{9AE2BD50-F2AD-48C6-8A81-F7D7390F9E40}" vid="{822244C9-F44A-41EE-AAAB-DAE7A533DA64}"/>
    </a:ext>
  </a:extLst>
</a:theme>
</file>

<file path=ppt/theme/theme2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CDDBB83-77C1-4099-A0AA-289882E745E2}">
  <ds:schemaRefs>
    <ds:schemaRef ds:uri="http://purl.org/dc/terms/"/>
    <ds:schemaRef ds:uri="http://purl.org/dc/dcmitype/"/>
    <ds:schemaRef ds:uri="http://www.w3.org/XML/1998/namespace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873beb7-5857-4685-be1f-d57550cc96cc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892</Words>
  <Application>Microsoft Office PowerPoint</Application>
  <PresentationFormat>全屏显示(4:3)</PresentationFormat>
  <Paragraphs>130</Paragraphs>
  <Slides>21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8" baseType="lpstr">
      <vt:lpstr>Euphemia</vt:lpstr>
      <vt:lpstr>宋体</vt:lpstr>
      <vt:lpstr>微软雅黑</vt:lpstr>
      <vt:lpstr>Arial</vt:lpstr>
      <vt:lpstr>Times New Roman</vt:lpstr>
      <vt:lpstr>Wingdings</vt:lpstr>
      <vt:lpstr>学术文献 16x9</vt:lpstr>
      <vt:lpstr>Compilers</vt:lpstr>
      <vt:lpstr>RUN-TIME Environments</vt:lpstr>
      <vt:lpstr>Outlines</vt:lpstr>
      <vt:lpstr>8.1 Symbol Table</vt:lpstr>
      <vt:lpstr>8.1 Symbol Table-Structure</vt:lpstr>
      <vt:lpstr>8.1 Symbol Table Per Scope</vt:lpstr>
      <vt:lpstr>8.1 Symbol Table Per Scope</vt:lpstr>
      <vt:lpstr>8.1 Symbol Table Per Scope-Implementation</vt:lpstr>
      <vt:lpstr>8.2 Storage Organization</vt:lpstr>
      <vt:lpstr>8.2 Storage Organization</vt:lpstr>
      <vt:lpstr>8.2 Storage Organization</vt:lpstr>
      <vt:lpstr>8.2 Storage Organization</vt:lpstr>
      <vt:lpstr>8.2 Storage Organization</vt:lpstr>
      <vt:lpstr>8.2 Storage Organization</vt:lpstr>
      <vt:lpstr>8.3 Stack Allocation of Space-Activation Trees</vt:lpstr>
      <vt:lpstr>8.3 Stack Allocation of Space-Activation Record</vt:lpstr>
      <vt:lpstr>8.2 Storage Organization</vt:lpstr>
      <vt:lpstr>8.2 Storage Organization</vt:lpstr>
      <vt:lpstr>8.2 Storage Organization</vt:lpstr>
      <vt:lpstr>8.2 Storage Organization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2017-04-09T02:54:44Z</dcterms:created>
  <dcterms:modified xsi:type="dcterms:W3CDTF">2020-05-22T09:18:45Z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