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vml" ContentType="application/vnd.openxmlformats-officedocument.vmlDrawing"/>
  <Default Extension="doc" ContentType="application/msword"/>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39"/>
  </p:notesMasterIdLst>
  <p:handoutMasterIdLst>
    <p:handoutMasterId r:id="rId40"/>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5" r:id="rId21"/>
    <p:sldId id="294" r:id="rId22"/>
    <p:sldId id="293" r:id="rId23"/>
    <p:sldId id="296" r:id="rId24"/>
    <p:sldId id="297" r:id="rId25"/>
    <p:sldId id="299" r:id="rId26"/>
    <p:sldId id="298" r:id="rId27"/>
    <p:sldId id="300" r:id="rId28"/>
    <p:sldId id="301" r:id="rId29"/>
    <p:sldId id="303" r:id="rId30"/>
    <p:sldId id="304" r:id="rId31"/>
    <p:sldId id="305" r:id="rId32"/>
    <p:sldId id="302" r:id="rId33"/>
    <p:sldId id="306" r:id="rId34"/>
    <p:sldId id="307" r:id="rId35"/>
    <p:sldId id="308" r:id="rId36"/>
    <p:sldId id="309" r:id="rId37"/>
    <p:sldId id="310" r:id="rId38"/>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112" d="100"/>
          <a:sy n="112" d="100"/>
        </p:scale>
        <p:origin x="1542" y="114"/>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8.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oleObject" Target="../embeddings/Microsoft_Word_97_-_2003___1.doc"/><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9.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Microsoft_Word_97_-_2003___2.doc"/><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20.emf"/></Relationships>
</file>

<file path=ppt/slides/_rels/slide33.xml.rels><?xml version="1.0" encoding="UTF-8" standalone="yes"?>
<Relationships xmlns="http://schemas.openxmlformats.org/package/2006/relationships"><Relationship Id="rId3" Type="http://schemas.openxmlformats.org/officeDocument/2006/relationships/oleObject" Target="../embeddings/Microsoft_Word_97_-_2003___3.doc"/><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21.emf"/></Relationships>
</file>

<file path=ppt/slides/_rels/slide34.xml.rels><?xml version="1.0" encoding="UTF-8" standalone="yes"?>
<Relationships xmlns="http://schemas.openxmlformats.org/package/2006/relationships"><Relationship Id="rId3" Type="http://schemas.openxmlformats.org/officeDocument/2006/relationships/oleObject" Target="../embeddings/Microsoft_Word_97_-_2003___4.doc"/><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2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RUN-TIME Environments</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Symbol Table</a:t>
            </a:r>
          </a:p>
          <a:p>
            <a:r>
              <a:rPr lang="en-US" altLang="zh-CN" dirty="0"/>
              <a:t>Storage Organization</a:t>
            </a:r>
          </a:p>
          <a:p>
            <a:r>
              <a:rPr lang="en-US" altLang="zh-CN" dirty="0"/>
              <a:t>Stack Allocation of Space</a:t>
            </a:r>
          </a:p>
          <a:p>
            <a:r>
              <a:rPr lang="en-US" altLang="zh-CN" dirty="0"/>
              <a:t>Fully Static Runtime Environments</a:t>
            </a:r>
          </a:p>
          <a:p>
            <a:r>
              <a:rPr lang="en-US" altLang="zh-CN" dirty="0"/>
              <a:t>Stack-Based Runtime Environments</a:t>
            </a:r>
          </a:p>
          <a:p>
            <a:r>
              <a:rPr lang="en-US" altLang="zh-CN" dirty="0"/>
              <a:t>Dynamic Memory</a:t>
            </a:r>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a:t>
            </a:r>
            <a:endParaRPr lang="zh-CN" altLang="en-US" dirty="0"/>
          </a:p>
        </p:txBody>
      </p:sp>
      <p:sp>
        <p:nvSpPr>
          <p:cNvPr id="3" name="内容占位符 2"/>
          <p:cNvSpPr>
            <a:spLocks noGrp="1"/>
          </p:cNvSpPr>
          <p:nvPr>
            <p:ph idx="1"/>
          </p:nvPr>
        </p:nvSpPr>
        <p:spPr>
          <a:xfrm>
            <a:off x="828675" y="1600200"/>
            <a:ext cx="7486650" cy="1262641"/>
          </a:xfrm>
        </p:spPr>
        <p:txBody>
          <a:bodyPr/>
          <a:lstStyle/>
          <a:p>
            <a:r>
              <a:rPr lang="en-US" altLang="zh-CN" b="1" dirty="0">
                <a:solidFill>
                  <a:srgbClr val="7030A0"/>
                </a:solidFill>
              </a:rPr>
              <a:t>Symbol tables </a:t>
            </a:r>
            <a:r>
              <a:rPr lang="en-US" altLang="zh-CN" dirty="0"/>
              <a:t>are data structures that are used by compilers to hold information about source-program constructs. The information is collected incrementally by the analysis phases of a compiler and used by the synthesis phases to generate the target code.</a:t>
            </a:r>
            <a:endParaRPr lang="zh-CN" altLang="en-US" dirty="0"/>
          </a:p>
        </p:txBody>
      </p:sp>
      <p:pic>
        <p:nvPicPr>
          <p:cNvPr id="4" name="图片 3"/>
          <p:cNvPicPr>
            <a:picLocks noChangeAspect="1"/>
          </p:cNvPicPr>
          <p:nvPr/>
        </p:nvPicPr>
        <p:blipFill>
          <a:blip r:embed="rId2"/>
          <a:stretch>
            <a:fillRect/>
          </a:stretch>
        </p:blipFill>
        <p:spPr>
          <a:xfrm>
            <a:off x="1482651" y="2529199"/>
            <a:ext cx="6088923" cy="3215073"/>
          </a:xfrm>
          <a:prstGeom prst="rect">
            <a:avLst/>
          </a:prstGeom>
        </p:spPr>
      </p:pic>
      <p:cxnSp>
        <p:nvCxnSpPr>
          <p:cNvPr id="8" name="直接连接符 7"/>
          <p:cNvCxnSpPr/>
          <p:nvPr/>
        </p:nvCxnSpPr>
        <p:spPr>
          <a:xfrm>
            <a:off x="4606183" y="3837062"/>
            <a:ext cx="2734654"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0" name="直接连接符 9"/>
          <p:cNvCxnSpPr/>
          <p:nvPr/>
        </p:nvCxnSpPr>
        <p:spPr>
          <a:xfrm flipV="1">
            <a:off x="1828800" y="4050706"/>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4" name="直接连接符 13"/>
          <p:cNvCxnSpPr/>
          <p:nvPr/>
        </p:nvCxnSpPr>
        <p:spPr>
          <a:xfrm flipV="1">
            <a:off x="1793192" y="4254381"/>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
        <p:nvSpPr>
          <p:cNvPr id="15" name="文本框 14"/>
          <p:cNvSpPr txBox="1"/>
          <p:nvPr/>
        </p:nvSpPr>
        <p:spPr>
          <a:xfrm>
            <a:off x="1331762" y="5864451"/>
            <a:ext cx="665400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US" altLang="zh-CN" b="1" dirty="0"/>
              <a:t>Symbol Table is NOT a part of run-time environments but can provide information to create run-time environments.</a:t>
            </a:r>
            <a:endParaRPr lang="zh-CN" altLang="en-US" b="1" dirty="0"/>
          </a:p>
        </p:txBody>
      </p:sp>
    </p:spTree>
    <p:extLst>
      <p:ext uri="{BB962C8B-B14F-4D97-AF65-F5344CB8AC3E}">
        <p14:creationId xmlns:p14="http://schemas.microsoft.com/office/powerpoint/2010/main" val="238211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Table-Structure</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328024537"/>
              </p:ext>
            </p:extLst>
          </p:nvPr>
        </p:nvGraphicFramePr>
        <p:xfrm>
          <a:off x="1524000" y="2012299"/>
          <a:ext cx="6096000" cy="1807673"/>
        </p:xfrm>
        <a:graphic>
          <a:graphicData uri="http://schemas.openxmlformats.org/drawingml/2006/table">
            <a:tbl>
              <a:tblPr firstRow="1" bandRow="1">
                <a:tableStyleId>{5940675A-B579-460E-94D1-54222C63F5DA}</a:tableStyleId>
              </a:tblPr>
              <a:tblGrid>
                <a:gridCol w="1524000">
                  <a:extLst>
                    <a:ext uri="{9D8B030D-6E8A-4147-A177-3AD203B41FA5}">
                      <a16:colId xmlns:a16="http://schemas.microsoft.com/office/drawing/2014/main" xmlns="" val="20000"/>
                    </a:ext>
                  </a:extLst>
                </a:gridCol>
                <a:gridCol w="1524000">
                  <a:extLst>
                    <a:ext uri="{9D8B030D-6E8A-4147-A177-3AD203B41FA5}">
                      <a16:colId xmlns:a16="http://schemas.microsoft.com/office/drawing/2014/main" xmlns="" val="20001"/>
                    </a:ext>
                  </a:extLst>
                </a:gridCol>
                <a:gridCol w="1524000">
                  <a:extLst>
                    <a:ext uri="{9D8B030D-6E8A-4147-A177-3AD203B41FA5}">
                      <a16:colId xmlns:a16="http://schemas.microsoft.com/office/drawing/2014/main" xmlns="" val="20002"/>
                    </a:ext>
                  </a:extLst>
                </a:gridCol>
                <a:gridCol w="1524000">
                  <a:extLst>
                    <a:ext uri="{9D8B030D-6E8A-4147-A177-3AD203B41FA5}">
                      <a16:colId xmlns:a16="http://schemas.microsoft.com/office/drawing/2014/main" xmlns="" val="20003"/>
                    </a:ext>
                  </a:extLst>
                </a:gridCol>
              </a:tblGrid>
              <a:tr h="370840">
                <a:tc rowSpan="2">
                  <a:txBody>
                    <a:bodyPr/>
                    <a:lstStyle/>
                    <a:p>
                      <a:pPr algn="ctr"/>
                      <a:r>
                        <a:rPr lang="en-US" altLang="zh-CN" b="1" dirty="0"/>
                        <a:t>NAME</a:t>
                      </a:r>
                      <a:endParaRPr lang="zh-CN" altLang="en-US" b="1" dirty="0"/>
                    </a:p>
                  </a:txBody>
                  <a:tcPr anchor="ctr"/>
                </a:tc>
                <a:tc gridSpan="3">
                  <a:txBody>
                    <a:bodyPr/>
                    <a:lstStyle/>
                    <a:p>
                      <a:pPr algn="ctr"/>
                      <a:r>
                        <a:rPr lang="en-US" altLang="zh-CN" dirty="0"/>
                        <a:t>INFORMATION</a:t>
                      </a:r>
                      <a:endParaRPr lang="zh-CN" altLang="en-US" dirty="0"/>
                    </a:p>
                  </a:txBody>
                  <a:tcPr anchor="ct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0"/>
                  </a:ext>
                </a:extLst>
              </a:tr>
              <a:tr h="370840">
                <a:tc vMerge="1">
                  <a:txBody>
                    <a:bodyPr/>
                    <a:lstStyle/>
                    <a:p>
                      <a:pPr algn="l"/>
                      <a:endParaRPr lang="en-US" altLang="zh-CN" dirty="0"/>
                    </a:p>
                  </a:txBody>
                  <a:tcPr anchor="ctr"/>
                </a:tc>
                <a:tc>
                  <a:txBody>
                    <a:bodyPr/>
                    <a:lstStyle/>
                    <a:p>
                      <a:pPr algn="ctr"/>
                      <a:r>
                        <a:rPr lang="en-US" altLang="zh-CN" dirty="0"/>
                        <a:t>Category</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err="1"/>
                        <a:t>addr</a:t>
                      </a:r>
                      <a:endParaRPr lang="zh-CN" altLang="en-US" dirty="0"/>
                    </a:p>
                  </a:txBody>
                  <a:tcPr anchor="ctr"/>
                </a:tc>
                <a:extLst>
                  <a:ext uri="{0D108BD9-81ED-4DB2-BD59-A6C34878D82A}">
                    <a16:rowId xmlns:a16="http://schemas.microsoft.com/office/drawing/2014/main" xmlns="" val="10001"/>
                  </a:ext>
                </a:extLst>
              </a:tr>
              <a:tr h="370840">
                <a:tc>
                  <a:txBody>
                    <a:bodyPr/>
                    <a:lstStyle/>
                    <a:p>
                      <a:pPr algn="l"/>
                      <a:r>
                        <a:rPr lang="en-US" altLang="zh-CN" dirty="0"/>
                        <a:t>     , 6</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2"/>
                  </a:ext>
                </a:extLst>
              </a:tr>
              <a:tr h="370840">
                <a:tc>
                  <a:txBody>
                    <a:bodyPr/>
                    <a:lstStyle/>
                    <a:p>
                      <a:pPr algn="l"/>
                      <a:r>
                        <a:rPr lang="en-US" altLang="zh-CN" dirty="0"/>
                        <a:t>     , 4</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3"/>
                  </a:ext>
                </a:extLst>
              </a:tr>
              <a:tr h="324313">
                <a:tc>
                  <a:txBody>
                    <a:bodyPr/>
                    <a:lstStyle/>
                    <a:p>
                      <a:pPr algn="l"/>
                      <a:r>
                        <a:rPr lang="en-US" altLang="zh-CN" dirty="0"/>
                        <a:t>     , 1</a:t>
                      </a:r>
                      <a:endParaRPr lang="zh-CN" altLang="en-US" dirty="0"/>
                    </a:p>
                  </a:txBody>
                  <a:tcPr anchor="ctr"/>
                </a:tc>
                <a:tc gridSpan="3">
                  <a:txBody>
                    <a:bodyPr/>
                    <a:lstStyle/>
                    <a:p>
                      <a:r>
                        <a:rPr lang="en-US" altLang="zh-CN" dirty="0"/>
                        <a:t>      array            ……</a:t>
                      </a:r>
                      <a:r>
                        <a:rPr lang="en-US" altLang="zh-CN" baseline="0" dirty="0"/>
                        <a:t>                </a:t>
                      </a:r>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4"/>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1266756993"/>
              </p:ext>
            </p:extLst>
          </p:nvPr>
        </p:nvGraphicFramePr>
        <p:xfrm>
          <a:off x="133477" y="4232985"/>
          <a:ext cx="3124200" cy="370840"/>
        </p:xfrm>
        <a:graphic>
          <a:graphicData uri="http://schemas.openxmlformats.org/drawingml/2006/table">
            <a:tbl>
              <a:tblPr firstRow="1" bandRow="1">
                <a:tableStyleId>{5940675A-B579-460E-94D1-54222C63F5DA}</a:tableStyleId>
              </a:tblPr>
              <a:tblGrid>
                <a:gridCol w="208280">
                  <a:extLst>
                    <a:ext uri="{9D8B030D-6E8A-4147-A177-3AD203B41FA5}">
                      <a16:colId xmlns:a16="http://schemas.microsoft.com/office/drawing/2014/main" xmlns="" val="20000"/>
                    </a:ext>
                  </a:extLst>
                </a:gridCol>
                <a:gridCol w="208280">
                  <a:extLst>
                    <a:ext uri="{9D8B030D-6E8A-4147-A177-3AD203B41FA5}">
                      <a16:colId xmlns:a16="http://schemas.microsoft.com/office/drawing/2014/main" xmlns="" val="20001"/>
                    </a:ext>
                  </a:extLst>
                </a:gridCol>
                <a:gridCol w="208280">
                  <a:extLst>
                    <a:ext uri="{9D8B030D-6E8A-4147-A177-3AD203B41FA5}">
                      <a16:colId xmlns:a16="http://schemas.microsoft.com/office/drawing/2014/main" xmlns="" val="20002"/>
                    </a:ext>
                  </a:extLst>
                </a:gridCol>
                <a:gridCol w="208280">
                  <a:extLst>
                    <a:ext uri="{9D8B030D-6E8A-4147-A177-3AD203B41FA5}">
                      <a16:colId xmlns:a16="http://schemas.microsoft.com/office/drawing/2014/main" xmlns="" val="20003"/>
                    </a:ext>
                  </a:extLst>
                </a:gridCol>
                <a:gridCol w="208280">
                  <a:extLst>
                    <a:ext uri="{9D8B030D-6E8A-4147-A177-3AD203B41FA5}">
                      <a16:colId xmlns:a16="http://schemas.microsoft.com/office/drawing/2014/main" xmlns="" val="20004"/>
                    </a:ext>
                  </a:extLst>
                </a:gridCol>
                <a:gridCol w="208280">
                  <a:extLst>
                    <a:ext uri="{9D8B030D-6E8A-4147-A177-3AD203B41FA5}">
                      <a16:colId xmlns:a16="http://schemas.microsoft.com/office/drawing/2014/main" xmlns="" val="20005"/>
                    </a:ext>
                  </a:extLst>
                </a:gridCol>
                <a:gridCol w="208280">
                  <a:extLst>
                    <a:ext uri="{9D8B030D-6E8A-4147-A177-3AD203B41FA5}">
                      <a16:colId xmlns:a16="http://schemas.microsoft.com/office/drawing/2014/main" xmlns="" val="20006"/>
                    </a:ext>
                  </a:extLst>
                </a:gridCol>
                <a:gridCol w="208280">
                  <a:extLst>
                    <a:ext uri="{9D8B030D-6E8A-4147-A177-3AD203B41FA5}">
                      <a16:colId xmlns:a16="http://schemas.microsoft.com/office/drawing/2014/main" xmlns="" val="20007"/>
                    </a:ext>
                  </a:extLst>
                </a:gridCol>
                <a:gridCol w="208280">
                  <a:extLst>
                    <a:ext uri="{9D8B030D-6E8A-4147-A177-3AD203B41FA5}">
                      <a16:colId xmlns:a16="http://schemas.microsoft.com/office/drawing/2014/main" xmlns="" val="20008"/>
                    </a:ext>
                  </a:extLst>
                </a:gridCol>
                <a:gridCol w="208280">
                  <a:extLst>
                    <a:ext uri="{9D8B030D-6E8A-4147-A177-3AD203B41FA5}">
                      <a16:colId xmlns:a16="http://schemas.microsoft.com/office/drawing/2014/main" xmlns="" val="20009"/>
                    </a:ext>
                  </a:extLst>
                </a:gridCol>
                <a:gridCol w="208280">
                  <a:extLst>
                    <a:ext uri="{9D8B030D-6E8A-4147-A177-3AD203B41FA5}">
                      <a16:colId xmlns:a16="http://schemas.microsoft.com/office/drawing/2014/main" xmlns="" val="20010"/>
                    </a:ext>
                  </a:extLst>
                </a:gridCol>
                <a:gridCol w="208280">
                  <a:extLst>
                    <a:ext uri="{9D8B030D-6E8A-4147-A177-3AD203B41FA5}">
                      <a16:colId xmlns:a16="http://schemas.microsoft.com/office/drawing/2014/main" xmlns="" val="20011"/>
                    </a:ext>
                  </a:extLst>
                </a:gridCol>
                <a:gridCol w="208280">
                  <a:extLst>
                    <a:ext uri="{9D8B030D-6E8A-4147-A177-3AD203B41FA5}">
                      <a16:colId xmlns:a16="http://schemas.microsoft.com/office/drawing/2014/main" xmlns="" val="20012"/>
                    </a:ext>
                  </a:extLst>
                </a:gridCol>
                <a:gridCol w="208280">
                  <a:extLst>
                    <a:ext uri="{9D8B030D-6E8A-4147-A177-3AD203B41FA5}">
                      <a16:colId xmlns:a16="http://schemas.microsoft.com/office/drawing/2014/main" xmlns="" val="20013"/>
                    </a:ext>
                  </a:extLst>
                </a:gridCol>
                <a:gridCol w="208280">
                  <a:extLst>
                    <a:ext uri="{9D8B030D-6E8A-4147-A177-3AD203B41FA5}">
                      <a16:colId xmlns:a16="http://schemas.microsoft.com/office/drawing/2014/main" xmlns="" val="20014"/>
                    </a:ext>
                  </a:extLst>
                </a:gridCol>
              </a:tblGrid>
              <a:tr h="370840">
                <a:tc>
                  <a:txBody>
                    <a:bodyPr/>
                    <a:lstStyle/>
                    <a:p>
                      <a:pPr algn="ctr"/>
                      <a:r>
                        <a:rPr lang="en-US" altLang="zh-CN" dirty="0"/>
                        <a:t>…</a:t>
                      </a:r>
                      <a:endParaRPr lang="zh-CN" altLang="en-US" dirty="0"/>
                    </a:p>
                  </a:txBody>
                  <a:tcPr anchor="ctr"/>
                </a:tc>
                <a:tc>
                  <a:txBody>
                    <a:bodyPr/>
                    <a:lstStyle/>
                    <a:p>
                      <a:pPr algn="ctr"/>
                      <a:r>
                        <a:rPr lang="en-US" altLang="zh-CN" dirty="0"/>
                        <a:t>S</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m</a:t>
                      </a:r>
                      <a:endParaRPr lang="zh-CN" altLang="en-US" dirty="0"/>
                    </a:p>
                  </a:txBody>
                  <a:tcPr anchor="ctr"/>
                </a:tc>
                <a:tc>
                  <a:txBody>
                    <a:bodyPr/>
                    <a:lstStyle/>
                    <a:p>
                      <a:pPr algn="ctr"/>
                      <a:r>
                        <a:rPr lang="en-US" altLang="zh-CN" dirty="0"/>
                        <a:t>p</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n</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endParaRPr lang="zh-CN" altLang="en-US" dirty="0"/>
                    </a:p>
                  </a:txBody>
                  <a:tcPr anchor="ctr"/>
                </a:tc>
                <a:tc>
                  <a:txBody>
                    <a:bodyPr/>
                    <a:lstStyle/>
                    <a:p>
                      <a:pPr algn="ctr"/>
                      <a:endParaRPr lang="zh-CN" altLang="en-US" dirty="0"/>
                    </a:p>
                  </a:txBody>
                  <a:tcPr anchor="ctr"/>
                </a:tc>
                <a:extLst>
                  <a:ext uri="{0D108BD9-81ED-4DB2-BD59-A6C34878D82A}">
                    <a16:rowId xmlns:a16="http://schemas.microsoft.com/office/drawing/2014/main" xmlns="" val="10000"/>
                  </a:ext>
                </a:extLst>
              </a:tr>
            </a:tbl>
          </a:graphicData>
        </a:graphic>
      </p:graphicFrame>
      <p:grpSp>
        <p:nvGrpSpPr>
          <p:cNvPr id="18" name="组合 17"/>
          <p:cNvGrpSpPr/>
          <p:nvPr/>
        </p:nvGrpSpPr>
        <p:grpSpPr>
          <a:xfrm>
            <a:off x="444381" y="2973938"/>
            <a:ext cx="1384419" cy="1222049"/>
            <a:chOff x="1093863" y="2358639"/>
            <a:chExt cx="822023" cy="1222049"/>
          </a:xfrm>
        </p:grpSpPr>
        <p:cxnSp>
          <p:nvCxnSpPr>
            <p:cNvPr id="7" name="直接连接符 6"/>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1640791" y="3341408"/>
            <a:ext cx="188009" cy="888761"/>
            <a:chOff x="1093863" y="2358639"/>
            <a:chExt cx="822023" cy="1222049"/>
          </a:xfrm>
        </p:grpSpPr>
        <p:cxnSp>
          <p:nvCxnSpPr>
            <p:cNvPr id="20" name="直接连接符 19"/>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nvGrpSpPr>
        <p:grpSpPr>
          <a:xfrm flipH="1">
            <a:off x="1837346" y="3956705"/>
            <a:ext cx="640933" cy="282011"/>
            <a:chOff x="1093863" y="2358639"/>
            <a:chExt cx="780401" cy="1222049"/>
          </a:xfrm>
        </p:grpSpPr>
        <p:cxnSp>
          <p:nvCxnSpPr>
            <p:cNvPr id="23" name="直接连接符 22"/>
            <p:cNvCxnSpPr/>
            <p:nvPr/>
          </p:nvCxnSpPr>
          <p:spPr>
            <a:xfrm>
              <a:off x="1110951" y="2358639"/>
              <a:ext cx="763313"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cxnSp>
        <p:nvCxnSpPr>
          <p:cNvPr id="25" name="直接连接符 24"/>
          <p:cNvCxnSpPr/>
          <p:nvPr/>
        </p:nvCxnSpPr>
        <p:spPr>
          <a:xfrm flipV="1">
            <a:off x="1820254" y="3631965"/>
            <a:ext cx="0" cy="324740"/>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graphicFrame>
        <p:nvGraphicFramePr>
          <p:cNvPr id="32" name="表格 31"/>
          <p:cNvGraphicFramePr>
            <a:graphicFrameLocks noGrp="1"/>
          </p:cNvGraphicFramePr>
          <p:nvPr>
            <p:extLst>
              <p:ext uri="{D42A27DB-BD31-4B8C-83A1-F6EECF244321}">
                <p14:modId xmlns:p14="http://schemas.microsoft.com/office/powerpoint/2010/main" val="4110901264"/>
              </p:ext>
            </p:extLst>
          </p:nvPr>
        </p:nvGraphicFramePr>
        <p:xfrm>
          <a:off x="4691639" y="4541855"/>
          <a:ext cx="3273040" cy="1112520"/>
        </p:xfrm>
        <a:graphic>
          <a:graphicData uri="http://schemas.openxmlformats.org/drawingml/2006/table">
            <a:tbl>
              <a:tblPr firstRow="1" bandRow="1">
                <a:tableStyleId>{5940675A-B579-460E-94D1-54222C63F5DA}</a:tableStyleId>
              </a:tblPr>
              <a:tblGrid>
                <a:gridCol w="818260">
                  <a:extLst>
                    <a:ext uri="{9D8B030D-6E8A-4147-A177-3AD203B41FA5}">
                      <a16:colId xmlns:a16="http://schemas.microsoft.com/office/drawing/2014/main" xmlns="" val="20000"/>
                    </a:ext>
                  </a:extLst>
                </a:gridCol>
                <a:gridCol w="818260">
                  <a:extLst>
                    <a:ext uri="{9D8B030D-6E8A-4147-A177-3AD203B41FA5}">
                      <a16:colId xmlns:a16="http://schemas.microsoft.com/office/drawing/2014/main" xmlns="" val="20001"/>
                    </a:ext>
                  </a:extLst>
                </a:gridCol>
                <a:gridCol w="818260">
                  <a:extLst>
                    <a:ext uri="{9D8B030D-6E8A-4147-A177-3AD203B41FA5}">
                      <a16:colId xmlns:a16="http://schemas.microsoft.com/office/drawing/2014/main" xmlns="" val="20002"/>
                    </a:ext>
                  </a:extLst>
                </a:gridCol>
                <a:gridCol w="818260">
                  <a:extLst>
                    <a:ext uri="{9D8B030D-6E8A-4147-A177-3AD203B41FA5}">
                      <a16:colId xmlns:a16="http://schemas.microsoft.com/office/drawing/2014/main" xmlns="" val="20003"/>
                    </a:ext>
                  </a:extLst>
                </a:gridCol>
              </a:tblGrid>
              <a:tr h="370840">
                <a:tc gridSpan="2">
                  <a:txBody>
                    <a:bodyPr/>
                    <a:lstStyle/>
                    <a:p>
                      <a:pPr algn="ctr"/>
                      <a:r>
                        <a:rPr lang="en-US" altLang="zh-CN" dirty="0"/>
                        <a:t>Dimension</a:t>
                      </a:r>
                      <a:endParaRPr lang="zh-CN" altLang="en-US" dirty="0"/>
                    </a:p>
                  </a:txBody>
                  <a:tcPr anchor="ctr"/>
                </a:tc>
                <a:tc hMerge="1">
                  <a:txBody>
                    <a:bodyPr/>
                    <a:lstStyle/>
                    <a:p>
                      <a:endParaRPr lang="zh-CN" altLang="en-US"/>
                    </a:p>
                  </a:txBody>
                  <a:tcPr/>
                </a:tc>
                <a:tc gridSpan="2">
                  <a:txBody>
                    <a:bodyPr/>
                    <a:lstStyle/>
                    <a:p>
                      <a:pPr algn="ctr"/>
                      <a:r>
                        <a:rPr lang="en-US" altLang="zh-CN" dirty="0"/>
                        <a:t>First </a:t>
                      </a:r>
                      <a:r>
                        <a:rPr lang="en-US" altLang="zh-CN" dirty="0" err="1"/>
                        <a:t>Addr</a:t>
                      </a:r>
                      <a:endParaRPr lang="zh-CN" altLang="en-US" dirty="0"/>
                    </a:p>
                  </a:txBody>
                  <a:tcPr anchor="ctr"/>
                </a:tc>
                <a:tc hMerge="1">
                  <a:txBody>
                    <a:bodyPr/>
                    <a:lstStyle/>
                    <a:p>
                      <a:endParaRPr lang="zh-CN" altLang="en-US"/>
                    </a:p>
                  </a:txBody>
                  <a:tcPr/>
                </a:tc>
                <a:extLst>
                  <a:ext uri="{0D108BD9-81ED-4DB2-BD59-A6C34878D82A}">
                    <a16:rowId xmlns:a16="http://schemas.microsoft.com/office/drawing/2014/main" xmlns="" val="10000"/>
                  </a:ext>
                </a:extLst>
              </a:tr>
              <a:tr h="370840">
                <a:tc>
                  <a:txBody>
                    <a:bodyPr/>
                    <a:lstStyle/>
                    <a:p>
                      <a:pPr algn="ctr"/>
                      <a:r>
                        <a:rPr lang="en-US" altLang="zh-CN" dirty="0"/>
                        <a:t>Upper 1</a:t>
                      </a:r>
                      <a:endParaRPr lang="zh-CN" altLang="en-US" dirty="0"/>
                    </a:p>
                  </a:txBody>
                  <a:tcPr anchor="ctr"/>
                </a:tc>
                <a:tc>
                  <a:txBody>
                    <a:bodyPr/>
                    <a:lstStyle/>
                    <a:p>
                      <a:pPr algn="ctr"/>
                      <a:r>
                        <a:rPr lang="en-US" altLang="zh-CN" dirty="0"/>
                        <a:t>Upper</a:t>
                      </a:r>
                      <a:r>
                        <a:rPr lang="en-US" altLang="zh-CN" baseline="0" dirty="0"/>
                        <a:t>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Upper</a:t>
                      </a:r>
                      <a:r>
                        <a:rPr lang="en-US" altLang="zh-CN" baseline="0" dirty="0"/>
                        <a:t> N</a:t>
                      </a:r>
                      <a:endParaRPr lang="zh-CN" altLang="en-US" dirty="0"/>
                    </a:p>
                  </a:txBody>
                  <a:tcPr anchor="ctr"/>
                </a:tc>
                <a:extLst>
                  <a:ext uri="{0D108BD9-81ED-4DB2-BD59-A6C34878D82A}">
                    <a16:rowId xmlns:a16="http://schemas.microsoft.com/office/drawing/2014/main" xmlns="" val="10001"/>
                  </a:ext>
                </a:extLst>
              </a:tr>
              <a:tr h="370840">
                <a:tc>
                  <a:txBody>
                    <a:bodyPr/>
                    <a:lstStyle/>
                    <a:p>
                      <a:pPr algn="ctr"/>
                      <a:r>
                        <a:rPr lang="en-US" altLang="zh-CN" dirty="0"/>
                        <a:t>Lower 1</a:t>
                      </a:r>
                      <a:endParaRPr lang="zh-CN" altLang="en-US" dirty="0"/>
                    </a:p>
                  </a:txBody>
                  <a:tcPr anchor="ctr"/>
                </a:tc>
                <a:tc>
                  <a:txBody>
                    <a:bodyPr/>
                    <a:lstStyle/>
                    <a:p>
                      <a:pPr algn="ctr"/>
                      <a:r>
                        <a:rPr lang="en-US" altLang="zh-CN" dirty="0"/>
                        <a:t>Lower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Lower N</a:t>
                      </a:r>
                      <a:endParaRPr lang="zh-CN" altLang="en-US" dirty="0"/>
                    </a:p>
                  </a:txBody>
                  <a:tcPr anchor="ctr"/>
                </a:tc>
                <a:extLst>
                  <a:ext uri="{0D108BD9-81ED-4DB2-BD59-A6C34878D82A}">
                    <a16:rowId xmlns:a16="http://schemas.microsoft.com/office/drawing/2014/main" xmlns="" val="10002"/>
                  </a:ext>
                </a:extLst>
              </a:tr>
            </a:tbl>
          </a:graphicData>
        </a:graphic>
      </p:graphicFrame>
      <p:sp>
        <p:nvSpPr>
          <p:cNvPr id="34" name="文本框 33"/>
          <p:cNvSpPr txBox="1"/>
          <p:nvPr/>
        </p:nvSpPr>
        <p:spPr>
          <a:xfrm>
            <a:off x="3666146" y="1478423"/>
            <a:ext cx="1705916" cy="369332"/>
          </a:xfrm>
          <a:prstGeom prst="rect">
            <a:avLst/>
          </a:prstGeom>
          <a:noFill/>
        </p:spPr>
        <p:txBody>
          <a:bodyPr wrap="none" rtlCol="0">
            <a:spAutoFit/>
          </a:bodyPr>
          <a:lstStyle/>
          <a:p>
            <a:r>
              <a:rPr lang="en-US" altLang="zh-CN" b="1" dirty="0"/>
              <a:t>Symbol Table </a:t>
            </a:r>
            <a:endParaRPr lang="zh-CN" altLang="en-US" b="1" dirty="0"/>
          </a:p>
        </p:txBody>
      </p:sp>
      <p:cxnSp>
        <p:nvCxnSpPr>
          <p:cNvPr id="36" name="直接连接符 35"/>
          <p:cNvCxnSpPr/>
          <p:nvPr/>
        </p:nvCxnSpPr>
        <p:spPr>
          <a:xfrm flipH="1">
            <a:off x="6929212" y="3621994"/>
            <a:ext cx="955363" cy="747"/>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341264" y="4631821"/>
            <a:ext cx="358923" cy="0"/>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7896314" y="3623417"/>
            <a:ext cx="8547" cy="521293"/>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H="1">
            <a:off x="4349809" y="4153256"/>
            <a:ext cx="3546506"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H="1">
            <a:off x="4349809" y="4144710"/>
            <a:ext cx="1" cy="495656"/>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5128667" y="4150188"/>
            <a:ext cx="2525050" cy="369332"/>
          </a:xfrm>
          <a:prstGeom prst="rect">
            <a:avLst/>
          </a:prstGeom>
        </p:spPr>
        <p:txBody>
          <a:bodyPr wrap="none">
            <a:spAutoFit/>
          </a:bodyPr>
          <a:lstStyle/>
          <a:p>
            <a:r>
              <a:rPr lang="zh-CN" altLang="en-US" b="1" dirty="0"/>
              <a:t>Insider Vector Table</a:t>
            </a:r>
          </a:p>
        </p:txBody>
      </p:sp>
    </p:spTree>
    <p:extLst>
      <p:ext uri="{BB962C8B-B14F-4D97-AF65-F5344CB8AC3E}">
        <p14:creationId xmlns:p14="http://schemas.microsoft.com/office/powerpoint/2010/main" val="10290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sp>
        <p:nvSpPr>
          <p:cNvPr id="3" name="内容占位符 2"/>
          <p:cNvSpPr>
            <a:spLocks noGrp="1"/>
          </p:cNvSpPr>
          <p:nvPr>
            <p:ph idx="1"/>
          </p:nvPr>
        </p:nvSpPr>
        <p:spPr>
          <a:xfrm>
            <a:off x="828675" y="1600201"/>
            <a:ext cx="7486650" cy="4689504"/>
          </a:xfrm>
        </p:spPr>
        <p:txBody>
          <a:bodyPr/>
          <a:lstStyle/>
          <a:p>
            <a:r>
              <a:rPr lang="en-US" altLang="zh-CN" dirty="0"/>
              <a:t>The term "scope of identifier </a:t>
            </a:r>
            <a:r>
              <a:rPr lang="en-US" altLang="zh-CN" i="1" dirty="0"/>
              <a:t>x</a:t>
            </a:r>
            <a:r>
              <a:rPr lang="en-US" altLang="zh-CN" dirty="0"/>
              <a:t>' really refers to the scope of a particular declaration of </a:t>
            </a:r>
            <a:r>
              <a:rPr lang="en-US" altLang="zh-CN" i="1" dirty="0"/>
              <a:t>x</a:t>
            </a:r>
            <a:r>
              <a:rPr lang="en-US" altLang="zh-CN" dirty="0"/>
              <a:t>. The term scope by itself refers to a portion of a program that is the scope of one or more declarations.</a:t>
            </a:r>
          </a:p>
          <a:p>
            <a:r>
              <a:rPr lang="en-US" altLang="zh-CN" dirty="0"/>
              <a:t>Scopes are important, because the same identifier can be declared for different purposes in different parts of a program. Common names like </a:t>
            </a:r>
            <a:r>
              <a:rPr lang="en-US" altLang="zh-CN" i="1" dirty="0" err="1"/>
              <a:t>i</a:t>
            </a:r>
            <a:r>
              <a:rPr lang="en-US" altLang="zh-CN" dirty="0"/>
              <a:t> and </a:t>
            </a:r>
            <a:r>
              <a:rPr lang="en-US" altLang="zh-CN" i="1" dirty="0"/>
              <a:t>x </a:t>
            </a:r>
            <a:r>
              <a:rPr lang="en-US" altLang="zh-CN" dirty="0"/>
              <a:t>often have multiple uses. As another example, subclasses can </a:t>
            </a:r>
            <a:r>
              <a:rPr lang="en-US" altLang="zh-CN" dirty="0" err="1"/>
              <a:t>redeclare</a:t>
            </a:r>
            <a:r>
              <a:rPr lang="en-US" altLang="zh-CN" dirty="0"/>
              <a:t> a method name to override a method in a superclass.</a:t>
            </a:r>
          </a:p>
          <a:p>
            <a:r>
              <a:rPr lang="en-US" altLang="zh-CN" dirty="0"/>
              <a:t>If blocks can be nested, several declarations of the same identifier can appear within a single block. The following syntax results in nested blocks when </a:t>
            </a:r>
            <a:r>
              <a:rPr lang="en-US" altLang="zh-CN" i="1" dirty="0" err="1"/>
              <a:t>stmts</a:t>
            </a:r>
            <a:r>
              <a:rPr lang="en-US" altLang="zh-CN" dirty="0"/>
              <a:t> can generate a block:</a:t>
            </a:r>
          </a:p>
          <a:p>
            <a:endParaRPr lang="en-US" altLang="zh-CN" dirty="0"/>
          </a:p>
          <a:p>
            <a:r>
              <a:rPr lang="en-US" altLang="zh-CN" dirty="0"/>
              <a:t>The </a:t>
            </a:r>
            <a:r>
              <a:rPr lang="en-US" altLang="zh-CN" b="1" i="1" dirty="0">
                <a:solidFill>
                  <a:srgbClr val="7030A0"/>
                </a:solidFill>
              </a:rPr>
              <a:t>most- closely nested </a:t>
            </a:r>
            <a:r>
              <a:rPr lang="en-US" altLang="zh-CN" dirty="0"/>
              <a:t>rule for blocks is that an identifier </a:t>
            </a:r>
            <a:r>
              <a:rPr lang="en-US" altLang="zh-CN" i="1" dirty="0"/>
              <a:t>x</a:t>
            </a:r>
            <a:r>
              <a:rPr lang="en-US" altLang="zh-CN" dirty="0"/>
              <a:t> is in the scope of the most-closely nested declaration of </a:t>
            </a:r>
            <a:r>
              <a:rPr lang="en-US" altLang="zh-CN" i="1" dirty="0"/>
              <a:t>x</a:t>
            </a:r>
            <a:r>
              <a:rPr lang="en-US" altLang="zh-CN" dirty="0"/>
              <a:t>; that is, the declaration of </a:t>
            </a:r>
            <a:r>
              <a:rPr lang="en-US" altLang="zh-CN" i="1" dirty="0"/>
              <a:t>x</a:t>
            </a:r>
            <a:r>
              <a:rPr lang="en-US" altLang="zh-CN" dirty="0"/>
              <a:t> found by examining blocks inside-out, starting with the block in which </a:t>
            </a:r>
            <a:r>
              <a:rPr lang="en-US" altLang="zh-CN" i="1" dirty="0"/>
              <a:t>x</a:t>
            </a:r>
            <a:r>
              <a:rPr lang="en-US" altLang="zh-CN" dirty="0"/>
              <a:t> appears.</a:t>
            </a:r>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3035937" y="4120541"/>
            <a:ext cx="3134086" cy="468551"/>
          </a:xfrm>
          <a:prstGeom prst="rect">
            <a:avLst/>
          </a:prstGeom>
        </p:spPr>
      </p:pic>
    </p:spTree>
    <p:extLst>
      <p:ext uri="{BB962C8B-B14F-4D97-AF65-F5344CB8AC3E}">
        <p14:creationId xmlns:p14="http://schemas.microsoft.com/office/powerpoint/2010/main" val="97757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pic>
        <p:nvPicPr>
          <p:cNvPr id="5" name="图片 4"/>
          <p:cNvPicPr>
            <a:picLocks noChangeAspect="1"/>
          </p:cNvPicPr>
          <p:nvPr/>
        </p:nvPicPr>
        <p:blipFill>
          <a:blip r:embed="rId2"/>
          <a:stretch>
            <a:fillRect/>
          </a:stretch>
        </p:blipFill>
        <p:spPr>
          <a:xfrm>
            <a:off x="0" y="1505663"/>
            <a:ext cx="9144000" cy="4735435"/>
          </a:xfrm>
          <a:prstGeom prst="rect">
            <a:avLst/>
          </a:prstGeom>
        </p:spPr>
      </p:pic>
    </p:spTree>
    <p:extLst>
      <p:ext uri="{BB962C8B-B14F-4D97-AF65-F5344CB8AC3E}">
        <p14:creationId xmlns:p14="http://schemas.microsoft.com/office/powerpoint/2010/main" val="2120883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Scope-Implementation</a:t>
            </a:r>
            <a:endParaRPr lang="zh-CN" altLang="en-US" dirty="0"/>
          </a:p>
        </p:txBody>
      </p:sp>
      <p:pic>
        <p:nvPicPr>
          <p:cNvPr id="4" name="图片 3"/>
          <p:cNvPicPr>
            <a:picLocks noChangeAspect="1"/>
          </p:cNvPicPr>
          <p:nvPr/>
        </p:nvPicPr>
        <p:blipFill>
          <a:blip r:embed="rId2"/>
          <a:stretch>
            <a:fillRect/>
          </a:stretch>
        </p:blipFill>
        <p:spPr>
          <a:xfrm>
            <a:off x="419100" y="1485835"/>
            <a:ext cx="5545865" cy="5040213"/>
          </a:xfrm>
          <a:prstGeom prst="rect">
            <a:avLst/>
          </a:prstGeom>
        </p:spPr>
      </p:pic>
      <p:cxnSp>
        <p:nvCxnSpPr>
          <p:cNvPr id="6" name="直接箭头连接符 5"/>
          <p:cNvCxnSpPr/>
          <p:nvPr/>
        </p:nvCxnSpPr>
        <p:spPr>
          <a:xfrm>
            <a:off x="3315768" y="2862841"/>
            <a:ext cx="2777383" cy="8546"/>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文本框 6"/>
          <p:cNvSpPr txBox="1"/>
          <p:nvPr/>
        </p:nvSpPr>
        <p:spPr>
          <a:xfrm>
            <a:off x="6178611" y="2623560"/>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Create a new symbol table.</a:t>
            </a:r>
            <a:endParaRPr lang="zh-CN" altLang="en-US" dirty="0">
              <a:latin typeface="微软雅黑" panose="020B0503020204020204" pitchFamily="34" charset="-122"/>
              <a:ea typeface="微软雅黑" panose="020B0503020204020204" pitchFamily="34" charset="-122"/>
            </a:endParaRPr>
          </a:p>
        </p:txBody>
      </p:sp>
      <p:cxnSp>
        <p:nvCxnSpPr>
          <p:cNvPr id="9" name="直接箭头连接符 8"/>
          <p:cNvCxnSpPr/>
          <p:nvPr/>
        </p:nvCxnSpPr>
        <p:spPr>
          <a:xfrm>
            <a:off x="5194418" y="3647629"/>
            <a:ext cx="1009828" cy="9971"/>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6262645" y="3451078"/>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Put a new entry in the current table.</a:t>
            </a:r>
            <a:endParaRPr lang="zh-CN" altLang="en-US" dirty="0">
              <a:latin typeface="微软雅黑" panose="020B0503020204020204" pitchFamily="34" charset="-122"/>
              <a:ea typeface="微软雅黑" panose="020B0503020204020204" pitchFamily="34" charset="-122"/>
            </a:endParaRPr>
          </a:p>
        </p:txBody>
      </p:sp>
      <p:cxnSp>
        <p:nvCxnSpPr>
          <p:cNvPr id="12" name="直接箭头连接符 11"/>
          <p:cNvCxnSpPr/>
          <p:nvPr/>
        </p:nvCxnSpPr>
        <p:spPr>
          <a:xfrm>
            <a:off x="4201682" y="4449510"/>
            <a:ext cx="1994019" cy="11395"/>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文本框 14"/>
          <p:cNvSpPr txBox="1"/>
          <p:nvPr/>
        </p:nvSpPr>
        <p:spPr>
          <a:xfrm>
            <a:off x="6235583" y="4287142"/>
            <a:ext cx="2597920" cy="1754326"/>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Get an entry for an identifier by searching the chain of tables, starting</a:t>
            </a:r>
          </a:p>
          <a:p>
            <a:r>
              <a:rPr lang="en-US" altLang="zh-CN" dirty="0">
                <a:latin typeface="微软雅黑" panose="020B0503020204020204" pitchFamily="34" charset="-122"/>
                <a:ea typeface="微软雅黑" panose="020B0503020204020204" pitchFamily="34" charset="-122"/>
              </a:rPr>
              <a:t>with the table for the current block.</a:t>
            </a:r>
            <a:endParaRPr lang="zh-CN" altLang="en-US" dirty="0">
              <a:latin typeface="微软雅黑" panose="020B0503020204020204" pitchFamily="34" charset="-122"/>
              <a:ea typeface="微软雅黑" panose="020B0503020204020204" pitchFamily="34" charset="-122"/>
            </a:endParaRPr>
          </a:p>
        </p:txBody>
      </p:sp>
      <p:cxnSp>
        <p:nvCxnSpPr>
          <p:cNvPr id="18" name="直接连接符 17"/>
          <p:cNvCxnSpPr/>
          <p:nvPr/>
        </p:nvCxnSpPr>
        <p:spPr>
          <a:xfrm>
            <a:off x="2119357" y="4760007"/>
            <a:ext cx="3409772"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835688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a:bodyPr>
          <a:lstStyle/>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Runtime Environment</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The structure of the target computer’s </a:t>
            </a:r>
            <a:r>
              <a:rPr lang="en-US" altLang="zh-CN" sz="2200" b="1" dirty="0">
                <a:solidFill>
                  <a:srgbClr val="000000"/>
                </a:solidFill>
              </a:rPr>
              <a:t>registers and memory</a:t>
            </a:r>
            <a:r>
              <a:rPr lang="en-US" altLang="zh-CN" sz="2200" dirty="0">
                <a:solidFill>
                  <a:srgbClr val="000000"/>
                </a:solidFill>
              </a:rPr>
              <a:t> that serves to manage memory and maintain the information needed </a:t>
            </a:r>
            <a:r>
              <a:rPr lang="en-US" altLang="zh-CN" sz="2200" b="1" dirty="0">
                <a:solidFill>
                  <a:srgbClr val="000000"/>
                </a:solidFill>
              </a:rPr>
              <a:t>to guide the execution process</a:t>
            </a:r>
          </a:p>
          <a:p>
            <a:pPr marL="522288" lvl="1" indent="11113" defTabSz="914400" fontAlgn="base">
              <a:lnSpc>
                <a:spcPct val="100000"/>
              </a:lnSpc>
              <a:spcBef>
                <a:spcPct val="20000"/>
              </a:spcBef>
              <a:spcAft>
                <a:spcPct val="0"/>
              </a:spcAft>
              <a:buNone/>
              <a:tabLst>
                <a:tab pos="365125" algn="l"/>
              </a:tabLst>
            </a:pPr>
            <a:endParaRPr lang="en-US" altLang="zh-CN" sz="2200" b="1" dirty="0">
              <a:solidFill>
                <a:srgbClr val="000000"/>
              </a:solidFill>
            </a:endParaRPr>
          </a:p>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Three kinds of runtime environments</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(1) </a:t>
            </a:r>
            <a:r>
              <a:rPr lang="en-US" altLang="zh-CN" sz="2200" b="1" dirty="0">
                <a:solidFill>
                  <a:srgbClr val="000000"/>
                </a:solidFill>
              </a:rPr>
              <a:t>Fully static</a:t>
            </a:r>
            <a:r>
              <a:rPr lang="en-US" altLang="zh-CN" sz="2200" dirty="0">
                <a:solidFill>
                  <a:srgbClr val="000000"/>
                </a:solidFill>
              </a:rPr>
              <a:t> environment; FORTRAN77</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(2) </a:t>
            </a:r>
            <a:r>
              <a:rPr lang="en-US" altLang="zh-CN" sz="2200" b="1" dirty="0">
                <a:solidFill>
                  <a:srgbClr val="000000"/>
                </a:solidFill>
              </a:rPr>
              <a:t>Stack-Based</a:t>
            </a:r>
            <a:r>
              <a:rPr lang="en-US" altLang="zh-CN" sz="2200" dirty="0">
                <a:solidFill>
                  <a:srgbClr val="000000"/>
                </a:solidFill>
              </a:rPr>
              <a:t> environment;	C </a:t>
            </a:r>
            <a:r>
              <a:rPr lang="en-US" altLang="zh-CN" sz="2200" dirty="0" err="1">
                <a:solidFill>
                  <a:srgbClr val="000000"/>
                </a:solidFill>
              </a:rPr>
              <a:t>C</a:t>
            </a:r>
            <a:r>
              <a:rPr lang="en-US" altLang="zh-CN" sz="2200" dirty="0">
                <a:solidFill>
                  <a:srgbClr val="000000"/>
                </a:solidFill>
              </a:rPr>
              <a:t>++</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(3) </a:t>
            </a:r>
            <a:r>
              <a:rPr lang="en-US" altLang="zh-CN" sz="2200" b="1" dirty="0">
                <a:solidFill>
                  <a:srgbClr val="000000"/>
                </a:solidFill>
              </a:rPr>
              <a:t>Fully dynamic</a:t>
            </a:r>
            <a:r>
              <a:rPr lang="en-US" altLang="zh-CN" sz="2200" dirty="0">
                <a:solidFill>
                  <a:srgbClr val="000000"/>
                </a:solidFill>
              </a:rPr>
              <a:t> environment; LISP</a:t>
            </a:r>
            <a:endParaRPr lang="zh-CN" altLang="en-US" sz="2200" dirty="0">
              <a:solidFill>
                <a:srgbClr val="000000"/>
              </a:solidFill>
            </a:endParaRPr>
          </a:p>
          <a:p>
            <a:endParaRPr lang="zh-CN" altLang="en-US" dirty="0"/>
          </a:p>
        </p:txBody>
      </p:sp>
    </p:spTree>
    <p:extLst>
      <p:ext uri="{BB962C8B-B14F-4D97-AF65-F5344CB8AC3E}">
        <p14:creationId xmlns:p14="http://schemas.microsoft.com/office/powerpoint/2010/main" val="469567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fontScale="92500" lnSpcReduction="10000"/>
          </a:bodyPr>
          <a:lstStyle/>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Main issues will be discussed in more detail in the chapter: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For each environment, the language features and their properties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(1) </a:t>
            </a:r>
            <a:r>
              <a:rPr lang="en-US" altLang="zh-CN" sz="2400" b="1" dirty="0">
                <a:solidFill>
                  <a:srgbClr val="000000"/>
                </a:solidFill>
                <a:latin typeface="Times New Roman"/>
                <a:ea typeface="宋体"/>
              </a:rPr>
              <a:t>Scoping and allocation</a:t>
            </a:r>
            <a:r>
              <a:rPr lang="en-US" altLang="zh-CN" sz="2400" dirty="0">
                <a:solidFill>
                  <a:srgbClr val="000000"/>
                </a:solidFill>
                <a:latin typeface="Times New Roman"/>
                <a:ea typeface="宋体"/>
              </a:rPr>
              <a:t> issues;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(2) Nature of </a:t>
            </a:r>
            <a:r>
              <a:rPr lang="en-US" altLang="zh-CN" sz="2400" b="1" dirty="0">
                <a:solidFill>
                  <a:srgbClr val="000000"/>
                </a:solidFill>
                <a:latin typeface="Times New Roman"/>
                <a:ea typeface="宋体"/>
              </a:rPr>
              <a:t>procedure calls</a:t>
            </a:r>
            <a:r>
              <a:rPr lang="en-US" altLang="zh-CN" sz="2400" dirty="0">
                <a:solidFill>
                  <a:srgbClr val="000000"/>
                </a:solidFill>
                <a:latin typeface="Times New Roman"/>
                <a:ea typeface="宋体"/>
              </a:rPr>
              <a:t>;</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(3) </a:t>
            </a:r>
            <a:r>
              <a:rPr lang="en-US" altLang="zh-CN" sz="2400" b="1" dirty="0">
                <a:solidFill>
                  <a:srgbClr val="000000"/>
                </a:solidFill>
                <a:latin typeface="Times New Roman"/>
                <a:ea typeface="宋体"/>
              </a:rPr>
              <a:t>Parameter passing</a:t>
            </a:r>
            <a:r>
              <a:rPr lang="en-US" altLang="zh-CN" sz="2400" dirty="0">
                <a:solidFill>
                  <a:srgbClr val="000000"/>
                </a:solidFill>
                <a:latin typeface="Times New Roman"/>
                <a:ea typeface="宋体"/>
              </a:rPr>
              <a:t> mechanisms</a:t>
            </a:r>
          </a:p>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Focus on the general structure of the environment</a:t>
            </a:r>
          </a:p>
          <a:p>
            <a:pPr marL="342900" lvl="0" indent="-342900" defTabSz="914400" fontAlgn="base">
              <a:lnSpc>
                <a:spcPct val="80000"/>
              </a:lnSpc>
              <a:spcBef>
                <a:spcPct val="20000"/>
              </a:spcBef>
              <a:spcAft>
                <a:spcPct val="0"/>
              </a:spcAft>
              <a:buFontTx/>
              <a:buChar char="•"/>
            </a:pPr>
            <a:endParaRPr lang="en-US" altLang="zh-CN" sz="2800" b="1" dirty="0">
              <a:solidFill>
                <a:srgbClr val="000000"/>
              </a:solidFill>
              <a:latin typeface="Times New Roman"/>
              <a:ea typeface="宋体"/>
            </a:endParaRPr>
          </a:p>
          <a:p>
            <a:pPr marL="342900" lvl="0" indent="-342900" defTabSz="914400" fontAlgn="base">
              <a:lnSpc>
                <a:spcPct val="80000"/>
              </a:lnSpc>
              <a:spcBef>
                <a:spcPct val="20000"/>
              </a:spcBef>
              <a:spcAft>
                <a:spcPct val="0"/>
              </a:spcAft>
              <a:buFontTx/>
              <a:buChar char="•"/>
            </a:pPr>
            <a:r>
              <a:rPr lang="en-US" altLang="zh-CN" sz="2800" b="1" dirty="0">
                <a:solidFill>
                  <a:srgbClr val="000000"/>
                </a:solidFill>
                <a:latin typeface="Times New Roman"/>
                <a:ea typeface="宋体"/>
              </a:rPr>
              <a:t>Note:</a:t>
            </a:r>
            <a:r>
              <a:rPr lang="en-US" altLang="zh-CN" sz="2800" dirty="0">
                <a:solidFill>
                  <a:srgbClr val="000000"/>
                </a:solidFill>
                <a:latin typeface="Times New Roman"/>
                <a:ea typeface="宋体"/>
              </a:rPr>
              <a:t>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The compiler can only maintain an environment only indirectly</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It must generate code to perform the necessary maintenance operations during program execution.</a:t>
            </a:r>
            <a:endParaRPr lang="zh-CN" altLang="en-US" sz="2400" dirty="0">
              <a:solidFill>
                <a:srgbClr val="000000"/>
              </a:solidFill>
              <a:latin typeface="Times New Roman"/>
              <a:ea typeface="宋体"/>
            </a:endParaRPr>
          </a:p>
          <a:p>
            <a:endParaRPr lang="zh-CN" altLang="en-US" dirty="0"/>
          </a:p>
        </p:txBody>
      </p:sp>
    </p:spTree>
    <p:extLst>
      <p:ext uri="{BB962C8B-B14F-4D97-AF65-F5344CB8AC3E}">
        <p14:creationId xmlns:p14="http://schemas.microsoft.com/office/powerpoint/2010/main" val="2199981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883831" y="1732752"/>
            <a:ext cx="7514364" cy="4351853"/>
          </a:xfrm>
          <a:prstGeom prst="rect">
            <a:avLst/>
          </a:prstGeom>
        </p:spPr>
      </p:pic>
    </p:spTree>
    <p:extLst>
      <p:ext uri="{BB962C8B-B14F-4D97-AF65-F5344CB8AC3E}">
        <p14:creationId xmlns:p14="http://schemas.microsoft.com/office/powerpoint/2010/main" val="179670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矩形 3"/>
          <p:cNvSpPr/>
          <p:nvPr/>
        </p:nvSpPr>
        <p:spPr>
          <a:xfrm>
            <a:off x="299102" y="1386139"/>
            <a:ext cx="8691073" cy="5312223"/>
          </a:xfrm>
          <a:prstGeom prst="rect">
            <a:avLst/>
          </a:prstGeom>
        </p:spPr>
        <p:txBody>
          <a:bodyPr wrap="square">
            <a:spAutoFit/>
          </a:bodyPr>
          <a:lstStyle/>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global and/or static data of a program can be </a:t>
            </a:r>
            <a:r>
              <a:rPr lang="en-US" altLang="zh-CN" sz="2800" b="1" dirty="0">
                <a:solidFill>
                  <a:srgbClr val="000000"/>
                </a:solidFill>
                <a:latin typeface="Times New Roman"/>
                <a:ea typeface="宋体"/>
              </a:rPr>
              <a:t>fixed in memory prior to execution</a:t>
            </a:r>
            <a:endParaRPr lang="en-US" altLang="zh-CN" sz="2800" dirty="0">
              <a:solidFill>
                <a:srgbClr val="000000"/>
              </a:solidFill>
              <a:latin typeface="Times New Roman"/>
              <a:ea typeface="宋体"/>
            </a:endParaRP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Data are allocated separately in a fixed area in a similar fashion to the code</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Fortran77, all data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Pascal, global variables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C, the external and static variables are in this class</a:t>
            </a:r>
          </a:p>
          <a:p>
            <a:pPr marL="1143000" lvl="2" indent="-228600" fontAlgn="base">
              <a:lnSpc>
                <a:spcPct val="90000"/>
              </a:lnSpc>
              <a:spcBef>
                <a:spcPct val="20000"/>
              </a:spcBef>
              <a:spcAft>
                <a:spcPct val="0"/>
              </a:spcAft>
              <a:buFontTx/>
              <a:buChar char="•"/>
            </a:pPr>
            <a:endParaRPr lang="en-US" altLang="zh-CN" sz="2000" dirty="0">
              <a:solidFill>
                <a:srgbClr val="000000"/>
              </a:solidFill>
              <a:latin typeface="Times New Roman"/>
              <a:ea typeface="宋体"/>
            </a:endParaRPr>
          </a:p>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a:t>
            </a:r>
            <a:r>
              <a:rPr lang="en-US" altLang="zh-CN" sz="2800" b="1" dirty="0">
                <a:solidFill>
                  <a:srgbClr val="000000"/>
                </a:solidFill>
                <a:latin typeface="Times New Roman"/>
                <a:ea typeface="宋体"/>
              </a:rPr>
              <a:t>constants</a:t>
            </a:r>
            <a:r>
              <a:rPr lang="en-US" altLang="zh-CN" sz="2800" dirty="0">
                <a:solidFill>
                  <a:srgbClr val="000000"/>
                </a:solidFill>
                <a:latin typeface="Times New Roman"/>
                <a:ea typeface="宋体"/>
              </a:rPr>
              <a:t> are usually allocated memory </a:t>
            </a:r>
            <a:r>
              <a:rPr lang="en-US" altLang="zh-CN" sz="2800" b="1" dirty="0">
                <a:solidFill>
                  <a:srgbClr val="000000"/>
                </a:solidFill>
                <a:latin typeface="Times New Roman"/>
                <a:ea typeface="宋体"/>
              </a:rPr>
              <a:t>in the global/static area</a:t>
            </a:r>
          </a:p>
          <a:p>
            <a:pPr marL="742950" lvl="1" indent="-285750" fontAlgn="base">
              <a:lnSpc>
                <a:spcPct val="90000"/>
              </a:lnSpc>
              <a:spcBef>
                <a:spcPct val="20000"/>
              </a:spcBef>
              <a:spcAft>
                <a:spcPct val="0"/>
              </a:spcAft>
              <a:buFontTx/>
              <a:buChar char="–"/>
            </a:pPr>
            <a:r>
              <a:rPr lang="en-US" altLang="zh-CN" sz="2400" dirty="0" err="1">
                <a:solidFill>
                  <a:srgbClr val="000000"/>
                </a:solidFill>
                <a:latin typeface="Times New Roman"/>
                <a:ea typeface="宋体"/>
              </a:rPr>
              <a:t>Const</a:t>
            </a:r>
            <a:r>
              <a:rPr lang="en-US" altLang="zh-CN" sz="2400" dirty="0">
                <a:solidFill>
                  <a:srgbClr val="000000"/>
                </a:solidFill>
                <a:latin typeface="Times New Roman"/>
                <a:ea typeface="宋体"/>
              </a:rPr>
              <a:t> declarations of C and Pascal;</a:t>
            </a: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Literal values used in the code, </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such as </a:t>
            </a:r>
            <a:r>
              <a:rPr lang="en-US" altLang="zh-CN" sz="2000" dirty="0">
                <a:solidFill>
                  <a:srgbClr val="000000"/>
                </a:solidFill>
                <a:latin typeface="Arial" panose="020B0604020202020204" pitchFamily="34" charset="0"/>
                <a:ea typeface="宋体"/>
              </a:rPr>
              <a:t>“</a:t>
            </a:r>
            <a:r>
              <a:rPr lang="en-US" altLang="zh-CN" sz="2000" dirty="0" err="1">
                <a:solidFill>
                  <a:srgbClr val="000000"/>
                </a:solidFill>
                <a:latin typeface="Times New Roman"/>
                <a:ea typeface="宋体"/>
              </a:rPr>
              <a:t>Hello%D</a:t>
            </a:r>
            <a:r>
              <a:rPr lang="en-US" altLang="zh-CN" sz="2000" dirty="0">
                <a:solidFill>
                  <a:srgbClr val="000000"/>
                </a:solidFill>
                <a:latin typeface="Times New Roman"/>
                <a:ea typeface="宋体"/>
              </a:rPr>
              <a:t>\n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 and integer value 12345:</a:t>
            </a:r>
          </a:p>
          <a:p>
            <a:pPr marL="1143000" lvl="2" indent="-228600" fontAlgn="base">
              <a:lnSpc>
                <a:spcPct val="90000"/>
              </a:lnSpc>
              <a:spcBef>
                <a:spcPct val="20000"/>
              </a:spcBef>
              <a:spcAft>
                <a:spcPct val="0"/>
              </a:spcAft>
              <a:buFontTx/>
              <a:buChar char="•"/>
            </a:pPr>
            <a:r>
              <a:rPr lang="en-US" altLang="zh-CN" sz="2000" dirty="0" err="1">
                <a:solidFill>
                  <a:srgbClr val="000000"/>
                </a:solidFill>
                <a:latin typeface="Times New Roman"/>
                <a:ea typeface="宋体"/>
              </a:rPr>
              <a:t>Printf</a:t>
            </a:r>
            <a:r>
              <a:rPr lang="en-US" altLang="zh-CN" sz="2000" dirty="0">
                <a:solidFill>
                  <a:srgbClr val="000000"/>
                </a:solidFill>
                <a:latin typeface="Times New Roman"/>
                <a:ea typeface="宋体"/>
              </a:rPr>
              <a:t>(</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Hello %d\n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,12345);</a:t>
            </a:r>
            <a:endParaRPr lang="zh-CN" altLang="en-US" sz="2000" dirty="0">
              <a:solidFill>
                <a:srgbClr val="000000"/>
              </a:solidFill>
              <a:latin typeface="Times New Roman"/>
              <a:ea typeface="宋体"/>
            </a:endParaRPr>
          </a:p>
        </p:txBody>
      </p:sp>
    </p:spTree>
    <p:extLst>
      <p:ext uri="{BB962C8B-B14F-4D97-AF65-F5344CB8AC3E}">
        <p14:creationId xmlns:p14="http://schemas.microsoft.com/office/powerpoint/2010/main" val="2639071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Rectangle 3"/>
          <p:cNvSpPr txBox="1">
            <a:spLocks noChangeArrowheads="1"/>
          </p:cNvSpPr>
          <p:nvPr/>
        </p:nvSpPr>
        <p:spPr bwMode="auto">
          <a:xfrm>
            <a:off x="617434" y="1491568"/>
            <a:ext cx="7772400" cy="5063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The memory area used for </a:t>
            </a:r>
            <a:r>
              <a:rPr kumimoji="0" lang="en-US" altLang="zh-CN" sz="2800" b="1" i="0" u="none" strike="noStrike" kern="1200" cap="none" spc="0" normalizeH="0" baseline="0" noProof="0" dirty="0">
                <a:ln>
                  <a:noFill/>
                </a:ln>
                <a:solidFill>
                  <a:srgbClr val="000000"/>
                </a:solidFill>
                <a:effectLst/>
                <a:uLnTx/>
                <a:uFillTx/>
                <a:latin typeface="Times New Roman"/>
                <a:ea typeface="宋体"/>
                <a:cs typeface="+mn-cs"/>
              </a:rPr>
              <a:t>dynamic data</a:t>
            </a: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 can be organized in many different ways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Typically, this memory can be divided into a stack area and a heap area;</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stack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data whose allocation occurs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heap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dynamic allocation occurs not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Generally, the architecture of the target machine includes a processor stack for procedure calls and returns.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Sometimes, a compiler will have to arrange for the </a:t>
            </a:r>
            <a:r>
              <a:rPr kumimoji="0" lang="en-US" altLang="zh-CN" sz="2400" b="1" i="0" u="none" strike="noStrike" kern="1200" cap="none" spc="0" normalizeH="0" baseline="0" noProof="0" dirty="0">
                <a:ln>
                  <a:noFill/>
                </a:ln>
                <a:solidFill>
                  <a:srgbClr val="000000"/>
                </a:solidFill>
                <a:effectLst/>
                <a:uLnTx/>
                <a:uFillTx/>
                <a:latin typeface="Times New Roman"/>
                <a:ea typeface="宋体"/>
                <a:cs typeface="+mn-cs"/>
              </a:rPr>
              <a:t>explicit allocation of the processor stack</a:t>
            </a: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 in an appropriate place in memory.</a:t>
            </a:r>
            <a:endParaRPr kumimoji="0" lang="zh-CN" altLang="en-US" sz="24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3066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558038" y="1538613"/>
            <a:ext cx="8181747" cy="5216465"/>
          </a:xfrm>
          <a:prstGeom prst="rect">
            <a:avLst/>
          </a:prstGeom>
        </p:spPr>
      </p:pic>
    </p:spTree>
    <p:extLst>
      <p:ext uri="{BB962C8B-B14F-4D97-AF65-F5344CB8AC3E}">
        <p14:creationId xmlns:p14="http://schemas.microsoft.com/office/powerpoint/2010/main" val="5226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Trees</a:t>
            </a:r>
            <a:endParaRPr lang="zh-CN" altLang="en-US" dirty="0"/>
          </a:p>
        </p:txBody>
      </p:sp>
      <p:sp>
        <p:nvSpPr>
          <p:cNvPr id="5" name="内容占位符 2"/>
          <p:cNvSpPr>
            <a:spLocks noGrp="1"/>
          </p:cNvSpPr>
          <p:nvPr>
            <p:ph idx="1"/>
          </p:nvPr>
        </p:nvSpPr>
        <p:spPr>
          <a:xfrm>
            <a:off x="828675" y="1600200"/>
            <a:ext cx="7486650" cy="1587381"/>
          </a:xfrm>
        </p:spPr>
        <p:txBody>
          <a:bodyPr/>
          <a:lstStyle/>
          <a:p>
            <a:r>
              <a:rPr lang="en-US" altLang="zh-CN" dirty="0"/>
              <a:t>Almost all compilers for languages that use procedures, functions, or methods as units of user-defined actions manage at least part of their run-time memory as a stack. Each time a procedure1 is called, space for its local variables is pushed onto a stack, and when the procedure terminates, that space is popped off the stack.</a:t>
            </a:r>
          </a:p>
          <a:p>
            <a:r>
              <a:rPr lang="en-US" altLang="zh-CN" dirty="0"/>
              <a:t>The following example illustrates nesting of procedure calls.</a:t>
            </a:r>
            <a:endParaRPr lang="zh-CN" altLang="en-US" dirty="0"/>
          </a:p>
        </p:txBody>
      </p:sp>
      <p:pic>
        <p:nvPicPr>
          <p:cNvPr id="3" name="图片 2"/>
          <p:cNvPicPr>
            <a:picLocks noChangeAspect="1"/>
          </p:cNvPicPr>
          <p:nvPr/>
        </p:nvPicPr>
        <p:blipFill>
          <a:blip r:embed="rId2"/>
          <a:stretch>
            <a:fillRect/>
          </a:stretch>
        </p:blipFill>
        <p:spPr>
          <a:xfrm>
            <a:off x="966299" y="3199635"/>
            <a:ext cx="3306599" cy="3658365"/>
          </a:xfrm>
          <a:prstGeom prst="rect">
            <a:avLst/>
          </a:prstGeom>
        </p:spPr>
      </p:pic>
      <p:sp>
        <p:nvSpPr>
          <p:cNvPr id="6" name="右箭头 5"/>
          <p:cNvSpPr/>
          <p:nvPr/>
        </p:nvSpPr>
        <p:spPr>
          <a:xfrm>
            <a:off x="4366901" y="3837063"/>
            <a:ext cx="538386" cy="2563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3"/>
          <a:stretch>
            <a:fillRect/>
          </a:stretch>
        </p:blipFill>
        <p:spPr>
          <a:xfrm>
            <a:off x="5107804" y="3202490"/>
            <a:ext cx="4036196" cy="2162175"/>
          </a:xfrm>
          <a:prstGeom prst="rect">
            <a:avLst/>
          </a:prstGeom>
        </p:spPr>
      </p:pic>
      <p:sp>
        <p:nvSpPr>
          <p:cNvPr id="8" name="矩形 7"/>
          <p:cNvSpPr/>
          <p:nvPr/>
        </p:nvSpPr>
        <p:spPr>
          <a:xfrm>
            <a:off x="4371174" y="5513694"/>
            <a:ext cx="4572000" cy="830997"/>
          </a:xfrm>
          <a:prstGeom prst="rect">
            <a:avLst/>
          </a:prstGeom>
        </p:spPr>
        <p:txBody>
          <a:bodyPr>
            <a:spAutoFit/>
          </a:bodyPr>
          <a:lstStyle/>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procedure </a:t>
            </a:r>
            <a:r>
              <a:rPr lang="en-US" altLang="zh-CN" sz="1200" b="1" dirty="0">
                <a:latin typeface="微软雅黑" panose="020B0503020204020204" pitchFamily="34" charset="-122"/>
                <a:ea typeface="微软雅黑" panose="020B0503020204020204" pitchFamily="34" charset="-122"/>
              </a:rPr>
              <a:t>calls</a:t>
            </a:r>
            <a:r>
              <a:rPr lang="en-US" altLang="zh-CN" sz="1200" dirty="0">
                <a:latin typeface="微软雅黑" panose="020B0503020204020204" pitchFamily="34" charset="-122"/>
                <a:ea typeface="微软雅黑" panose="020B0503020204020204" pitchFamily="34" charset="-122"/>
              </a:rPr>
              <a:t> corresponds to a preorder traversal of the activation tree.</a:t>
            </a:r>
          </a:p>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a:t>
            </a:r>
            <a:r>
              <a:rPr lang="en-US" altLang="zh-CN" sz="1200" b="1" dirty="0">
                <a:latin typeface="微软雅黑" panose="020B0503020204020204" pitchFamily="34" charset="-122"/>
                <a:ea typeface="微软雅黑" panose="020B0503020204020204" pitchFamily="34" charset="-122"/>
              </a:rPr>
              <a:t>returns</a:t>
            </a:r>
            <a:r>
              <a:rPr lang="en-US" altLang="zh-CN" sz="1200" dirty="0">
                <a:latin typeface="微软雅黑" panose="020B0503020204020204" pitchFamily="34" charset="-122"/>
                <a:ea typeface="微软雅黑" panose="020B0503020204020204" pitchFamily="34" charset="-122"/>
              </a:rPr>
              <a:t> corresponds to a </a:t>
            </a:r>
            <a:r>
              <a:rPr lang="en-US" altLang="zh-CN" sz="1200" dirty="0" err="1">
                <a:latin typeface="微软雅黑" panose="020B0503020204020204" pitchFamily="34" charset="-122"/>
                <a:ea typeface="微软雅黑" panose="020B0503020204020204" pitchFamily="34" charset="-122"/>
              </a:rPr>
              <a:t>postorder</a:t>
            </a:r>
            <a:r>
              <a:rPr lang="en-US" altLang="zh-CN" sz="1200" dirty="0">
                <a:latin typeface="微软雅黑" panose="020B0503020204020204" pitchFamily="34" charset="-122"/>
                <a:ea typeface="微软雅黑" panose="020B0503020204020204" pitchFamily="34" charset="-122"/>
              </a:rPr>
              <a:t> traversal of the activation tree .</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52564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内容占位符 2"/>
          <p:cNvSpPr>
            <a:spLocks noGrp="1"/>
          </p:cNvSpPr>
          <p:nvPr>
            <p:ph idx="1"/>
          </p:nvPr>
        </p:nvSpPr>
        <p:spPr>
          <a:xfrm>
            <a:off x="828675" y="1600200"/>
            <a:ext cx="7486650" cy="4572000"/>
          </a:xfrm>
        </p:spPr>
        <p:txBody>
          <a:bodyPr/>
          <a:lstStyle/>
          <a:p>
            <a:r>
              <a:rPr lang="en-US" altLang="zh-CN" dirty="0"/>
              <a:t>Procedure calls and returns are usually managed by a run-time stack called the control stack. Each live activation has an </a:t>
            </a:r>
            <a:r>
              <a:rPr lang="en-US" altLang="zh-CN" b="1" dirty="0">
                <a:solidFill>
                  <a:srgbClr val="7030A0"/>
                </a:solidFill>
              </a:rPr>
              <a:t>activation record </a:t>
            </a:r>
            <a:r>
              <a:rPr lang="en-US" altLang="zh-CN" dirty="0"/>
              <a:t>( sometimes called a </a:t>
            </a:r>
            <a:r>
              <a:rPr lang="en-US" altLang="zh-CN" b="1" dirty="0">
                <a:solidFill>
                  <a:srgbClr val="7030A0"/>
                </a:solidFill>
              </a:rPr>
              <a:t>frame</a:t>
            </a:r>
            <a:r>
              <a:rPr lang="en-US" altLang="zh-CN" dirty="0"/>
              <a:t>) on the control stack, with the root of the activation tree at the bottom, and the entire sequence of activation records on the stack corresponding to the path in the activation tree to the activation where control currently resides. The latter activation has its record at the top of the stack.</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630765648"/>
              </p:ext>
            </p:extLst>
          </p:nvPr>
        </p:nvGraphicFramePr>
        <p:xfrm>
          <a:off x="959265" y="3374307"/>
          <a:ext cx="2954709" cy="1532568"/>
        </p:xfrm>
        <a:graphic>
          <a:graphicData uri="http://schemas.openxmlformats.org/drawingml/2006/table">
            <a:tbl>
              <a:tblPr/>
              <a:tblGrid>
                <a:gridCol w="2954709">
                  <a:extLst>
                    <a:ext uri="{9D8B030D-6E8A-4147-A177-3AD203B41FA5}">
                      <a16:colId xmlns:a16="http://schemas.microsoft.com/office/drawing/2014/main" xmlns="" val="20000"/>
                    </a:ext>
                  </a:extLst>
                </a:gridCol>
              </a:tblGrid>
              <a:tr h="522880">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arguments</a:t>
                      </a:r>
                      <a:endParaRPr lang="zh-CN" sz="1050" kern="100" dirty="0">
                        <a:effectLst/>
                        <a:latin typeface="Times New Roman" panose="02020603050405020304" pitchFamily="18" charset="0"/>
                        <a:ea typeface="宋体" panose="02010600030101010101" pitchFamily="2" charset="-122"/>
                      </a:endParaRPr>
                    </a:p>
                    <a:p>
                      <a:pPr algn="ctr">
                        <a:spcAft>
                          <a:spcPts val="0"/>
                        </a:spcAft>
                      </a:pPr>
                      <a:r>
                        <a:rPr lang="en-US" sz="1200" kern="100" dirty="0">
                          <a:effectLst/>
                          <a:latin typeface="Times New Roman" panose="02020603050405020304" pitchFamily="18" charset="0"/>
                          <a:ea typeface="宋体" panose="02010600030101010101" pitchFamily="2" charset="-122"/>
                        </a:rPr>
                        <a:t>( parameters )</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0"/>
                  </a:ext>
                </a:extLst>
              </a:tr>
              <a:tr h="486806">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bookkeeping information, including return address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1"/>
                  </a:ext>
                </a:extLst>
              </a:tr>
              <a:tr h="261441">
                <a:tc>
                  <a:txBody>
                    <a:bodyPr/>
                    <a:lstStyle/>
                    <a:p>
                      <a:pPr algn="ctr">
                        <a:spcAft>
                          <a:spcPts val="0"/>
                        </a:spcAft>
                      </a:pPr>
                      <a:r>
                        <a:rPr lang="en-US" sz="1200" kern="100">
                          <a:effectLst/>
                          <a:latin typeface="Times New Roman" panose="02020603050405020304" pitchFamily="18" charset="0"/>
                          <a:ea typeface="宋体" panose="02010600030101010101" pitchFamily="2" charset="-122"/>
                        </a:rPr>
                        <a:t>Space for local data</a:t>
                      </a:r>
                      <a:endParaRPr lang="zh-CN" sz="1050" kern="10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2"/>
                  </a:ext>
                </a:extLst>
              </a:tr>
              <a:tr h="261441">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local temporaries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pic>
        <p:nvPicPr>
          <p:cNvPr id="5" name="图片 4"/>
          <p:cNvPicPr>
            <a:picLocks noChangeAspect="1"/>
          </p:cNvPicPr>
          <p:nvPr/>
        </p:nvPicPr>
        <p:blipFill>
          <a:blip r:embed="rId2"/>
          <a:stretch>
            <a:fillRect/>
          </a:stretch>
        </p:blipFill>
        <p:spPr>
          <a:xfrm>
            <a:off x="4469179" y="3045612"/>
            <a:ext cx="2591901" cy="2970627"/>
          </a:xfrm>
          <a:prstGeom prst="rect">
            <a:avLst/>
          </a:prstGeom>
        </p:spPr>
      </p:pic>
      <p:cxnSp>
        <p:nvCxnSpPr>
          <p:cNvPr id="7" name="直接连接符 6"/>
          <p:cNvCxnSpPr/>
          <p:nvPr/>
        </p:nvCxnSpPr>
        <p:spPr>
          <a:xfrm flipV="1">
            <a:off x="3905427" y="3153398"/>
            <a:ext cx="905855" cy="222190"/>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3913974" y="3879791"/>
            <a:ext cx="905854" cy="42729"/>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3879791" y="4383994"/>
            <a:ext cx="897309" cy="69220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922520" y="4640366"/>
            <a:ext cx="880216" cy="83748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2127903" y="5785503"/>
            <a:ext cx="184731" cy="369332"/>
          </a:xfrm>
          <a:prstGeom prst="rect">
            <a:avLst/>
          </a:prstGeom>
          <a:noFill/>
        </p:spPr>
        <p:txBody>
          <a:bodyPr wrap="none" rtlCol="0">
            <a:spAutoFit/>
          </a:bodyPr>
          <a:lstStyle/>
          <a:p>
            <a:endParaRPr lang="zh-CN" altLang="en-US" dirty="0"/>
          </a:p>
        </p:txBody>
      </p:sp>
      <p:pic>
        <p:nvPicPr>
          <p:cNvPr id="21" name="图片 20"/>
          <p:cNvPicPr>
            <a:picLocks noChangeAspect="1"/>
          </p:cNvPicPr>
          <p:nvPr/>
        </p:nvPicPr>
        <p:blipFill>
          <a:blip r:embed="rId3"/>
          <a:stretch>
            <a:fillRect/>
          </a:stretch>
        </p:blipFill>
        <p:spPr>
          <a:xfrm>
            <a:off x="3438206" y="5997894"/>
            <a:ext cx="4593468" cy="860106"/>
          </a:xfrm>
          <a:prstGeom prst="rect">
            <a:avLst/>
          </a:prstGeom>
        </p:spPr>
      </p:pic>
      <p:sp>
        <p:nvSpPr>
          <p:cNvPr id="6" name="文本框 5"/>
          <p:cNvSpPr txBox="1"/>
          <p:nvPr/>
        </p:nvSpPr>
        <p:spPr>
          <a:xfrm>
            <a:off x="7238289" y="4093436"/>
            <a:ext cx="1316052" cy="830997"/>
          </a:xfrm>
          <a:prstGeom prst="rect">
            <a:avLst/>
          </a:prstGeom>
          <a:noFill/>
        </p:spPr>
        <p:txBody>
          <a:bodyPr wrap="square" rtlCol="0">
            <a:spAutoFit/>
          </a:bodyPr>
          <a:lstStyle/>
          <a:p>
            <a:r>
              <a:rPr lang="en-US" altLang="zh-CN" sz="1200" dirty="0"/>
              <a:t>pointing to the activation record of the caller</a:t>
            </a:r>
            <a:endParaRPr lang="zh-CN" altLang="en-US" sz="1200" dirty="0"/>
          </a:p>
        </p:txBody>
      </p:sp>
      <p:cxnSp>
        <p:nvCxnSpPr>
          <p:cNvPr id="10" name="直接箭头连接符 9"/>
          <p:cNvCxnSpPr>
            <a:endCxn id="6" idx="1"/>
          </p:cNvCxnSpPr>
          <p:nvPr/>
        </p:nvCxnSpPr>
        <p:spPr>
          <a:xfrm>
            <a:off x="6383708" y="4119073"/>
            <a:ext cx="854581" cy="3898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804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bwMode="auto">
          <a:xfrm>
            <a:off x="822533" y="1504059"/>
            <a:ext cx="6885774" cy="481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an activation record have the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same size for all procedures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bookkeeping information</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an activation record may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remain fixed for each individual procedure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arguments and local data</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activation record may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automatically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on procedure calls: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Storing the return address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activation record may need to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explicitly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by instructions generated by the compiler:</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Local temporary space</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Depending on the language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activation records may be allocated in different areas: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Fortran77 in the static area;</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C and Pascal in the stack area; referred to as stack frames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LISP in the heap area.</a:t>
            </a:r>
            <a:endParaRPr kumimoji="0" lang="zh-CN" altLang="en-US" sz="18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4220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a:xfrm>
            <a:off x="728529" y="1528006"/>
            <a:ext cx="7772400" cy="482441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Processor registers are also part of the structure of the runtime environment</a:t>
            </a:r>
            <a:endParaRPr lang="en-US" altLang="zh-CN" sz="2800" dirty="0"/>
          </a:p>
          <a:p>
            <a:pPr lvl="1"/>
            <a:r>
              <a:rPr lang="en-US" altLang="zh-CN" sz="2400" dirty="0"/>
              <a:t>Registers may be used to store temporaries, local variables, or even global variables;</a:t>
            </a:r>
          </a:p>
          <a:p>
            <a:pPr lvl="1"/>
            <a:r>
              <a:rPr lang="en-US" altLang="zh-CN" sz="2400" dirty="0"/>
              <a:t>In newer RISC processor, keep entire static area and whole activation records;</a:t>
            </a:r>
          </a:p>
          <a:p>
            <a:pPr lvl="1"/>
            <a:r>
              <a:rPr lang="en-US" altLang="zh-CN" sz="2400" dirty="0"/>
              <a:t>Special-purpose registers to keep track of execution</a:t>
            </a:r>
          </a:p>
          <a:p>
            <a:pPr lvl="2"/>
            <a:r>
              <a:rPr lang="en-US" altLang="zh-CN" sz="1800" dirty="0"/>
              <a:t>PC 	program counter;</a:t>
            </a:r>
          </a:p>
          <a:p>
            <a:pPr lvl="2"/>
            <a:r>
              <a:rPr lang="en-US" altLang="zh-CN" sz="1800" dirty="0"/>
              <a:t>SP	stack pointer;</a:t>
            </a:r>
          </a:p>
          <a:p>
            <a:pPr lvl="2"/>
            <a:r>
              <a:rPr lang="en-US" altLang="zh-CN" sz="1800" dirty="0"/>
              <a:t>FP	frame pointer;</a:t>
            </a:r>
          </a:p>
          <a:p>
            <a:pPr lvl="2"/>
            <a:r>
              <a:rPr lang="en-US" altLang="zh-CN" sz="1800" dirty="0"/>
              <a:t>AP	argument pointer</a:t>
            </a:r>
            <a:endParaRPr lang="zh-CN" altLang="en-US" sz="1800" dirty="0"/>
          </a:p>
        </p:txBody>
      </p:sp>
    </p:spTree>
    <p:extLst>
      <p:ext uri="{BB962C8B-B14F-4D97-AF65-F5344CB8AC3E}">
        <p14:creationId xmlns:p14="http://schemas.microsoft.com/office/powerpoint/2010/main" val="3036780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5" name="Rectangle 3"/>
          <p:cNvSpPr txBox="1">
            <a:spLocks noChangeArrowheads="1"/>
          </p:cNvSpPr>
          <p:nvPr/>
        </p:nvSpPr>
        <p:spPr>
          <a:xfrm>
            <a:off x="668708" y="1454150"/>
            <a:ext cx="7772400" cy="5403850"/>
          </a:xfrm>
          <a:prstGeom prst="rect">
            <a:avLst/>
          </a:prstGeom>
        </p:spPr>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The sequence of operations when calling the functions</a:t>
            </a:r>
            <a:r>
              <a:rPr lang="en-US" altLang="zh-CN" sz="2800" dirty="0"/>
              <a:t>: </a:t>
            </a:r>
            <a:r>
              <a:rPr lang="en-US" altLang="zh-CN" sz="2800" b="1" i="1" dirty="0">
                <a:solidFill>
                  <a:srgbClr val="FF3300"/>
                </a:solidFill>
              </a:rPr>
              <a:t>calling sequence</a:t>
            </a:r>
            <a:endParaRPr lang="en-US" altLang="zh-CN" sz="2800" b="1" dirty="0">
              <a:solidFill>
                <a:srgbClr val="FF3300"/>
              </a:solidFill>
            </a:endParaRPr>
          </a:p>
          <a:p>
            <a:pPr lvl="1"/>
            <a:r>
              <a:rPr lang="en-US" altLang="zh-CN" sz="2400" dirty="0"/>
              <a:t>The allocation of memory for the activation record;</a:t>
            </a:r>
          </a:p>
          <a:p>
            <a:pPr lvl="1"/>
            <a:r>
              <a:rPr lang="en-US" altLang="zh-CN" sz="2400" dirty="0"/>
              <a:t>The computation and storing of the arguments;</a:t>
            </a:r>
          </a:p>
          <a:p>
            <a:pPr lvl="1"/>
            <a:r>
              <a:rPr lang="en-US" altLang="zh-CN" sz="2400" dirty="0"/>
              <a:t>The storing and setting of necessary registers to affect the call</a:t>
            </a:r>
          </a:p>
          <a:p>
            <a:endParaRPr lang="en-US" altLang="zh-CN" sz="2800" dirty="0"/>
          </a:p>
          <a:p>
            <a:r>
              <a:rPr lang="en-US" altLang="zh-CN" sz="2800" b="1" dirty="0"/>
              <a:t>The additional operations when a procedure or function returns: </a:t>
            </a:r>
            <a:r>
              <a:rPr lang="en-US" altLang="zh-CN" sz="2800" b="1" i="1" dirty="0">
                <a:solidFill>
                  <a:srgbClr val="FF3300"/>
                </a:solidFill>
              </a:rPr>
              <a:t>return sequence (VS call</a:t>
            </a:r>
            <a:r>
              <a:rPr lang="en-US" altLang="zh-CN" sz="2800" i="1" dirty="0">
                <a:solidFill>
                  <a:srgbClr val="FF3300"/>
                </a:solidFill>
              </a:rPr>
              <a:t>)</a:t>
            </a:r>
          </a:p>
          <a:p>
            <a:pPr lvl="1"/>
            <a:r>
              <a:rPr lang="en-US" altLang="zh-CN" sz="2400" dirty="0"/>
              <a:t>The placing of the return value where the caller can access it;</a:t>
            </a:r>
          </a:p>
          <a:p>
            <a:pPr lvl="1"/>
            <a:r>
              <a:rPr lang="en-US" altLang="zh-CN" sz="2400" dirty="0"/>
              <a:t>The readjustment of registers;</a:t>
            </a:r>
          </a:p>
          <a:p>
            <a:pPr lvl="1"/>
            <a:r>
              <a:rPr lang="en-US" altLang="zh-CN" sz="2400" dirty="0"/>
              <a:t>The possible releasing for activation record memory</a:t>
            </a:r>
            <a:endParaRPr lang="zh-CN" altLang="en-US" sz="2400" dirty="0"/>
          </a:p>
        </p:txBody>
      </p:sp>
    </p:spTree>
    <p:extLst>
      <p:ext uri="{BB962C8B-B14F-4D97-AF65-F5344CB8AC3E}">
        <p14:creationId xmlns:p14="http://schemas.microsoft.com/office/powerpoint/2010/main" val="79805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6" name="Rectangle 3"/>
          <p:cNvSpPr txBox="1">
            <a:spLocks noChangeArrowheads="1"/>
          </p:cNvSpPr>
          <p:nvPr/>
        </p:nvSpPr>
        <p:spPr bwMode="auto">
          <a:xfrm>
            <a:off x="643071" y="1476731"/>
            <a:ext cx="7772400" cy="5114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The important aspects of the design of the calling sequence:</a:t>
            </a: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(1) How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divide the calling sequence</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operations between the caller and </a:t>
            </a:r>
            <a:r>
              <a:rPr kumimoji="0" lang="en-US" altLang="zh-CN" sz="24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At a minimum, the caller is responsible for computing the arguments and placing them in locations where they may be found by the </a:t>
            </a:r>
            <a:r>
              <a:rPr kumimoji="0" lang="en-US" altLang="zh-CN"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None/>
              <a:tabLst>
                <a:tab pos="631825" algn="l"/>
              </a:tabLst>
              <a:defRPr/>
            </a:pP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(2) To what extent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rely on processor support for calls</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rather that generating explicit code for each step of the calling sequence</a:t>
            </a:r>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4668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stretch>
            <a:fillRect/>
          </a:stretch>
        </p:blipFill>
        <p:spPr>
          <a:xfrm>
            <a:off x="811540" y="1401512"/>
            <a:ext cx="3872313" cy="2820112"/>
          </a:xfrm>
          <a:prstGeom prst="rect">
            <a:avLst/>
          </a:prstGeom>
        </p:spPr>
      </p:pic>
      <p:pic>
        <p:nvPicPr>
          <p:cNvPr id="5" name="图片 4"/>
          <p:cNvPicPr>
            <a:picLocks noChangeAspect="1"/>
          </p:cNvPicPr>
          <p:nvPr/>
        </p:nvPicPr>
        <p:blipFill>
          <a:blip r:embed="rId3"/>
          <a:stretch>
            <a:fillRect/>
          </a:stretch>
        </p:blipFill>
        <p:spPr>
          <a:xfrm>
            <a:off x="722252" y="4799061"/>
            <a:ext cx="2986622" cy="317051"/>
          </a:xfrm>
          <a:prstGeom prst="rect">
            <a:avLst/>
          </a:prstGeom>
        </p:spPr>
      </p:pic>
      <p:sp>
        <p:nvSpPr>
          <p:cNvPr id="7" name="文本框 6"/>
          <p:cNvSpPr txBox="1"/>
          <p:nvPr/>
        </p:nvSpPr>
        <p:spPr>
          <a:xfrm>
            <a:off x="658026" y="4392538"/>
            <a:ext cx="1685077" cy="369332"/>
          </a:xfrm>
          <a:prstGeom prst="rect">
            <a:avLst/>
          </a:prstGeom>
          <a:noFill/>
        </p:spPr>
        <p:txBody>
          <a:bodyPr wrap="none" rtlCol="0">
            <a:spAutoFit/>
          </a:bodyPr>
          <a:lstStyle/>
          <a:p>
            <a:r>
              <a:rPr lang="en-US" altLang="zh-CN" dirty="0"/>
              <a:t>Function call</a:t>
            </a:r>
            <a:endParaRPr lang="zh-CN" altLang="en-US" dirty="0"/>
          </a:p>
        </p:txBody>
      </p:sp>
      <p:pic>
        <p:nvPicPr>
          <p:cNvPr id="9" name="图片 8"/>
          <p:cNvPicPr>
            <a:picLocks noChangeAspect="1"/>
          </p:cNvPicPr>
          <p:nvPr/>
        </p:nvPicPr>
        <p:blipFill>
          <a:blip r:embed="rId4"/>
          <a:stretch>
            <a:fillRect/>
          </a:stretch>
        </p:blipFill>
        <p:spPr>
          <a:xfrm>
            <a:off x="4773315" y="3324804"/>
            <a:ext cx="4304186" cy="1341200"/>
          </a:xfrm>
          <a:prstGeom prst="rect">
            <a:avLst/>
          </a:prstGeom>
        </p:spPr>
      </p:pic>
      <p:sp>
        <p:nvSpPr>
          <p:cNvPr id="10" name="文本框 9"/>
          <p:cNvSpPr txBox="1"/>
          <p:nvPr/>
        </p:nvSpPr>
        <p:spPr>
          <a:xfrm>
            <a:off x="4732946" y="2912690"/>
            <a:ext cx="1915909" cy="369332"/>
          </a:xfrm>
          <a:prstGeom prst="rect">
            <a:avLst/>
          </a:prstGeom>
          <a:noFill/>
        </p:spPr>
        <p:txBody>
          <a:bodyPr wrap="none" rtlCol="0">
            <a:spAutoFit/>
          </a:bodyPr>
          <a:lstStyle/>
          <a:p>
            <a:r>
              <a:rPr lang="en-US" altLang="zh-CN" dirty="0"/>
              <a:t>Function return</a:t>
            </a:r>
            <a:endParaRPr lang="zh-CN" altLang="en-US" dirty="0"/>
          </a:p>
        </p:txBody>
      </p:sp>
      <p:pic>
        <p:nvPicPr>
          <p:cNvPr id="11" name="图片 10"/>
          <p:cNvPicPr>
            <a:picLocks noChangeAspect="1"/>
          </p:cNvPicPr>
          <p:nvPr/>
        </p:nvPicPr>
        <p:blipFill>
          <a:blip r:embed="rId5"/>
          <a:stretch>
            <a:fillRect/>
          </a:stretch>
        </p:blipFill>
        <p:spPr>
          <a:xfrm>
            <a:off x="750206" y="5101839"/>
            <a:ext cx="4985384" cy="1300251"/>
          </a:xfrm>
          <a:prstGeom prst="rect">
            <a:avLst/>
          </a:prstGeom>
        </p:spPr>
      </p:pic>
      <p:sp>
        <p:nvSpPr>
          <p:cNvPr id="12" name="矩形 11"/>
          <p:cNvSpPr/>
          <p:nvPr/>
        </p:nvSpPr>
        <p:spPr>
          <a:xfrm>
            <a:off x="4695914" y="1418780"/>
            <a:ext cx="4572000" cy="523220"/>
          </a:xfrm>
          <a:prstGeom prst="rect">
            <a:avLst/>
          </a:prstGeom>
        </p:spPr>
        <p:txBody>
          <a:bodyPr>
            <a:spAutoFit/>
          </a:bodyPr>
          <a:lstStyle/>
          <a:p>
            <a:r>
              <a:rPr lang="en-US" altLang="zh-CN" sz="1400" dirty="0">
                <a:latin typeface="微软雅黑" panose="020B0503020204020204" pitchFamily="34" charset="-122"/>
                <a:ea typeface="微软雅黑" panose="020B0503020204020204" pitchFamily="34" charset="-122"/>
              </a:rPr>
              <a:t>A register </a:t>
            </a:r>
            <a:r>
              <a:rPr lang="en-US" altLang="zh-CN" sz="1400" i="1" dirty="0" err="1">
                <a:latin typeface="微软雅黑" panose="020B0503020204020204" pitchFamily="34" charset="-122"/>
                <a:ea typeface="微软雅黑" panose="020B0503020204020204" pitchFamily="34" charset="-122"/>
              </a:rPr>
              <a:t>top_sp</a:t>
            </a:r>
            <a:r>
              <a:rPr lang="en-US" altLang="zh-CN" sz="1400">
                <a:latin typeface="微软雅黑" panose="020B0503020204020204" pitchFamily="34" charset="-122"/>
                <a:ea typeface="微软雅黑" panose="020B0503020204020204" pitchFamily="34" charset="-122"/>
              </a:rPr>
              <a:t> points </a:t>
            </a:r>
            <a:r>
              <a:rPr lang="en-US" altLang="zh-CN" sz="1400" dirty="0">
                <a:latin typeface="微软雅黑" panose="020B0503020204020204" pitchFamily="34" charset="-122"/>
                <a:ea typeface="微软雅黑" panose="020B0503020204020204" pitchFamily="34" charset="-122"/>
              </a:rPr>
              <a:t>to the end of the machine status field in the current top activation record.</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4768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9866" y="1679244"/>
            <a:ext cx="5249008" cy="4525006"/>
          </a:xfrm>
          <a:prstGeom prst="rect">
            <a:avLst/>
          </a:prstGeom>
        </p:spPr>
      </p:pic>
    </p:spTree>
    <p:extLst>
      <p:ext uri="{BB962C8B-B14F-4D97-AF65-F5344CB8AC3E}">
        <p14:creationId xmlns:p14="http://schemas.microsoft.com/office/powerpoint/2010/main" val="165346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400272580"/>
              </p:ext>
            </p:extLst>
          </p:nvPr>
        </p:nvGraphicFramePr>
        <p:xfrm>
          <a:off x="1572071" y="1541640"/>
          <a:ext cx="5332932" cy="5225769"/>
        </p:xfrm>
        <a:graphic>
          <a:graphicData uri="http://schemas.openxmlformats.org/presentationml/2006/ole">
            <mc:AlternateContent xmlns:mc="http://schemas.openxmlformats.org/markup-compatibility/2006">
              <mc:Choice xmlns:v="urn:schemas-microsoft-com:vml" Requires="v">
                <p:oleObj spid="_x0000_s1033" name="文档" r:id="rId3" imgW="3675877" imgH="3610332" progId="Word.Document.8">
                  <p:embed/>
                </p:oleObj>
              </mc:Choice>
              <mc:Fallback>
                <p:oleObj name="文档" r:id="rId3" imgW="3675877" imgH="3610332"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2071" y="1541640"/>
                        <a:ext cx="5332932" cy="5225769"/>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389765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Rectangle 3"/>
          <p:cNvSpPr txBox="1">
            <a:spLocks noChangeArrowheads="1"/>
          </p:cNvSpPr>
          <p:nvPr/>
        </p:nvSpPr>
        <p:spPr bwMode="auto">
          <a:xfrm>
            <a:off x="591796" y="1538183"/>
            <a:ext cx="7772400" cy="5024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All data are static, remaining fixed in memory for the duration of program execution</a:t>
            </a:r>
          </a:p>
          <a:p>
            <a:pPr marL="342900" marR="0" lvl="0" indent="-342900" algn="l" defTabSz="914400" rtl="0" eaLnBrk="1" fontAlgn="base" latinLnBrk="0" hangingPunct="1">
              <a:lnSpc>
                <a:spcPct val="10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such as FORTRAN77, no pointer or dynamic allocation, no recursive procedure calling</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global variables and all variables are allocated statically.</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has only a single activation record.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All variable, whether local or global, can be accessed directly via fixed address.</a:t>
            </a:r>
            <a:endPar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76902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矩形 3"/>
          <p:cNvSpPr/>
          <p:nvPr/>
        </p:nvSpPr>
        <p:spPr>
          <a:xfrm>
            <a:off x="1110952" y="1733375"/>
            <a:ext cx="6939185" cy="3785652"/>
          </a:xfrm>
          <a:prstGeom prst="rect">
            <a:avLst/>
          </a:prstGeom>
        </p:spPr>
        <p:txBody>
          <a:bodyPr wrap="square">
            <a:spAutoFit/>
          </a:bodyPr>
          <a:lstStyle/>
          <a:p>
            <a:r>
              <a:rPr lang="en-US" altLang="zh-CN" sz="2000" dirty="0">
                <a:latin typeface="微软雅黑" panose="020B0503020204020204" pitchFamily="34" charset="-122"/>
                <a:ea typeface="微软雅黑" panose="020B0503020204020204" pitchFamily="34" charset="-122"/>
              </a:rPr>
              <a:t>Relative little overhead in terms of bookkeeping information to retain in each activation record;</a:t>
            </a:r>
          </a:p>
          <a:p>
            <a:r>
              <a:rPr lang="en-US" altLang="zh-CN" sz="2000" dirty="0">
                <a:latin typeface="微软雅黑" panose="020B0503020204020204" pitchFamily="34" charset="-122"/>
                <a:ea typeface="微软雅黑" panose="020B0503020204020204" pitchFamily="34" charset="-122"/>
              </a:rPr>
              <a:t>And no extra information about the environment needs to be kept in an activation record;</a:t>
            </a:r>
            <a:endParaRPr lang="zh-CN" altLang="en-US" sz="2000" dirty="0">
              <a:latin typeface="微软雅黑" panose="020B0503020204020204" pitchFamily="34" charset="-122"/>
              <a:ea typeface="微软雅黑" panose="020B0503020204020204" pitchFamily="34" charset="-122"/>
            </a:endParaRPr>
          </a:p>
          <a:p>
            <a:endParaRPr lang="en-US" altLang="zh-CN" sz="2000" dirty="0">
              <a:latin typeface="微软雅黑" panose="020B0503020204020204" pitchFamily="34" charset="-122"/>
              <a:ea typeface="微软雅黑" panose="020B0503020204020204" pitchFamily="34" charset="-122"/>
            </a:endParaRPr>
          </a:p>
          <a:p>
            <a:r>
              <a:rPr lang="en-US" altLang="zh-CN" sz="2000" dirty="0">
                <a:latin typeface="微软雅黑" panose="020B0503020204020204" pitchFamily="34" charset="-122"/>
                <a:ea typeface="微软雅黑" panose="020B0503020204020204" pitchFamily="34" charset="-122"/>
              </a:rPr>
              <a:t>The calling sequence is simple.</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Each argument is computed and stored into its appropriate parameter location;</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The return address is saved, and jump to the beginning of the code of the </a:t>
            </a:r>
            <a:r>
              <a:rPr lang="en-US" altLang="zh-CN" sz="2000" dirty="0" err="1">
                <a:latin typeface="微软雅黑" panose="020B0503020204020204" pitchFamily="34" charset="-122"/>
                <a:ea typeface="微软雅黑" panose="020B0503020204020204" pitchFamily="34" charset="-122"/>
              </a:rPr>
              <a:t>callee</a:t>
            </a:r>
            <a:r>
              <a:rPr lang="en-US" altLang="zh-CN" sz="2000" dirty="0">
                <a:latin typeface="微软雅黑" panose="020B0503020204020204" pitchFamily="34" charset="-122"/>
                <a:ea typeface="微软雅黑" panose="020B0503020204020204" pitchFamily="34" charset="-122"/>
              </a:rPr>
              <a:t>;</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On return, a simple jump is made to the return address.</a:t>
            </a:r>
            <a:endParaRPr lang="zh-CN" altLang="en-US" sz="2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60352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994488794"/>
              </p:ext>
            </p:extLst>
          </p:nvPr>
        </p:nvGraphicFramePr>
        <p:xfrm>
          <a:off x="2156390" y="2003751"/>
          <a:ext cx="3364194" cy="1854200"/>
        </p:xfrm>
        <a:graphic>
          <a:graphicData uri="http://schemas.openxmlformats.org/drawingml/2006/table">
            <a:tbl>
              <a:tblPr firstRow="1" bandRow="1">
                <a:tableStyleId>{5940675A-B579-460E-94D1-54222C63F5DA}</a:tableStyleId>
              </a:tblPr>
              <a:tblGrid>
                <a:gridCol w="3364194"/>
              </a:tblGrid>
              <a:tr h="370840">
                <a:tc>
                  <a:txBody>
                    <a:bodyPr/>
                    <a:lstStyle/>
                    <a:p>
                      <a:r>
                        <a:rPr lang="en-US" altLang="zh-CN" dirty="0" smtClean="0"/>
                        <a:t>Actual</a:t>
                      </a:r>
                      <a:r>
                        <a:rPr lang="en-US" altLang="zh-CN" baseline="0" dirty="0" smtClean="0"/>
                        <a:t> Parameters</a:t>
                      </a:r>
                      <a:endParaRPr lang="zh-CN" altLang="en-US" dirty="0"/>
                    </a:p>
                  </a:txBody>
                  <a:tcPr/>
                </a:tc>
              </a:tr>
              <a:tr h="370840">
                <a:tc>
                  <a:txBody>
                    <a:bodyPr/>
                    <a:lstStyle/>
                    <a:p>
                      <a:r>
                        <a:rPr lang="en-US" altLang="zh-CN" dirty="0" smtClean="0"/>
                        <a:t>Return</a:t>
                      </a:r>
                      <a:r>
                        <a:rPr lang="en-US" altLang="zh-CN" baseline="0" dirty="0" smtClean="0"/>
                        <a:t> value</a:t>
                      </a:r>
                      <a:endParaRPr lang="zh-CN" altLang="en-US" dirty="0"/>
                    </a:p>
                  </a:txBody>
                  <a:tcPr/>
                </a:tc>
              </a:tr>
              <a:tr h="370840">
                <a:tc>
                  <a:txBody>
                    <a:bodyPr/>
                    <a:lstStyle/>
                    <a:p>
                      <a:r>
                        <a:rPr lang="en-US" altLang="zh-CN" dirty="0" smtClean="0"/>
                        <a:t>Return</a:t>
                      </a:r>
                      <a:r>
                        <a:rPr lang="en-US" altLang="zh-CN" baseline="0" dirty="0" smtClean="0"/>
                        <a:t> address and Saved Registers</a:t>
                      </a:r>
                      <a:endParaRPr lang="zh-CN" altLang="en-US" dirty="0"/>
                    </a:p>
                  </a:txBody>
                  <a:tcPr/>
                </a:tc>
              </a:tr>
              <a:tr h="370840">
                <a:tc>
                  <a:txBody>
                    <a:bodyPr/>
                    <a:lstStyle/>
                    <a:p>
                      <a:r>
                        <a:rPr lang="en-US" altLang="zh-CN" dirty="0" smtClean="0"/>
                        <a:t>Local data</a:t>
                      </a:r>
                      <a:endParaRPr lang="zh-CN" altLang="en-US" dirty="0"/>
                    </a:p>
                  </a:txBody>
                  <a:tcPr/>
                </a:tc>
              </a:tr>
              <a:tr h="370840">
                <a:tc>
                  <a:txBody>
                    <a:bodyPr/>
                    <a:lstStyle/>
                    <a:p>
                      <a:r>
                        <a:rPr lang="en-US" altLang="zh-CN" dirty="0" smtClean="0"/>
                        <a:t>Temporaries</a:t>
                      </a:r>
                      <a:endParaRPr lang="zh-CN" altLang="en-US" dirty="0"/>
                    </a:p>
                  </a:txBody>
                  <a:tcPr/>
                </a:tc>
              </a:tr>
            </a:tbl>
          </a:graphicData>
        </a:graphic>
      </p:graphicFrame>
      <p:sp>
        <p:nvSpPr>
          <p:cNvPr id="5" name="文本框 4"/>
          <p:cNvSpPr txBox="1"/>
          <p:nvPr/>
        </p:nvSpPr>
        <p:spPr>
          <a:xfrm>
            <a:off x="2119357" y="1410056"/>
            <a:ext cx="3762568" cy="369332"/>
          </a:xfrm>
          <a:prstGeom prst="rect">
            <a:avLst/>
          </a:prstGeom>
          <a:noFill/>
        </p:spPr>
        <p:txBody>
          <a:bodyPr wrap="none" rtlCol="0">
            <a:spAutoFit/>
          </a:bodyPr>
          <a:lstStyle/>
          <a:p>
            <a:r>
              <a:rPr lang="en-US" altLang="zh-CN" dirty="0" smtClean="0"/>
              <a:t>Fortran 77  (activation record)</a:t>
            </a:r>
            <a:endParaRPr lang="zh-CN" altLang="en-US" dirty="0"/>
          </a:p>
        </p:txBody>
      </p:sp>
      <p:cxnSp>
        <p:nvCxnSpPr>
          <p:cNvPr id="7" name="直接箭头连接符 6"/>
          <p:cNvCxnSpPr/>
          <p:nvPr/>
        </p:nvCxnSpPr>
        <p:spPr>
          <a:xfrm>
            <a:off x="1803162" y="2179177"/>
            <a:ext cx="0" cy="111095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873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a:t>
            </a:r>
            <a:endParaRPr lang="zh-CN" altLang="en-US" dirty="0"/>
          </a:p>
        </p:txBody>
      </p:sp>
      <p:sp>
        <p:nvSpPr>
          <p:cNvPr id="3" name="Rectangle 3"/>
          <p:cNvSpPr txBox="1">
            <a:spLocks noChangeArrowheads="1"/>
          </p:cNvSpPr>
          <p:nvPr/>
        </p:nvSpPr>
        <p:spPr bwMode="auto">
          <a:xfrm>
            <a:off x="702892" y="1457384"/>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in which</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Recursive calls are allowed;</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Local variables are newly allocated at each call;</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Activation records cannot be allocated statically</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endPar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Activation records must be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allocated in a stack-based fashion</a:t>
            </a: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stack of activation records grows and shrinks with the chain of calls in the executing program.</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may have several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different activation records on the call stack at one time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each representing a distinct call.</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More complex strategy for bookkeeping and variable access,</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which depends heavily on the properties of the language being compiled.</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75848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60163" y="1619754"/>
            <a:ext cx="7772400" cy="4900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a language where all properties are global (such as C language), the stack-based environment requires two things:</a:t>
            </a:r>
          </a:p>
          <a:p>
            <a:pPr marL="963613" marR="0" lvl="1" indent="-506413"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(1)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Frame pointer or fp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pointer to the current activation record to allow access to local variable;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Control link or dynamic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 to a record of the immediately preceding activation</a:t>
            </a:r>
          </a:p>
          <a:p>
            <a:pPr marL="963613" marR="0" lvl="1" indent="-506413"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(2)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Stack pointer or sp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 to the last location allocated on the call stack</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955181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a:xfrm>
            <a:off x="728529" y="1500113"/>
            <a:ext cx="7772400" cy="5165607"/>
          </a:xfrm>
          <a:prstGeom prst="rect">
            <a:avLst/>
          </a:prstGeom>
        </p:spPr>
        <p:txBody>
          <a:bodyPr vert="horz" lIns="0" tIns="45720" rIns="0" bIns="45720" rtlCol="0">
            <a:normAutofit fontScale="70000" lnSpcReduction="200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2400" b="1" dirty="0" smtClean="0"/>
              <a:t>Example:</a:t>
            </a:r>
            <a:r>
              <a:rPr lang="en-US" altLang="zh-CN" sz="2400" dirty="0" smtClean="0"/>
              <a:t> The simple recursive implementation of Euclid</a:t>
            </a:r>
            <a:r>
              <a:rPr lang="en-US" altLang="zh-CN" sz="2400" dirty="0" smtClean="0">
                <a:latin typeface="Arial" panose="020B0604020202020204" pitchFamily="34" charset="0"/>
              </a:rPr>
              <a:t>’</a:t>
            </a:r>
            <a:r>
              <a:rPr lang="en-US" altLang="zh-CN" sz="2400" dirty="0" smtClean="0"/>
              <a:t>s algorithm to compute the greatest common divisor of two non-negative integer</a:t>
            </a:r>
          </a:p>
          <a:p>
            <a:pPr lvl="1">
              <a:lnSpc>
                <a:spcPct val="120000"/>
              </a:lnSpc>
              <a:buFontTx/>
              <a:buNone/>
            </a:pPr>
            <a:r>
              <a:rPr lang="en-US" altLang="zh-CN" sz="1800" dirty="0" smtClean="0"/>
              <a:t>	</a:t>
            </a:r>
          </a:p>
          <a:p>
            <a:pPr lvl="1">
              <a:lnSpc>
                <a:spcPct val="120000"/>
              </a:lnSpc>
              <a:buFontTx/>
              <a:buNone/>
            </a:pPr>
            <a:r>
              <a:rPr lang="en-US" altLang="zh-CN" sz="2200" dirty="0" smtClean="0"/>
              <a:t>    # include &lt;</a:t>
            </a:r>
            <a:r>
              <a:rPr lang="en-US" altLang="zh-CN" sz="2200" dirty="0" err="1" smtClean="0"/>
              <a:t>stdio.h</a:t>
            </a:r>
            <a:r>
              <a:rPr lang="en-US" altLang="zh-CN" sz="2200" dirty="0" smtClean="0"/>
              <a:t>&gt;</a:t>
            </a:r>
          </a:p>
          <a:p>
            <a:pPr lvl="1">
              <a:lnSpc>
                <a:spcPct val="120000"/>
              </a:lnSpc>
              <a:buFontTx/>
              <a:buNone/>
            </a:pPr>
            <a:r>
              <a:rPr lang="en-US" altLang="zh-CN" sz="2200" dirty="0" smtClean="0"/>
              <a:t>	</a:t>
            </a:r>
            <a:r>
              <a:rPr lang="en-US" altLang="zh-CN" sz="2200" dirty="0" err="1" smtClean="0"/>
              <a:t>int</a:t>
            </a:r>
            <a:r>
              <a:rPr lang="en-US" altLang="zh-CN" sz="2200" dirty="0" smtClean="0"/>
              <a:t> </a:t>
            </a:r>
            <a:r>
              <a:rPr lang="en-US" altLang="zh-CN" sz="2200" dirty="0" err="1" smtClean="0"/>
              <a:t>x,y</a:t>
            </a:r>
            <a:r>
              <a:rPr lang="en-US" altLang="zh-CN" sz="2200" dirty="0" smtClean="0"/>
              <a:t>;</a:t>
            </a:r>
          </a:p>
          <a:p>
            <a:pPr lvl="1">
              <a:lnSpc>
                <a:spcPct val="120000"/>
              </a:lnSpc>
              <a:buFontTx/>
              <a:buNone/>
            </a:pPr>
            <a:r>
              <a:rPr lang="en-US" altLang="zh-CN" sz="2200" dirty="0" smtClean="0"/>
              <a:t>	</a:t>
            </a:r>
            <a:r>
              <a:rPr lang="en-US" altLang="zh-CN" sz="2200" dirty="0" err="1" smtClean="0"/>
              <a:t>int</a:t>
            </a:r>
            <a:r>
              <a:rPr lang="en-US" altLang="zh-CN" sz="2200" dirty="0" smtClean="0"/>
              <a:t> </a:t>
            </a:r>
            <a:r>
              <a:rPr lang="en-US" altLang="zh-CN" sz="2200" dirty="0" err="1" smtClean="0"/>
              <a:t>gcd</a:t>
            </a:r>
            <a:r>
              <a:rPr lang="en-US" altLang="zh-CN" sz="2200" dirty="0" smtClean="0"/>
              <a:t>(</a:t>
            </a:r>
            <a:r>
              <a:rPr lang="en-US" altLang="zh-CN" sz="2200" dirty="0" err="1" smtClean="0"/>
              <a:t>int</a:t>
            </a:r>
            <a:r>
              <a:rPr lang="en-US" altLang="zh-CN" sz="2200" dirty="0" smtClean="0"/>
              <a:t> </a:t>
            </a:r>
            <a:r>
              <a:rPr lang="en-US" altLang="zh-CN" sz="2200" dirty="0" err="1" smtClean="0"/>
              <a:t>u,int</a:t>
            </a:r>
            <a:r>
              <a:rPr lang="en-US" altLang="zh-CN" sz="2200" dirty="0" smtClean="0"/>
              <a:t> v)</a:t>
            </a:r>
          </a:p>
          <a:p>
            <a:pPr lvl="1">
              <a:lnSpc>
                <a:spcPct val="120000"/>
              </a:lnSpc>
              <a:buFontTx/>
              <a:buNone/>
            </a:pPr>
            <a:r>
              <a:rPr lang="en-US" altLang="zh-CN" sz="2200" dirty="0" smtClean="0"/>
              <a:t>	{   if (v==0) return u;</a:t>
            </a:r>
          </a:p>
          <a:p>
            <a:pPr lvl="1">
              <a:lnSpc>
                <a:spcPct val="120000"/>
              </a:lnSpc>
              <a:buFontTx/>
              <a:buNone/>
            </a:pPr>
            <a:r>
              <a:rPr lang="en-US" altLang="zh-CN" sz="2200" dirty="0" smtClean="0"/>
              <a:t>		  else return </a:t>
            </a:r>
            <a:r>
              <a:rPr lang="en-US" altLang="zh-CN" sz="2200" dirty="0" err="1" smtClean="0"/>
              <a:t>gcd</a:t>
            </a:r>
            <a:r>
              <a:rPr lang="en-US" altLang="zh-CN" sz="2200" dirty="0" smtClean="0"/>
              <a:t>(</a:t>
            </a:r>
            <a:r>
              <a:rPr lang="en-US" altLang="zh-CN" sz="2200" dirty="0" err="1" smtClean="0"/>
              <a:t>v,u%v</a:t>
            </a:r>
            <a:r>
              <a:rPr lang="en-US" altLang="zh-CN" sz="2200" dirty="0" smtClean="0"/>
              <a:t>);</a:t>
            </a:r>
          </a:p>
          <a:p>
            <a:pPr lvl="1">
              <a:lnSpc>
                <a:spcPct val="120000"/>
              </a:lnSpc>
              <a:buFontTx/>
              <a:buNone/>
            </a:pPr>
            <a:r>
              <a:rPr lang="en-US" altLang="zh-CN" sz="2200" dirty="0" smtClean="0"/>
              <a:t>	}</a:t>
            </a:r>
          </a:p>
          <a:p>
            <a:pPr lvl="1">
              <a:lnSpc>
                <a:spcPct val="120000"/>
              </a:lnSpc>
              <a:buFontTx/>
              <a:buNone/>
            </a:pPr>
            <a:r>
              <a:rPr lang="en-US" altLang="zh-CN" sz="2200" dirty="0" smtClean="0"/>
              <a:t>	main()</a:t>
            </a:r>
          </a:p>
          <a:p>
            <a:pPr lvl="1">
              <a:lnSpc>
                <a:spcPct val="120000"/>
              </a:lnSpc>
              <a:buFontTx/>
              <a:buNone/>
            </a:pPr>
            <a:r>
              <a:rPr lang="en-US" altLang="zh-CN" sz="2200" dirty="0" smtClean="0"/>
              <a:t>	{   </a:t>
            </a:r>
            <a:r>
              <a:rPr lang="en-US" altLang="zh-CN" sz="2200" dirty="0" err="1" smtClean="0"/>
              <a:t>scanf</a:t>
            </a:r>
            <a:r>
              <a:rPr lang="en-US" altLang="zh-CN" sz="2200" dirty="0" smtClean="0"/>
              <a:t>(</a:t>
            </a:r>
            <a:r>
              <a:rPr lang="en-US" altLang="zh-CN" sz="2200" dirty="0" smtClean="0">
                <a:latin typeface="Arial" panose="020B0604020202020204" pitchFamily="34" charset="0"/>
              </a:rPr>
              <a:t>“</a:t>
            </a:r>
            <a:r>
              <a:rPr lang="en-US" altLang="zh-CN" sz="2200" dirty="0" smtClean="0"/>
              <a:t>%</a:t>
            </a:r>
            <a:r>
              <a:rPr lang="en-US" altLang="zh-CN" sz="2200" dirty="0" err="1" smtClean="0"/>
              <a:t>d%d</a:t>
            </a:r>
            <a:r>
              <a:rPr lang="en-US" altLang="zh-CN" sz="2200" dirty="0" smtClean="0">
                <a:latin typeface="Arial" panose="020B0604020202020204" pitchFamily="34" charset="0"/>
              </a:rPr>
              <a:t>”</a:t>
            </a:r>
            <a:r>
              <a:rPr lang="en-US" altLang="zh-CN" sz="2200" dirty="0" smtClean="0"/>
              <a:t>,&amp;</a:t>
            </a:r>
            <a:r>
              <a:rPr lang="en-US" altLang="zh-CN" sz="2200" dirty="0" err="1" smtClean="0"/>
              <a:t>x,&amp;y</a:t>
            </a:r>
            <a:r>
              <a:rPr lang="en-US" altLang="zh-CN" sz="2200" dirty="0" smtClean="0"/>
              <a:t>);</a:t>
            </a:r>
          </a:p>
          <a:p>
            <a:pPr lvl="1">
              <a:lnSpc>
                <a:spcPct val="120000"/>
              </a:lnSpc>
              <a:buFontTx/>
              <a:buNone/>
            </a:pPr>
            <a:r>
              <a:rPr lang="en-US" altLang="zh-CN" sz="2200" dirty="0" smtClean="0"/>
              <a:t>	    </a:t>
            </a:r>
            <a:r>
              <a:rPr lang="en-US" altLang="zh-CN" sz="2200" dirty="0" err="1" smtClean="0"/>
              <a:t>printf</a:t>
            </a:r>
            <a:r>
              <a:rPr lang="en-US" altLang="zh-CN" sz="2200" dirty="0" smtClean="0"/>
              <a:t>(</a:t>
            </a:r>
            <a:r>
              <a:rPr lang="en-US" altLang="zh-CN" sz="2200" dirty="0" smtClean="0">
                <a:latin typeface="Arial" panose="020B0604020202020204" pitchFamily="34" charset="0"/>
              </a:rPr>
              <a:t>“</a:t>
            </a:r>
            <a:r>
              <a:rPr lang="en-US" altLang="zh-CN" sz="2200" dirty="0" smtClean="0"/>
              <a:t>%d\n</a:t>
            </a:r>
            <a:r>
              <a:rPr lang="en-US" altLang="zh-CN" sz="2200" dirty="0" smtClean="0">
                <a:latin typeface="Arial" panose="020B0604020202020204" pitchFamily="34" charset="0"/>
              </a:rPr>
              <a:t>”</a:t>
            </a:r>
            <a:r>
              <a:rPr lang="en-US" altLang="zh-CN" sz="2200" dirty="0" smtClean="0"/>
              <a:t>,</a:t>
            </a:r>
            <a:r>
              <a:rPr lang="en-US" altLang="zh-CN" sz="2200" dirty="0" err="1" smtClean="0"/>
              <a:t>gcd</a:t>
            </a:r>
            <a:r>
              <a:rPr lang="en-US" altLang="zh-CN" sz="2200" dirty="0" smtClean="0"/>
              <a:t>(</a:t>
            </a:r>
            <a:r>
              <a:rPr lang="en-US" altLang="zh-CN" sz="2200" dirty="0" err="1" smtClean="0"/>
              <a:t>x,y</a:t>
            </a:r>
            <a:r>
              <a:rPr lang="en-US" altLang="zh-CN" sz="2200" dirty="0" smtClean="0"/>
              <a:t>));</a:t>
            </a:r>
          </a:p>
          <a:p>
            <a:pPr lvl="1">
              <a:lnSpc>
                <a:spcPct val="120000"/>
              </a:lnSpc>
              <a:buFontTx/>
              <a:buNone/>
            </a:pPr>
            <a:r>
              <a:rPr lang="en-US" altLang="zh-CN" sz="2200" dirty="0" smtClean="0"/>
              <a:t>	    return 0;</a:t>
            </a:r>
          </a:p>
          <a:p>
            <a:pPr lvl="1">
              <a:lnSpc>
                <a:spcPct val="120000"/>
              </a:lnSpc>
              <a:buFontTx/>
              <a:buNone/>
            </a:pPr>
            <a:r>
              <a:rPr lang="en-US" altLang="zh-CN" sz="1800" dirty="0" smtClean="0"/>
              <a:t>	}</a:t>
            </a:r>
          </a:p>
          <a:p>
            <a:pPr lvl="1">
              <a:lnSpc>
                <a:spcPct val="120000"/>
              </a:lnSpc>
              <a:buFontTx/>
              <a:buNone/>
            </a:pPr>
            <a:endParaRPr lang="en-US" altLang="zh-CN" sz="1800" dirty="0" smtClean="0"/>
          </a:p>
          <a:p>
            <a:pPr>
              <a:lnSpc>
                <a:spcPct val="120000"/>
              </a:lnSpc>
              <a:buFontTx/>
              <a:buNone/>
            </a:pPr>
            <a:r>
              <a:rPr lang="en-US" altLang="zh-CN" sz="2400" dirty="0" smtClean="0"/>
              <a:t>Suppose the user inputs the values 15 and 10 to this program. </a:t>
            </a:r>
            <a:endParaRPr lang="zh-CN" altLang="en-US" sz="2400" dirty="0" smtClean="0"/>
          </a:p>
        </p:txBody>
      </p:sp>
    </p:spTree>
    <p:extLst>
      <p:ext uri="{BB962C8B-B14F-4D97-AF65-F5344CB8AC3E}">
        <p14:creationId xmlns:p14="http://schemas.microsoft.com/office/powerpoint/2010/main" val="2463276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7" name="Object 103"/>
          <p:cNvGraphicFramePr>
            <a:graphicFrameLocks noChangeAspect="1"/>
          </p:cNvGraphicFramePr>
          <p:nvPr>
            <p:extLst>
              <p:ext uri="{D42A27DB-BD31-4B8C-83A1-F6EECF244321}">
                <p14:modId xmlns:p14="http://schemas.microsoft.com/office/powerpoint/2010/main" val="2377505436"/>
              </p:ext>
            </p:extLst>
          </p:nvPr>
        </p:nvGraphicFramePr>
        <p:xfrm>
          <a:off x="877888" y="1385888"/>
          <a:ext cx="6300787" cy="5151437"/>
        </p:xfrm>
        <a:graphic>
          <a:graphicData uri="http://schemas.openxmlformats.org/presentationml/2006/ole">
            <mc:AlternateContent xmlns:mc="http://schemas.openxmlformats.org/markup-compatibility/2006">
              <mc:Choice xmlns:v="urn:schemas-microsoft-com:vml" Requires="v">
                <p:oleObj spid="_x0000_s2053" name="Document" r:id="rId3" imgW="5177134" imgH="4205301" progId="Word.Document.8">
                  <p:embed/>
                </p:oleObj>
              </mc:Choice>
              <mc:Fallback>
                <p:oleObj name="Document" r:id="rId3" imgW="5177134" imgH="4205301" progId="Word.Document.8">
                  <p:embed/>
                  <p:pic>
                    <p:nvPicPr>
                      <p:cNvPr id="0" name=""/>
                      <p:cNvPicPr>
                        <a:picLocks noChangeAspect="1" noChangeArrowheads="1"/>
                      </p:cNvPicPr>
                      <p:nvPr/>
                    </p:nvPicPr>
                    <p:blipFill>
                      <a:blip r:embed="rId4"/>
                      <a:srcRect/>
                      <a:stretch>
                        <a:fillRect/>
                      </a:stretch>
                    </p:blipFill>
                    <p:spPr bwMode="auto">
                      <a:xfrm>
                        <a:off x="877888" y="1385888"/>
                        <a:ext cx="6300787" cy="5151437"/>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439972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2" name="矩形 1"/>
          <p:cNvSpPr/>
          <p:nvPr/>
        </p:nvSpPr>
        <p:spPr>
          <a:xfrm>
            <a:off x="841759" y="1400664"/>
            <a:ext cx="7575847" cy="5324535"/>
          </a:xfrm>
          <a:prstGeom prst="rect">
            <a:avLst/>
          </a:prstGeom>
        </p:spPr>
        <p:txBody>
          <a:bodyPr wrap="square">
            <a:spAutoFit/>
          </a:bodyPr>
          <a:lstStyle/>
          <a:p>
            <a:pPr marL="342900" lvl="0" indent="-342900" fontAlgn="base">
              <a:lnSpc>
                <a:spcPct val="80000"/>
              </a:lnSpc>
              <a:spcBef>
                <a:spcPct val="20000"/>
              </a:spcBef>
              <a:spcAft>
                <a:spcPct val="0"/>
              </a:spcAft>
            </a:pPr>
            <a:r>
              <a:rPr lang="en-US" altLang="zh-CN" sz="2000" b="1" dirty="0">
                <a:solidFill>
                  <a:srgbClr val="000000"/>
                </a:solidFill>
                <a:latin typeface="Times New Roman"/>
                <a:ea typeface="宋体"/>
              </a:rPr>
              <a:t>Example</a:t>
            </a:r>
            <a:r>
              <a:rPr lang="en-US" altLang="zh-CN" b="1" dirty="0">
                <a:solidFill>
                  <a:srgbClr val="000000"/>
                </a:solidFill>
                <a:latin typeface="Times New Roman"/>
                <a:ea typeface="宋体"/>
              </a:rPr>
              <a:t>:             </a:t>
            </a:r>
            <a:r>
              <a:rPr lang="en-US" altLang="zh-CN" b="1" dirty="0" err="1" smtClean="0">
                <a:solidFill>
                  <a:srgbClr val="000000"/>
                </a:solidFill>
                <a:latin typeface="Times New Roman"/>
                <a:ea typeface="宋体"/>
              </a:rPr>
              <a:t>int</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x=2;</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void </a:t>
            </a:r>
            <a:r>
              <a:rPr lang="en-US" altLang="zh-CN" b="1" dirty="0">
                <a:solidFill>
                  <a:srgbClr val="000000"/>
                </a:solidFill>
                <a:latin typeface="Times New Roman"/>
                <a:ea typeface="宋体"/>
              </a:rPr>
              <a:t>g(</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);/*prototype*/</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void </a:t>
            </a:r>
            <a:r>
              <a:rPr lang="en-US" altLang="zh-CN" b="1" dirty="0">
                <a:solidFill>
                  <a:srgbClr val="000000"/>
                </a:solidFill>
                <a:latin typeface="Times New Roman"/>
                <a:ea typeface="宋体"/>
              </a:rPr>
              <a:t>f(</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n)</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static </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x=1;</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g(n</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x--;</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void g(</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m)</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err="1" smtClean="0">
                <a:solidFill>
                  <a:srgbClr val="000000"/>
                </a:solidFill>
                <a:latin typeface="Times New Roman"/>
                <a:ea typeface="宋体"/>
              </a:rPr>
              <a:t>int</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y=m-1;</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if (y&gt;0)</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    f(y</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x-</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g(y);</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endParaRPr lang="en-US" altLang="zh-CN" b="1" dirty="0">
              <a:solidFill>
                <a:srgbClr val="000000"/>
              </a:solidFill>
              <a:latin typeface="Times New Roman"/>
              <a:ea typeface="宋体"/>
            </a:endParaRP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main(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g(x</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return </a:t>
            </a:r>
            <a:r>
              <a:rPr lang="en-US" altLang="zh-CN" b="1" dirty="0">
                <a:solidFill>
                  <a:srgbClr val="000000"/>
                </a:solidFill>
                <a:latin typeface="Times New Roman"/>
                <a:ea typeface="宋体"/>
              </a:rPr>
              <a:t>0;</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endParaRPr lang="zh-CN" altLang="en-US" b="1" dirty="0">
              <a:solidFill>
                <a:srgbClr val="000000"/>
              </a:solidFill>
              <a:latin typeface="Times New Roman"/>
              <a:ea typeface="宋体"/>
            </a:endParaRPr>
          </a:p>
        </p:txBody>
      </p:sp>
    </p:spTree>
    <p:extLst>
      <p:ext uri="{BB962C8B-B14F-4D97-AF65-F5344CB8AC3E}">
        <p14:creationId xmlns:p14="http://schemas.microsoft.com/office/powerpoint/2010/main" val="2770860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554084041"/>
              </p:ext>
            </p:extLst>
          </p:nvPr>
        </p:nvGraphicFramePr>
        <p:xfrm>
          <a:off x="1385888" y="1584325"/>
          <a:ext cx="5983287" cy="4833938"/>
        </p:xfrm>
        <a:graphic>
          <a:graphicData uri="http://schemas.openxmlformats.org/presentationml/2006/ole">
            <mc:AlternateContent xmlns:mc="http://schemas.openxmlformats.org/markup-compatibility/2006">
              <mc:Choice xmlns:v="urn:schemas-microsoft-com:vml" Requires="v">
                <p:oleObj spid="_x0000_s3075" name="Document" r:id="rId3" imgW="4987011" imgH="4006934" progId="Word.Document.8">
                  <p:embed/>
                </p:oleObj>
              </mc:Choice>
              <mc:Fallback>
                <p:oleObj name="Document" r:id="rId3" imgW="4987011" imgH="4006934" progId="Word.Document.8">
                  <p:embed/>
                  <p:pic>
                    <p:nvPicPr>
                      <p:cNvPr id="0" name=""/>
                      <p:cNvPicPr>
                        <a:picLocks noChangeAspect="1" noChangeArrowheads="1"/>
                      </p:cNvPicPr>
                      <p:nvPr/>
                    </p:nvPicPr>
                    <p:blipFill>
                      <a:blip r:embed="rId4"/>
                      <a:srcRect/>
                      <a:stretch>
                        <a:fillRect/>
                      </a:stretch>
                    </p:blipFill>
                    <p:spPr bwMode="auto">
                      <a:xfrm>
                        <a:off x="1385888" y="1584325"/>
                        <a:ext cx="5983287" cy="483393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723342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3567556554"/>
              </p:ext>
            </p:extLst>
          </p:nvPr>
        </p:nvGraphicFramePr>
        <p:xfrm>
          <a:off x="655208" y="1459283"/>
          <a:ext cx="7958954" cy="5226934"/>
        </p:xfrm>
        <a:graphic>
          <a:graphicData uri="http://schemas.openxmlformats.org/presentationml/2006/ole">
            <mc:AlternateContent xmlns:mc="http://schemas.openxmlformats.org/markup-compatibility/2006">
              <mc:Choice xmlns:v="urn:schemas-microsoft-com:vml" Requires="v">
                <p:oleObj spid="_x0000_s4099" name="Document" r:id="rId3" imgW="5208640" imgH="3406074" progId="Word.Document.8">
                  <p:embed/>
                </p:oleObj>
              </mc:Choice>
              <mc:Fallback>
                <p:oleObj name="Document" r:id="rId3" imgW="5208640" imgH="3406074" progId="Word.Document.8">
                  <p:embed/>
                  <p:pic>
                    <p:nvPicPr>
                      <p:cNvPr id="0" name=""/>
                      <p:cNvPicPr>
                        <a:picLocks noChangeAspect="1" noChangeArrowheads="1"/>
                      </p:cNvPicPr>
                      <p:nvPr/>
                    </p:nvPicPr>
                    <p:blipFill>
                      <a:blip r:embed="rId4"/>
                      <a:srcRect/>
                      <a:stretch>
                        <a:fillRect/>
                      </a:stretch>
                    </p:blipFill>
                    <p:spPr bwMode="auto">
                      <a:xfrm>
                        <a:off x="655208" y="1459283"/>
                        <a:ext cx="7958954" cy="5226934"/>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568644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455985340"/>
              </p:ext>
            </p:extLst>
          </p:nvPr>
        </p:nvGraphicFramePr>
        <p:xfrm>
          <a:off x="969622" y="1751888"/>
          <a:ext cx="6969617" cy="4657458"/>
        </p:xfrm>
        <a:graphic>
          <a:graphicData uri="http://schemas.openxmlformats.org/presentationml/2006/ole">
            <mc:AlternateContent xmlns:mc="http://schemas.openxmlformats.org/markup-compatibility/2006">
              <mc:Choice xmlns:v="urn:schemas-microsoft-com:vml" Requires="v">
                <p:oleObj spid="_x0000_s5122" name="Document" r:id="rId3" imgW="4783127" imgH="3182866" progId="Word.Document.8">
                  <p:embed/>
                </p:oleObj>
              </mc:Choice>
              <mc:Fallback>
                <p:oleObj name="Document" r:id="rId3" imgW="4783127" imgH="3182866" progId="Word.Document.8">
                  <p:embed/>
                  <p:pic>
                    <p:nvPicPr>
                      <p:cNvPr id="0" name=""/>
                      <p:cNvPicPr>
                        <a:picLocks noChangeAspect="1" noChangeArrowheads="1"/>
                      </p:cNvPicPr>
                      <p:nvPr/>
                    </p:nvPicPr>
                    <p:blipFill>
                      <a:blip r:embed="rId4"/>
                      <a:srcRect/>
                      <a:stretch>
                        <a:fillRect/>
                      </a:stretch>
                    </p:blipFill>
                    <p:spPr bwMode="auto">
                      <a:xfrm>
                        <a:off x="969622" y="1751888"/>
                        <a:ext cx="6969617" cy="465745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3129298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1697</Words>
  <Application>Microsoft Office PowerPoint</Application>
  <PresentationFormat>全屏显示(4:3)</PresentationFormat>
  <Paragraphs>249</Paragraphs>
  <Slides>34</Slides>
  <Notes>1</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2</vt:i4>
      </vt:variant>
      <vt:variant>
        <vt:lpstr>幻灯片标题</vt:lpstr>
      </vt:variant>
      <vt:variant>
        <vt:i4>34</vt:i4>
      </vt:variant>
    </vt:vector>
  </HeadingPairs>
  <TitlesOfParts>
    <vt:vector size="43" baseType="lpstr">
      <vt:lpstr>Euphemia</vt:lpstr>
      <vt:lpstr>宋体</vt:lpstr>
      <vt:lpstr>微软雅黑</vt:lpstr>
      <vt:lpstr>Arial</vt:lpstr>
      <vt:lpstr>Times New Roman</vt:lpstr>
      <vt:lpstr>Wingdings</vt:lpstr>
      <vt:lpstr>学术文献 16x9</vt:lpstr>
      <vt:lpstr>文档</vt:lpstr>
      <vt:lpstr>Microsoft Word 97 - 2003 文档</vt:lpstr>
      <vt:lpstr>Compilers</vt:lpstr>
      <vt:lpstr>RUN-TIME Environments</vt:lpstr>
      <vt:lpstr>Outlines</vt:lpstr>
      <vt:lpstr>8.1 Symbol Table</vt:lpstr>
      <vt:lpstr>8.1 Symbol Table-Structure</vt:lpstr>
      <vt:lpstr>8.1 Symbol Table Per Scope</vt:lpstr>
      <vt:lpstr>8.1 Symbol Table Per Scope</vt:lpstr>
      <vt:lpstr>8.1 Symbol Table Per Scope-Implementation</vt:lpstr>
      <vt:lpstr>8.2 Storage Organization</vt:lpstr>
      <vt:lpstr>8.2 Storage Organization</vt:lpstr>
      <vt:lpstr>8.2 Storage Organization</vt:lpstr>
      <vt:lpstr>8.2 Storage Organization</vt:lpstr>
      <vt:lpstr>8.2 Storage Organization</vt:lpstr>
      <vt:lpstr>8.2 Storage Organization</vt:lpstr>
      <vt:lpstr>8.3 Stack Allocation of Space-Activation Trees</vt:lpstr>
      <vt:lpstr>8.3 Stack Allocation of Space-Activation Record</vt:lpstr>
      <vt:lpstr>8.3 Stack Allocation of Space-Activation Record</vt:lpstr>
      <vt:lpstr>8.3 Stack Allocation of Space-Activation Record</vt:lpstr>
      <vt:lpstr>8.3 Stack Allocation of Space-Calling Sequence</vt:lpstr>
      <vt:lpstr>8.3 Stack Allocation of Space-Calling Sequence</vt:lpstr>
      <vt:lpstr>8.3 Stack Allocation of Space-Calling Sequence</vt:lpstr>
      <vt:lpstr>8.3 Stack Allocation of Space-Calling Sequence</vt:lpstr>
      <vt:lpstr>8.4 Fully Static Runtime Environments</vt:lpstr>
      <vt:lpstr>8.4 Fully Static Runtime Environments</vt:lpstr>
      <vt:lpstr>8.4 Fully Static Runtime Environments</vt:lpstr>
      <vt:lpstr>8.4 Fully Static Runtime Environments</vt:lpstr>
      <vt:lpstr>8.5 Stack-Based Runtime Environments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2020-05-24T06:31:40Z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