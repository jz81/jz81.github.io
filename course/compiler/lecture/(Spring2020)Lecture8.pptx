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28"/>
  </p:notesMasterIdLst>
  <p:handoutMasterIdLst>
    <p:handoutMasterId r:id="rId29"/>
  </p:handoutMasterIdLst>
  <p:sldIdLst>
    <p:sldId id="256" r:id="rId5"/>
    <p:sldId id="261" r:id="rId6"/>
    <p:sldId id="278" r:id="rId7"/>
    <p:sldId id="279" r:id="rId8"/>
    <p:sldId id="280" r:id="rId9"/>
    <p:sldId id="281" r:id="rId10"/>
    <p:sldId id="282" r:id="rId11"/>
    <p:sldId id="283" r:id="rId12"/>
    <p:sldId id="284" r:id="rId13"/>
    <p:sldId id="285" r:id="rId14"/>
    <p:sldId id="286" r:id="rId15"/>
    <p:sldId id="287" r:id="rId16"/>
    <p:sldId id="288" r:id="rId17"/>
    <p:sldId id="289" r:id="rId18"/>
    <p:sldId id="290" r:id="rId19"/>
    <p:sldId id="291" r:id="rId20"/>
    <p:sldId id="295" r:id="rId21"/>
    <p:sldId id="294" r:id="rId22"/>
    <p:sldId id="293" r:id="rId23"/>
    <p:sldId id="296" r:id="rId24"/>
    <p:sldId id="297" r:id="rId25"/>
    <p:sldId id="299" r:id="rId26"/>
    <p:sldId id="298" r:id="rId27"/>
  </p:sldIdLst>
  <p:sldSz cx="9144000" cy="6858000" type="screen4x3"/>
  <p:notesSz cx="6858000" cy="9144000"/>
  <p:defaultTextStyle>
    <a:defPPr rtl="0">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showGuides="1">
      <p:cViewPr varScale="1">
        <p:scale>
          <a:sx n="82" d="100"/>
          <a:sy n="82" d="100"/>
        </p:scale>
        <p:origin x="1430" y="77"/>
      </p:cViewPr>
      <p:guideLst>
        <p:guide orient="horz" pos="2160"/>
        <p:guide pos="2880"/>
      </p:guideLst>
    </p:cSldViewPr>
  </p:slideViewPr>
  <p:notesTextViewPr>
    <p:cViewPr>
      <p:scale>
        <a:sx n="1" d="1"/>
        <a:sy n="1" d="1"/>
      </p:scale>
      <p:origin x="0" y="0"/>
    </p:cViewPr>
  </p:notesTextViewPr>
  <p:notesViewPr>
    <p:cSldViewPr snapToGrid="0" showGuides="1">
      <p:cViewPr varScale="1">
        <p:scale>
          <a:sx n="99" d="100"/>
          <a:sy n="99" d="100"/>
        </p:scale>
        <p:origin x="35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presProps" Target="presProp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l" rtl="0">
              <a:defRPr sz="1200"/>
            </a:lvl1pPr>
          </a:lstStyle>
          <a:p>
            <a:pPr algn="r" rtl="0"/>
            <a:fld id="{91C0301E-2321-4F52-B85E-5901506D265C}" type="datetime1">
              <a:rPr lang="zh-CN" altLang="en-US" smtClean="0">
                <a:latin typeface="微软雅黑" panose="020B0503020204020204" pitchFamily="34" charset="-122"/>
                <a:ea typeface="微软雅黑" panose="020B0503020204020204" pitchFamily="34" charset="-122"/>
              </a:rPr>
              <a:pPr algn="r" rtl="0"/>
              <a:t>2020/5/24</a:t>
            </a:fld>
            <a:endParaRPr lang="zh-CN" altLang="en-US" dirty="0">
              <a:latin typeface="微软雅黑" panose="020B0503020204020204" pitchFamily="34" charset="-122"/>
              <a:ea typeface="微软雅黑"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l" rtl="0">
              <a:defRPr sz="1200"/>
            </a:lvl1pPr>
          </a:lstStyle>
          <a:p>
            <a:pPr algn="r" rtl="0"/>
            <a:fld id="{06834459-7356-44BF-850D-8B30C4FB3B6B}" type="slidenum">
              <a:rPr lang="en-US" altLang="zh-CN" smtClean="0">
                <a:latin typeface="微软雅黑" panose="020B0503020204020204" pitchFamily="34" charset="-122"/>
                <a:ea typeface="微软雅黑" panose="020B0503020204020204" pitchFamily="34" charset="-122"/>
              </a:rPr>
              <a:pPr algn="r" rtl="0"/>
              <a:t>‹#›</a:t>
            </a:fld>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690165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rtl="0">
              <a:defRPr sz="1200">
                <a:latin typeface="微软雅黑" panose="020B0503020204020204" pitchFamily="34" charset="-122"/>
                <a:ea typeface="微软雅黑" panose="020B0503020204020204" pitchFamily="34" charset="-122"/>
              </a:defRPr>
            </a:lvl1pPr>
          </a:lstStyle>
          <a:p>
            <a:fld id="{229B22C3-6CB1-491B-AD00-E0837F23A3F3}" type="datetime1">
              <a:rPr lang="zh-CN" altLang="en-US" smtClean="0"/>
              <a:pPr/>
              <a:t>2020/5/24</a:t>
            </a:fld>
            <a:endParaRPr lang="zh-CN" altLang="en-US" dirty="0"/>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pPr rtl="0"/>
            <a:endParaRPr lang="zh-CN" altLang="en-US" noProof="0"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rtl="0">
              <a:defRPr sz="1200">
                <a:latin typeface="微软雅黑" panose="020B0503020204020204" pitchFamily="34" charset="-122"/>
                <a:ea typeface="微软雅黑" panose="020B0503020204020204" pitchFamily="34" charset="-122"/>
              </a:defRPr>
            </a:lvl1pPr>
          </a:lstStyle>
          <a:p>
            <a:fld id="{0A3C37BE-C303-496D-B5CD-85F2937540FC}" type="slidenum">
              <a:rPr lang="en-US" altLang="zh-CN" smtClean="0"/>
              <a:pPr/>
              <a:t>‹#›</a:t>
            </a:fld>
            <a:endParaRPr lang="en-US" altLang="zh-CN" dirty="0"/>
          </a:p>
        </p:txBody>
      </p:sp>
    </p:spTree>
    <p:extLst>
      <p:ext uri="{BB962C8B-B14F-4D97-AF65-F5344CB8AC3E}">
        <p14:creationId xmlns:p14="http://schemas.microsoft.com/office/powerpoint/2010/main" val="3350842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2pPr>
    <a:lvl3pPr marL="9144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3pPr>
    <a:lvl4pPr marL="13716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4pPr>
    <a:lvl5pPr marL="18288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0A3C37BE-C303-496D-B5CD-85F2937540FC}" type="slidenum">
              <a:rPr lang="en-US" altLang="zh-CN" smtClean="0"/>
              <a:pPr/>
              <a:t>1</a:t>
            </a:fld>
            <a:endParaRPr lang="en-US" altLang="zh-CN" dirty="0"/>
          </a:p>
        </p:txBody>
      </p:sp>
    </p:spTree>
    <p:extLst>
      <p:ext uri="{BB962C8B-B14F-4D97-AF65-F5344CB8AC3E}">
        <p14:creationId xmlns:p14="http://schemas.microsoft.com/office/powerpoint/2010/main" val="849057192"/>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2" name="标题 1"/>
          <p:cNvSpPr>
            <a:spLocks noGrp="1"/>
          </p:cNvSpPr>
          <p:nvPr>
            <p:ph type="ctrTitle"/>
          </p:nvPr>
        </p:nvSpPr>
        <p:spPr>
          <a:xfrm>
            <a:off x="828675" y="2292095"/>
            <a:ext cx="7572375" cy="2219691"/>
          </a:xfrm>
        </p:spPr>
        <p:txBody>
          <a:bodyPr rtlCol="0" anchor="ctr">
            <a:normAutofit/>
          </a:bodyPr>
          <a:lstStyle>
            <a:lvl1pPr algn="l" rtl="0">
              <a:defRPr sz="3300" cap="all" baseline="0"/>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4" y="4511785"/>
            <a:ext cx="7572376" cy="955565"/>
          </a:xfrm>
        </p:spPr>
        <p:txBody>
          <a:bodyPr rtlCol="0">
            <a:normAutofit/>
          </a:bodyPr>
          <a:lstStyle>
            <a:lvl1pPr marL="0" indent="0" algn="l" rtl="0">
              <a:spcBef>
                <a:spcPts val="0"/>
              </a:spcBef>
              <a:buNone/>
              <a:defRPr sz="1350"/>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sp>
        <p:nvSpPr>
          <p:cNvPr id="4" name="日期占位符 3"/>
          <p:cNvSpPr>
            <a:spLocks noGrp="1"/>
          </p:cNvSpPr>
          <p:nvPr>
            <p:ph type="dt" sz="half" idx="10"/>
          </p:nvPr>
        </p:nvSpPr>
        <p:spPr/>
        <p:txBody>
          <a:bodyPr rtlCol="0"/>
          <a:lstStyle>
            <a:lvl1pPr>
              <a:defRPr/>
            </a:lvl1pPr>
          </a:lstStyle>
          <a:p>
            <a:fld id="{A7392AAC-879E-4B39-8824-AF6B730A809E}"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pic>
        <p:nvPicPr>
          <p:cNvPr id="11" name="图 10"/>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3334" y="0"/>
            <a:ext cx="1310643" cy="2292094"/>
          </a:xfrm>
          <a:prstGeom prst="rect">
            <a:avLst/>
          </a:prstGeom>
        </p:spPr>
      </p:pic>
    </p:spTree>
    <p:extLst>
      <p:ext uri="{BB962C8B-B14F-4D97-AF65-F5344CB8AC3E}">
        <p14:creationId xmlns:p14="http://schemas.microsoft.com/office/powerpoint/2010/main" val="1659756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9BA78444-6099-4C0A-A3A9-C6F3C5D7F289}"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78687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包含图片的标题幻灯片">
    <p:spTree>
      <p:nvGrpSpPr>
        <p:cNvPr id="1" name=""/>
        <p:cNvGrpSpPr/>
        <p:nvPr/>
      </p:nvGrpSpPr>
      <p:grpSpPr>
        <a:xfrm>
          <a:off x="0" y="0"/>
          <a:ext cx="0" cy="0"/>
          <a:chOff x="0" y="0"/>
          <a:chExt cx="0" cy="0"/>
        </a:xfrm>
      </p:grpSpPr>
      <p:grpSp>
        <p:nvGrpSpPr>
          <p:cNvPr id="13" name="组 12"/>
          <p:cNvGrpSpPr/>
          <p:nvPr/>
        </p:nvGrpSpPr>
        <p:grpSpPr>
          <a:xfrm rot="10800000">
            <a:off x="0" y="5645511"/>
            <a:ext cx="9144000" cy="63125"/>
            <a:chOff x="507492" y="1501519"/>
            <a:chExt cx="8129016" cy="63125"/>
          </a:xfrm>
        </p:grpSpPr>
        <p:cxnSp>
          <p:nvCxnSpPr>
            <p:cNvPr id="17" name="直接连接符 16"/>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14" name="组 13"/>
          <p:cNvGrpSpPr/>
          <p:nvPr/>
        </p:nvGrpSpPr>
        <p:grpSpPr>
          <a:xfrm>
            <a:off x="0" y="1143001"/>
            <a:ext cx="9144000" cy="63125"/>
            <a:chOff x="507492" y="1501519"/>
            <a:chExt cx="8129016" cy="63125"/>
          </a:xfrm>
        </p:grpSpPr>
        <p:cxnSp>
          <p:nvCxnSpPr>
            <p:cNvPr id="15" name="直接连接符​ 14"/>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2" name="标题 1"/>
          <p:cNvSpPr>
            <a:spLocks noGrp="1"/>
          </p:cNvSpPr>
          <p:nvPr>
            <p:ph type="ctrTitle"/>
          </p:nvPr>
        </p:nvSpPr>
        <p:spPr>
          <a:xfrm>
            <a:off x="828675" y="2292095"/>
            <a:ext cx="4300538" cy="2219691"/>
          </a:xfrm>
        </p:spPr>
        <p:txBody>
          <a:bodyPr rtlCol="0" anchor="ctr">
            <a:normAutofit/>
          </a:bodyPr>
          <a:lstStyle>
            <a:lvl1pPr algn="l" rtl="0">
              <a:defRPr sz="3300" cap="all" baseline="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5" y="4511785"/>
            <a:ext cx="4300538" cy="955565"/>
          </a:xfrm>
        </p:spPr>
        <p:txBody>
          <a:bodyPr rtlCol="0">
            <a:normAutofit/>
          </a:bodyPr>
          <a:lstStyle>
            <a:lvl1pPr marL="0" indent="0" algn="l" rtl="0">
              <a:spcBef>
                <a:spcPts val="0"/>
              </a:spcBef>
              <a:buNone/>
              <a:defRPr sz="1350">
                <a:latin typeface="微软雅黑" panose="020B0503020204020204" pitchFamily="34" charset="-122"/>
                <a:ea typeface="微软雅黑" panose="020B0503020204020204" pitchFamily="34" charset="-122"/>
              </a:defRPr>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pic>
        <p:nvPicPr>
          <p:cNvPr id="10" name="图 9"/>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4410" y="0"/>
            <a:ext cx="1310643" cy="2292094"/>
          </a:xfrm>
          <a:prstGeom prst="rect">
            <a:avLst/>
          </a:prstGeom>
        </p:spPr>
      </p:pic>
      <p:sp>
        <p:nvSpPr>
          <p:cNvPr id="11" name="图片占位符 10"/>
          <p:cNvSpPr>
            <a:spLocks noGrp="1"/>
          </p:cNvSpPr>
          <p:nvPr>
            <p:ph type="pic" sz="quarter" idx="13"/>
          </p:nvPr>
        </p:nvSpPr>
        <p:spPr>
          <a:xfrm>
            <a:off x="5235798" y="1310656"/>
            <a:ext cx="3908203" cy="4208604"/>
          </a:xfrm>
          <a:solidFill>
            <a:schemeClr val="tx1">
              <a:lumMod val="20000"/>
              <a:lumOff val="80000"/>
            </a:schemeClr>
          </a:solidFill>
        </p:spPr>
        <p:txBody>
          <a:bodyPr tIns="1005840" rtlCol="0"/>
          <a:lstStyle>
            <a:lvl1pPr marL="0" indent="0" algn="ctr" rtl="0">
              <a:buNone/>
              <a:defRPr>
                <a:latin typeface="微软雅黑" panose="020B0503020204020204" pitchFamily="34" charset="-122"/>
                <a:ea typeface="微软雅黑" panose="020B0503020204020204" pitchFamily="34" charset="-122"/>
              </a:defRPr>
            </a:lvl1pPr>
          </a:lstStyle>
          <a:p>
            <a:pPr rtl="0"/>
            <a:r>
              <a:rPr lang="zh-CN" altLang="en-US" noProof="0"/>
              <a:t>单击图标添加图片</a:t>
            </a:r>
            <a:endParaRPr lang="zh-CN" altLang="en-US" noProof="0" dirty="0"/>
          </a:p>
        </p:txBody>
      </p:sp>
      <p:sp>
        <p:nvSpPr>
          <p:cNvPr id="19" name="说明文字"/>
          <p:cNvSpPr/>
          <p:nvPr/>
        </p:nvSpPr>
        <p:spPr>
          <a:xfrm>
            <a:off x="9258300" y="0"/>
            <a:ext cx="971550" cy="6858000"/>
          </a:xfrm>
          <a:prstGeom prst="roundRect">
            <a:avLst>
              <a:gd name="adj" fmla="val 9717"/>
            </a:avLst>
          </a:prstGeom>
          <a:solidFill>
            <a:srgbClr val="A6A6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rtl="0"/>
            <a:r>
              <a:rPr lang="zh-CN" altLang="en-US" sz="900" b="1" i="1" noProof="0" dirty="0">
                <a:latin typeface="微软雅黑" panose="020B0503020204020204" pitchFamily="34" charset="-122"/>
                <a:ea typeface="微软雅黑" panose="020B0503020204020204" pitchFamily="34" charset="-122"/>
                <a:cs typeface="Arial" pitchFamily="34" charset="0"/>
              </a:rPr>
              <a:t>注意：</a:t>
            </a:r>
          </a:p>
          <a:p>
            <a:pPr rtl="0"/>
            <a:r>
              <a:rPr lang="zh-CN" altLang="en-US" sz="900" i="1" noProof="0" dirty="0">
                <a:latin typeface="微软雅黑" panose="020B0503020204020204" pitchFamily="34" charset="-122"/>
                <a:ea typeface="微软雅黑" panose="020B0503020204020204" pitchFamily="34" charset="-122"/>
                <a:cs typeface="Arial" pitchFamily="34" charset="0"/>
              </a:rPr>
              <a:t>若要更改此幻灯片上的图像，请选择该图片，并将其删除。然后单击占位符中的图片图标以插入自己的图像。</a:t>
            </a:r>
          </a:p>
        </p:txBody>
      </p:sp>
    </p:spTree>
    <p:extLst>
      <p:ext uri="{BB962C8B-B14F-4D97-AF65-F5344CB8AC3E}">
        <p14:creationId xmlns:p14="http://schemas.microsoft.com/office/powerpoint/2010/main" val="2673943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grpSp>
        <p:nvGrpSpPr>
          <p:cNvPr id="8" name="组 7"/>
          <p:cNvGrpSpPr/>
          <p:nvPr/>
        </p:nvGrpSpPr>
        <p:grpSpPr>
          <a:xfrm>
            <a:off x="0" y="2514601"/>
            <a:ext cx="9144000" cy="3194035"/>
            <a:chOff x="647402" y="2514600"/>
            <a:chExt cx="10838688" cy="3194035"/>
          </a:xfrm>
        </p:grpSpPr>
        <p:grpSp>
          <p:nvGrpSpPr>
            <p:cNvPr id="9" name="组 8"/>
            <p:cNvGrpSpPr/>
            <p:nvPr/>
          </p:nvGrpSpPr>
          <p:grpSpPr>
            <a:xfrm>
              <a:off x="647402" y="2514600"/>
              <a:ext cx="10838688" cy="63125"/>
              <a:chOff x="507492" y="1501519"/>
              <a:chExt cx="8129016" cy="63125"/>
            </a:xfrm>
          </p:grpSpPr>
          <p:cxnSp>
            <p:nvCxnSpPr>
              <p:cNvPr id="14" name="直接连接符 13"/>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10" name="矩形 9"/>
            <p:cNvSpPr/>
            <p:nvPr/>
          </p:nvSpPr>
          <p:spPr>
            <a:xfrm>
              <a:off x="647402" y="2640850"/>
              <a:ext cx="10838688" cy="294153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grpSp>
          <p:nvGrpSpPr>
            <p:cNvPr id="11" name="组 10"/>
            <p:cNvGrpSpPr/>
            <p:nvPr/>
          </p:nvGrpSpPr>
          <p:grpSpPr>
            <a:xfrm rot="10800000">
              <a:off x="647402" y="5645510"/>
              <a:ext cx="10838688" cy="63125"/>
              <a:chOff x="507492" y="1501519"/>
              <a:chExt cx="8129016" cy="63125"/>
            </a:xfrm>
          </p:grpSpPr>
          <p:cxnSp>
            <p:nvCxnSpPr>
              <p:cNvPr id="12" name="直接连接符​ 11"/>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sp>
        <p:nvSpPr>
          <p:cNvPr id="2" name="标题 1"/>
          <p:cNvSpPr>
            <a:spLocks noGrp="1"/>
          </p:cNvSpPr>
          <p:nvPr>
            <p:ph type="title"/>
          </p:nvPr>
        </p:nvSpPr>
        <p:spPr>
          <a:xfrm>
            <a:off x="828675" y="2971806"/>
            <a:ext cx="7553324" cy="1684150"/>
          </a:xfrm>
        </p:spPr>
        <p:txBody>
          <a:bodyPr rtlCol="0" anchor="ctr">
            <a:normAutofit/>
          </a:bodyPr>
          <a:lstStyle>
            <a:lvl1pPr algn="l" rtl="0">
              <a:defRPr sz="3300" cap="all" baseline="0">
                <a:solidFill>
                  <a:schemeClr val="bg1"/>
                </a:solidFill>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4655956"/>
            <a:ext cx="7553324" cy="509750"/>
          </a:xfrm>
        </p:spPr>
        <p:txBody>
          <a:bodyPr rtlCol="0">
            <a:normAutofit/>
          </a:bodyPr>
          <a:lstStyle>
            <a:lvl1pPr marL="0" indent="0" algn="l" rtl="0">
              <a:spcBef>
                <a:spcPts val="0"/>
              </a:spcBef>
              <a:buNone/>
              <a:defRPr sz="1200">
                <a:solidFill>
                  <a:schemeClr val="bg1"/>
                </a:solidFill>
                <a:latin typeface="微软雅黑" panose="020B0503020204020204" pitchFamily="34" charset="-122"/>
                <a:ea typeface="微软雅黑" panose="020B0503020204020204" pitchFamily="34" charset="-122"/>
              </a:defRPr>
            </a:lvl1pPr>
            <a:lvl2pPr marL="342900" indent="0" algn="l" rtl="0">
              <a:buNone/>
              <a:defRPr sz="1500">
                <a:solidFill>
                  <a:schemeClr val="tx1">
                    <a:tint val="75000"/>
                  </a:schemeClr>
                </a:solidFill>
              </a:defRPr>
            </a:lvl2pPr>
            <a:lvl3pPr marL="685800" indent="0" algn="l" rtl="0">
              <a:buNone/>
              <a:defRPr sz="1350">
                <a:solidFill>
                  <a:schemeClr val="tx1">
                    <a:tint val="75000"/>
                  </a:schemeClr>
                </a:solidFill>
              </a:defRPr>
            </a:lvl3pPr>
            <a:lvl4pPr marL="1028700" indent="0" algn="l" rtl="0">
              <a:buNone/>
              <a:defRPr sz="1200">
                <a:solidFill>
                  <a:schemeClr val="tx1">
                    <a:tint val="75000"/>
                  </a:schemeClr>
                </a:solidFill>
              </a:defRPr>
            </a:lvl4pPr>
            <a:lvl5pPr marL="1371600" indent="0" algn="l" rtl="0">
              <a:buNone/>
              <a:defRPr sz="1200">
                <a:solidFill>
                  <a:schemeClr val="tx1">
                    <a:tint val="75000"/>
                  </a:schemeClr>
                </a:solidFill>
              </a:defRPr>
            </a:lvl5pPr>
            <a:lvl6pPr marL="1714500" indent="0" algn="l" rtl="0">
              <a:buNone/>
              <a:defRPr sz="1200">
                <a:solidFill>
                  <a:schemeClr val="tx1">
                    <a:tint val="75000"/>
                  </a:schemeClr>
                </a:solidFill>
              </a:defRPr>
            </a:lvl6pPr>
            <a:lvl7pPr marL="2057400" indent="0" algn="l" rtl="0">
              <a:buNone/>
              <a:defRPr sz="1200">
                <a:solidFill>
                  <a:schemeClr val="tx1">
                    <a:tint val="75000"/>
                  </a:schemeClr>
                </a:solidFill>
              </a:defRPr>
            </a:lvl7pPr>
            <a:lvl8pPr marL="2400300" indent="0" algn="l" rtl="0">
              <a:buNone/>
              <a:defRPr sz="1200">
                <a:solidFill>
                  <a:schemeClr val="tx1">
                    <a:tint val="75000"/>
                  </a:schemeClr>
                </a:solidFill>
              </a:defRPr>
            </a:lvl8pPr>
            <a:lvl9pPr marL="2743200" indent="0" algn="l" rtl="0">
              <a:buNone/>
              <a:defRPr sz="1200">
                <a:solidFill>
                  <a:schemeClr val="tx1">
                    <a:tint val="75000"/>
                  </a:schemeClr>
                </a:solidFill>
              </a:defRPr>
            </a:lvl9pPr>
          </a:lstStyle>
          <a:p>
            <a:pPr lvl="0" rtl="0"/>
            <a:r>
              <a:rPr lang="zh-CN" altLang="en-US" noProof="0"/>
              <a:t>编辑母版文本样式</a:t>
            </a:r>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AF5F6A19-70BF-4380-9A40-68C9536408C6}"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pic>
        <p:nvPicPr>
          <p:cNvPr id="7" name="图 6"/>
          <p:cNvPicPr>
            <a:picLocks noChangeAspect="1"/>
          </p:cNvPicPr>
          <p:nvPr/>
        </p:nvPicPr>
        <p:blipFill>
          <a:blip r:embed="rId2"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994410" y="0"/>
            <a:ext cx="1337391" cy="2971806"/>
          </a:xfrm>
          <a:prstGeom prst="rect">
            <a:avLst/>
          </a:prstGeom>
        </p:spPr>
      </p:pic>
    </p:spTree>
    <p:extLst>
      <p:ext uri="{BB962C8B-B14F-4D97-AF65-F5344CB8AC3E}">
        <p14:creationId xmlns:p14="http://schemas.microsoft.com/office/powerpoint/2010/main" val="360267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sz="half" idx="1"/>
          </p:nvPr>
        </p:nvSpPr>
        <p:spPr>
          <a:xfrm>
            <a:off x="828675"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vl9pPr algn="l" rtl="0">
              <a:defRPr/>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内容占位符 3"/>
          <p:cNvSpPr>
            <a:spLocks noGrp="1"/>
          </p:cNvSpPr>
          <p:nvPr>
            <p:ph sz="half" idx="2"/>
          </p:nvPr>
        </p:nvSpPr>
        <p:spPr>
          <a:xfrm>
            <a:off x="4629150"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r>
              <a:rPr lang="zh-CN" altLang="en-US" dirty="0"/>
              <a:t>​</a:t>
            </a:r>
            <a:fld id="{6017EB90-196C-4C15-BD31-13E0E0436C73}" type="datetime1">
              <a:rPr lang="zh-CN" altLang="en-US" smtClean="0"/>
              <a:pPr/>
              <a:t>2020/5/24</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527791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4" name="内容占位符 3"/>
          <p:cNvSpPr>
            <a:spLocks noGrp="1"/>
          </p:cNvSpPr>
          <p:nvPr>
            <p:ph sz="half" idx="2"/>
          </p:nvPr>
        </p:nvSpPr>
        <p:spPr>
          <a:xfrm>
            <a:off x="828675"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文本占位符 4"/>
          <p:cNvSpPr>
            <a:spLocks noGrp="1"/>
          </p:cNvSpPr>
          <p:nvPr>
            <p:ph type="body" sz="quarter" idx="3"/>
          </p:nvPr>
        </p:nvSpPr>
        <p:spPr>
          <a:xfrm>
            <a:off x="4624583"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6" name="内容占位符 5"/>
          <p:cNvSpPr>
            <a:spLocks noGrp="1"/>
          </p:cNvSpPr>
          <p:nvPr>
            <p:ph sz="quarter" idx="4"/>
          </p:nvPr>
        </p:nvSpPr>
        <p:spPr>
          <a:xfrm>
            <a:off x="4624583"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7" name="日期占位符 6"/>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C2EC0F41-B48F-4298-A7F6-618EB9D22195}" type="datetime1">
              <a:rPr lang="zh-CN" altLang="en-US" smtClean="0"/>
              <a:pPr/>
              <a:t>2020/5/24</a:t>
            </a:fld>
            <a:endParaRPr lang="zh-CN" altLang="en-US" dirty="0"/>
          </a:p>
        </p:txBody>
      </p:sp>
      <p:sp>
        <p:nvSpPr>
          <p:cNvPr id="8" name="页脚占位符 7"/>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9" name="灯片编号占位符 8"/>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9710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日期占位符 2"/>
          <p:cNvSpPr>
            <a:spLocks noGrp="1"/>
          </p:cNvSpPr>
          <p:nvPr>
            <p:ph type="dt" sz="half" idx="10"/>
          </p:nvPr>
        </p:nvSpPr>
        <p:spPr/>
        <p:txBody>
          <a:bodyPr rtlCol="0"/>
          <a:lstStyle>
            <a:lvl1pPr>
              <a:defRPr/>
            </a:lvl1pPr>
          </a:lstStyle>
          <a:p>
            <a:fld id="{7DB2D836-56E8-4B15-857C-14B1A5B3B67B}" type="datetime1">
              <a:rPr lang="zh-CN" altLang="en-US" smtClean="0"/>
              <a:pPr/>
              <a:t>2020/5/24</a:t>
            </a:fld>
            <a:endParaRPr lang="zh-CN" altLang="en-US" dirty="0"/>
          </a:p>
        </p:txBody>
      </p:sp>
      <p:sp>
        <p:nvSpPr>
          <p:cNvPr id="4" name="页脚占位符 3"/>
          <p:cNvSpPr>
            <a:spLocks noGrp="1"/>
          </p:cNvSpPr>
          <p:nvPr>
            <p:ph type="ftr" sz="quarter" idx="11"/>
          </p:nvPr>
        </p:nvSpPr>
        <p:spPr/>
        <p:txBody>
          <a:bodyPr rtlCol="0"/>
          <a:lstStyle/>
          <a:p>
            <a:pPr rtl="0"/>
            <a:endParaRPr lang="zh-CN" altLang="en-US" noProof="0" dirty="0"/>
          </a:p>
        </p:txBody>
      </p:sp>
      <p:sp>
        <p:nvSpPr>
          <p:cNvPr id="5" name="灯片编号占位符 4"/>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1758111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rtlCol="0"/>
          <a:lstStyle>
            <a:lvl1pPr>
              <a:defRPr/>
            </a:lvl1pPr>
          </a:lstStyle>
          <a:p>
            <a:fld id="{038D929F-7D8C-4CC3-8AC7-BB9B8FE2DEBF}" type="datetime1">
              <a:rPr lang="zh-CN" altLang="en-US" smtClean="0"/>
              <a:pPr/>
              <a:t>2020/5/24</a:t>
            </a:fld>
            <a:endParaRPr lang="zh-CN" altLang="en-US" dirty="0"/>
          </a:p>
        </p:txBody>
      </p:sp>
      <p:sp>
        <p:nvSpPr>
          <p:cNvPr id="3" name="页脚占位符 2"/>
          <p:cNvSpPr>
            <a:spLocks noGrp="1"/>
          </p:cNvSpPr>
          <p:nvPr>
            <p:ph type="ftr" sz="quarter" idx="11"/>
          </p:nvPr>
        </p:nvSpPr>
        <p:spPr/>
        <p:txBody>
          <a:bodyPr rtlCol="0"/>
          <a:lstStyle/>
          <a:p>
            <a:pPr rtl="0"/>
            <a:endParaRPr lang="zh-CN" altLang="en-US" noProof="0" dirty="0"/>
          </a:p>
        </p:txBody>
      </p:sp>
      <p:sp>
        <p:nvSpPr>
          <p:cNvPr id="4" name="灯片编号占位符 3"/>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024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带题注的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a:xfrm>
            <a:off x="4231386" y="1600200"/>
            <a:ext cx="4083939" cy="4572001"/>
          </a:xfrm>
        </p:spPr>
        <p:txBody>
          <a:bodyPr rtlCol="0">
            <a:normAutofit/>
          </a:bodyPr>
          <a:lstStyle>
            <a:lvl1pPr algn="l" rtl="0">
              <a:defRPr sz="1500"/>
            </a:lvl1pPr>
            <a:lvl2pPr algn="l" rtl="0">
              <a:defRPr sz="1200"/>
            </a:lvl2pPr>
            <a:lvl3pPr algn="l" rtl="0">
              <a:defRPr sz="1200"/>
            </a:lvl3pPr>
            <a:lvl4pPr algn="l" rtl="0">
              <a:defRPr sz="1050"/>
            </a:lvl4pPr>
            <a:lvl5pPr algn="l" rtl="0">
              <a:defRPr sz="1050"/>
            </a:lvl5pPr>
            <a:lvl6pPr algn="l" rtl="0">
              <a:defRPr sz="1050"/>
            </a:lvl6pPr>
            <a:lvl7pPr algn="l" rtl="0">
              <a:defRPr sz="1050"/>
            </a:lvl7pPr>
            <a:lvl8pPr algn="l" rtl="0">
              <a:defRPr sz="1050"/>
            </a:lvl8pPr>
            <a:lvl9pPr algn="l" rtl="0">
              <a:defRPr sz="1050"/>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文本占位符 3"/>
          <p:cNvSpPr>
            <a:spLocks noGrp="1"/>
          </p:cNvSpPr>
          <p:nvPr>
            <p:ph type="body" sz="half" idx="2"/>
          </p:nvPr>
        </p:nvSpPr>
        <p:spPr>
          <a:xfrm>
            <a:off x="828675" y="1600200"/>
            <a:ext cx="3288411" cy="4572000"/>
          </a:xfrm>
        </p:spPr>
        <p:txBody>
          <a:bodyPr rtlCol="0">
            <a:normAutofit/>
          </a:bodyPr>
          <a:lstStyle>
            <a:lvl1pPr marL="0" indent="0" algn="l" rtl="0">
              <a:spcBef>
                <a:spcPts val="900"/>
              </a:spcBef>
              <a:buNone/>
              <a:defRPr sz="1350"/>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vl1pPr>
          </a:lstStyle>
          <a:p>
            <a:fld id="{F7892ACC-8BC8-4C9E-9D2B-0669DA5038B6}" type="datetime1">
              <a:rPr lang="zh-CN" altLang="en-US" smtClean="0"/>
              <a:pPr/>
              <a:t>2020/5/24</a:t>
            </a:fld>
            <a:endParaRPr lang="zh-CN" altLang="en-US" dirty="0"/>
          </a:p>
        </p:txBody>
      </p:sp>
      <p:sp>
        <p:nvSpPr>
          <p:cNvPr id="6" name="页脚占位符 5"/>
          <p:cNvSpPr>
            <a:spLocks noGrp="1"/>
          </p:cNvSpPr>
          <p:nvPr>
            <p:ph type="ftr" sz="quarter" idx="11"/>
          </p:nvPr>
        </p:nvSpPr>
        <p:spPr/>
        <p:txBody>
          <a:bodyPr rtlCol="0"/>
          <a:lstStyle/>
          <a:p>
            <a:pPr rtl="0"/>
            <a:endParaRPr lang="zh-CN" altLang="en-US" noProof="0" dirty="0"/>
          </a:p>
        </p:txBody>
      </p:sp>
      <p:sp>
        <p:nvSpPr>
          <p:cNvPr id="7" name="灯片编号占位符 6"/>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769764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带题注的图片">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图片占位符 2"/>
          <p:cNvSpPr>
            <a:spLocks noGrp="1"/>
          </p:cNvSpPr>
          <p:nvPr>
            <p:ph type="pic" idx="1"/>
          </p:nvPr>
        </p:nvSpPr>
        <p:spPr>
          <a:xfrm>
            <a:off x="3491003" y="1600200"/>
            <a:ext cx="4823184" cy="4572001"/>
          </a:xfrm>
        </p:spPr>
        <p:txBody>
          <a:bodyPr tIns="1188720" rtlCol="0">
            <a:normAutofit/>
          </a:bodyPr>
          <a:lstStyle>
            <a:lvl1pPr marL="0" indent="0" algn="ctr" rtl="0">
              <a:buNone/>
              <a:defRPr sz="1500">
                <a:latin typeface="微软雅黑" panose="020B0503020204020204" pitchFamily="34" charset="-122"/>
                <a:ea typeface="微软雅黑" panose="020B0503020204020204" pitchFamily="34" charset="-122"/>
              </a:defRPr>
            </a:lvl1pPr>
            <a:lvl2pPr marL="342900" indent="0" algn="l" rtl="0">
              <a:buNone/>
              <a:defRPr sz="2100"/>
            </a:lvl2pPr>
            <a:lvl3pPr marL="685800" indent="0" algn="l" rtl="0">
              <a:buNone/>
              <a:defRPr sz="1800"/>
            </a:lvl3pPr>
            <a:lvl4pPr marL="1028700" indent="0" algn="l" rtl="0">
              <a:buNone/>
              <a:defRPr sz="1500"/>
            </a:lvl4pPr>
            <a:lvl5pPr marL="1371600" indent="0" algn="l" rtl="0">
              <a:buNone/>
              <a:defRPr sz="1500"/>
            </a:lvl5pPr>
            <a:lvl6pPr marL="1714500" indent="0" algn="l" rtl="0">
              <a:buNone/>
              <a:defRPr sz="1500"/>
            </a:lvl6pPr>
            <a:lvl7pPr marL="2057400" indent="0" algn="l" rtl="0">
              <a:buNone/>
              <a:defRPr sz="1500"/>
            </a:lvl7pPr>
            <a:lvl8pPr marL="2400300" indent="0" algn="l" rtl="0">
              <a:buNone/>
              <a:defRPr sz="1500"/>
            </a:lvl8pPr>
            <a:lvl9pPr marL="2743200" indent="0" algn="l" rtl="0">
              <a:buNone/>
              <a:defRPr sz="1500"/>
            </a:lvl9pPr>
          </a:lstStyle>
          <a:p>
            <a:pPr rtl="0"/>
            <a:r>
              <a:rPr lang="zh-CN" altLang="en-US" noProof="0"/>
              <a:t>单击图标添加图片</a:t>
            </a:r>
            <a:endParaRPr lang="zh-CN" altLang="en-US" noProof="0" dirty="0"/>
          </a:p>
        </p:txBody>
      </p:sp>
      <p:sp>
        <p:nvSpPr>
          <p:cNvPr id="4" name="文本占位符 3"/>
          <p:cNvSpPr>
            <a:spLocks noGrp="1"/>
          </p:cNvSpPr>
          <p:nvPr>
            <p:ph type="body" sz="half" idx="2"/>
          </p:nvPr>
        </p:nvSpPr>
        <p:spPr>
          <a:xfrm>
            <a:off x="828675" y="1600200"/>
            <a:ext cx="2547747" cy="4572000"/>
          </a:xfrm>
        </p:spPr>
        <p:txBody>
          <a:bodyPr rtlCol="0">
            <a:normAutofit/>
          </a:bodyPr>
          <a:lstStyle>
            <a:lvl1pPr marL="0" indent="0" algn="l" rtl="0">
              <a:spcBef>
                <a:spcPts val="900"/>
              </a:spcBef>
              <a:buNone/>
              <a:defRPr sz="1350">
                <a:latin typeface="微软雅黑" panose="020B0503020204020204" pitchFamily="34" charset="-122"/>
                <a:ea typeface="微软雅黑" panose="020B0503020204020204" pitchFamily="34" charset="-122"/>
              </a:defRPr>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7118C275-B304-48F5-8C4F-015CBCF4E7C1}" type="datetime1">
              <a:rPr lang="zh-CN" altLang="en-US" smtClean="0"/>
              <a:pPr/>
              <a:t>2020/5/24</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769637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8791AA9-DDCB-4BA8-AD1D-963A3AA00622}"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2012076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垂直排列标题与文本">
    <p:spTree>
      <p:nvGrpSpPr>
        <p:cNvPr id="1" name=""/>
        <p:cNvGrpSpPr/>
        <p:nvPr/>
      </p:nvGrpSpPr>
      <p:grpSpPr>
        <a:xfrm>
          <a:off x="0" y="0"/>
          <a:ext cx="0" cy="0"/>
          <a:chOff x="0" y="0"/>
          <a:chExt cx="0" cy="0"/>
        </a:xfrm>
      </p:grpSpPr>
      <p:sp>
        <p:nvSpPr>
          <p:cNvPr id="2" name="垂直标题 1"/>
          <p:cNvSpPr>
            <a:spLocks noGrp="1"/>
          </p:cNvSpPr>
          <p:nvPr>
            <p:ph type="title" orient="vert"/>
          </p:nvPr>
        </p:nvSpPr>
        <p:spPr>
          <a:xfrm>
            <a:off x="7029450" y="365125"/>
            <a:ext cx="1285875" cy="5811838"/>
          </a:xfrm>
        </p:spPr>
        <p:txBody>
          <a:bodyPr vert="eaVert"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a:xfrm>
            <a:off x="828675" y="365125"/>
            <a:ext cx="6074172" cy="5811838"/>
          </a:xfrm>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170426F-E661-472B-BE42-25E072CD46D9}"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grpSp>
        <p:nvGrpSpPr>
          <p:cNvPr id="7" name="组 6"/>
          <p:cNvGrpSpPr/>
          <p:nvPr/>
        </p:nvGrpSpPr>
        <p:grpSpPr>
          <a:xfrm rot="5400000">
            <a:off x="4181447" y="3239394"/>
            <a:ext cx="5632704" cy="63302"/>
            <a:chOff x="1073150" y="1219201"/>
            <a:chExt cx="10058400" cy="63125"/>
          </a:xfrm>
        </p:grpSpPr>
        <p:cxnSp>
          <p:nvCxnSpPr>
            <p:cNvPr id="8" name="直接连接符 7"/>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45927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28675" y="76200"/>
            <a:ext cx="7485512" cy="1096962"/>
          </a:xfrm>
          <a:prstGeom prst="rect">
            <a:avLst/>
          </a:prstGeom>
        </p:spPr>
        <p:txBody>
          <a:bodyPr vert="horz" lIns="0" tIns="45720" rIns="0" bIns="45720" rtlCol="0" anchor="b">
            <a:normAutofit/>
          </a:bodyPr>
          <a:lstStyle/>
          <a:p>
            <a:pPr rtl="0"/>
            <a:r>
              <a:rPr lang="zh-CN" altLang="en-US" noProof="0" dirty="0"/>
              <a:t>单击此处编辑母版标题样式</a:t>
            </a:r>
          </a:p>
        </p:txBody>
      </p:sp>
      <p:sp>
        <p:nvSpPr>
          <p:cNvPr id="3" name="文本占位符 2"/>
          <p:cNvSpPr>
            <a:spLocks noGrp="1"/>
          </p:cNvSpPr>
          <p:nvPr>
            <p:ph type="body" idx="1"/>
          </p:nvPr>
        </p:nvSpPr>
        <p:spPr>
          <a:xfrm>
            <a:off x="828675" y="1600200"/>
            <a:ext cx="7486650" cy="4572000"/>
          </a:xfrm>
          <a:prstGeom prst="rect">
            <a:avLst/>
          </a:prstGeom>
        </p:spPr>
        <p:txBody>
          <a:bodyPr vert="horz" lIns="0" tIns="45720" rIns="0" bIns="45720" rtlCol="0">
            <a:normAutofit/>
          </a:bodyPr>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a:p>
            <a:pPr lvl="5" rtl="0"/>
            <a:r>
              <a:rPr lang="zh-CN" altLang="en-US" noProof="0" dirty="0"/>
              <a:t>第六级</a:t>
            </a:r>
          </a:p>
          <a:p>
            <a:pPr lvl="6" rtl="0"/>
            <a:r>
              <a:rPr lang="zh-CN" altLang="en-US" noProof="0" dirty="0"/>
              <a:t>第七级</a:t>
            </a:r>
          </a:p>
          <a:p>
            <a:pPr lvl="7" rtl="0"/>
            <a:r>
              <a:rPr lang="zh-CN" altLang="en-US" noProof="0" dirty="0"/>
              <a:t>第八级</a:t>
            </a:r>
          </a:p>
          <a:p>
            <a:pPr lvl="8" rtl="0"/>
            <a:r>
              <a:rPr lang="zh-CN" altLang="en-US" noProof="0" dirty="0"/>
              <a:t>第九级</a:t>
            </a:r>
          </a:p>
        </p:txBody>
      </p:sp>
      <p:sp>
        <p:nvSpPr>
          <p:cNvPr id="4" name="日期占位符 3"/>
          <p:cNvSpPr>
            <a:spLocks noGrp="1"/>
          </p:cNvSpPr>
          <p:nvPr>
            <p:ph type="dt" sz="half" idx="2"/>
          </p:nvPr>
        </p:nvSpPr>
        <p:spPr>
          <a:xfrm>
            <a:off x="828675" y="6356352"/>
            <a:ext cx="1372169"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r>
              <a:rPr lang="zh-CN" altLang="en-US" dirty="0"/>
              <a:t>​</a:t>
            </a:r>
            <a:fld id="{660B6A15-7713-4A08-BBFD-F297CCC2B976}" type="datetime1">
              <a:rPr lang="zh-CN" altLang="en-US" smtClean="0"/>
              <a:pPr/>
              <a:t>2020/5/24</a:t>
            </a:fld>
            <a:r>
              <a:rPr lang="zh-CN" altLang="en-US" dirty="0"/>
              <a:t>​</a:t>
            </a:r>
          </a:p>
        </p:txBody>
      </p:sp>
      <p:sp>
        <p:nvSpPr>
          <p:cNvPr id="5" name="页脚占位符 4"/>
          <p:cNvSpPr>
            <a:spLocks noGrp="1"/>
          </p:cNvSpPr>
          <p:nvPr>
            <p:ph type="ftr" sz="quarter" idx="3"/>
          </p:nvPr>
        </p:nvSpPr>
        <p:spPr>
          <a:xfrm>
            <a:off x="2200844" y="6356350"/>
            <a:ext cx="4742312" cy="365126"/>
          </a:xfrm>
          <a:prstGeom prst="rect">
            <a:avLst/>
          </a:prstGeom>
        </p:spPr>
        <p:txBody>
          <a:bodyPr vert="horz" lIns="0" tIns="45720" rIns="0" bIns="45720" rtlCol="0" anchor="ctr"/>
          <a:lstStyle>
            <a:lvl1pPr algn="ctr"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endParaRPr lang="zh-CN" altLang="en-US" noProof="0" dirty="0"/>
          </a:p>
        </p:txBody>
      </p:sp>
      <p:sp>
        <p:nvSpPr>
          <p:cNvPr id="6" name="幻灯片编号占位符 5"/>
          <p:cNvSpPr>
            <a:spLocks noGrp="1"/>
          </p:cNvSpPr>
          <p:nvPr>
            <p:ph type="sldNum" sz="quarter" idx="4"/>
          </p:nvPr>
        </p:nvSpPr>
        <p:spPr>
          <a:xfrm>
            <a:off x="6942587" y="6356352"/>
            <a:ext cx="1371600"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pPr algn="r"/>
            <a:fld id="{0FF54DE5-C571-48E8-A5BC-B369434E2F44}" type="slidenum">
              <a:rPr lang="en-US" altLang="zh-CN" noProof="0" smtClean="0"/>
              <a:pPr algn="r"/>
              <a:t>‹#›</a:t>
            </a:fld>
            <a:endParaRPr lang="zh-CN" altLang="en-US" noProof="0" dirty="0"/>
          </a:p>
        </p:txBody>
      </p:sp>
      <p:grpSp>
        <p:nvGrpSpPr>
          <p:cNvPr id="15" name="组 14"/>
          <p:cNvGrpSpPr/>
          <p:nvPr/>
        </p:nvGrpSpPr>
        <p:grpSpPr>
          <a:xfrm>
            <a:off x="827532" y="1219202"/>
            <a:ext cx="7488936" cy="84403"/>
            <a:chOff x="1073150" y="1219201"/>
            <a:chExt cx="10058400" cy="63125"/>
          </a:xfrm>
        </p:grpSpPr>
        <p:cxnSp>
          <p:nvCxnSpPr>
            <p:cNvPr id="13" name="直接连接符​​ 12"/>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46251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rtl="0" eaLnBrk="1" latinLnBrk="0" hangingPunct="1">
        <a:lnSpc>
          <a:spcPct val="90000"/>
        </a:lnSpc>
        <a:spcBef>
          <a:spcPct val="0"/>
        </a:spcBef>
        <a:buNone/>
        <a:defRPr sz="2100" kern="1200">
          <a:solidFill>
            <a:schemeClr val="tx1"/>
          </a:solidFill>
          <a:latin typeface="微软雅黑" panose="020B0503020204020204" pitchFamily="34" charset="-122"/>
          <a:ea typeface="微软雅黑" panose="020B0503020204020204" pitchFamily="34" charset="-122"/>
          <a:cs typeface="+mj-cs"/>
        </a:defRPr>
      </a:lvl1pPr>
    </p:titleStyle>
    <p:body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p:bodyStyle>
    <p:otherStyle>
      <a:defPPr>
        <a:defRP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2" userDrawn="1">
          <p15:clr>
            <a:srgbClr val="F26B43"/>
          </p15:clr>
        </p15:guide>
        <p15:guide id="2" pos="5238" userDrawn="1">
          <p15:clr>
            <a:srgbClr val="F26B43"/>
          </p15:clr>
        </p15:guide>
        <p15:guide id="3" orient="horz" pos="1008" userDrawn="1">
          <p15:clr>
            <a:srgbClr val="F26B43"/>
          </p15:clr>
        </p15:guide>
        <p15:guide id="4"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ctrTitle"/>
          </p:nvPr>
        </p:nvSpPr>
        <p:spPr>
          <a:xfrm>
            <a:off x="828675" y="2576321"/>
            <a:ext cx="4300538" cy="1664768"/>
          </a:xfrm>
        </p:spPr>
        <p:txBody>
          <a:bodyPr rtlCol="0" anchor="ctr"/>
          <a:lstStyle/>
          <a:p>
            <a:pPr rtl="0"/>
            <a:r>
              <a:rPr lang="en-US" altLang="zh-CN" dirty="0"/>
              <a:t>Compilers</a:t>
            </a:r>
            <a:endParaRPr lang="en-US" dirty="0">
              <a:latin typeface="微软雅黑" panose="020B0503020204020204" pitchFamily="34" charset="-122"/>
              <a:ea typeface="微软雅黑" panose="020B0503020204020204" pitchFamily="34" charset="-122"/>
            </a:endParaRPr>
          </a:p>
        </p:txBody>
      </p:sp>
      <p:sp>
        <p:nvSpPr>
          <p:cNvPr id="7" name="副标题 6"/>
          <p:cNvSpPr>
            <a:spLocks noGrp="1"/>
          </p:cNvSpPr>
          <p:nvPr>
            <p:ph type="subTitle" idx="1"/>
          </p:nvPr>
        </p:nvSpPr>
        <p:spPr>
          <a:xfrm>
            <a:off x="828675" y="3879543"/>
            <a:ext cx="4300538" cy="1473692"/>
          </a:xfrm>
        </p:spPr>
        <p:txBody>
          <a:bodyPr rtlCol="0">
            <a:normAutofit/>
          </a:bodyPr>
          <a:lstStyle/>
          <a:p>
            <a:pPr rtl="0"/>
            <a:r>
              <a:rPr lang="en-US" sz="2000" dirty="0"/>
              <a:t>Principles, Techniques, &amp; Tools</a:t>
            </a:r>
          </a:p>
          <a:p>
            <a:pPr rtl="0"/>
            <a:endParaRPr lang="en-US" sz="2000" dirty="0">
              <a:latin typeface="微软雅黑" panose="020B0503020204020204" pitchFamily="34" charset="-122"/>
              <a:ea typeface="微软雅黑" panose="020B0503020204020204" pitchFamily="34" charset="-122"/>
            </a:endParaRPr>
          </a:p>
          <a:p>
            <a:pPr rtl="0"/>
            <a:endParaRPr lang="en-US" sz="2000" dirty="0">
              <a:latin typeface="微软雅黑" panose="020B0503020204020204" pitchFamily="34" charset="-122"/>
              <a:ea typeface="微软雅黑" panose="020B0503020204020204" pitchFamily="34" charset="-122"/>
            </a:endParaRPr>
          </a:p>
          <a:p>
            <a:pPr rtl="0"/>
            <a:r>
              <a:rPr lang="en-US" sz="2000" dirty="0">
                <a:latin typeface="微软雅黑" panose="020B0503020204020204" pitchFamily="34" charset="-122"/>
                <a:ea typeface="微软雅黑" panose="020B0503020204020204" pitchFamily="34" charset="-122"/>
              </a:rPr>
              <a:t>Taught by Jing Zhang </a:t>
            </a:r>
          </a:p>
          <a:p>
            <a:pPr rtl="0"/>
            <a:r>
              <a:rPr lang="en-US" sz="2000" dirty="0">
                <a:latin typeface="微软雅黑" panose="020B0503020204020204" pitchFamily="34" charset="-122"/>
                <a:ea typeface="微软雅黑" panose="020B0503020204020204" pitchFamily="34" charset="-122"/>
              </a:rPr>
              <a:t>(jzhang@njust.edu.cn)</a:t>
            </a:r>
          </a:p>
        </p:txBody>
      </p:sp>
      <p:pic>
        <p:nvPicPr>
          <p:cNvPr id="4" name="图片占位符 3" descr="桌上一本打开的书，书架在背景中模糊显示" title="示例图片"/>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l="8805" r="8805"/>
          <a:stretch>
            <a:fillRect/>
          </a:stretch>
        </p:blipFill>
        <p:spPr/>
      </p:pic>
    </p:spTree>
    <p:extLst>
      <p:ext uri="{BB962C8B-B14F-4D97-AF65-F5344CB8AC3E}">
        <p14:creationId xmlns:p14="http://schemas.microsoft.com/office/powerpoint/2010/main" val="1652133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r>
              <a:rPr lang="en-US" altLang="zh-CN" dirty="0"/>
              <a:t>RUN-TIME Environments</a:t>
            </a:r>
            <a:endParaRPr lang="en-US" dirty="0"/>
          </a:p>
        </p:txBody>
      </p:sp>
      <p:sp>
        <p:nvSpPr>
          <p:cNvPr id="3" name="文本占位符 2"/>
          <p:cNvSpPr>
            <a:spLocks noGrp="1"/>
          </p:cNvSpPr>
          <p:nvPr>
            <p:ph type="body" idx="1"/>
          </p:nvPr>
        </p:nvSpPr>
        <p:spPr/>
        <p:txBody>
          <a:bodyPr rtlCol="0"/>
          <a:lstStyle/>
          <a:p>
            <a:pPr rtl="0"/>
            <a:endParaRPr lang="en-US"/>
          </a:p>
        </p:txBody>
      </p:sp>
    </p:spTree>
    <p:extLst>
      <p:ext uri="{BB962C8B-B14F-4D97-AF65-F5344CB8AC3E}">
        <p14:creationId xmlns:p14="http://schemas.microsoft.com/office/powerpoint/2010/main" val="132884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Outlines</a:t>
            </a:r>
            <a:endParaRPr lang="zh-CN" altLang="en-US" dirty="0"/>
          </a:p>
        </p:txBody>
      </p:sp>
      <p:sp>
        <p:nvSpPr>
          <p:cNvPr id="3" name="内容占位符 2"/>
          <p:cNvSpPr>
            <a:spLocks noGrp="1"/>
          </p:cNvSpPr>
          <p:nvPr>
            <p:ph idx="1"/>
          </p:nvPr>
        </p:nvSpPr>
        <p:spPr/>
        <p:txBody>
          <a:bodyPr/>
          <a:lstStyle/>
          <a:p>
            <a:r>
              <a:rPr lang="en-US" altLang="zh-CN" dirty="0"/>
              <a:t>Symbol Table</a:t>
            </a:r>
          </a:p>
          <a:p>
            <a:r>
              <a:rPr lang="en-US" altLang="zh-CN" dirty="0"/>
              <a:t>Storage Organization</a:t>
            </a:r>
          </a:p>
          <a:p>
            <a:r>
              <a:rPr lang="en-US" altLang="zh-CN" dirty="0"/>
              <a:t>Stack Allocation of Space</a:t>
            </a:r>
          </a:p>
          <a:p>
            <a:r>
              <a:rPr lang="en-US" altLang="zh-CN" dirty="0"/>
              <a:t>Fully Static Runtime Environments</a:t>
            </a:r>
          </a:p>
          <a:p>
            <a:r>
              <a:rPr lang="en-US" altLang="zh-CN" dirty="0"/>
              <a:t>Stack-Based Runtime Environments</a:t>
            </a:r>
          </a:p>
          <a:p>
            <a:r>
              <a:rPr lang="en-US" altLang="zh-CN" dirty="0"/>
              <a:t>Dynamic Memory</a:t>
            </a:r>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p:txBody>
      </p:sp>
    </p:spTree>
    <p:extLst>
      <p:ext uri="{BB962C8B-B14F-4D97-AF65-F5344CB8AC3E}">
        <p14:creationId xmlns:p14="http://schemas.microsoft.com/office/powerpoint/2010/main" val="1955709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a:t>
            </a:r>
            <a:endParaRPr lang="zh-CN" altLang="en-US" dirty="0"/>
          </a:p>
        </p:txBody>
      </p:sp>
      <p:sp>
        <p:nvSpPr>
          <p:cNvPr id="3" name="内容占位符 2"/>
          <p:cNvSpPr>
            <a:spLocks noGrp="1"/>
          </p:cNvSpPr>
          <p:nvPr>
            <p:ph idx="1"/>
          </p:nvPr>
        </p:nvSpPr>
        <p:spPr>
          <a:xfrm>
            <a:off x="828675" y="1600200"/>
            <a:ext cx="7486650" cy="1262641"/>
          </a:xfrm>
        </p:spPr>
        <p:txBody>
          <a:bodyPr/>
          <a:lstStyle/>
          <a:p>
            <a:r>
              <a:rPr lang="en-US" altLang="zh-CN" b="1" dirty="0">
                <a:solidFill>
                  <a:srgbClr val="7030A0"/>
                </a:solidFill>
              </a:rPr>
              <a:t>Symbol tables </a:t>
            </a:r>
            <a:r>
              <a:rPr lang="en-US" altLang="zh-CN" dirty="0"/>
              <a:t>are data structures that are used by compilers to hold information about source-program constructs. The information is collected incrementally by the analysis phases of a compiler and used by the synthesis phases to generate the target code.</a:t>
            </a:r>
            <a:endParaRPr lang="zh-CN" altLang="en-US" dirty="0"/>
          </a:p>
        </p:txBody>
      </p:sp>
      <p:pic>
        <p:nvPicPr>
          <p:cNvPr id="4" name="图片 3"/>
          <p:cNvPicPr>
            <a:picLocks noChangeAspect="1"/>
          </p:cNvPicPr>
          <p:nvPr/>
        </p:nvPicPr>
        <p:blipFill>
          <a:blip r:embed="rId2"/>
          <a:stretch>
            <a:fillRect/>
          </a:stretch>
        </p:blipFill>
        <p:spPr>
          <a:xfrm>
            <a:off x="1482651" y="2529199"/>
            <a:ext cx="6088923" cy="3215073"/>
          </a:xfrm>
          <a:prstGeom prst="rect">
            <a:avLst/>
          </a:prstGeom>
        </p:spPr>
      </p:pic>
      <p:cxnSp>
        <p:nvCxnSpPr>
          <p:cNvPr id="8" name="直接连接符 7"/>
          <p:cNvCxnSpPr/>
          <p:nvPr/>
        </p:nvCxnSpPr>
        <p:spPr>
          <a:xfrm>
            <a:off x="4606183" y="3837062"/>
            <a:ext cx="2734654" cy="0"/>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cxnSp>
        <p:nvCxnSpPr>
          <p:cNvPr id="10" name="直接连接符 9"/>
          <p:cNvCxnSpPr/>
          <p:nvPr/>
        </p:nvCxnSpPr>
        <p:spPr>
          <a:xfrm flipV="1">
            <a:off x="1828800" y="4050706"/>
            <a:ext cx="5469308" cy="8546"/>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cxnSp>
        <p:nvCxnSpPr>
          <p:cNvPr id="14" name="直接连接符 13"/>
          <p:cNvCxnSpPr/>
          <p:nvPr/>
        </p:nvCxnSpPr>
        <p:spPr>
          <a:xfrm flipV="1">
            <a:off x="1793192" y="4254381"/>
            <a:ext cx="5469308" cy="8546"/>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sp>
        <p:nvSpPr>
          <p:cNvPr id="15" name="文本框 14"/>
          <p:cNvSpPr txBox="1"/>
          <p:nvPr/>
        </p:nvSpPr>
        <p:spPr>
          <a:xfrm>
            <a:off x="1331762" y="5864451"/>
            <a:ext cx="6654000" cy="646331"/>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r>
              <a:rPr lang="en-US" altLang="zh-CN" b="1" dirty="0"/>
              <a:t>Symbol Table is NOT a part of run-time environments but can provide information to create run-time environments.</a:t>
            </a:r>
            <a:endParaRPr lang="zh-CN" altLang="en-US" b="1" dirty="0"/>
          </a:p>
        </p:txBody>
      </p:sp>
    </p:spTree>
    <p:extLst>
      <p:ext uri="{BB962C8B-B14F-4D97-AF65-F5344CB8AC3E}">
        <p14:creationId xmlns:p14="http://schemas.microsoft.com/office/powerpoint/2010/main" val="23821176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Table-Structure</a:t>
            </a:r>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3328024537"/>
              </p:ext>
            </p:extLst>
          </p:nvPr>
        </p:nvGraphicFramePr>
        <p:xfrm>
          <a:off x="1524000" y="2012299"/>
          <a:ext cx="6096000" cy="1807673"/>
        </p:xfrm>
        <a:graphic>
          <a:graphicData uri="http://schemas.openxmlformats.org/drawingml/2006/table">
            <a:tbl>
              <a:tblPr firstRow="1" bandRow="1">
                <a:tableStyleId>{5940675A-B579-460E-94D1-54222C63F5DA}</a:tableStyleId>
              </a:tblPr>
              <a:tblGrid>
                <a:gridCol w="1524000">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gridCol w="1524000">
                  <a:extLst>
                    <a:ext uri="{9D8B030D-6E8A-4147-A177-3AD203B41FA5}">
                      <a16:colId xmlns:a16="http://schemas.microsoft.com/office/drawing/2014/main" val="20003"/>
                    </a:ext>
                  </a:extLst>
                </a:gridCol>
              </a:tblGrid>
              <a:tr h="370840">
                <a:tc rowSpan="2">
                  <a:txBody>
                    <a:bodyPr/>
                    <a:lstStyle/>
                    <a:p>
                      <a:pPr algn="ctr"/>
                      <a:r>
                        <a:rPr lang="en-US" altLang="zh-CN" b="1" dirty="0"/>
                        <a:t>NAME</a:t>
                      </a:r>
                      <a:endParaRPr lang="zh-CN" altLang="en-US" b="1" dirty="0"/>
                    </a:p>
                  </a:txBody>
                  <a:tcPr anchor="ctr"/>
                </a:tc>
                <a:tc gridSpan="3">
                  <a:txBody>
                    <a:bodyPr/>
                    <a:lstStyle/>
                    <a:p>
                      <a:pPr algn="ctr"/>
                      <a:r>
                        <a:rPr lang="en-US" altLang="zh-CN" dirty="0"/>
                        <a:t>INFORMATION</a:t>
                      </a:r>
                      <a:endParaRPr lang="zh-CN" altLang="en-US" dirty="0"/>
                    </a:p>
                  </a:txBody>
                  <a:tcPr anchor="ct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val="10000"/>
                  </a:ext>
                </a:extLst>
              </a:tr>
              <a:tr h="370840">
                <a:tc vMerge="1">
                  <a:txBody>
                    <a:bodyPr/>
                    <a:lstStyle/>
                    <a:p>
                      <a:pPr algn="l"/>
                      <a:endParaRPr lang="en-US" altLang="zh-CN" dirty="0"/>
                    </a:p>
                  </a:txBody>
                  <a:tcPr anchor="ctr"/>
                </a:tc>
                <a:tc>
                  <a:txBody>
                    <a:bodyPr/>
                    <a:lstStyle/>
                    <a:p>
                      <a:pPr algn="ctr"/>
                      <a:r>
                        <a:rPr lang="en-US" altLang="zh-CN" dirty="0"/>
                        <a:t>Category</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err="1"/>
                        <a:t>addr</a:t>
                      </a:r>
                      <a:endParaRPr lang="zh-CN" altLang="en-US" dirty="0"/>
                    </a:p>
                  </a:txBody>
                  <a:tcPr anchor="ctr"/>
                </a:tc>
                <a:extLst>
                  <a:ext uri="{0D108BD9-81ED-4DB2-BD59-A6C34878D82A}">
                    <a16:rowId xmlns:a16="http://schemas.microsoft.com/office/drawing/2014/main" val="10001"/>
                  </a:ext>
                </a:extLst>
              </a:tr>
              <a:tr h="370840">
                <a:tc>
                  <a:txBody>
                    <a:bodyPr/>
                    <a:lstStyle/>
                    <a:p>
                      <a:pPr algn="l"/>
                      <a:r>
                        <a:rPr lang="en-US" altLang="zh-CN" dirty="0"/>
                        <a:t>     , 6</a:t>
                      </a:r>
                      <a:endParaRPr lang="zh-CN" altLang="en-US" dirty="0"/>
                    </a:p>
                  </a:txBody>
                  <a:tcPr anchor="ctr"/>
                </a:tc>
                <a:tc gridSpan="3">
                  <a:txBody>
                    <a:bodyPr/>
                    <a:lstStyle/>
                    <a:p>
                      <a:endParaRPr lang="zh-CN" altLang="en-US" dirty="0"/>
                    </a:p>
                  </a:txBody>
                  <a:tcP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val="10002"/>
                  </a:ext>
                </a:extLst>
              </a:tr>
              <a:tr h="370840">
                <a:tc>
                  <a:txBody>
                    <a:bodyPr/>
                    <a:lstStyle/>
                    <a:p>
                      <a:pPr algn="l"/>
                      <a:r>
                        <a:rPr lang="en-US" altLang="zh-CN" dirty="0"/>
                        <a:t>     , 4</a:t>
                      </a:r>
                      <a:endParaRPr lang="zh-CN" altLang="en-US" dirty="0"/>
                    </a:p>
                  </a:txBody>
                  <a:tcPr anchor="ctr"/>
                </a:tc>
                <a:tc gridSpan="3">
                  <a:txBody>
                    <a:bodyPr/>
                    <a:lstStyle/>
                    <a:p>
                      <a:endParaRPr lang="zh-CN" altLang="en-US" dirty="0"/>
                    </a:p>
                  </a:txBody>
                  <a:tcP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val="10003"/>
                  </a:ext>
                </a:extLst>
              </a:tr>
              <a:tr h="324313">
                <a:tc>
                  <a:txBody>
                    <a:bodyPr/>
                    <a:lstStyle/>
                    <a:p>
                      <a:pPr algn="l"/>
                      <a:r>
                        <a:rPr lang="en-US" altLang="zh-CN" dirty="0"/>
                        <a:t>     , 1</a:t>
                      </a:r>
                      <a:endParaRPr lang="zh-CN" altLang="en-US" dirty="0"/>
                    </a:p>
                  </a:txBody>
                  <a:tcPr anchor="ctr"/>
                </a:tc>
                <a:tc gridSpan="3">
                  <a:txBody>
                    <a:bodyPr/>
                    <a:lstStyle/>
                    <a:p>
                      <a:r>
                        <a:rPr lang="en-US" altLang="zh-CN" dirty="0"/>
                        <a:t>      array            ……</a:t>
                      </a:r>
                      <a:r>
                        <a:rPr lang="en-US" altLang="zh-CN" baseline="0" dirty="0"/>
                        <a:t>                </a:t>
                      </a:r>
                      <a:endParaRPr lang="zh-CN" altLang="en-US" dirty="0"/>
                    </a:p>
                  </a:txBody>
                  <a:tcP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val="10004"/>
                  </a:ext>
                </a:extLst>
              </a:tr>
            </a:tbl>
          </a:graphicData>
        </a:graphic>
      </p:graphicFrame>
      <p:graphicFrame>
        <p:nvGraphicFramePr>
          <p:cNvPr id="5" name="表格 4"/>
          <p:cNvGraphicFramePr>
            <a:graphicFrameLocks noGrp="1"/>
          </p:cNvGraphicFramePr>
          <p:nvPr>
            <p:extLst>
              <p:ext uri="{D42A27DB-BD31-4B8C-83A1-F6EECF244321}">
                <p14:modId xmlns:p14="http://schemas.microsoft.com/office/powerpoint/2010/main" val="1266756993"/>
              </p:ext>
            </p:extLst>
          </p:nvPr>
        </p:nvGraphicFramePr>
        <p:xfrm>
          <a:off x="133477" y="4232985"/>
          <a:ext cx="3124200" cy="370840"/>
        </p:xfrm>
        <a:graphic>
          <a:graphicData uri="http://schemas.openxmlformats.org/drawingml/2006/table">
            <a:tbl>
              <a:tblPr firstRow="1" bandRow="1">
                <a:tableStyleId>{5940675A-B579-460E-94D1-54222C63F5DA}</a:tableStyleId>
              </a:tblPr>
              <a:tblGrid>
                <a:gridCol w="208280">
                  <a:extLst>
                    <a:ext uri="{9D8B030D-6E8A-4147-A177-3AD203B41FA5}">
                      <a16:colId xmlns:a16="http://schemas.microsoft.com/office/drawing/2014/main" val="20000"/>
                    </a:ext>
                  </a:extLst>
                </a:gridCol>
                <a:gridCol w="208280">
                  <a:extLst>
                    <a:ext uri="{9D8B030D-6E8A-4147-A177-3AD203B41FA5}">
                      <a16:colId xmlns:a16="http://schemas.microsoft.com/office/drawing/2014/main" val="20001"/>
                    </a:ext>
                  </a:extLst>
                </a:gridCol>
                <a:gridCol w="208280">
                  <a:extLst>
                    <a:ext uri="{9D8B030D-6E8A-4147-A177-3AD203B41FA5}">
                      <a16:colId xmlns:a16="http://schemas.microsoft.com/office/drawing/2014/main" val="20002"/>
                    </a:ext>
                  </a:extLst>
                </a:gridCol>
                <a:gridCol w="208280">
                  <a:extLst>
                    <a:ext uri="{9D8B030D-6E8A-4147-A177-3AD203B41FA5}">
                      <a16:colId xmlns:a16="http://schemas.microsoft.com/office/drawing/2014/main" val="20003"/>
                    </a:ext>
                  </a:extLst>
                </a:gridCol>
                <a:gridCol w="208280">
                  <a:extLst>
                    <a:ext uri="{9D8B030D-6E8A-4147-A177-3AD203B41FA5}">
                      <a16:colId xmlns:a16="http://schemas.microsoft.com/office/drawing/2014/main" val="20004"/>
                    </a:ext>
                  </a:extLst>
                </a:gridCol>
                <a:gridCol w="208280">
                  <a:extLst>
                    <a:ext uri="{9D8B030D-6E8A-4147-A177-3AD203B41FA5}">
                      <a16:colId xmlns:a16="http://schemas.microsoft.com/office/drawing/2014/main" val="20005"/>
                    </a:ext>
                  </a:extLst>
                </a:gridCol>
                <a:gridCol w="208280">
                  <a:extLst>
                    <a:ext uri="{9D8B030D-6E8A-4147-A177-3AD203B41FA5}">
                      <a16:colId xmlns:a16="http://schemas.microsoft.com/office/drawing/2014/main" val="20006"/>
                    </a:ext>
                  </a:extLst>
                </a:gridCol>
                <a:gridCol w="208280">
                  <a:extLst>
                    <a:ext uri="{9D8B030D-6E8A-4147-A177-3AD203B41FA5}">
                      <a16:colId xmlns:a16="http://schemas.microsoft.com/office/drawing/2014/main" val="20007"/>
                    </a:ext>
                  </a:extLst>
                </a:gridCol>
                <a:gridCol w="208280">
                  <a:extLst>
                    <a:ext uri="{9D8B030D-6E8A-4147-A177-3AD203B41FA5}">
                      <a16:colId xmlns:a16="http://schemas.microsoft.com/office/drawing/2014/main" val="20008"/>
                    </a:ext>
                  </a:extLst>
                </a:gridCol>
                <a:gridCol w="208280">
                  <a:extLst>
                    <a:ext uri="{9D8B030D-6E8A-4147-A177-3AD203B41FA5}">
                      <a16:colId xmlns:a16="http://schemas.microsoft.com/office/drawing/2014/main" val="20009"/>
                    </a:ext>
                  </a:extLst>
                </a:gridCol>
                <a:gridCol w="208280">
                  <a:extLst>
                    <a:ext uri="{9D8B030D-6E8A-4147-A177-3AD203B41FA5}">
                      <a16:colId xmlns:a16="http://schemas.microsoft.com/office/drawing/2014/main" val="20010"/>
                    </a:ext>
                  </a:extLst>
                </a:gridCol>
                <a:gridCol w="208280">
                  <a:extLst>
                    <a:ext uri="{9D8B030D-6E8A-4147-A177-3AD203B41FA5}">
                      <a16:colId xmlns:a16="http://schemas.microsoft.com/office/drawing/2014/main" val="20011"/>
                    </a:ext>
                  </a:extLst>
                </a:gridCol>
                <a:gridCol w="208280">
                  <a:extLst>
                    <a:ext uri="{9D8B030D-6E8A-4147-A177-3AD203B41FA5}">
                      <a16:colId xmlns:a16="http://schemas.microsoft.com/office/drawing/2014/main" val="20012"/>
                    </a:ext>
                  </a:extLst>
                </a:gridCol>
                <a:gridCol w="208280">
                  <a:extLst>
                    <a:ext uri="{9D8B030D-6E8A-4147-A177-3AD203B41FA5}">
                      <a16:colId xmlns:a16="http://schemas.microsoft.com/office/drawing/2014/main" val="20013"/>
                    </a:ext>
                  </a:extLst>
                </a:gridCol>
                <a:gridCol w="208280">
                  <a:extLst>
                    <a:ext uri="{9D8B030D-6E8A-4147-A177-3AD203B41FA5}">
                      <a16:colId xmlns:a16="http://schemas.microsoft.com/office/drawing/2014/main" val="20014"/>
                    </a:ext>
                  </a:extLst>
                </a:gridCol>
              </a:tblGrid>
              <a:tr h="370840">
                <a:tc>
                  <a:txBody>
                    <a:bodyPr/>
                    <a:lstStyle/>
                    <a:p>
                      <a:pPr algn="ctr"/>
                      <a:r>
                        <a:rPr lang="en-US" altLang="zh-CN" dirty="0"/>
                        <a:t>…</a:t>
                      </a:r>
                      <a:endParaRPr lang="zh-CN" altLang="en-US" dirty="0"/>
                    </a:p>
                  </a:txBody>
                  <a:tcPr anchor="ctr"/>
                </a:tc>
                <a:tc>
                  <a:txBody>
                    <a:bodyPr/>
                    <a:lstStyle/>
                    <a:p>
                      <a:pPr algn="ctr"/>
                      <a:r>
                        <a:rPr lang="en-US" altLang="zh-CN" dirty="0"/>
                        <a:t>S</a:t>
                      </a:r>
                      <a:endParaRPr lang="zh-CN" altLang="en-US" dirty="0"/>
                    </a:p>
                  </a:txBody>
                  <a:tcPr anchor="ctr"/>
                </a:tc>
                <a:tc>
                  <a:txBody>
                    <a:bodyPr/>
                    <a:lstStyle/>
                    <a:p>
                      <a:pPr algn="ctr"/>
                      <a:r>
                        <a:rPr lang="en-US" altLang="zh-CN" dirty="0"/>
                        <a:t>a</a:t>
                      </a:r>
                      <a:endParaRPr lang="zh-CN" altLang="en-US" dirty="0"/>
                    </a:p>
                  </a:txBody>
                  <a:tcPr anchor="ctr"/>
                </a:tc>
                <a:tc>
                  <a:txBody>
                    <a:bodyPr/>
                    <a:lstStyle/>
                    <a:p>
                      <a:pPr algn="ctr"/>
                      <a:r>
                        <a:rPr lang="en-US" altLang="zh-CN" dirty="0"/>
                        <a:t>m</a:t>
                      </a:r>
                      <a:endParaRPr lang="zh-CN" altLang="en-US" dirty="0"/>
                    </a:p>
                  </a:txBody>
                  <a:tcPr anchor="ctr"/>
                </a:tc>
                <a:tc>
                  <a:txBody>
                    <a:bodyPr/>
                    <a:lstStyle/>
                    <a:p>
                      <a:pPr algn="ctr"/>
                      <a:r>
                        <a:rPr lang="en-US" altLang="zh-CN" dirty="0"/>
                        <a:t>p</a:t>
                      </a:r>
                      <a:endParaRPr lang="zh-CN" altLang="en-US" dirty="0"/>
                    </a:p>
                  </a:txBody>
                  <a:tcPr anchor="ctr"/>
                </a:tc>
                <a:tc>
                  <a:txBody>
                    <a:bodyPr/>
                    <a:lstStyle/>
                    <a:p>
                      <a:pPr algn="ctr"/>
                      <a:r>
                        <a:rPr lang="en-US" altLang="zh-CN" dirty="0"/>
                        <a:t>l</a:t>
                      </a:r>
                      <a:endParaRPr lang="zh-CN" altLang="en-US" dirty="0"/>
                    </a:p>
                  </a:txBody>
                  <a:tcPr anchor="ctr"/>
                </a:tc>
                <a:tc>
                  <a:txBody>
                    <a:bodyPr/>
                    <a:lstStyle/>
                    <a:p>
                      <a:pPr algn="ctr"/>
                      <a:r>
                        <a:rPr lang="en-US" altLang="zh-CN" dirty="0"/>
                        <a:t>e</a:t>
                      </a:r>
                      <a:endParaRPr lang="zh-CN" altLang="en-US" dirty="0"/>
                    </a:p>
                  </a:txBody>
                  <a:tcPr anchor="ctr"/>
                </a:tc>
                <a:tc>
                  <a:txBody>
                    <a:bodyPr/>
                    <a:lstStyle/>
                    <a:p>
                      <a:pPr algn="ctr"/>
                      <a:r>
                        <a:rPr lang="en-US" altLang="zh-CN" dirty="0"/>
                        <a:t>L</a:t>
                      </a:r>
                      <a:endParaRPr lang="zh-CN" altLang="en-US" dirty="0"/>
                    </a:p>
                  </a:txBody>
                  <a:tcPr anchor="ctr"/>
                </a:tc>
                <a:tc>
                  <a:txBody>
                    <a:bodyPr/>
                    <a:lstStyle/>
                    <a:p>
                      <a:pPr algn="ctr"/>
                      <a:r>
                        <a:rPr lang="en-US" altLang="zh-CN" dirty="0"/>
                        <a:t>e</a:t>
                      </a:r>
                      <a:endParaRPr lang="zh-CN" altLang="en-US" dirty="0"/>
                    </a:p>
                  </a:txBody>
                  <a:tcPr anchor="ctr"/>
                </a:tc>
                <a:tc>
                  <a:txBody>
                    <a:bodyPr/>
                    <a:lstStyle/>
                    <a:p>
                      <a:pPr algn="ctr"/>
                      <a:r>
                        <a:rPr lang="en-US" altLang="zh-CN" dirty="0"/>
                        <a:t>n</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a:t>a</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endParaRPr lang="zh-CN" altLang="en-US" dirty="0"/>
                    </a:p>
                  </a:txBody>
                  <a:tcPr anchor="ctr"/>
                </a:tc>
                <a:tc>
                  <a:txBody>
                    <a:bodyPr/>
                    <a:lstStyle/>
                    <a:p>
                      <a:pPr algn="ctr"/>
                      <a:endParaRPr lang="zh-CN" altLang="en-US" dirty="0"/>
                    </a:p>
                  </a:txBody>
                  <a:tcPr anchor="ctr"/>
                </a:tc>
                <a:extLst>
                  <a:ext uri="{0D108BD9-81ED-4DB2-BD59-A6C34878D82A}">
                    <a16:rowId xmlns:a16="http://schemas.microsoft.com/office/drawing/2014/main" val="10000"/>
                  </a:ext>
                </a:extLst>
              </a:tr>
            </a:tbl>
          </a:graphicData>
        </a:graphic>
      </p:graphicFrame>
      <p:grpSp>
        <p:nvGrpSpPr>
          <p:cNvPr id="18" name="组合 17"/>
          <p:cNvGrpSpPr/>
          <p:nvPr/>
        </p:nvGrpSpPr>
        <p:grpSpPr>
          <a:xfrm>
            <a:off x="444381" y="2973938"/>
            <a:ext cx="1384419" cy="1222049"/>
            <a:chOff x="1093863" y="2358639"/>
            <a:chExt cx="822023" cy="1222049"/>
          </a:xfrm>
        </p:grpSpPr>
        <p:cxnSp>
          <p:nvCxnSpPr>
            <p:cNvPr id="7" name="直接连接符 6"/>
            <p:cNvCxnSpPr/>
            <p:nvPr/>
          </p:nvCxnSpPr>
          <p:spPr>
            <a:xfrm>
              <a:off x="1110953" y="2358639"/>
              <a:ext cx="804933" cy="1384"/>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nvCxnSpPr>
          <p:spPr>
            <a:xfrm flipH="1">
              <a:off x="1093863" y="2358639"/>
              <a:ext cx="8544" cy="1222049"/>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1640791" y="3341408"/>
            <a:ext cx="188009" cy="888761"/>
            <a:chOff x="1093863" y="2358639"/>
            <a:chExt cx="822023" cy="1222049"/>
          </a:xfrm>
        </p:grpSpPr>
        <p:cxnSp>
          <p:nvCxnSpPr>
            <p:cNvPr id="20" name="直接连接符 19"/>
            <p:cNvCxnSpPr/>
            <p:nvPr/>
          </p:nvCxnSpPr>
          <p:spPr>
            <a:xfrm>
              <a:off x="1110953" y="2358639"/>
              <a:ext cx="804933" cy="1384"/>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1093863" y="2358639"/>
              <a:ext cx="8544" cy="1222049"/>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nvGrpSpPr>
        <p:grpSpPr>
          <a:xfrm flipH="1">
            <a:off x="1837346" y="3956705"/>
            <a:ext cx="640933" cy="282011"/>
            <a:chOff x="1093863" y="2358639"/>
            <a:chExt cx="780401" cy="1222049"/>
          </a:xfrm>
        </p:grpSpPr>
        <p:cxnSp>
          <p:nvCxnSpPr>
            <p:cNvPr id="23" name="直接连接符 22"/>
            <p:cNvCxnSpPr/>
            <p:nvPr/>
          </p:nvCxnSpPr>
          <p:spPr>
            <a:xfrm>
              <a:off x="1110951" y="2358639"/>
              <a:ext cx="763313" cy="0"/>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H="1">
              <a:off x="1093863" y="2358639"/>
              <a:ext cx="8544" cy="1222049"/>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grpSp>
      <p:cxnSp>
        <p:nvCxnSpPr>
          <p:cNvPr id="25" name="直接连接符 24"/>
          <p:cNvCxnSpPr/>
          <p:nvPr/>
        </p:nvCxnSpPr>
        <p:spPr>
          <a:xfrm flipV="1">
            <a:off x="1820254" y="3631965"/>
            <a:ext cx="0" cy="324740"/>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graphicFrame>
        <p:nvGraphicFramePr>
          <p:cNvPr id="32" name="表格 31"/>
          <p:cNvGraphicFramePr>
            <a:graphicFrameLocks noGrp="1"/>
          </p:cNvGraphicFramePr>
          <p:nvPr>
            <p:extLst>
              <p:ext uri="{D42A27DB-BD31-4B8C-83A1-F6EECF244321}">
                <p14:modId xmlns:p14="http://schemas.microsoft.com/office/powerpoint/2010/main" val="4110901264"/>
              </p:ext>
            </p:extLst>
          </p:nvPr>
        </p:nvGraphicFramePr>
        <p:xfrm>
          <a:off x="4691639" y="4541855"/>
          <a:ext cx="3273040" cy="1244600"/>
        </p:xfrm>
        <a:graphic>
          <a:graphicData uri="http://schemas.openxmlformats.org/drawingml/2006/table">
            <a:tbl>
              <a:tblPr firstRow="1" bandRow="1">
                <a:tableStyleId>{5940675A-B579-460E-94D1-54222C63F5DA}</a:tableStyleId>
              </a:tblPr>
              <a:tblGrid>
                <a:gridCol w="818260">
                  <a:extLst>
                    <a:ext uri="{9D8B030D-6E8A-4147-A177-3AD203B41FA5}">
                      <a16:colId xmlns:a16="http://schemas.microsoft.com/office/drawing/2014/main" val="20000"/>
                    </a:ext>
                  </a:extLst>
                </a:gridCol>
                <a:gridCol w="818260">
                  <a:extLst>
                    <a:ext uri="{9D8B030D-6E8A-4147-A177-3AD203B41FA5}">
                      <a16:colId xmlns:a16="http://schemas.microsoft.com/office/drawing/2014/main" val="20001"/>
                    </a:ext>
                  </a:extLst>
                </a:gridCol>
                <a:gridCol w="818260">
                  <a:extLst>
                    <a:ext uri="{9D8B030D-6E8A-4147-A177-3AD203B41FA5}">
                      <a16:colId xmlns:a16="http://schemas.microsoft.com/office/drawing/2014/main" val="20002"/>
                    </a:ext>
                  </a:extLst>
                </a:gridCol>
                <a:gridCol w="818260">
                  <a:extLst>
                    <a:ext uri="{9D8B030D-6E8A-4147-A177-3AD203B41FA5}">
                      <a16:colId xmlns:a16="http://schemas.microsoft.com/office/drawing/2014/main" val="20003"/>
                    </a:ext>
                  </a:extLst>
                </a:gridCol>
              </a:tblGrid>
              <a:tr h="370840">
                <a:tc gridSpan="2">
                  <a:txBody>
                    <a:bodyPr/>
                    <a:lstStyle/>
                    <a:p>
                      <a:pPr algn="ctr"/>
                      <a:r>
                        <a:rPr lang="en-US" altLang="zh-CN" dirty="0"/>
                        <a:t>Dimension</a:t>
                      </a:r>
                      <a:endParaRPr lang="zh-CN" altLang="en-US" dirty="0"/>
                    </a:p>
                  </a:txBody>
                  <a:tcPr anchor="ctr"/>
                </a:tc>
                <a:tc hMerge="1">
                  <a:txBody>
                    <a:bodyPr/>
                    <a:lstStyle/>
                    <a:p>
                      <a:endParaRPr lang="zh-CN" altLang="en-US"/>
                    </a:p>
                  </a:txBody>
                  <a:tcPr/>
                </a:tc>
                <a:tc gridSpan="2">
                  <a:txBody>
                    <a:bodyPr/>
                    <a:lstStyle/>
                    <a:p>
                      <a:pPr algn="ctr"/>
                      <a:r>
                        <a:rPr lang="en-US" altLang="zh-CN" dirty="0"/>
                        <a:t>First </a:t>
                      </a:r>
                      <a:r>
                        <a:rPr lang="en-US" altLang="zh-CN" dirty="0" err="1"/>
                        <a:t>Addr</a:t>
                      </a:r>
                      <a:endParaRPr lang="zh-CN" altLang="en-US" dirty="0"/>
                    </a:p>
                  </a:txBody>
                  <a:tcPr anchor="ctr"/>
                </a:tc>
                <a:tc hMerge="1">
                  <a:txBody>
                    <a:bodyPr/>
                    <a:lstStyle/>
                    <a:p>
                      <a:endParaRPr lang="zh-CN" altLang="en-US"/>
                    </a:p>
                  </a:txBody>
                  <a:tcPr/>
                </a:tc>
                <a:extLst>
                  <a:ext uri="{0D108BD9-81ED-4DB2-BD59-A6C34878D82A}">
                    <a16:rowId xmlns:a16="http://schemas.microsoft.com/office/drawing/2014/main" val="10000"/>
                  </a:ext>
                </a:extLst>
              </a:tr>
              <a:tr h="370840">
                <a:tc>
                  <a:txBody>
                    <a:bodyPr/>
                    <a:lstStyle/>
                    <a:p>
                      <a:pPr algn="ctr"/>
                      <a:r>
                        <a:rPr lang="en-US" altLang="zh-CN" dirty="0"/>
                        <a:t>Upper 1</a:t>
                      </a:r>
                      <a:endParaRPr lang="zh-CN" altLang="en-US" dirty="0"/>
                    </a:p>
                  </a:txBody>
                  <a:tcPr anchor="ctr"/>
                </a:tc>
                <a:tc>
                  <a:txBody>
                    <a:bodyPr/>
                    <a:lstStyle/>
                    <a:p>
                      <a:pPr algn="ctr"/>
                      <a:r>
                        <a:rPr lang="en-US" altLang="zh-CN" dirty="0"/>
                        <a:t>Upper</a:t>
                      </a:r>
                      <a:r>
                        <a:rPr lang="en-US" altLang="zh-CN" baseline="0" dirty="0"/>
                        <a:t> 2</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a:t>Upper</a:t>
                      </a:r>
                      <a:r>
                        <a:rPr lang="en-US" altLang="zh-CN" baseline="0" dirty="0"/>
                        <a:t> N</a:t>
                      </a:r>
                      <a:endParaRPr lang="zh-CN" altLang="en-US" dirty="0"/>
                    </a:p>
                  </a:txBody>
                  <a:tcPr anchor="ctr"/>
                </a:tc>
                <a:extLst>
                  <a:ext uri="{0D108BD9-81ED-4DB2-BD59-A6C34878D82A}">
                    <a16:rowId xmlns:a16="http://schemas.microsoft.com/office/drawing/2014/main" val="10001"/>
                  </a:ext>
                </a:extLst>
              </a:tr>
              <a:tr h="370840">
                <a:tc>
                  <a:txBody>
                    <a:bodyPr/>
                    <a:lstStyle/>
                    <a:p>
                      <a:pPr algn="ctr"/>
                      <a:r>
                        <a:rPr lang="en-US" altLang="zh-CN" dirty="0"/>
                        <a:t>Lower 1</a:t>
                      </a:r>
                      <a:endParaRPr lang="zh-CN" altLang="en-US" dirty="0"/>
                    </a:p>
                  </a:txBody>
                  <a:tcPr anchor="ctr"/>
                </a:tc>
                <a:tc>
                  <a:txBody>
                    <a:bodyPr/>
                    <a:lstStyle/>
                    <a:p>
                      <a:pPr algn="ctr"/>
                      <a:r>
                        <a:rPr lang="en-US" altLang="zh-CN" dirty="0"/>
                        <a:t>Lower 2</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a:t>Lower N</a:t>
                      </a:r>
                      <a:endParaRPr lang="zh-CN" altLang="en-US" dirty="0"/>
                    </a:p>
                  </a:txBody>
                  <a:tcPr anchor="ctr"/>
                </a:tc>
                <a:extLst>
                  <a:ext uri="{0D108BD9-81ED-4DB2-BD59-A6C34878D82A}">
                    <a16:rowId xmlns:a16="http://schemas.microsoft.com/office/drawing/2014/main" val="10002"/>
                  </a:ext>
                </a:extLst>
              </a:tr>
            </a:tbl>
          </a:graphicData>
        </a:graphic>
      </p:graphicFrame>
      <p:sp>
        <p:nvSpPr>
          <p:cNvPr id="34" name="文本框 33"/>
          <p:cNvSpPr txBox="1"/>
          <p:nvPr/>
        </p:nvSpPr>
        <p:spPr>
          <a:xfrm>
            <a:off x="3666146" y="1478423"/>
            <a:ext cx="1705916" cy="369332"/>
          </a:xfrm>
          <a:prstGeom prst="rect">
            <a:avLst/>
          </a:prstGeom>
          <a:noFill/>
        </p:spPr>
        <p:txBody>
          <a:bodyPr wrap="none" rtlCol="0">
            <a:spAutoFit/>
          </a:bodyPr>
          <a:lstStyle/>
          <a:p>
            <a:r>
              <a:rPr lang="en-US" altLang="zh-CN" b="1" dirty="0"/>
              <a:t>Symbol Table </a:t>
            </a:r>
            <a:endParaRPr lang="zh-CN" altLang="en-US" b="1" dirty="0"/>
          </a:p>
        </p:txBody>
      </p:sp>
      <p:cxnSp>
        <p:nvCxnSpPr>
          <p:cNvPr id="36" name="直接连接符 35"/>
          <p:cNvCxnSpPr/>
          <p:nvPr/>
        </p:nvCxnSpPr>
        <p:spPr>
          <a:xfrm flipH="1">
            <a:off x="6929212" y="3621994"/>
            <a:ext cx="955363" cy="747"/>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341264" y="4631821"/>
            <a:ext cx="358923" cy="0"/>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flipH="1" flipV="1">
            <a:off x="7896314" y="3623417"/>
            <a:ext cx="8547" cy="521293"/>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直接连接符 40"/>
          <p:cNvCxnSpPr/>
          <p:nvPr/>
        </p:nvCxnSpPr>
        <p:spPr>
          <a:xfrm flipH="1">
            <a:off x="4349809" y="4153256"/>
            <a:ext cx="3546506" cy="0"/>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flipH="1">
            <a:off x="4349809" y="4144710"/>
            <a:ext cx="1" cy="495656"/>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52" name="矩形 51"/>
          <p:cNvSpPr/>
          <p:nvPr/>
        </p:nvSpPr>
        <p:spPr>
          <a:xfrm>
            <a:off x="5128667" y="4150188"/>
            <a:ext cx="2525050" cy="369332"/>
          </a:xfrm>
          <a:prstGeom prst="rect">
            <a:avLst/>
          </a:prstGeom>
        </p:spPr>
        <p:txBody>
          <a:bodyPr wrap="none">
            <a:spAutoFit/>
          </a:bodyPr>
          <a:lstStyle/>
          <a:p>
            <a:r>
              <a:rPr lang="zh-CN" altLang="en-US" b="1" dirty="0"/>
              <a:t>Insider Vector Table</a:t>
            </a:r>
          </a:p>
        </p:txBody>
      </p:sp>
    </p:spTree>
    <p:extLst>
      <p:ext uri="{BB962C8B-B14F-4D97-AF65-F5344CB8AC3E}">
        <p14:creationId xmlns:p14="http://schemas.microsoft.com/office/powerpoint/2010/main" val="1029009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 Per Scope</a:t>
            </a:r>
            <a:endParaRPr lang="zh-CN" altLang="en-US" dirty="0"/>
          </a:p>
        </p:txBody>
      </p:sp>
      <p:sp>
        <p:nvSpPr>
          <p:cNvPr id="3" name="内容占位符 2"/>
          <p:cNvSpPr>
            <a:spLocks noGrp="1"/>
          </p:cNvSpPr>
          <p:nvPr>
            <p:ph idx="1"/>
          </p:nvPr>
        </p:nvSpPr>
        <p:spPr>
          <a:xfrm>
            <a:off x="828675" y="1600201"/>
            <a:ext cx="7486650" cy="4689504"/>
          </a:xfrm>
        </p:spPr>
        <p:txBody>
          <a:bodyPr/>
          <a:lstStyle/>
          <a:p>
            <a:r>
              <a:rPr lang="en-US" altLang="zh-CN" dirty="0"/>
              <a:t>The term "scope of identifier </a:t>
            </a:r>
            <a:r>
              <a:rPr lang="en-US" altLang="zh-CN" i="1" dirty="0"/>
              <a:t>x</a:t>
            </a:r>
            <a:r>
              <a:rPr lang="en-US" altLang="zh-CN" dirty="0"/>
              <a:t>' really refers to the scope of a particular declaration of </a:t>
            </a:r>
            <a:r>
              <a:rPr lang="en-US" altLang="zh-CN" i="1" dirty="0"/>
              <a:t>x</a:t>
            </a:r>
            <a:r>
              <a:rPr lang="en-US" altLang="zh-CN" dirty="0"/>
              <a:t>. The term scope by itself refers to a portion of a program that is the scope of one or more declarations.</a:t>
            </a:r>
          </a:p>
          <a:p>
            <a:r>
              <a:rPr lang="en-US" altLang="zh-CN" dirty="0"/>
              <a:t>Scopes are important, because the same identifier can be declared for different purposes in different parts of a program. Common names like </a:t>
            </a:r>
            <a:r>
              <a:rPr lang="en-US" altLang="zh-CN" i="1" dirty="0" err="1"/>
              <a:t>i</a:t>
            </a:r>
            <a:r>
              <a:rPr lang="en-US" altLang="zh-CN" dirty="0"/>
              <a:t> and </a:t>
            </a:r>
            <a:r>
              <a:rPr lang="en-US" altLang="zh-CN" i="1" dirty="0"/>
              <a:t>x </a:t>
            </a:r>
            <a:r>
              <a:rPr lang="en-US" altLang="zh-CN" dirty="0"/>
              <a:t>often have multiple uses. As another example, subclasses can </a:t>
            </a:r>
            <a:r>
              <a:rPr lang="en-US" altLang="zh-CN" dirty="0" err="1"/>
              <a:t>redeclare</a:t>
            </a:r>
            <a:r>
              <a:rPr lang="en-US" altLang="zh-CN" dirty="0"/>
              <a:t> a method name to override a method in a superclass.</a:t>
            </a:r>
          </a:p>
          <a:p>
            <a:r>
              <a:rPr lang="en-US" altLang="zh-CN" dirty="0"/>
              <a:t>If blocks can be nested, several declarations of the same identifier can appear within a single block. The following syntax results in nested blocks when </a:t>
            </a:r>
            <a:r>
              <a:rPr lang="en-US" altLang="zh-CN" i="1" dirty="0" err="1"/>
              <a:t>stmts</a:t>
            </a:r>
            <a:r>
              <a:rPr lang="en-US" altLang="zh-CN" dirty="0"/>
              <a:t> can generate a block:</a:t>
            </a:r>
          </a:p>
          <a:p>
            <a:endParaRPr lang="en-US" altLang="zh-CN" dirty="0"/>
          </a:p>
          <a:p>
            <a:r>
              <a:rPr lang="en-US" altLang="zh-CN" dirty="0"/>
              <a:t>The </a:t>
            </a:r>
            <a:r>
              <a:rPr lang="en-US" altLang="zh-CN" b="1" i="1" dirty="0">
                <a:solidFill>
                  <a:srgbClr val="7030A0"/>
                </a:solidFill>
              </a:rPr>
              <a:t>most- closely nested </a:t>
            </a:r>
            <a:r>
              <a:rPr lang="en-US" altLang="zh-CN" dirty="0"/>
              <a:t>rule for blocks is that an identifier </a:t>
            </a:r>
            <a:r>
              <a:rPr lang="en-US" altLang="zh-CN" i="1" dirty="0"/>
              <a:t>x</a:t>
            </a:r>
            <a:r>
              <a:rPr lang="en-US" altLang="zh-CN" dirty="0"/>
              <a:t> is in the scope of the most-closely nested declaration of </a:t>
            </a:r>
            <a:r>
              <a:rPr lang="en-US" altLang="zh-CN" i="1" dirty="0"/>
              <a:t>x</a:t>
            </a:r>
            <a:r>
              <a:rPr lang="en-US" altLang="zh-CN" dirty="0"/>
              <a:t>; that is, the declaration of </a:t>
            </a:r>
            <a:r>
              <a:rPr lang="en-US" altLang="zh-CN" i="1" dirty="0"/>
              <a:t>x</a:t>
            </a:r>
            <a:r>
              <a:rPr lang="en-US" altLang="zh-CN" dirty="0"/>
              <a:t> found by examining blocks inside-out, starting with the block in which </a:t>
            </a:r>
            <a:r>
              <a:rPr lang="en-US" altLang="zh-CN" i="1" dirty="0"/>
              <a:t>x</a:t>
            </a:r>
            <a:r>
              <a:rPr lang="en-US" altLang="zh-CN" dirty="0"/>
              <a:t> appears.</a:t>
            </a:r>
          </a:p>
          <a:p>
            <a:endParaRPr lang="en-US" altLang="zh-CN" dirty="0"/>
          </a:p>
          <a:p>
            <a:endParaRPr lang="zh-CN" altLang="en-US" dirty="0"/>
          </a:p>
        </p:txBody>
      </p:sp>
      <p:pic>
        <p:nvPicPr>
          <p:cNvPr id="4" name="图片 3"/>
          <p:cNvPicPr>
            <a:picLocks noChangeAspect="1"/>
          </p:cNvPicPr>
          <p:nvPr/>
        </p:nvPicPr>
        <p:blipFill>
          <a:blip r:embed="rId2"/>
          <a:stretch>
            <a:fillRect/>
          </a:stretch>
        </p:blipFill>
        <p:spPr>
          <a:xfrm>
            <a:off x="3035937" y="4120541"/>
            <a:ext cx="3134086" cy="468551"/>
          </a:xfrm>
          <a:prstGeom prst="rect">
            <a:avLst/>
          </a:prstGeom>
        </p:spPr>
      </p:pic>
    </p:spTree>
    <p:extLst>
      <p:ext uri="{BB962C8B-B14F-4D97-AF65-F5344CB8AC3E}">
        <p14:creationId xmlns:p14="http://schemas.microsoft.com/office/powerpoint/2010/main" val="977579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 Per Scope</a:t>
            </a:r>
            <a:endParaRPr lang="zh-CN" altLang="en-US" dirty="0"/>
          </a:p>
        </p:txBody>
      </p:sp>
      <p:pic>
        <p:nvPicPr>
          <p:cNvPr id="5" name="图片 4"/>
          <p:cNvPicPr>
            <a:picLocks noChangeAspect="1"/>
          </p:cNvPicPr>
          <p:nvPr/>
        </p:nvPicPr>
        <p:blipFill>
          <a:blip r:embed="rId2"/>
          <a:stretch>
            <a:fillRect/>
          </a:stretch>
        </p:blipFill>
        <p:spPr>
          <a:xfrm>
            <a:off x="0" y="1505663"/>
            <a:ext cx="9144000" cy="4735435"/>
          </a:xfrm>
          <a:prstGeom prst="rect">
            <a:avLst/>
          </a:prstGeom>
        </p:spPr>
      </p:pic>
    </p:spTree>
    <p:extLst>
      <p:ext uri="{BB962C8B-B14F-4D97-AF65-F5344CB8AC3E}">
        <p14:creationId xmlns:p14="http://schemas.microsoft.com/office/powerpoint/2010/main" val="21208837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 Per Scope-Implementation</a:t>
            </a:r>
            <a:endParaRPr lang="zh-CN" altLang="en-US" dirty="0"/>
          </a:p>
        </p:txBody>
      </p:sp>
      <p:pic>
        <p:nvPicPr>
          <p:cNvPr id="4" name="图片 3"/>
          <p:cNvPicPr>
            <a:picLocks noChangeAspect="1"/>
          </p:cNvPicPr>
          <p:nvPr/>
        </p:nvPicPr>
        <p:blipFill>
          <a:blip r:embed="rId2"/>
          <a:stretch>
            <a:fillRect/>
          </a:stretch>
        </p:blipFill>
        <p:spPr>
          <a:xfrm>
            <a:off x="419100" y="1485835"/>
            <a:ext cx="5545865" cy="5040213"/>
          </a:xfrm>
          <a:prstGeom prst="rect">
            <a:avLst/>
          </a:prstGeom>
        </p:spPr>
      </p:pic>
      <p:cxnSp>
        <p:nvCxnSpPr>
          <p:cNvPr id="6" name="直接箭头连接符 5"/>
          <p:cNvCxnSpPr/>
          <p:nvPr/>
        </p:nvCxnSpPr>
        <p:spPr>
          <a:xfrm>
            <a:off x="3315768" y="2862841"/>
            <a:ext cx="2777383" cy="8546"/>
          </a:xfrm>
          <a:prstGeom prst="straightConnector1">
            <a:avLst/>
          </a:prstGeom>
          <a:ln w="190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7" name="文本框 6"/>
          <p:cNvSpPr txBox="1"/>
          <p:nvPr/>
        </p:nvSpPr>
        <p:spPr>
          <a:xfrm>
            <a:off x="6178611" y="2623560"/>
            <a:ext cx="2597920" cy="646331"/>
          </a:xfrm>
          <a:prstGeom prst="rect">
            <a:avLst/>
          </a:prstGeom>
          <a:noFill/>
        </p:spPr>
        <p:txBody>
          <a:bodyPr wrap="square" rtlCol="0">
            <a:spAutoFit/>
          </a:bodyPr>
          <a:lstStyle/>
          <a:p>
            <a:r>
              <a:rPr lang="en-US" altLang="zh-CN" dirty="0">
                <a:latin typeface="微软雅黑" panose="020B0503020204020204" pitchFamily="34" charset="-122"/>
                <a:ea typeface="微软雅黑" panose="020B0503020204020204" pitchFamily="34" charset="-122"/>
              </a:rPr>
              <a:t>Create a new symbol table.</a:t>
            </a:r>
            <a:endParaRPr lang="zh-CN" altLang="en-US" dirty="0">
              <a:latin typeface="微软雅黑" panose="020B0503020204020204" pitchFamily="34" charset="-122"/>
              <a:ea typeface="微软雅黑" panose="020B0503020204020204" pitchFamily="34" charset="-122"/>
            </a:endParaRPr>
          </a:p>
        </p:txBody>
      </p:sp>
      <p:cxnSp>
        <p:nvCxnSpPr>
          <p:cNvPr id="9" name="直接箭头连接符 8"/>
          <p:cNvCxnSpPr/>
          <p:nvPr/>
        </p:nvCxnSpPr>
        <p:spPr>
          <a:xfrm>
            <a:off x="5194418" y="3647629"/>
            <a:ext cx="1009828" cy="9971"/>
          </a:xfrm>
          <a:prstGeom prst="straightConnector1">
            <a:avLst/>
          </a:prstGeom>
          <a:ln w="190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6262645" y="3451078"/>
            <a:ext cx="2597920" cy="646331"/>
          </a:xfrm>
          <a:prstGeom prst="rect">
            <a:avLst/>
          </a:prstGeom>
          <a:noFill/>
        </p:spPr>
        <p:txBody>
          <a:bodyPr wrap="square" rtlCol="0">
            <a:spAutoFit/>
          </a:bodyPr>
          <a:lstStyle/>
          <a:p>
            <a:r>
              <a:rPr lang="en-US" altLang="zh-CN" dirty="0">
                <a:latin typeface="微软雅黑" panose="020B0503020204020204" pitchFamily="34" charset="-122"/>
                <a:ea typeface="微软雅黑" panose="020B0503020204020204" pitchFamily="34" charset="-122"/>
              </a:rPr>
              <a:t>Put a new entry in the current table.</a:t>
            </a:r>
            <a:endParaRPr lang="zh-CN" altLang="en-US" dirty="0">
              <a:latin typeface="微软雅黑" panose="020B0503020204020204" pitchFamily="34" charset="-122"/>
              <a:ea typeface="微软雅黑" panose="020B0503020204020204" pitchFamily="34" charset="-122"/>
            </a:endParaRPr>
          </a:p>
        </p:txBody>
      </p:sp>
      <p:cxnSp>
        <p:nvCxnSpPr>
          <p:cNvPr id="12" name="直接箭头连接符 11"/>
          <p:cNvCxnSpPr/>
          <p:nvPr/>
        </p:nvCxnSpPr>
        <p:spPr>
          <a:xfrm>
            <a:off x="4201682" y="4449510"/>
            <a:ext cx="1994019" cy="11395"/>
          </a:xfrm>
          <a:prstGeom prst="straightConnector1">
            <a:avLst/>
          </a:prstGeom>
          <a:ln w="190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5" name="文本框 14"/>
          <p:cNvSpPr txBox="1"/>
          <p:nvPr/>
        </p:nvSpPr>
        <p:spPr>
          <a:xfrm>
            <a:off x="6235583" y="4287142"/>
            <a:ext cx="2597920" cy="1754326"/>
          </a:xfrm>
          <a:prstGeom prst="rect">
            <a:avLst/>
          </a:prstGeom>
          <a:noFill/>
        </p:spPr>
        <p:txBody>
          <a:bodyPr wrap="square" rtlCol="0">
            <a:spAutoFit/>
          </a:bodyPr>
          <a:lstStyle/>
          <a:p>
            <a:r>
              <a:rPr lang="en-US" altLang="zh-CN" dirty="0">
                <a:latin typeface="微软雅黑" panose="020B0503020204020204" pitchFamily="34" charset="-122"/>
                <a:ea typeface="微软雅黑" panose="020B0503020204020204" pitchFamily="34" charset="-122"/>
              </a:rPr>
              <a:t>Get an entry for an identifier by searching the chain of tables, starting</a:t>
            </a:r>
          </a:p>
          <a:p>
            <a:r>
              <a:rPr lang="en-US" altLang="zh-CN" dirty="0">
                <a:latin typeface="微软雅黑" panose="020B0503020204020204" pitchFamily="34" charset="-122"/>
                <a:ea typeface="微软雅黑" panose="020B0503020204020204" pitchFamily="34" charset="-122"/>
              </a:rPr>
              <a:t>with the table for the current block.</a:t>
            </a:r>
            <a:endParaRPr lang="zh-CN" altLang="en-US" dirty="0">
              <a:latin typeface="微软雅黑" panose="020B0503020204020204" pitchFamily="34" charset="-122"/>
              <a:ea typeface="微软雅黑" panose="020B0503020204020204" pitchFamily="34" charset="-122"/>
            </a:endParaRPr>
          </a:p>
        </p:txBody>
      </p:sp>
      <p:cxnSp>
        <p:nvCxnSpPr>
          <p:cNvPr id="18" name="直接连接符 17"/>
          <p:cNvCxnSpPr/>
          <p:nvPr/>
        </p:nvCxnSpPr>
        <p:spPr>
          <a:xfrm>
            <a:off x="2119357" y="4760007"/>
            <a:ext cx="3409772" cy="0"/>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1835688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3" name="内容占位符 2"/>
          <p:cNvSpPr>
            <a:spLocks noGrp="1"/>
          </p:cNvSpPr>
          <p:nvPr>
            <p:ph idx="1"/>
          </p:nvPr>
        </p:nvSpPr>
        <p:spPr/>
        <p:txBody>
          <a:bodyPr>
            <a:normAutofit/>
          </a:bodyPr>
          <a:lstStyle/>
          <a:p>
            <a:pPr marL="342900" lvl="0" indent="-342900" defTabSz="914400" fontAlgn="base">
              <a:lnSpc>
                <a:spcPct val="100000"/>
              </a:lnSpc>
              <a:spcBef>
                <a:spcPct val="20000"/>
              </a:spcBef>
              <a:spcAft>
                <a:spcPct val="0"/>
              </a:spcAft>
              <a:buFontTx/>
              <a:buChar char="•"/>
              <a:tabLst>
                <a:tab pos="365125" algn="l"/>
              </a:tabLst>
            </a:pPr>
            <a:r>
              <a:rPr lang="en-US" altLang="zh-CN" sz="2200" b="1" dirty="0">
                <a:solidFill>
                  <a:srgbClr val="000000"/>
                </a:solidFill>
              </a:rPr>
              <a:t>Runtime Environment</a:t>
            </a:r>
            <a:endParaRPr lang="en-US" altLang="zh-CN" sz="2200" dirty="0">
              <a:solidFill>
                <a:srgbClr val="000000"/>
              </a:solidFill>
            </a:endParaRP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The structure of the target computer’s </a:t>
            </a:r>
            <a:r>
              <a:rPr lang="en-US" altLang="zh-CN" sz="2200" b="1" dirty="0">
                <a:solidFill>
                  <a:srgbClr val="000000"/>
                </a:solidFill>
              </a:rPr>
              <a:t>registers and memory</a:t>
            </a:r>
            <a:r>
              <a:rPr lang="en-US" altLang="zh-CN" sz="2200" dirty="0">
                <a:solidFill>
                  <a:srgbClr val="000000"/>
                </a:solidFill>
              </a:rPr>
              <a:t> that serves to manage memory and maintain the information needed </a:t>
            </a:r>
            <a:r>
              <a:rPr lang="en-US" altLang="zh-CN" sz="2200" b="1" dirty="0">
                <a:solidFill>
                  <a:srgbClr val="000000"/>
                </a:solidFill>
              </a:rPr>
              <a:t>to guide the execution process</a:t>
            </a:r>
          </a:p>
          <a:p>
            <a:pPr marL="522288" lvl="1" indent="11113" defTabSz="914400" fontAlgn="base">
              <a:lnSpc>
                <a:spcPct val="100000"/>
              </a:lnSpc>
              <a:spcBef>
                <a:spcPct val="20000"/>
              </a:spcBef>
              <a:spcAft>
                <a:spcPct val="0"/>
              </a:spcAft>
              <a:buNone/>
              <a:tabLst>
                <a:tab pos="365125" algn="l"/>
              </a:tabLst>
            </a:pPr>
            <a:endParaRPr lang="en-US" altLang="zh-CN" sz="2200" b="1" dirty="0">
              <a:solidFill>
                <a:srgbClr val="000000"/>
              </a:solidFill>
            </a:endParaRPr>
          </a:p>
          <a:p>
            <a:pPr marL="342900" lvl="0" indent="-342900" defTabSz="914400" fontAlgn="base">
              <a:lnSpc>
                <a:spcPct val="100000"/>
              </a:lnSpc>
              <a:spcBef>
                <a:spcPct val="20000"/>
              </a:spcBef>
              <a:spcAft>
                <a:spcPct val="0"/>
              </a:spcAft>
              <a:buFontTx/>
              <a:buChar char="•"/>
              <a:tabLst>
                <a:tab pos="365125" algn="l"/>
              </a:tabLst>
            </a:pPr>
            <a:r>
              <a:rPr lang="en-US" altLang="zh-CN" sz="2200" b="1" dirty="0">
                <a:solidFill>
                  <a:srgbClr val="000000"/>
                </a:solidFill>
              </a:rPr>
              <a:t>Three kinds of runtime environments</a:t>
            </a:r>
            <a:endParaRPr lang="en-US" altLang="zh-CN" sz="2200" dirty="0">
              <a:solidFill>
                <a:srgbClr val="000000"/>
              </a:solidFill>
            </a:endParaRP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(1) </a:t>
            </a:r>
            <a:r>
              <a:rPr lang="en-US" altLang="zh-CN" sz="2200" b="1" dirty="0">
                <a:solidFill>
                  <a:srgbClr val="000000"/>
                </a:solidFill>
              </a:rPr>
              <a:t>Fully static</a:t>
            </a:r>
            <a:r>
              <a:rPr lang="en-US" altLang="zh-CN" sz="2200" dirty="0">
                <a:solidFill>
                  <a:srgbClr val="000000"/>
                </a:solidFill>
              </a:rPr>
              <a:t> environment; FORTRAN77</a:t>
            </a: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(2) </a:t>
            </a:r>
            <a:r>
              <a:rPr lang="en-US" altLang="zh-CN" sz="2200" b="1" dirty="0">
                <a:solidFill>
                  <a:srgbClr val="000000"/>
                </a:solidFill>
              </a:rPr>
              <a:t>Stack-Based</a:t>
            </a:r>
            <a:r>
              <a:rPr lang="en-US" altLang="zh-CN" sz="2200" dirty="0">
                <a:solidFill>
                  <a:srgbClr val="000000"/>
                </a:solidFill>
              </a:rPr>
              <a:t> environment;	C </a:t>
            </a:r>
            <a:r>
              <a:rPr lang="en-US" altLang="zh-CN" sz="2200" dirty="0" err="1">
                <a:solidFill>
                  <a:srgbClr val="000000"/>
                </a:solidFill>
              </a:rPr>
              <a:t>C</a:t>
            </a:r>
            <a:r>
              <a:rPr lang="en-US" altLang="zh-CN" sz="2200" dirty="0">
                <a:solidFill>
                  <a:srgbClr val="000000"/>
                </a:solidFill>
              </a:rPr>
              <a:t>++</a:t>
            </a: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(3) </a:t>
            </a:r>
            <a:r>
              <a:rPr lang="en-US" altLang="zh-CN" sz="2200" b="1" dirty="0">
                <a:solidFill>
                  <a:srgbClr val="000000"/>
                </a:solidFill>
              </a:rPr>
              <a:t>Fully dynamic</a:t>
            </a:r>
            <a:r>
              <a:rPr lang="en-US" altLang="zh-CN" sz="2200" dirty="0">
                <a:solidFill>
                  <a:srgbClr val="000000"/>
                </a:solidFill>
              </a:rPr>
              <a:t> environment; LISP</a:t>
            </a:r>
            <a:endParaRPr lang="zh-CN" altLang="en-US" sz="2200" dirty="0">
              <a:solidFill>
                <a:srgbClr val="000000"/>
              </a:solidFill>
            </a:endParaRPr>
          </a:p>
          <a:p>
            <a:endParaRPr lang="zh-CN" altLang="en-US" dirty="0"/>
          </a:p>
        </p:txBody>
      </p:sp>
    </p:spTree>
    <p:extLst>
      <p:ext uri="{BB962C8B-B14F-4D97-AF65-F5344CB8AC3E}">
        <p14:creationId xmlns:p14="http://schemas.microsoft.com/office/powerpoint/2010/main" val="469567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3" name="内容占位符 2"/>
          <p:cNvSpPr>
            <a:spLocks noGrp="1"/>
          </p:cNvSpPr>
          <p:nvPr>
            <p:ph idx="1"/>
          </p:nvPr>
        </p:nvSpPr>
        <p:spPr/>
        <p:txBody>
          <a:bodyPr>
            <a:normAutofit fontScale="92500" lnSpcReduction="10000"/>
          </a:bodyPr>
          <a:lstStyle/>
          <a:p>
            <a:pPr marL="342900" lvl="0" indent="-342900" defTabSz="914400" fontAlgn="base">
              <a:lnSpc>
                <a:spcPct val="80000"/>
              </a:lnSpc>
              <a:spcBef>
                <a:spcPct val="20000"/>
              </a:spcBef>
              <a:spcAft>
                <a:spcPct val="0"/>
              </a:spcAft>
              <a:buFontTx/>
              <a:buChar char="•"/>
            </a:pPr>
            <a:r>
              <a:rPr lang="en-US" altLang="zh-CN" sz="2800" dirty="0">
                <a:solidFill>
                  <a:srgbClr val="000000"/>
                </a:solidFill>
                <a:latin typeface="Times New Roman"/>
                <a:ea typeface="宋体"/>
              </a:rPr>
              <a:t>Main issues will be discussed in more detail in the chapter: </a:t>
            </a:r>
          </a:p>
          <a:p>
            <a:pPr marL="742950" lvl="1" indent="-285750" defTabSz="914400" fontAlgn="base">
              <a:lnSpc>
                <a:spcPct val="80000"/>
              </a:lnSpc>
              <a:spcBef>
                <a:spcPct val="20000"/>
              </a:spcBef>
              <a:spcAft>
                <a:spcPct val="0"/>
              </a:spcAft>
              <a:buFontTx/>
              <a:buChar char="–"/>
            </a:pPr>
            <a:r>
              <a:rPr lang="en-US" altLang="zh-CN" sz="2400" dirty="0">
                <a:solidFill>
                  <a:srgbClr val="000000"/>
                </a:solidFill>
                <a:latin typeface="Times New Roman"/>
                <a:ea typeface="宋体"/>
              </a:rPr>
              <a:t>For each environment, the language features and their properties</a:t>
            </a:r>
          </a:p>
          <a:p>
            <a:pPr marL="742950" lvl="1" indent="-285750" defTabSz="914400" fontAlgn="base">
              <a:lnSpc>
                <a:spcPct val="80000"/>
              </a:lnSpc>
              <a:spcBef>
                <a:spcPct val="20000"/>
              </a:spcBef>
              <a:spcAft>
                <a:spcPct val="0"/>
              </a:spcAft>
              <a:buNone/>
            </a:pPr>
            <a:r>
              <a:rPr lang="en-US" altLang="zh-CN" sz="2400" dirty="0">
                <a:solidFill>
                  <a:srgbClr val="000000"/>
                </a:solidFill>
                <a:latin typeface="Times New Roman"/>
                <a:ea typeface="宋体"/>
              </a:rPr>
              <a:t>	(1) </a:t>
            </a:r>
            <a:r>
              <a:rPr lang="en-US" altLang="zh-CN" sz="2400" b="1" dirty="0">
                <a:solidFill>
                  <a:srgbClr val="000000"/>
                </a:solidFill>
                <a:latin typeface="Times New Roman"/>
                <a:ea typeface="宋体"/>
              </a:rPr>
              <a:t>Scoping and allocation</a:t>
            </a:r>
            <a:r>
              <a:rPr lang="en-US" altLang="zh-CN" sz="2400" dirty="0">
                <a:solidFill>
                  <a:srgbClr val="000000"/>
                </a:solidFill>
                <a:latin typeface="Times New Roman"/>
                <a:ea typeface="宋体"/>
              </a:rPr>
              <a:t> issues;</a:t>
            </a:r>
          </a:p>
          <a:p>
            <a:pPr marL="742950" lvl="1" indent="-285750" defTabSz="914400" fontAlgn="base">
              <a:lnSpc>
                <a:spcPct val="80000"/>
              </a:lnSpc>
              <a:spcBef>
                <a:spcPct val="20000"/>
              </a:spcBef>
              <a:spcAft>
                <a:spcPct val="0"/>
              </a:spcAft>
              <a:buNone/>
            </a:pPr>
            <a:r>
              <a:rPr lang="en-US" altLang="zh-CN" sz="2400" dirty="0">
                <a:solidFill>
                  <a:srgbClr val="000000"/>
                </a:solidFill>
                <a:latin typeface="Times New Roman"/>
                <a:ea typeface="宋体"/>
              </a:rPr>
              <a:t>	(2) Nature of </a:t>
            </a:r>
            <a:r>
              <a:rPr lang="en-US" altLang="zh-CN" sz="2400" b="1" dirty="0">
                <a:solidFill>
                  <a:srgbClr val="000000"/>
                </a:solidFill>
                <a:latin typeface="Times New Roman"/>
                <a:ea typeface="宋体"/>
              </a:rPr>
              <a:t>procedure calls</a:t>
            </a:r>
            <a:r>
              <a:rPr lang="en-US" altLang="zh-CN" sz="2400" dirty="0">
                <a:solidFill>
                  <a:srgbClr val="000000"/>
                </a:solidFill>
                <a:latin typeface="Times New Roman"/>
                <a:ea typeface="宋体"/>
              </a:rPr>
              <a:t>;</a:t>
            </a:r>
          </a:p>
          <a:p>
            <a:pPr marL="742950" lvl="1" indent="-285750" defTabSz="914400" fontAlgn="base">
              <a:lnSpc>
                <a:spcPct val="80000"/>
              </a:lnSpc>
              <a:spcBef>
                <a:spcPct val="20000"/>
              </a:spcBef>
              <a:spcAft>
                <a:spcPct val="0"/>
              </a:spcAft>
              <a:buNone/>
            </a:pPr>
            <a:r>
              <a:rPr lang="en-US" altLang="zh-CN" sz="2400" dirty="0">
                <a:solidFill>
                  <a:srgbClr val="000000"/>
                </a:solidFill>
                <a:latin typeface="Times New Roman"/>
                <a:ea typeface="宋体"/>
              </a:rPr>
              <a:t>	(3) </a:t>
            </a:r>
            <a:r>
              <a:rPr lang="en-US" altLang="zh-CN" sz="2400" b="1" dirty="0">
                <a:solidFill>
                  <a:srgbClr val="000000"/>
                </a:solidFill>
                <a:latin typeface="Times New Roman"/>
                <a:ea typeface="宋体"/>
              </a:rPr>
              <a:t>Parameter passing</a:t>
            </a:r>
            <a:r>
              <a:rPr lang="en-US" altLang="zh-CN" sz="2400" dirty="0">
                <a:solidFill>
                  <a:srgbClr val="000000"/>
                </a:solidFill>
                <a:latin typeface="Times New Roman"/>
                <a:ea typeface="宋体"/>
              </a:rPr>
              <a:t> mechanisms</a:t>
            </a:r>
          </a:p>
          <a:p>
            <a:pPr marL="342900" lvl="0" indent="-342900" defTabSz="914400" fontAlgn="base">
              <a:lnSpc>
                <a:spcPct val="80000"/>
              </a:lnSpc>
              <a:spcBef>
                <a:spcPct val="20000"/>
              </a:spcBef>
              <a:spcAft>
                <a:spcPct val="0"/>
              </a:spcAft>
              <a:buFontTx/>
              <a:buChar char="•"/>
            </a:pPr>
            <a:r>
              <a:rPr lang="en-US" altLang="zh-CN" sz="2800" dirty="0">
                <a:solidFill>
                  <a:srgbClr val="000000"/>
                </a:solidFill>
                <a:latin typeface="Times New Roman"/>
                <a:ea typeface="宋体"/>
              </a:rPr>
              <a:t>Focus on the general structure of the environment</a:t>
            </a:r>
          </a:p>
          <a:p>
            <a:pPr marL="342900" lvl="0" indent="-342900" defTabSz="914400" fontAlgn="base">
              <a:lnSpc>
                <a:spcPct val="80000"/>
              </a:lnSpc>
              <a:spcBef>
                <a:spcPct val="20000"/>
              </a:spcBef>
              <a:spcAft>
                <a:spcPct val="0"/>
              </a:spcAft>
              <a:buFontTx/>
              <a:buChar char="•"/>
            </a:pPr>
            <a:endParaRPr lang="en-US" altLang="zh-CN" sz="2800" b="1" dirty="0">
              <a:solidFill>
                <a:srgbClr val="000000"/>
              </a:solidFill>
              <a:latin typeface="Times New Roman"/>
              <a:ea typeface="宋体"/>
            </a:endParaRPr>
          </a:p>
          <a:p>
            <a:pPr marL="342900" lvl="0" indent="-342900" defTabSz="914400" fontAlgn="base">
              <a:lnSpc>
                <a:spcPct val="80000"/>
              </a:lnSpc>
              <a:spcBef>
                <a:spcPct val="20000"/>
              </a:spcBef>
              <a:spcAft>
                <a:spcPct val="0"/>
              </a:spcAft>
              <a:buFontTx/>
              <a:buChar char="•"/>
            </a:pPr>
            <a:r>
              <a:rPr lang="en-US" altLang="zh-CN" sz="2800" b="1" dirty="0">
                <a:solidFill>
                  <a:srgbClr val="000000"/>
                </a:solidFill>
                <a:latin typeface="Times New Roman"/>
                <a:ea typeface="宋体"/>
              </a:rPr>
              <a:t>Note:</a:t>
            </a:r>
            <a:r>
              <a:rPr lang="en-US" altLang="zh-CN" sz="2800" dirty="0">
                <a:solidFill>
                  <a:srgbClr val="000000"/>
                </a:solidFill>
                <a:latin typeface="Times New Roman"/>
                <a:ea typeface="宋体"/>
              </a:rPr>
              <a:t> </a:t>
            </a:r>
          </a:p>
          <a:p>
            <a:pPr marL="742950" lvl="1" indent="-285750" defTabSz="914400" fontAlgn="base">
              <a:lnSpc>
                <a:spcPct val="80000"/>
              </a:lnSpc>
              <a:spcBef>
                <a:spcPct val="20000"/>
              </a:spcBef>
              <a:spcAft>
                <a:spcPct val="0"/>
              </a:spcAft>
              <a:buFontTx/>
              <a:buChar char="–"/>
            </a:pPr>
            <a:r>
              <a:rPr lang="en-US" altLang="zh-CN" sz="2400" dirty="0">
                <a:solidFill>
                  <a:srgbClr val="000000"/>
                </a:solidFill>
                <a:latin typeface="Times New Roman"/>
                <a:ea typeface="宋体"/>
              </a:rPr>
              <a:t>The compiler can only maintain an environment only indirectly</a:t>
            </a:r>
          </a:p>
          <a:p>
            <a:pPr marL="742950" lvl="1" indent="-285750" defTabSz="914400" fontAlgn="base">
              <a:lnSpc>
                <a:spcPct val="80000"/>
              </a:lnSpc>
              <a:spcBef>
                <a:spcPct val="20000"/>
              </a:spcBef>
              <a:spcAft>
                <a:spcPct val="0"/>
              </a:spcAft>
              <a:buFontTx/>
              <a:buChar char="–"/>
            </a:pPr>
            <a:r>
              <a:rPr lang="en-US" altLang="zh-CN" sz="2400" dirty="0">
                <a:solidFill>
                  <a:srgbClr val="000000"/>
                </a:solidFill>
                <a:latin typeface="Times New Roman"/>
                <a:ea typeface="宋体"/>
              </a:rPr>
              <a:t>It must generate code to perform the necessary maintenance operations during program execution.</a:t>
            </a:r>
            <a:endParaRPr lang="zh-CN" altLang="en-US" sz="2400" dirty="0">
              <a:solidFill>
                <a:srgbClr val="000000"/>
              </a:solidFill>
              <a:latin typeface="Times New Roman"/>
              <a:ea typeface="宋体"/>
            </a:endParaRPr>
          </a:p>
          <a:p>
            <a:endParaRPr lang="zh-CN" altLang="en-US" dirty="0"/>
          </a:p>
        </p:txBody>
      </p:sp>
    </p:spTree>
    <p:extLst>
      <p:ext uri="{BB962C8B-B14F-4D97-AF65-F5344CB8AC3E}">
        <p14:creationId xmlns:p14="http://schemas.microsoft.com/office/powerpoint/2010/main" val="21999817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pic>
        <p:nvPicPr>
          <p:cNvPr id="4" name="图片 3"/>
          <p:cNvPicPr>
            <a:picLocks noChangeAspect="1"/>
          </p:cNvPicPr>
          <p:nvPr/>
        </p:nvPicPr>
        <p:blipFill>
          <a:blip r:embed="rId2"/>
          <a:stretch>
            <a:fillRect/>
          </a:stretch>
        </p:blipFill>
        <p:spPr>
          <a:xfrm>
            <a:off x="883831" y="1732752"/>
            <a:ext cx="7514364" cy="4351853"/>
          </a:xfrm>
          <a:prstGeom prst="rect">
            <a:avLst/>
          </a:prstGeom>
        </p:spPr>
      </p:pic>
    </p:spTree>
    <p:extLst>
      <p:ext uri="{BB962C8B-B14F-4D97-AF65-F5344CB8AC3E}">
        <p14:creationId xmlns:p14="http://schemas.microsoft.com/office/powerpoint/2010/main" val="1796701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4" name="矩形 3"/>
          <p:cNvSpPr/>
          <p:nvPr/>
        </p:nvSpPr>
        <p:spPr>
          <a:xfrm>
            <a:off x="299102" y="1386139"/>
            <a:ext cx="8691073" cy="5312223"/>
          </a:xfrm>
          <a:prstGeom prst="rect">
            <a:avLst/>
          </a:prstGeom>
        </p:spPr>
        <p:txBody>
          <a:bodyPr wrap="square">
            <a:spAutoFit/>
          </a:bodyPr>
          <a:lstStyle/>
          <a:p>
            <a:pPr marL="342900" lvl="0" indent="-342900" fontAlgn="base">
              <a:lnSpc>
                <a:spcPct val="90000"/>
              </a:lnSpc>
              <a:spcBef>
                <a:spcPct val="20000"/>
              </a:spcBef>
              <a:spcAft>
                <a:spcPct val="0"/>
              </a:spcAft>
              <a:buFontTx/>
              <a:buChar char="•"/>
            </a:pPr>
            <a:r>
              <a:rPr lang="en-US" altLang="zh-CN" sz="2800" dirty="0">
                <a:solidFill>
                  <a:srgbClr val="000000"/>
                </a:solidFill>
                <a:latin typeface="Times New Roman"/>
                <a:ea typeface="宋体"/>
              </a:rPr>
              <a:t>The global and/or static data of a program can be </a:t>
            </a:r>
            <a:r>
              <a:rPr lang="en-US" altLang="zh-CN" sz="2800" b="1" dirty="0">
                <a:solidFill>
                  <a:srgbClr val="000000"/>
                </a:solidFill>
                <a:latin typeface="Times New Roman"/>
                <a:ea typeface="宋体"/>
              </a:rPr>
              <a:t>fixed in memory prior to execution</a:t>
            </a:r>
            <a:endParaRPr lang="en-US" altLang="zh-CN" sz="2800" dirty="0">
              <a:solidFill>
                <a:srgbClr val="000000"/>
              </a:solidFill>
              <a:latin typeface="Times New Roman"/>
              <a:ea typeface="宋体"/>
            </a:endParaRPr>
          </a:p>
          <a:p>
            <a:pPr marL="742950" lvl="1" indent="-285750" fontAlgn="base">
              <a:lnSpc>
                <a:spcPct val="90000"/>
              </a:lnSpc>
              <a:spcBef>
                <a:spcPct val="20000"/>
              </a:spcBef>
              <a:spcAft>
                <a:spcPct val="0"/>
              </a:spcAft>
              <a:buFontTx/>
              <a:buChar char="–"/>
            </a:pPr>
            <a:r>
              <a:rPr lang="en-US" altLang="zh-CN" sz="2400" dirty="0">
                <a:solidFill>
                  <a:srgbClr val="000000"/>
                </a:solidFill>
                <a:latin typeface="Times New Roman"/>
                <a:ea typeface="宋体"/>
              </a:rPr>
              <a:t>Data are allocated separately in a fixed area in a similar fashion to the code</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In Fortran77, all data are in this class;</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In Pascal, global variables are in this class;</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In C, the external and static variables are in this class</a:t>
            </a:r>
          </a:p>
          <a:p>
            <a:pPr marL="1143000" lvl="2" indent="-228600" fontAlgn="base">
              <a:lnSpc>
                <a:spcPct val="90000"/>
              </a:lnSpc>
              <a:spcBef>
                <a:spcPct val="20000"/>
              </a:spcBef>
              <a:spcAft>
                <a:spcPct val="0"/>
              </a:spcAft>
              <a:buFontTx/>
              <a:buChar char="•"/>
            </a:pPr>
            <a:endParaRPr lang="en-US" altLang="zh-CN" sz="2000" dirty="0">
              <a:solidFill>
                <a:srgbClr val="000000"/>
              </a:solidFill>
              <a:latin typeface="Times New Roman"/>
              <a:ea typeface="宋体"/>
            </a:endParaRPr>
          </a:p>
          <a:p>
            <a:pPr marL="342900" lvl="0" indent="-342900" fontAlgn="base">
              <a:lnSpc>
                <a:spcPct val="90000"/>
              </a:lnSpc>
              <a:spcBef>
                <a:spcPct val="20000"/>
              </a:spcBef>
              <a:spcAft>
                <a:spcPct val="0"/>
              </a:spcAft>
              <a:buFontTx/>
              <a:buChar char="•"/>
            </a:pPr>
            <a:r>
              <a:rPr lang="en-US" altLang="zh-CN" sz="2800" dirty="0">
                <a:solidFill>
                  <a:srgbClr val="000000"/>
                </a:solidFill>
                <a:latin typeface="Times New Roman"/>
                <a:ea typeface="宋体"/>
              </a:rPr>
              <a:t>The </a:t>
            </a:r>
            <a:r>
              <a:rPr lang="en-US" altLang="zh-CN" sz="2800" b="1" dirty="0">
                <a:solidFill>
                  <a:srgbClr val="000000"/>
                </a:solidFill>
                <a:latin typeface="Times New Roman"/>
                <a:ea typeface="宋体"/>
              </a:rPr>
              <a:t>constants</a:t>
            </a:r>
            <a:r>
              <a:rPr lang="en-US" altLang="zh-CN" sz="2800" dirty="0">
                <a:solidFill>
                  <a:srgbClr val="000000"/>
                </a:solidFill>
                <a:latin typeface="Times New Roman"/>
                <a:ea typeface="宋体"/>
              </a:rPr>
              <a:t> are usually allocated memory </a:t>
            </a:r>
            <a:r>
              <a:rPr lang="en-US" altLang="zh-CN" sz="2800" b="1" dirty="0">
                <a:solidFill>
                  <a:srgbClr val="000000"/>
                </a:solidFill>
                <a:latin typeface="Times New Roman"/>
                <a:ea typeface="宋体"/>
              </a:rPr>
              <a:t>in the global/static area</a:t>
            </a:r>
          </a:p>
          <a:p>
            <a:pPr marL="742950" lvl="1" indent="-285750" fontAlgn="base">
              <a:lnSpc>
                <a:spcPct val="90000"/>
              </a:lnSpc>
              <a:spcBef>
                <a:spcPct val="20000"/>
              </a:spcBef>
              <a:spcAft>
                <a:spcPct val="0"/>
              </a:spcAft>
              <a:buFontTx/>
              <a:buChar char="–"/>
            </a:pPr>
            <a:r>
              <a:rPr lang="en-US" altLang="zh-CN" sz="2400" dirty="0" err="1">
                <a:solidFill>
                  <a:srgbClr val="000000"/>
                </a:solidFill>
                <a:latin typeface="Times New Roman"/>
                <a:ea typeface="宋体"/>
              </a:rPr>
              <a:t>Const</a:t>
            </a:r>
            <a:r>
              <a:rPr lang="en-US" altLang="zh-CN" sz="2400" dirty="0">
                <a:solidFill>
                  <a:srgbClr val="000000"/>
                </a:solidFill>
                <a:latin typeface="Times New Roman"/>
                <a:ea typeface="宋体"/>
              </a:rPr>
              <a:t> declarations of C and Pascal;</a:t>
            </a:r>
          </a:p>
          <a:p>
            <a:pPr marL="742950" lvl="1" indent="-285750" fontAlgn="base">
              <a:lnSpc>
                <a:spcPct val="90000"/>
              </a:lnSpc>
              <a:spcBef>
                <a:spcPct val="20000"/>
              </a:spcBef>
              <a:spcAft>
                <a:spcPct val="0"/>
              </a:spcAft>
              <a:buFontTx/>
              <a:buChar char="–"/>
            </a:pPr>
            <a:r>
              <a:rPr lang="en-US" altLang="zh-CN" sz="2400" dirty="0">
                <a:solidFill>
                  <a:srgbClr val="000000"/>
                </a:solidFill>
                <a:latin typeface="Times New Roman"/>
                <a:ea typeface="宋体"/>
              </a:rPr>
              <a:t>Literal values used in the code, </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such as </a:t>
            </a:r>
            <a:r>
              <a:rPr lang="en-US" altLang="zh-CN" sz="2000" dirty="0">
                <a:solidFill>
                  <a:srgbClr val="000000"/>
                </a:solidFill>
                <a:latin typeface="Arial" panose="020B0604020202020204" pitchFamily="34" charset="0"/>
                <a:ea typeface="宋体"/>
              </a:rPr>
              <a:t>“</a:t>
            </a:r>
            <a:r>
              <a:rPr lang="en-US" altLang="zh-CN" sz="2000" dirty="0" err="1">
                <a:solidFill>
                  <a:srgbClr val="000000"/>
                </a:solidFill>
                <a:latin typeface="Times New Roman"/>
                <a:ea typeface="宋体"/>
              </a:rPr>
              <a:t>Hello%D</a:t>
            </a:r>
            <a:r>
              <a:rPr lang="en-US" altLang="zh-CN" sz="2000" dirty="0">
                <a:solidFill>
                  <a:srgbClr val="000000"/>
                </a:solidFill>
                <a:latin typeface="Times New Roman"/>
                <a:ea typeface="宋体"/>
              </a:rPr>
              <a:t>\n</a:t>
            </a:r>
            <a:r>
              <a:rPr lang="en-US" altLang="zh-CN" sz="2000" dirty="0">
                <a:solidFill>
                  <a:srgbClr val="000000"/>
                </a:solidFill>
                <a:latin typeface="Arial" panose="020B0604020202020204" pitchFamily="34" charset="0"/>
                <a:ea typeface="宋体"/>
              </a:rPr>
              <a:t>”</a:t>
            </a:r>
            <a:r>
              <a:rPr lang="en-US" altLang="zh-CN" sz="2000" dirty="0">
                <a:solidFill>
                  <a:srgbClr val="000000"/>
                </a:solidFill>
                <a:latin typeface="Times New Roman"/>
                <a:ea typeface="宋体"/>
              </a:rPr>
              <a:t> and integer value 12345:</a:t>
            </a:r>
          </a:p>
          <a:p>
            <a:pPr marL="1143000" lvl="2" indent="-228600" fontAlgn="base">
              <a:lnSpc>
                <a:spcPct val="90000"/>
              </a:lnSpc>
              <a:spcBef>
                <a:spcPct val="20000"/>
              </a:spcBef>
              <a:spcAft>
                <a:spcPct val="0"/>
              </a:spcAft>
              <a:buFontTx/>
              <a:buChar char="•"/>
            </a:pPr>
            <a:r>
              <a:rPr lang="en-US" altLang="zh-CN" sz="2000" dirty="0" err="1">
                <a:solidFill>
                  <a:srgbClr val="000000"/>
                </a:solidFill>
                <a:latin typeface="Times New Roman"/>
                <a:ea typeface="宋体"/>
              </a:rPr>
              <a:t>Printf</a:t>
            </a:r>
            <a:r>
              <a:rPr lang="en-US" altLang="zh-CN" sz="2000" dirty="0">
                <a:solidFill>
                  <a:srgbClr val="000000"/>
                </a:solidFill>
                <a:latin typeface="Times New Roman"/>
                <a:ea typeface="宋体"/>
              </a:rPr>
              <a:t>(</a:t>
            </a:r>
            <a:r>
              <a:rPr lang="en-US" altLang="zh-CN" sz="2000" dirty="0">
                <a:solidFill>
                  <a:srgbClr val="000000"/>
                </a:solidFill>
                <a:latin typeface="Arial" panose="020B0604020202020204" pitchFamily="34" charset="0"/>
                <a:ea typeface="宋体"/>
              </a:rPr>
              <a:t>“</a:t>
            </a:r>
            <a:r>
              <a:rPr lang="en-US" altLang="zh-CN" sz="2000" dirty="0">
                <a:solidFill>
                  <a:srgbClr val="000000"/>
                </a:solidFill>
                <a:latin typeface="Times New Roman"/>
                <a:ea typeface="宋体"/>
              </a:rPr>
              <a:t>Hello %d\n</a:t>
            </a:r>
            <a:r>
              <a:rPr lang="en-US" altLang="zh-CN" sz="2000" dirty="0">
                <a:solidFill>
                  <a:srgbClr val="000000"/>
                </a:solidFill>
                <a:latin typeface="Arial" panose="020B0604020202020204" pitchFamily="34" charset="0"/>
                <a:ea typeface="宋体"/>
              </a:rPr>
              <a:t>”</a:t>
            </a:r>
            <a:r>
              <a:rPr lang="en-US" altLang="zh-CN" sz="2000" dirty="0">
                <a:solidFill>
                  <a:srgbClr val="000000"/>
                </a:solidFill>
                <a:latin typeface="Times New Roman"/>
                <a:ea typeface="宋体"/>
              </a:rPr>
              <a:t>,12345);</a:t>
            </a:r>
            <a:endParaRPr lang="zh-CN" altLang="en-US" sz="2000" dirty="0">
              <a:solidFill>
                <a:srgbClr val="000000"/>
              </a:solidFill>
              <a:latin typeface="Times New Roman"/>
              <a:ea typeface="宋体"/>
            </a:endParaRPr>
          </a:p>
        </p:txBody>
      </p:sp>
    </p:spTree>
    <p:extLst>
      <p:ext uri="{BB962C8B-B14F-4D97-AF65-F5344CB8AC3E}">
        <p14:creationId xmlns:p14="http://schemas.microsoft.com/office/powerpoint/2010/main" val="26390717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4" name="Rectangle 3"/>
          <p:cNvSpPr txBox="1">
            <a:spLocks noChangeArrowheads="1"/>
          </p:cNvSpPr>
          <p:nvPr/>
        </p:nvSpPr>
        <p:spPr bwMode="auto">
          <a:xfrm>
            <a:off x="617434" y="1491568"/>
            <a:ext cx="7772400" cy="50630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dirty="0">
                <a:ln>
                  <a:noFill/>
                </a:ln>
                <a:solidFill>
                  <a:srgbClr val="000000"/>
                </a:solidFill>
                <a:effectLst/>
                <a:uLnTx/>
                <a:uFillTx/>
                <a:latin typeface="Times New Roman"/>
                <a:ea typeface="宋体"/>
                <a:cs typeface="+mn-cs"/>
              </a:rPr>
              <a:t>The memory area used for </a:t>
            </a:r>
            <a:r>
              <a:rPr kumimoji="0" lang="en-US" altLang="zh-CN" sz="2800" b="1" i="0" u="none" strike="noStrike" kern="1200" cap="none" spc="0" normalizeH="0" baseline="0" noProof="0" dirty="0">
                <a:ln>
                  <a:noFill/>
                </a:ln>
                <a:solidFill>
                  <a:srgbClr val="000000"/>
                </a:solidFill>
                <a:effectLst/>
                <a:uLnTx/>
                <a:uFillTx/>
                <a:latin typeface="Times New Roman"/>
                <a:ea typeface="宋体"/>
                <a:cs typeface="+mn-cs"/>
              </a:rPr>
              <a:t>dynamic data</a:t>
            </a:r>
            <a:r>
              <a:rPr kumimoji="0" lang="en-US" altLang="zh-CN" sz="2800" b="0" i="0" u="none" strike="noStrike" kern="1200" cap="none" spc="0" normalizeH="0" baseline="0" noProof="0" dirty="0">
                <a:ln>
                  <a:noFill/>
                </a:ln>
                <a:solidFill>
                  <a:srgbClr val="000000"/>
                </a:solidFill>
                <a:effectLst/>
                <a:uLnTx/>
                <a:uFillTx/>
                <a:latin typeface="Times New Roman"/>
                <a:ea typeface="宋体"/>
                <a:cs typeface="+mn-cs"/>
              </a:rPr>
              <a:t> can be organized in many different ways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dirty="0">
                <a:ln>
                  <a:noFill/>
                </a:ln>
                <a:solidFill>
                  <a:srgbClr val="000000"/>
                </a:solidFill>
                <a:effectLst/>
                <a:uLnTx/>
                <a:uFillTx/>
                <a:latin typeface="Times New Roman"/>
                <a:ea typeface="宋体"/>
                <a:cs typeface="+mn-cs"/>
              </a:rPr>
              <a:t>Typically, this memory can be divided into a stack area and a heap area;</a:t>
            </a:r>
          </a:p>
          <a:p>
            <a:pPr marL="1143000" marR="0" lvl="2" indent="-228600" algn="l" defTabSz="914400" rtl="0" eaLnBrk="1" fontAlgn="base" latinLnBrk="0" hangingPunct="1">
              <a:lnSpc>
                <a:spcPct val="80000"/>
              </a:lnSpc>
              <a:spcBef>
                <a:spcPct val="20000"/>
              </a:spcBef>
              <a:spcAft>
                <a:spcPct val="0"/>
              </a:spcAft>
              <a:buClrTx/>
              <a:buSzTx/>
              <a:buFontTx/>
              <a:buChar char="•"/>
              <a:tabLst/>
              <a:defRPr/>
            </a:pPr>
            <a:r>
              <a:rPr kumimoji="0" lang="en-US" altLang="zh-CN" sz="2000" b="1" i="0" u="none" strike="noStrike" kern="1200" cap="none" spc="0" normalizeH="0" baseline="0" noProof="0" dirty="0">
                <a:ln>
                  <a:noFill/>
                </a:ln>
                <a:solidFill>
                  <a:srgbClr val="000000"/>
                </a:solidFill>
                <a:effectLst/>
                <a:uLnTx/>
                <a:uFillTx/>
                <a:latin typeface="Times New Roman"/>
                <a:ea typeface="宋体"/>
                <a:cs typeface="+mn-cs"/>
              </a:rPr>
              <a:t>A stack area</a:t>
            </a:r>
            <a:r>
              <a:rPr kumimoji="0" lang="en-US" altLang="zh-CN" sz="2000" b="0" i="0" u="none" strike="noStrike" kern="1200" cap="none" spc="0" normalizeH="0" baseline="0" noProof="0" dirty="0">
                <a:ln>
                  <a:noFill/>
                </a:ln>
                <a:solidFill>
                  <a:srgbClr val="000000"/>
                </a:solidFill>
                <a:effectLst/>
                <a:uLnTx/>
                <a:uFillTx/>
                <a:latin typeface="Times New Roman"/>
                <a:ea typeface="宋体"/>
                <a:cs typeface="+mn-cs"/>
              </a:rPr>
              <a:t> used for data whose allocation occurs in FIFO fashion;</a:t>
            </a:r>
          </a:p>
          <a:p>
            <a:pPr marL="1143000" marR="0" lvl="2" indent="-228600" algn="l" defTabSz="914400" rtl="0" eaLnBrk="1" fontAlgn="base" latinLnBrk="0" hangingPunct="1">
              <a:lnSpc>
                <a:spcPct val="80000"/>
              </a:lnSpc>
              <a:spcBef>
                <a:spcPct val="20000"/>
              </a:spcBef>
              <a:spcAft>
                <a:spcPct val="0"/>
              </a:spcAft>
              <a:buClrTx/>
              <a:buSzTx/>
              <a:buFontTx/>
              <a:buChar char="•"/>
              <a:tabLst/>
              <a:defRPr/>
            </a:pPr>
            <a:r>
              <a:rPr kumimoji="0" lang="en-US" altLang="zh-CN" sz="2000" b="1" i="0" u="none" strike="noStrike" kern="1200" cap="none" spc="0" normalizeH="0" baseline="0" noProof="0" dirty="0">
                <a:ln>
                  <a:noFill/>
                </a:ln>
                <a:solidFill>
                  <a:srgbClr val="000000"/>
                </a:solidFill>
                <a:effectLst/>
                <a:uLnTx/>
                <a:uFillTx/>
                <a:latin typeface="Times New Roman"/>
                <a:ea typeface="宋体"/>
                <a:cs typeface="+mn-cs"/>
              </a:rPr>
              <a:t>A heap area</a:t>
            </a:r>
            <a:r>
              <a:rPr kumimoji="0" lang="en-US" altLang="zh-CN" sz="2000" b="0" i="0" u="none" strike="noStrike" kern="1200" cap="none" spc="0" normalizeH="0" baseline="0" noProof="0" dirty="0">
                <a:ln>
                  <a:noFill/>
                </a:ln>
                <a:solidFill>
                  <a:srgbClr val="000000"/>
                </a:solidFill>
                <a:effectLst/>
                <a:uLnTx/>
                <a:uFillTx/>
                <a:latin typeface="Times New Roman"/>
                <a:ea typeface="宋体"/>
                <a:cs typeface="+mn-cs"/>
              </a:rPr>
              <a:t> used for dynamic allocation occurs not in FIFO fashion.</a:t>
            </a:r>
          </a:p>
          <a:p>
            <a:pPr marL="1143000" marR="0" lvl="2" indent="-228600" algn="l" defTabSz="914400" rtl="0" eaLnBrk="1" fontAlgn="base" latinLnBrk="0" hangingPunct="1">
              <a:lnSpc>
                <a:spcPct val="80000"/>
              </a:lnSpc>
              <a:spcBef>
                <a:spcPct val="20000"/>
              </a:spcBef>
              <a:spcAft>
                <a:spcPct val="0"/>
              </a:spcAft>
              <a:buClrTx/>
              <a:buSzTx/>
              <a:buFontTx/>
              <a:buChar char="•"/>
              <a:tabLst/>
              <a:defRPr/>
            </a:pPr>
            <a:endParaRPr kumimoji="0" lang="en-US" altLang="zh-CN" sz="2000" b="0" i="0" u="none" strike="noStrike" kern="1200" cap="none" spc="0" normalizeH="0" baseline="0" noProof="0" dirty="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dirty="0">
                <a:ln>
                  <a:noFill/>
                </a:ln>
                <a:solidFill>
                  <a:srgbClr val="000000"/>
                </a:solidFill>
                <a:effectLst/>
                <a:uLnTx/>
                <a:uFillTx/>
                <a:latin typeface="Times New Roman"/>
                <a:ea typeface="宋体"/>
                <a:cs typeface="+mn-cs"/>
              </a:rPr>
              <a:t>Generally, the architecture of the target machine includes a processor stack for procedure calls and returns.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dirty="0">
                <a:ln>
                  <a:noFill/>
                </a:ln>
                <a:solidFill>
                  <a:srgbClr val="000000"/>
                </a:solidFill>
                <a:effectLst/>
                <a:uLnTx/>
                <a:uFillTx/>
                <a:latin typeface="Times New Roman"/>
                <a:ea typeface="宋体"/>
                <a:cs typeface="+mn-cs"/>
              </a:rPr>
              <a:t>Sometimes, a compiler will have to arrange for the </a:t>
            </a:r>
            <a:r>
              <a:rPr kumimoji="0" lang="en-US" altLang="zh-CN" sz="2400" b="1" i="0" u="none" strike="noStrike" kern="1200" cap="none" spc="0" normalizeH="0" baseline="0" noProof="0" dirty="0">
                <a:ln>
                  <a:noFill/>
                </a:ln>
                <a:solidFill>
                  <a:srgbClr val="000000"/>
                </a:solidFill>
                <a:effectLst/>
                <a:uLnTx/>
                <a:uFillTx/>
                <a:latin typeface="Times New Roman"/>
                <a:ea typeface="宋体"/>
                <a:cs typeface="+mn-cs"/>
              </a:rPr>
              <a:t>explicit allocation of the processor stack</a:t>
            </a:r>
            <a:r>
              <a:rPr kumimoji="0" lang="en-US" altLang="zh-CN" sz="2400" b="0" i="0" u="none" strike="noStrike" kern="1200" cap="none" spc="0" normalizeH="0" baseline="0" noProof="0" dirty="0">
                <a:ln>
                  <a:noFill/>
                </a:ln>
                <a:solidFill>
                  <a:srgbClr val="000000"/>
                </a:solidFill>
                <a:effectLst/>
                <a:uLnTx/>
                <a:uFillTx/>
                <a:latin typeface="Times New Roman"/>
                <a:ea typeface="宋体"/>
                <a:cs typeface="+mn-cs"/>
              </a:rPr>
              <a:t> in an appropriate place in memory.</a:t>
            </a:r>
            <a:endParaRPr kumimoji="0" lang="zh-CN" altLang="en-US" sz="2400" b="0" i="0" u="none" strike="noStrike" kern="1200" cap="none" spc="0" normalizeH="0" baseline="0" noProof="0" dirty="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306697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pic>
        <p:nvPicPr>
          <p:cNvPr id="4" name="图片 3"/>
          <p:cNvPicPr>
            <a:picLocks noChangeAspect="1"/>
          </p:cNvPicPr>
          <p:nvPr/>
        </p:nvPicPr>
        <p:blipFill>
          <a:blip r:embed="rId2"/>
          <a:stretch>
            <a:fillRect/>
          </a:stretch>
        </p:blipFill>
        <p:spPr>
          <a:xfrm>
            <a:off x="558038" y="1538613"/>
            <a:ext cx="8181747" cy="5216465"/>
          </a:xfrm>
          <a:prstGeom prst="rect">
            <a:avLst/>
          </a:prstGeom>
        </p:spPr>
      </p:pic>
    </p:spTree>
    <p:extLst>
      <p:ext uri="{BB962C8B-B14F-4D97-AF65-F5344CB8AC3E}">
        <p14:creationId xmlns:p14="http://schemas.microsoft.com/office/powerpoint/2010/main" val="5226764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Trees</a:t>
            </a:r>
            <a:endParaRPr lang="zh-CN" altLang="en-US" dirty="0"/>
          </a:p>
        </p:txBody>
      </p:sp>
      <p:sp>
        <p:nvSpPr>
          <p:cNvPr id="5" name="内容占位符 2"/>
          <p:cNvSpPr>
            <a:spLocks noGrp="1"/>
          </p:cNvSpPr>
          <p:nvPr>
            <p:ph idx="1"/>
          </p:nvPr>
        </p:nvSpPr>
        <p:spPr>
          <a:xfrm>
            <a:off x="828675" y="1600200"/>
            <a:ext cx="7486650" cy="1587381"/>
          </a:xfrm>
        </p:spPr>
        <p:txBody>
          <a:bodyPr/>
          <a:lstStyle/>
          <a:p>
            <a:r>
              <a:rPr lang="en-US" altLang="zh-CN" dirty="0"/>
              <a:t>Almost all compilers for languages that use procedures, functions, or methods as units of user-defined actions manage at least part of their run-time memory as a stack. Each time a procedure1 is called, space for its local variables is pushed onto a stack, and when the procedure terminates, that space is popped off the stack.</a:t>
            </a:r>
          </a:p>
          <a:p>
            <a:r>
              <a:rPr lang="en-US" altLang="zh-CN" dirty="0"/>
              <a:t>The following example illustrates nesting of procedure calls.</a:t>
            </a:r>
            <a:endParaRPr lang="zh-CN" altLang="en-US" dirty="0"/>
          </a:p>
        </p:txBody>
      </p:sp>
      <p:pic>
        <p:nvPicPr>
          <p:cNvPr id="3" name="图片 2"/>
          <p:cNvPicPr>
            <a:picLocks noChangeAspect="1"/>
          </p:cNvPicPr>
          <p:nvPr/>
        </p:nvPicPr>
        <p:blipFill>
          <a:blip r:embed="rId2"/>
          <a:stretch>
            <a:fillRect/>
          </a:stretch>
        </p:blipFill>
        <p:spPr>
          <a:xfrm>
            <a:off x="966299" y="3199635"/>
            <a:ext cx="3306599" cy="3658365"/>
          </a:xfrm>
          <a:prstGeom prst="rect">
            <a:avLst/>
          </a:prstGeom>
        </p:spPr>
      </p:pic>
      <p:sp>
        <p:nvSpPr>
          <p:cNvPr id="6" name="右箭头 5"/>
          <p:cNvSpPr/>
          <p:nvPr/>
        </p:nvSpPr>
        <p:spPr>
          <a:xfrm>
            <a:off x="4366901" y="3837063"/>
            <a:ext cx="538386" cy="25637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图片 6"/>
          <p:cNvPicPr>
            <a:picLocks noChangeAspect="1"/>
          </p:cNvPicPr>
          <p:nvPr/>
        </p:nvPicPr>
        <p:blipFill>
          <a:blip r:embed="rId3"/>
          <a:stretch>
            <a:fillRect/>
          </a:stretch>
        </p:blipFill>
        <p:spPr>
          <a:xfrm>
            <a:off x="5107804" y="3202490"/>
            <a:ext cx="4036196" cy="2162175"/>
          </a:xfrm>
          <a:prstGeom prst="rect">
            <a:avLst/>
          </a:prstGeom>
        </p:spPr>
      </p:pic>
      <p:sp>
        <p:nvSpPr>
          <p:cNvPr id="8" name="矩形 7"/>
          <p:cNvSpPr/>
          <p:nvPr/>
        </p:nvSpPr>
        <p:spPr>
          <a:xfrm>
            <a:off x="4371174" y="5513694"/>
            <a:ext cx="4572000" cy="830997"/>
          </a:xfrm>
          <a:prstGeom prst="rect">
            <a:avLst/>
          </a:prstGeom>
        </p:spPr>
        <p:txBody>
          <a:bodyPr>
            <a:spAutoFit/>
          </a:bodyPr>
          <a:lstStyle/>
          <a:p>
            <a:pPr marL="228600" indent="-228600">
              <a:buAutoNum type="arabicPeriod"/>
            </a:pPr>
            <a:r>
              <a:rPr lang="en-US" altLang="zh-CN" sz="1200" dirty="0">
                <a:latin typeface="微软雅黑" panose="020B0503020204020204" pitchFamily="34" charset="-122"/>
                <a:ea typeface="微软雅黑" panose="020B0503020204020204" pitchFamily="34" charset="-122"/>
              </a:rPr>
              <a:t>The sequence of procedure </a:t>
            </a:r>
            <a:r>
              <a:rPr lang="en-US" altLang="zh-CN" sz="1200" b="1" dirty="0">
                <a:latin typeface="微软雅黑" panose="020B0503020204020204" pitchFamily="34" charset="-122"/>
                <a:ea typeface="微软雅黑" panose="020B0503020204020204" pitchFamily="34" charset="-122"/>
              </a:rPr>
              <a:t>calls</a:t>
            </a:r>
            <a:r>
              <a:rPr lang="en-US" altLang="zh-CN" sz="1200" dirty="0">
                <a:latin typeface="微软雅黑" panose="020B0503020204020204" pitchFamily="34" charset="-122"/>
                <a:ea typeface="微软雅黑" panose="020B0503020204020204" pitchFamily="34" charset="-122"/>
              </a:rPr>
              <a:t> corresponds to a preorder traversal of the activation tree.</a:t>
            </a:r>
          </a:p>
          <a:p>
            <a:pPr marL="228600" indent="-228600">
              <a:buAutoNum type="arabicPeriod"/>
            </a:pPr>
            <a:r>
              <a:rPr lang="en-US" altLang="zh-CN" sz="1200" dirty="0">
                <a:latin typeface="微软雅黑" panose="020B0503020204020204" pitchFamily="34" charset="-122"/>
                <a:ea typeface="微软雅黑" panose="020B0503020204020204" pitchFamily="34" charset="-122"/>
              </a:rPr>
              <a:t>The sequence of </a:t>
            </a:r>
            <a:r>
              <a:rPr lang="en-US" altLang="zh-CN" sz="1200" b="1" dirty="0">
                <a:latin typeface="微软雅黑" panose="020B0503020204020204" pitchFamily="34" charset="-122"/>
                <a:ea typeface="微软雅黑" panose="020B0503020204020204" pitchFamily="34" charset="-122"/>
              </a:rPr>
              <a:t>returns</a:t>
            </a:r>
            <a:r>
              <a:rPr lang="en-US" altLang="zh-CN" sz="1200" dirty="0">
                <a:latin typeface="微软雅黑" panose="020B0503020204020204" pitchFamily="34" charset="-122"/>
                <a:ea typeface="微软雅黑" panose="020B0503020204020204" pitchFamily="34" charset="-122"/>
              </a:rPr>
              <a:t> corresponds to a </a:t>
            </a:r>
            <a:r>
              <a:rPr lang="en-US" altLang="zh-CN" sz="1200" dirty="0" err="1">
                <a:latin typeface="微软雅黑" panose="020B0503020204020204" pitchFamily="34" charset="-122"/>
                <a:ea typeface="微软雅黑" panose="020B0503020204020204" pitchFamily="34" charset="-122"/>
              </a:rPr>
              <a:t>postorder</a:t>
            </a:r>
            <a:r>
              <a:rPr lang="en-US" altLang="zh-CN" sz="1200" dirty="0">
                <a:latin typeface="微软雅黑" panose="020B0503020204020204" pitchFamily="34" charset="-122"/>
                <a:ea typeface="微软雅黑" panose="020B0503020204020204" pitchFamily="34" charset="-122"/>
              </a:rPr>
              <a:t> traversal of the activation tree .</a:t>
            </a:r>
            <a:endParaRPr lang="zh-CN" altLang="en-US" sz="12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3525648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Record</a:t>
            </a:r>
            <a:endParaRPr lang="zh-CN" altLang="en-US" dirty="0"/>
          </a:p>
        </p:txBody>
      </p:sp>
      <p:sp>
        <p:nvSpPr>
          <p:cNvPr id="3" name="内容占位符 2"/>
          <p:cNvSpPr>
            <a:spLocks noGrp="1"/>
          </p:cNvSpPr>
          <p:nvPr>
            <p:ph idx="1"/>
          </p:nvPr>
        </p:nvSpPr>
        <p:spPr>
          <a:xfrm>
            <a:off x="828675" y="1600200"/>
            <a:ext cx="7486650" cy="4572000"/>
          </a:xfrm>
        </p:spPr>
        <p:txBody>
          <a:bodyPr/>
          <a:lstStyle/>
          <a:p>
            <a:r>
              <a:rPr lang="en-US" altLang="zh-CN" dirty="0"/>
              <a:t>Procedure calls and returns are usually managed by a run-time stack called the control stack. Each live activation has an </a:t>
            </a:r>
            <a:r>
              <a:rPr lang="en-US" altLang="zh-CN" b="1" dirty="0">
                <a:solidFill>
                  <a:srgbClr val="7030A0"/>
                </a:solidFill>
              </a:rPr>
              <a:t>activation record </a:t>
            </a:r>
            <a:r>
              <a:rPr lang="en-US" altLang="zh-CN" dirty="0"/>
              <a:t>( sometimes called a </a:t>
            </a:r>
            <a:r>
              <a:rPr lang="en-US" altLang="zh-CN" b="1" dirty="0">
                <a:solidFill>
                  <a:srgbClr val="7030A0"/>
                </a:solidFill>
              </a:rPr>
              <a:t>frame</a:t>
            </a:r>
            <a:r>
              <a:rPr lang="en-US" altLang="zh-CN" dirty="0"/>
              <a:t>) on the control stack, with the root of the activation tree at the bottom, and the entire sequence of activation records on the stack corresponding to the path in the activation tree to the activation where control currently resides. The latter activation has its record at the top of the stack.</a:t>
            </a:r>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3630765648"/>
              </p:ext>
            </p:extLst>
          </p:nvPr>
        </p:nvGraphicFramePr>
        <p:xfrm>
          <a:off x="959265" y="3374307"/>
          <a:ext cx="2954709" cy="1532568"/>
        </p:xfrm>
        <a:graphic>
          <a:graphicData uri="http://schemas.openxmlformats.org/drawingml/2006/table">
            <a:tbl>
              <a:tblPr/>
              <a:tblGrid>
                <a:gridCol w="2954709">
                  <a:extLst>
                    <a:ext uri="{9D8B030D-6E8A-4147-A177-3AD203B41FA5}">
                      <a16:colId xmlns:a16="http://schemas.microsoft.com/office/drawing/2014/main" val="20000"/>
                    </a:ext>
                  </a:extLst>
                </a:gridCol>
              </a:tblGrid>
              <a:tr h="522880">
                <a:tc>
                  <a:txBody>
                    <a:bodyPr/>
                    <a:lstStyle/>
                    <a:p>
                      <a:pPr algn="ctr">
                        <a:spcAft>
                          <a:spcPts val="0"/>
                        </a:spcAft>
                      </a:pPr>
                      <a:r>
                        <a:rPr lang="en-US" sz="1200" kern="100" dirty="0">
                          <a:effectLst/>
                          <a:latin typeface="Times New Roman" panose="02020603050405020304" pitchFamily="18" charset="0"/>
                          <a:ea typeface="宋体" panose="02010600030101010101" pitchFamily="2" charset="-122"/>
                        </a:rPr>
                        <a:t>Space for arguments</a:t>
                      </a:r>
                      <a:endParaRPr lang="zh-CN" sz="1050" kern="100" dirty="0">
                        <a:effectLst/>
                        <a:latin typeface="Times New Roman" panose="02020603050405020304" pitchFamily="18" charset="0"/>
                        <a:ea typeface="宋体" panose="02010600030101010101" pitchFamily="2" charset="-122"/>
                      </a:endParaRPr>
                    </a:p>
                    <a:p>
                      <a:pPr algn="ctr">
                        <a:spcAft>
                          <a:spcPts val="0"/>
                        </a:spcAft>
                      </a:pPr>
                      <a:r>
                        <a:rPr lang="en-US" sz="1200" kern="100" dirty="0">
                          <a:effectLst/>
                          <a:latin typeface="Times New Roman" panose="02020603050405020304" pitchFamily="18" charset="0"/>
                          <a:ea typeface="宋体" panose="02010600030101010101" pitchFamily="2" charset="-122"/>
                        </a:rPr>
                        <a:t>( parameters )</a:t>
                      </a:r>
                      <a:endParaRPr lang="zh-CN" sz="1050" kern="100" dirty="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486806">
                <a:tc>
                  <a:txBody>
                    <a:bodyPr/>
                    <a:lstStyle/>
                    <a:p>
                      <a:pPr algn="ctr">
                        <a:spcAft>
                          <a:spcPts val="0"/>
                        </a:spcAft>
                      </a:pPr>
                      <a:r>
                        <a:rPr lang="en-US" sz="1200" kern="100" dirty="0">
                          <a:effectLst/>
                          <a:latin typeface="Times New Roman" panose="02020603050405020304" pitchFamily="18" charset="0"/>
                          <a:ea typeface="宋体" panose="02010600030101010101" pitchFamily="2" charset="-122"/>
                        </a:rPr>
                        <a:t>Space for bookkeeping information, including return address</a:t>
                      </a:r>
                      <a:endParaRPr lang="zh-CN" sz="1050" kern="100" dirty="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61441">
                <a:tc>
                  <a:txBody>
                    <a:bodyPr/>
                    <a:lstStyle/>
                    <a:p>
                      <a:pPr algn="ctr">
                        <a:spcAft>
                          <a:spcPts val="0"/>
                        </a:spcAft>
                      </a:pPr>
                      <a:r>
                        <a:rPr lang="en-US" sz="1200" kern="100">
                          <a:effectLst/>
                          <a:latin typeface="Times New Roman" panose="02020603050405020304" pitchFamily="18" charset="0"/>
                          <a:ea typeface="宋体" panose="02010600030101010101" pitchFamily="2" charset="-122"/>
                        </a:rPr>
                        <a:t>Space for local data</a:t>
                      </a:r>
                      <a:endParaRPr lang="zh-CN" sz="1050" kern="10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61441">
                <a:tc>
                  <a:txBody>
                    <a:bodyPr/>
                    <a:lstStyle/>
                    <a:p>
                      <a:pPr algn="ctr">
                        <a:spcAft>
                          <a:spcPts val="0"/>
                        </a:spcAft>
                      </a:pPr>
                      <a:r>
                        <a:rPr lang="en-US" sz="1200" kern="100" dirty="0">
                          <a:effectLst/>
                          <a:latin typeface="Times New Roman" panose="02020603050405020304" pitchFamily="18" charset="0"/>
                          <a:ea typeface="宋体" panose="02010600030101010101" pitchFamily="2" charset="-122"/>
                        </a:rPr>
                        <a:t>Space for local temporaries</a:t>
                      </a:r>
                      <a:endParaRPr lang="zh-CN" sz="1050" kern="100" dirty="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pic>
        <p:nvPicPr>
          <p:cNvPr id="5" name="图片 4"/>
          <p:cNvPicPr>
            <a:picLocks noChangeAspect="1"/>
          </p:cNvPicPr>
          <p:nvPr/>
        </p:nvPicPr>
        <p:blipFill>
          <a:blip r:embed="rId2"/>
          <a:stretch>
            <a:fillRect/>
          </a:stretch>
        </p:blipFill>
        <p:spPr>
          <a:xfrm>
            <a:off x="4469179" y="3045612"/>
            <a:ext cx="2591901" cy="2970627"/>
          </a:xfrm>
          <a:prstGeom prst="rect">
            <a:avLst/>
          </a:prstGeom>
        </p:spPr>
      </p:pic>
      <p:cxnSp>
        <p:nvCxnSpPr>
          <p:cNvPr id="7" name="直接连接符 6"/>
          <p:cNvCxnSpPr/>
          <p:nvPr/>
        </p:nvCxnSpPr>
        <p:spPr>
          <a:xfrm flipV="1">
            <a:off x="3905427" y="3153398"/>
            <a:ext cx="905855" cy="222190"/>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3913974" y="3879791"/>
            <a:ext cx="905854" cy="42729"/>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3879791" y="4383994"/>
            <a:ext cx="897309" cy="692208"/>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3922520" y="4640366"/>
            <a:ext cx="880216" cy="837488"/>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2127903" y="5785503"/>
            <a:ext cx="184731" cy="369332"/>
          </a:xfrm>
          <a:prstGeom prst="rect">
            <a:avLst/>
          </a:prstGeom>
          <a:noFill/>
        </p:spPr>
        <p:txBody>
          <a:bodyPr wrap="none" rtlCol="0">
            <a:spAutoFit/>
          </a:bodyPr>
          <a:lstStyle/>
          <a:p>
            <a:endParaRPr lang="zh-CN" altLang="en-US" dirty="0"/>
          </a:p>
        </p:txBody>
      </p:sp>
      <p:pic>
        <p:nvPicPr>
          <p:cNvPr id="21" name="图片 20"/>
          <p:cNvPicPr>
            <a:picLocks noChangeAspect="1"/>
          </p:cNvPicPr>
          <p:nvPr/>
        </p:nvPicPr>
        <p:blipFill>
          <a:blip r:embed="rId3"/>
          <a:stretch>
            <a:fillRect/>
          </a:stretch>
        </p:blipFill>
        <p:spPr>
          <a:xfrm>
            <a:off x="3438206" y="5997894"/>
            <a:ext cx="4593468" cy="860106"/>
          </a:xfrm>
          <a:prstGeom prst="rect">
            <a:avLst/>
          </a:prstGeom>
        </p:spPr>
      </p:pic>
      <p:sp>
        <p:nvSpPr>
          <p:cNvPr id="6" name="文本框 5"/>
          <p:cNvSpPr txBox="1"/>
          <p:nvPr/>
        </p:nvSpPr>
        <p:spPr>
          <a:xfrm>
            <a:off x="7238289" y="4093436"/>
            <a:ext cx="1316052" cy="830997"/>
          </a:xfrm>
          <a:prstGeom prst="rect">
            <a:avLst/>
          </a:prstGeom>
          <a:noFill/>
        </p:spPr>
        <p:txBody>
          <a:bodyPr wrap="square" rtlCol="0">
            <a:spAutoFit/>
          </a:bodyPr>
          <a:lstStyle/>
          <a:p>
            <a:r>
              <a:rPr lang="en-US" altLang="zh-CN" sz="1200" dirty="0"/>
              <a:t>pointing to the activation record of the caller</a:t>
            </a:r>
            <a:endParaRPr lang="zh-CN" altLang="en-US" sz="1200" dirty="0"/>
          </a:p>
        </p:txBody>
      </p:sp>
      <p:cxnSp>
        <p:nvCxnSpPr>
          <p:cNvPr id="10" name="直接箭头连接符 9"/>
          <p:cNvCxnSpPr>
            <a:endCxn id="6" idx="1"/>
          </p:cNvCxnSpPr>
          <p:nvPr/>
        </p:nvCxnSpPr>
        <p:spPr>
          <a:xfrm>
            <a:off x="6383708" y="4119073"/>
            <a:ext cx="854581" cy="38986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804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Record</a:t>
            </a:r>
            <a:endParaRPr lang="zh-CN" altLang="en-US" dirty="0"/>
          </a:p>
        </p:txBody>
      </p:sp>
      <p:sp>
        <p:nvSpPr>
          <p:cNvPr id="3" name="Rectangle 3"/>
          <p:cNvSpPr txBox="1">
            <a:spLocks noChangeArrowheads="1"/>
          </p:cNvSpPr>
          <p:nvPr/>
        </p:nvSpPr>
        <p:spPr bwMode="auto">
          <a:xfrm>
            <a:off x="822533" y="1504059"/>
            <a:ext cx="6885774" cy="4814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Some parts of an activation record have the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same size for all procedures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Space for bookkeeping information</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Other parts of an activation record may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remain fixed for each individual procedure</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Space for arguments and local data</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Some parts of activation record may be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allocated automatically</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on procedure calls: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Storing the return address</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Other parts of activation record may need to be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allocated explicitly</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by instructions generated by the compiler:</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Local temporary space</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Depending on the language</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activation records may be allocated in different areas: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Fortran77 in the static area;</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C and Pascal in the stack area; referred to as stack frames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LISP in the heap area.</a:t>
            </a:r>
            <a:endParaRPr kumimoji="0" lang="zh-CN" altLang="en-US" sz="1800" b="0" i="0" u="none" strike="noStrike" kern="1200" cap="none" spc="0" normalizeH="0" baseline="0" noProof="0" dirty="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9842200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Record</a:t>
            </a:r>
            <a:endParaRPr lang="zh-CN" altLang="en-US" dirty="0"/>
          </a:p>
        </p:txBody>
      </p:sp>
      <p:sp>
        <p:nvSpPr>
          <p:cNvPr id="3" name="Rectangle 3"/>
          <p:cNvSpPr txBox="1">
            <a:spLocks noChangeArrowheads="1"/>
          </p:cNvSpPr>
          <p:nvPr/>
        </p:nvSpPr>
        <p:spPr>
          <a:xfrm>
            <a:off x="728529" y="1528006"/>
            <a:ext cx="7772400" cy="4824413"/>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r>
              <a:rPr lang="en-US" altLang="zh-CN" sz="2800" b="1" dirty="0"/>
              <a:t>Processor registers are also part of the structure of the runtime environment</a:t>
            </a:r>
            <a:endParaRPr lang="en-US" altLang="zh-CN" sz="2800" dirty="0"/>
          </a:p>
          <a:p>
            <a:pPr lvl="1"/>
            <a:r>
              <a:rPr lang="en-US" altLang="zh-CN" sz="2400" dirty="0"/>
              <a:t>Registers may be used to store temporaries, local variables, or even global variables;</a:t>
            </a:r>
          </a:p>
          <a:p>
            <a:pPr lvl="1"/>
            <a:r>
              <a:rPr lang="en-US" altLang="zh-CN" sz="2400" dirty="0"/>
              <a:t>In newer RISC processor, keep entire static area and whole activation records;</a:t>
            </a:r>
          </a:p>
          <a:p>
            <a:pPr lvl="1"/>
            <a:r>
              <a:rPr lang="en-US" altLang="zh-CN" sz="2400" dirty="0"/>
              <a:t>Special-purpose registers to keep track of execution</a:t>
            </a:r>
          </a:p>
          <a:p>
            <a:pPr lvl="2"/>
            <a:r>
              <a:rPr lang="en-US" altLang="zh-CN" sz="1800" dirty="0"/>
              <a:t>PC 	program counter;</a:t>
            </a:r>
          </a:p>
          <a:p>
            <a:pPr lvl="2"/>
            <a:r>
              <a:rPr lang="en-US" altLang="zh-CN" sz="1800" dirty="0"/>
              <a:t>SP	stack pointer;</a:t>
            </a:r>
          </a:p>
          <a:p>
            <a:pPr lvl="2"/>
            <a:r>
              <a:rPr lang="en-US" altLang="zh-CN" sz="1800" dirty="0"/>
              <a:t>FP	frame pointer;</a:t>
            </a:r>
          </a:p>
          <a:p>
            <a:pPr lvl="2"/>
            <a:r>
              <a:rPr lang="en-US" altLang="zh-CN" sz="1800" dirty="0"/>
              <a:t>AP	argument pointer</a:t>
            </a:r>
            <a:endParaRPr lang="zh-CN" altLang="en-US" sz="1800" dirty="0"/>
          </a:p>
        </p:txBody>
      </p:sp>
    </p:spTree>
    <p:extLst>
      <p:ext uri="{BB962C8B-B14F-4D97-AF65-F5344CB8AC3E}">
        <p14:creationId xmlns:p14="http://schemas.microsoft.com/office/powerpoint/2010/main" val="30367805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8.3 Stack Allocation of Space-Calling Sequence</a:t>
            </a:r>
            <a:endParaRPr lang="zh-CN" altLang="en-US" dirty="0"/>
          </a:p>
        </p:txBody>
      </p:sp>
      <p:sp>
        <p:nvSpPr>
          <p:cNvPr id="5" name="Rectangle 3"/>
          <p:cNvSpPr txBox="1">
            <a:spLocks noChangeArrowheads="1"/>
          </p:cNvSpPr>
          <p:nvPr/>
        </p:nvSpPr>
        <p:spPr>
          <a:xfrm>
            <a:off x="668708" y="1454150"/>
            <a:ext cx="7772400" cy="5403850"/>
          </a:xfrm>
          <a:prstGeom prst="rect">
            <a:avLst/>
          </a:prstGeom>
        </p:spPr>
        <p:txBody>
          <a:bodyPr vert="horz" lIns="0" tIns="45720" rIns="0" bIns="45720" rtlCol="0">
            <a:normAutofit fontScale="92500"/>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r>
              <a:rPr lang="en-US" altLang="zh-CN" sz="2800" b="1" dirty="0"/>
              <a:t>The sequence of operations when calling the functions</a:t>
            </a:r>
            <a:r>
              <a:rPr lang="en-US" altLang="zh-CN" sz="2800" dirty="0"/>
              <a:t>: </a:t>
            </a:r>
            <a:r>
              <a:rPr lang="en-US" altLang="zh-CN" sz="2800" b="1" i="1" dirty="0">
                <a:solidFill>
                  <a:srgbClr val="FF3300"/>
                </a:solidFill>
              </a:rPr>
              <a:t>calling sequence</a:t>
            </a:r>
            <a:endParaRPr lang="en-US" altLang="zh-CN" sz="2800" b="1" dirty="0">
              <a:solidFill>
                <a:srgbClr val="FF3300"/>
              </a:solidFill>
            </a:endParaRPr>
          </a:p>
          <a:p>
            <a:pPr lvl="1"/>
            <a:r>
              <a:rPr lang="en-US" altLang="zh-CN" sz="2400" dirty="0"/>
              <a:t>The allocation of memory for the activation record;</a:t>
            </a:r>
          </a:p>
          <a:p>
            <a:pPr lvl="1"/>
            <a:r>
              <a:rPr lang="en-US" altLang="zh-CN" sz="2400" dirty="0"/>
              <a:t>The computation and storing of the arguments;</a:t>
            </a:r>
          </a:p>
          <a:p>
            <a:pPr lvl="1"/>
            <a:r>
              <a:rPr lang="en-US" altLang="zh-CN" sz="2400" dirty="0"/>
              <a:t>The storing and setting of necessary registers to affect the call</a:t>
            </a:r>
          </a:p>
          <a:p>
            <a:endParaRPr lang="en-US" altLang="zh-CN" sz="2800" dirty="0"/>
          </a:p>
          <a:p>
            <a:r>
              <a:rPr lang="en-US" altLang="zh-CN" sz="2800" b="1" dirty="0"/>
              <a:t>The additional operations when a procedure or function returns: </a:t>
            </a:r>
            <a:r>
              <a:rPr lang="en-US" altLang="zh-CN" sz="2800" b="1" i="1" dirty="0">
                <a:solidFill>
                  <a:srgbClr val="FF3300"/>
                </a:solidFill>
              </a:rPr>
              <a:t>return sequence (VS call</a:t>
            </a:r>
            <a:r>
              <a:rPr lang="en-US" altLang="zh-CN" sz="2800" i="1" dirty="0">
                <a:solidFill>
                  <a:srgbClr val="FF3300"/>
                </a:solidFill>
              </a:rPr>
              <a:t>)</a:t>
            </a:r>
          </a:p>
          <a:p>
            <a:pPr lvl="1"/>
            <a:r>
              <a:rPr lang="en-US" altLang="zh-CN" sz="2400" dirty="0"/>
              <a:t>The placing of the return value where the caller can access it;</a:t>
            </a:r>
          </a:p>
          <a:p>
            <a:pPr lvl="1"/>
            <a:r>
              <a:rPr lang="en-US" altLang="zh-CN" sz="2400" dirty="0"/>
              <a:t>The readjustment of registers;</a:t>
            </a:r>
          </a:p>
          <a:p>
            <a:pPr lvl="1"/>
            <a:r>
              <a:rPr lang="en-US" altLang="zh-CN" sz="2400" dirty="0"/>
              <a:t>The possible releasing for activation record memory</a:t>
            </a:r>
            <a:endParaRPr lang="zh-CN" altLang="en-US" sz="2400" dirty="0"/>
          </a:p>
        </p:txBody>
      </p:sp>
    </p:spTree>
    <p:extLst>
      <p:ext uri="{BB962C8B-B14F-4D97-AF65-F5344CB8AC3E}">
        <p14:creationId xmlns:p14="http://schemas.microsoft.com/office/powerpoint/2010/main" val="798056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8.3 Stack Allocation of Space-Calling Sequence</a:t>
            </a:r>
            <a:endParaRPr lang="zh-CN" altLang="en-US" dirty="0"/>
          </a:p>
        </p:txBody>
      </p:sp>
      <p:sp>
        <p:nvSpPr>
          <p:cNvPr id="6" name="Rectangle 3"/>
          <p:cNvSpPr txBox="1">
            <a:spLocks noChangeArrowheads="1"/>
          </p:cNvSpPr>
          <p:nvPr/>
        </p:nvSpPr>
        <p:spPr bwMode="auto">
          <a:xfrm>
            <a:off x="643071" y="1476731"/>
            <a:ext cx="7772400" cy="5114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tab pos="631825" algn="l"/>
              </a:tabLst>
              <a:defRPr/>
            </a:pPr>
            <a:r>
              <a:rPr kumimoji="0" lang="en-US" altLang="zh-CN" sz="24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The important aspects of the design of the calling sequence:</a:t>
            </a:r>
          </a:p>
          <a:p>
            <a:pPr marL="1076325" marR="0" lvl="1" indent="-554038" algn="l" defTabSz="914400" rtl="0" eaLnBrk="1" fontAlgn="base" latinLnBrk="0" hangingPunct="1">
              <a:lnSpc>
                <a:spcPct val="100000"/>
              </a:lnSpc>
              <a:spcBef>
                <a:spcPct val="20000"/>
              </a:spcBef>
              <a:spcAft>
                <a:spcPct val="0"/>
              </a:spcAft>
              <a:buClrTx/>
              <a:buSzTx/>
              <a:buFontTx/>
              <a:buNone/>
              <a:tabLst>
                <a:tab pos="631825" algn="l"/>
              </a:tabLst>
              <a:defRPr/>
            </a:pP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(1) How to </a:t>
            </a:r>
            <a:r>
              <a:rPr kumimoji="0" lang="en-US" altLang="zh-CN" sz="24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divide the calling sequence</a:t>
            </a: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operations between the caller and </a:t>
            </a:r>
            <a:r>
              <a:rPr kumimoji="0" lang="en-US" altLang="zh-CN" sz="24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rPr>
              <a:t>callee</a:t>
            </a:r>
            <a:endPar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a:p>
            <a:pPr marL="1417638" marR="0" lvl="2" indent="-161925" algn="l" defTabSz="914400" rtl="0" eaLnBrk="1" fontAlgn="base" latinLnBrk="0" hangingPunct="1">
              <a:lnSpc>
                <a:spcPct val="100000"/>
              </a:lnSpc>
              <a:spcBef>
                <a:spcPct val="20000"/>
              </a:spcBef>
              <a:spcAft>
                <a:spcPct val="0"/>
              </a:spcAft>
              <a:buClrTx/>
              <a:buSzTx/>
              <a:buFontTx/>
              <a:buChar char="•"/>
              <a:tabLst>
                <a:tab pos="631825" algn="l"/>
              </a:tabLst>
              <a:defRPr/>
            </a:pPr>
            <a:r>
              <a:rPr kumimoji="0" lang="en-US" altLang="zh-CN"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At a minimum, the caller is responsible for computing the arguments and placing them in locations where they may be found by the </a:t>
            </a:r>
            <a:r>
              <a:rPr kumimoji="0" lang="en-US" altLang="zh-CN"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rPr>
              <a:t>callee</a:t>
            </a:r>
            <a:endParaRPr kumimoji="0" lang="en-US" altLang="zh-CN"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a:p>
            <a:pPr marL="1417638" marR="0" lvl="2" indent="-161925" algn="l" defTabSz="914400" rtl="0" eaLnBrk="1" fontAlgn="base" latinLnBrk="0" hangingPunct="1">
              <a:lnSpc>
                <a:spcPct val="100000"/>
              </a:lnSpc>
              <a:spcBef>
                <a:spcPct val="20000"/>
              </a:spcBef>
              <a:spcAft>
                <a:spcPct val="0"/>
              </a:spcAft>
              <a:buClrTx/>
              <a:buSzTx/>
              <a:buFontTx/>
              <a:buNone/>
              <a:tabLst>
                <a:tab pos="631825" algn="l"/>
              </a:tabLst>
              <a:defRPr/>
            </a:pPr>
            <a:endParaRPr kumimoji="0" lang="en-US" altLang="zh-CN"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a:p>
            <a:pPr marL="1076325" marR="0" lvl="1" indent="-554038" algn="l" defTabSz="914400" rtl="0" eaLnBrk="1" fontAlgn="base" latinLnBrk="0" hangingPunct="1">
              <a:lnSpc>
                <a:spcPct val="100000"/>
              </a:lnSpc>
              <a:spcBef>
                <a:spcPct val="20000"/>
              </a:spcBef>
              <a:spcAft>
                <a:spcPct val="0"/>
              </a:spcAft>
              <a:buClrTx/>
              <a:buSzTx/>
              <a:buFontTx/>
              <a:buNone/>
              <a:tabLst>
                <a:tab pos="631825" algn="l"/>
              </a:tabLst>
              <a:defRPr/>
            </a:pP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(2) To what extent to </a:t>
            </a:r>
            <a:r>
              <a:rPr kumimoji="0" lang="en-US" altLang="zh-CN" sz="24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rely on processor support for calls</a:t>
            </a: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rather that generating explicit code for each step of the calling sequence</a:t>
            </a:r>
            <a:endParaRPr kumimoji="0" lang="zh-CN" altLang="en-US"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46686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Space-Calling Sequence</a:t>
            </a:r>
            <a:endParaRPr lang="zh-CN" altLang="en-US" dirty="0"/>
          </a:p>
        </p:txBody>
      </p:sp>
      <p:pic>
        <p:nvPicPr>
          <p:cNvPr id="4" name="图片 3"/>
          <p:cNvPicPr>
            <a:picLocks noChangeAspect="1"/>
          </p:cNvPicPr>
          <p:nvPr/>
        </p:nvPicPr>
        <p:blipFill>
          <a:blip r:embed="rId2"/>
          <a:stretch>
            <a:fillRect/>
          </a:stretch>
        </p:blipFill>
        <p:spPr>
          <a:xfrm>
            <a:off x="811540" y="1401512"/>
            <a:ext cx="3872313" cy="2820112"/>
          </a:xfrm>
          <a:prstGeom prst="rect">
            <a:avLst/>
          </a:prstGeom>
        </p:spPr>
      </p:pic>
      <p:pic>
        <p:nvPicPr>
          <p:cNvPr id="5" name="图片 4"/>
          <p:cNvPicPr>
            <a:picLocks noChangeAspect="1"/>
          </p:cNvPicPr>
          <p:nvPr/>
        </p:nvPicPr>
        <p:blipFill>
          <a:blip r:embed="rId3"/>
          <a:stretch>
            <a:fillRect/>
          </a:stretch>
        </p:blipFill>
        <p:spPr>
          <a:xfrm>
            <a:off x="722252" y="4799061"/>
            <a:ext cx="2986622" cy="317051"/>
          </a:xfrm>
          <a:prstGeom prst="rect">
            <a:avLst/>
          </a:prstGeom>
        </p:spPr>
      </p:pic>
      <p:sp>
        <p:nvSpPr>
          <p:cNvPr id="7" name="文本框 6"/>
          <p:cNvSpPr txBox="1"/>
          <p:nvPr/>
        </p:nvSpPr>
        <p:spPr>
          <a:xfrm>
            <a:off x="658026" y="4392538"/>
            <a:ext cx="1685077" cy="369332"/>
          </a:xfrm>
          <a:prstGeom prst="rect">
            <a:avLst/>
          </a:prstGeom>
          <a:noFill/>
        </p:spPr>
        <p:txBody>
          <a:bodyPr wrap="none" rtlCol="0">
            <a:spAutoFit/>
          </a:bodyPr>
          <a:lstStyle/>
          <a:p>
            <a:r>
              <a:rPr lang="en-US" altLang="zh-CN" dirty="0"/>
              <a:t>Function call</a:t>
            </a:r>
            <a:endParaRPr lang="zh-CN" altLang="en-US" dirty="0"/>
          </a:p>
        </p:txBody>
      </p:sp>
      <p:pic>
        <p:nvPicPr>
          <p:cNvPr id="9" name="图片 8"/>
          <p:cNvPicPr>
            <a:picLocks noChangeAspect="1"/>
          </p:cNvPicPr>
          <p:nvPr/>
        </p:nvPicPr>
        <p:blipFill>
          <a:blip r:embed="rId4"/>
          <a:stretch>
            <a:fillRect/>
          </a:stretch>
        </p:blipFill>
        <p:spPr>
          <a:xfrm>
            <a:off x="4773315" y="3324804"/>
            <a:ext cx="4304186" cy="1341200"/>
          </a:xfrm>
          <a:prstGeom prst="rect">
            <a:avLst/>
          </a:prstGeom>
        </p:spPr>
      </p:pic>
      <p:sp>
        <p:nvSpPr>
          <p:cNvPr id="10" name="文本框 9"/>
          <p:cNvSpPr txBox="1"/>
          <p:nvPr/>
        </p:nvSpPr>
        <p:spPr>
          <a:xfrm>
            <a:off x="4732946" y="2912690"/>
            <a:ext cx="1915909" cy="369332"/>
          </a:xfrm>
          <a:prstGeom prst="rect">
            <a:avLst/>
          </a:prstGeom>
          <a:noFill/>
        </p:spPr>
        <p:txBody>
          <a:bodyPr wrap="none" rtlCol="0">
            <a:spAutoFit/>
          </a:bodyPr>
          <a:lstStyle/>
          <a:p>
            <a:r>
              <a:rPr lang="en-US" altLang="zh-CN" dirty="0"/>
              <a:t>Function return</a:t>
            </a:r>
            <a:endParaRPr lang="zh-CN" altLang="en-US" dirty="0"/>
          </a:p>
        </p:txBody>
      </p:sp>
      <p:pic>
        <p:nvPicPr>
          <p:cNvPr id="11" name="图片 10"/>
          <p:cNvPicPr>
            <a:picLocks noChangeAspect="1"/>
          </p:cNvPicPr>
          <p:nvPr/>
        </p:nvPicPr>
        <p:blipFill>
          <a:blip r:embed="rId5"/>
          <a:stretch>
            <a:fillRect/>
          </a:stretch>
        </p:blipFill>
        <p:spPr>
          <a:xfrm>
            <a:off x="750206" y="5101839"/>
            <a:ext cx="4985384" cy="1300251"/>
          </a:xfrm>
          <a:prstGeom prst="rect">
            <a:avLst/>
          </a:prstGeom>
        </p:spPr>
      </p:pic>
      <p:sp>
        <p:nvSpPr>
          <p:cNvPr id="12" name="矩形 11"/>
          <p:cNvSpPr/>
          <p:nvPr/>
        </p:nvSpPr>
        <p:spPr>
          <a:xfrm>
            <a:off x="4695914" y="1418780"/>
            <a:ext cx="4572000" cy="523220"/>
          </a:xfrm>
          <a:prstGeom prst="rect">
            <a:avLst/>
          </a:prstGeom>
        </p:spPr>
        <p:txBody>
          <a:bodyPr>
            <a:spAutoFit/>
          </a:bodyPr>
          <a:lstStyle/>
          <a:p>
            <a:r>
              <a:rPr lang="en-US" altLang="zh-CN" sz="1400" dirty="0">
                <a:latin typeface="微软雅黑" panose="020B0503020204020204" pitchFamily="34" charset="-122"/>
                <a:ea typeface="微软雅黑" panose="020B0503020204020204" pitchFamily="34" charset="-122"/>
              </a:rPr>
              <a:t>A register </a:t>
            </a:r>
            <a:r>
              <a:rPr lang="en-US" altLang="zh-CN" sz="1400" i="1" dirty="0" err="1">
                <a:latin typeface="微软雅黑" panose="020B0503020204020204" pitchFamily="34" charset="-122"/>
                <a:ea typeface="微软雅黑" panose="020B0503020204020204" pitchFamily="34" charset="-122"/>
              </a:rPr>
              <a:t>top_sp</a:t>
            </a:r>
            <a:r>
              <a:rPr lang="en-US" altLang="zh-CN" sz="1400">
                <a:latin typeface="微软雅黑" panose="020B0503020204020204" pitchFamily="34" charset="-122"/>
                <a:ea typeface="微软雅黑" panose="020B0503020204020204" pitchFamily="34" charset="-122"/>
              </a:rPr>
              <a:t> points </a:t>
            </a:r>
            <a:r>
              <a:rPr lang="en-US" altLang="zh-CN" sz="1400" dirty="0">
                <a:latin typeface="微软雅黑" panose="020B0503020204020204" pitchFamily="34" charset="-122"/>
                <a:ea typeface="微软雅黑" panose="020B0503020204020204" pitchFamily="34" charset="-122"/>
              </a:rPr>
              <a:t>to the end of the machine status field in the current top activation record.</a:t>
            </a:r>
            <a:endParaRPr lang="zh-CN" altLang="en-US" sz="14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664768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Space-Calling Sequence</a:t>
            </a:r>
            <a:endParaRPr lang="zh-CN" altLang="en-US" dirty="0"/>
          </a:p>
        </p:txBody>
      </p:sp>
      <p:pic>
        <p:nvPicPr>
          <p:cNvPr id="4" name="图片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09866" y="1679244"/>
            <a:ext cx="5249008" cy="4525006"/>
          </a:xfrm>
          <a:prstGeom prst="rect">
            <a:avLst/>
          </a:prstGeom>
        </p:spPr>
      </p:pic>
    </p:spTree>
    <p:extLst>
      <p:ext uri="{BB962C8B-B14F-4D97-AF65-F5344CB8AC3E}">
        <p14:creationId xmlns:p14="http://schemas.microsoft.com/office/powerpoint/2010/main" val="165346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sp>
        <p:nvSpPr>
          <p:cNvPr id="3" name="内容占位符 2"/>
          <p:cNvSpPr>
            <a:spLocks noGrp="1"/>
          </p:cNvSpPr>
          <p:nvPr>
            <p:ph idx="1"/>
          </p:nvPr>
        </p:nvSpPr>
        <p:spPr/>
        <p:txBody>
          <a:bodyPr/>
          <a:lstStyle/>
          <a:p>
            <a:endParaRPr lang="zh-CN" altLang="en-US"/>
          </a:p>
        </p:txBody>
      </p:sp>
    </p:spTree>
    <p:extLst>
      <p:ext uri="{BB962C8B-B14F-4D97-AF65-F5344CB8AC3E}">
        <p14:creationId xmlns:p14="http://schemas.microsoft.com/office/powerpoint/2010/main" val="1389765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学术文献 16x9">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_9411639_TF03431380_TF03431380" id="{9AE2BD50-F2AD-48C6-8A81-F7D7390F9E40}" vid="{822244C9-F44A-41EE-AAAB-DAE7A533DA64}"/>
    </a:ext>
  </a:extLst>
</a:theme>
</file>

<file path=ppt/theme/theme2.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TemplateFile" ma:contentTypeID="0x0101006EDDDB5EE6D98C44930B742096920B300400F5B6D36B3EF94B4E9A635CDF2A18F5B8" ma:contentTypeVersion="72" ma:contentTypeDescription="Create a new document." ma:contentTypeScope="" ma:versionID="a23e56308344d904b51738559c3d67c9">
  <xsd:schema xmlns:xsd="http://www.w3.org/2001/XMLSchema" xmlns:xs="http://www.w3.org/2001/XMLSchema" xmlns:p="http://schemas.microsoft.com/office/2006/metadata/properties" xmlns:ns2="4873beb7-5857-4685-be1f-d57550cc96cc" targetNamespace="http://schemas.microsoft.com/office/2006/metadata/properties" ma:root="true" ma:fieldsID="cd0908cc4600e77bf5da051303e00c8d" ns2:_="">
    <xsd:import namespace="4873beb7-5857-4685-be1f-d57550cc96cc"/>
    <xsd:element name="properties">
      <xsd:complexType>
        <xsd:sequence>
          <xsd:element name="documentManagement">
            <xsd:complexType>
              <xsd:all>
                <xsd:element ref="ns2:AcquiredFrom" minOccurs="0"/>
                <xsd:element ref="ns2:UACurrentWords" minOccurs="0"/>
                <xsd:element ref="ns2:TPApplication" minOccurs="0"/>
                <xsd:element ref="ns2:ApprovalLog" minOccurs="0"/>
                <xsd:element ref="ns2:ApprovalStatus" minOccurs="0"/>
                <xsd:element ref="ns2:AssetStart" minOccurs="0"/>
                <xsd:element ref="ns2:AssetExpire" minOccurs="0"/>
                <xsd:element ref="ns2:AssetId" minOccurs="0"/>
                <xsd:element ref="ns2:IsSearchable" minOccurs="0"/>
                <xsd:element ref="ns2:AssetType" minOccurs="0"/>
                <xsd:element ref="ns2:APAuthor" minOccurs="0"/>
                <xsd:element ref="ns2:AverageRating" minOccurs="0"/>
                <xsd:element ref="ns2:BlockPublish" minOccurs="0"/>
                <xsd:element ref="ns2:BugNumber" minOccurs="0"/>
                <xsd:element ref="ns2:CampaignTagsTaxHTField0" minOccurs="0"/>
                <xsd:element ref="ns2:TPClientViewer" minOccurs="0"/>
                <xsd:element ref="ns2:ClipArtFilename" minOccurs="0"/>
                <xsd:element ref="ns2:TPCommandLine" minOccurs="0"/>
                <xsd:element ref="ns2:TPComponent" minOccurs="0"/>
                <xsd:element ref="ns2:ContentItem" minOccurs="0"/>
                <xsd:element ref="ns2:CrawlForDependencies" minOccurs="0"/>
                <xsd:element ref="ns2:CSXHash" minOccurs="0"/>
                <xsd:element ref="ns2:CSXSubmissionMarket" minOccurs="0"/>
                <xsd:element ref="ns2:CSXUpdate" minOccurs="0"/>
                <xsd:element ref="ns2:IntlLangReviewDate" minOccurs="0"/>
                <xsd:element ref="ns2:IsDeleted" minOccurs="0"/>
                <xsd:element ref="ns2:APDescription" minOccurs="0"/>
                <xsd:element ref="ns2:DirectSourceMarket" minOccurs="0"/>
                <xsd:element ref="ns2:Downloads" minOccurs="0"/>
                <xsd:element ref="ns2:DSATActionTaken" minOccurs="0"/>
                <xsd:element ref="ns2:APEditor" minOccurs="0"/>
                <xsd:element ref="ns2:EditorialStatus" minOccurs="0"/>
                <xsd:element ref="ns2:EditorialTags" minOccurs="0"/>
                <xsd:element ref="ns2:TPExecutable" minOccurs="0"/>
                <xsd:element ref="ns2:FeatureTagsTaxHTField0" minOccurs="0"/>
                <xsd:element ref="ns2:TPFriendlyName" minOccurs="0"/>
                <xsd:element ref="ns2:FriendlyTitle" minOccurs="0"/>
                <xsd:element ref="ns2:PrimaryImageGen" minOccurs="0"/>
                <xsd:element ref="ns2:HandoffToMSDN" minOccurs="0"/>
                <xsd:element ref="ns2:InProjectListLookup" minOccurs="0"/>
                <xsd:element ref="ns2:TPInstallLocation" minOccurs="0"/>
                <xsd:element ref="ns2:InternalTagsTaxHTField0" minOccurs="0"/>
                <xsd:element ref="ns2:IntlLangReview" minOccurs="0"/>
                <xsd:element ref="ns2:IntlLangReviewer" minOccurs="0"/>
                <xsd:element ref="ns2:MarketSpecific" minOccurs="0"/>
                <xsd:element ref="ns2:LastCompleteVersionLookup" minOccurs="0"/>
                <xsd:element ref="ns2:LastHandOff" minOccurs="0"/>
                <xsd:element ref="ns2:LastModifiedDateTime" minOccurs="0"/>
                <xsd:element ref="ns2:LastPreviewErrorLookup" minOccurs="0"/>
                <xsd:element ref="ns2:LastPreviewResultLookup" minOccurs="0"/>
                <xsd:element ref="ns2:LastPreviewAttemptDateLookup" minOccurs="0"/>
                <xsd:element ref="ns2:LastPreviewedByLookup" minOccurs="0"/>
                <xsd:element ref="ns2:LastPreviewTimeLookup" minOccurs="0"/>
                <xsd:element ref="ns2:LastPreviewVersionLookup" minOccurs="0"/>
                <xsd:element ref="ns2:LastPublishErrorLookup" minOccurs="0"/>
                <xsd:element ref="ns2:LastPublishResultLookup" minOccurs="0"/>
                <xsd:element ref="ns2:LastPublishAttemptDateLookup" minOccurs="0"/>
                <xsd:element ref="ns2:LastPublishedByLookup" minOccurs="0"/>
                <xsd:element ref="ns2:LastPublishTimeLookup" minOccurs="0"/>
                <xsd:element ref="ns2:LastPublishVersionLookup" minOccurs="0"/>
                <xsd:element ref="ns2:TPLaunchHelpLinkType" minOccurs="0"/>
                <xsd:element ref="ns2:LegacyData" minOccurs="0"/>
                <xsd:element ref="ns2:TPLaunchHelpLink" minOccurs="0"/>
                <xsd:element ref="ns2:LocComments" minOccurs="0"/>
                <xsd:element ref="ns2:LocLastLocAttemptVersionLookup" minOccurs="0"/>
                <xsd:element ref="ns2:LocLastLocAttemptVersionTypeLookup" minOccurs="0"/>
                <xsd:element ref="ns2:LocManualTestRequired" minOccurs="0"/>
                <xsd:element ref="ns2:LocMarketGroupTiers2" minOccurs="0"/>
                <xsd:element ref="ns2:LocNewPublishedVersionLookup" minOccurs="0"/>
                <xsd:element ref="ns2:LocOverallHandbackStatusLookup" minOccurs="0"/>
                <xsd:element ref="ns2:LocOverallLocStatusLookup" minOccurs="0"/>
                <xsd:element ref="ns2:LocOverallPreviewStatusLookup" minOccurs="0"/>
                <xsd:element ref="ns2:LocOverallPublishStatusLookup" minOccurs="0"/>
                <xsd:element ref="ns2:IntlLocPriority" minOccurs="0"/>
                <xsd:element ref="ns2:LocProcessedForHandoffsLookup" minOccurs="0"/>
                <xsd:element ref="ns2:LocProcessedForMarketsLookup" minOccurs="0"/>
                <xsd:element ref="ns2:LocPublishedDependentAssetsLookup" minOccurs="0"/>
                <xsd:element ref="ns2:LocPublishedLinkedAssetsLookup" minOccurs="0"/>
                <xsd:element ref="ns2:LocRecommendedHandoff" minOccurs="0"/>
                <xsd:element ref="ns2:LocalizationTagsTaxHTField0" minOccurs="0"/>
                <xsd:element ref="ns2:MachineTranslated" minOccurs="0"/>
                <xsd:element ref="ns2:Manager" minOccurs="0"/>
                <xsd:element ref="ns2:Markets" minOccurs="0"/>
                <xsd:element ref="ns2:Milestone" minOccurs="0"/>
                <xsd:element ref="ns2:TPNamespace" minOccurs="0"/>
                <xsd:element ref="ns2:NumericId" minOccurs="0"/>
                <xsd:element ref="ns2:NumOfRatingsLookup" minOccurs="0"/>
                <xsd:element ref="ns2:OOCacheId" minOccurs="0"/>
                <xsd:element ref="ns2:OpenTemplate" minOccurs="0"/>
                <xsd:element ref="ns2:OriginAsset" minOccurs="0"/>
                <xsd:element ref="ns2:OriginalRelease" minOccurs="0"/>
                <xsd:element ref="ns2:OriginalSourceMarket" minOccurs="0"/>
                <xsd:element ref="ns2:OutputCachingOn" minOccurs="0"/>
                <xsd:element ref="ns2:ParentAssetId" minOccurs="0"/>
                <xsd:element ref="ns2:PlannedPubDate" minOccurs="0"/>
                <xsd:element ref="ns2:PolicheckWords" minOccurs="0"/>
                <xsd:element ref="ns2:BusinessGroup" minOccurs="0"/>
                <xsd:element ref="ns2:UAProjectedTotalWords" minOccurs="0"/>
                <xsd:element ref="ns2:Provider" minOccurs="0"/>
                <xsd:element ref="ns2:Providers" minOccurs="0"/>
                <xsd:element ref="ns2:PublishStatusLookup" minOccurs="0"/>
                <xsd:element ref="ns2:PublishTargets" minOccurs="0"/>
                <xsd:element ref="ns2:RecommendationsModifier" minOccurs="0"/>
                <xsd:element ref="ns2:ArtSampleDocs" minOccurs="0"/>
                <xsd:element ref="ns2:ScenarioTagsTaxHTField0" minOccurs="0"/>
                <xsd:element ref="ns2:ShowIn" minOccurs="0"/>
                <xsd:element ref="ns2:SourceTitle" minOccurs="0"/>
                <xsd:element ref="ns2:CSXSubmissionDate" minOccurs="0"/>
                <xsd:element ref="ns2:SubmitterId" minOccurs="0"/>
                <xsd:element ref="ns2:TaxCatchAll" minOccurs="0"/>
                <xsd:element ref="ns2:TaxCatchAllLabel" minOccurs="0"/>
                <xsd:element ref="ns2:TemplateStatus" minOccurs="0"/>
                <xsd:element ref="ns2:TemplateTemplateType" minOccurs="0"/>
                <xsd:element ref="ns2:ThumbnailAssetId" minOccurs="0"/>
                <xsd:element ref="ns2:TimesCloned" minOccurs="0"/>
                <xsd:element ref="ns2:TrustLevel" minOccurs="0"/>
                <xsd:element ref="ns2:UALocComments" minOccurs="0"/>
                <xsd:element ref="ns2:UALocRecommendation" minOccurs="0"/>
                <xsd:element ref="ns2:UANotes" minOccurs="0"/>
                <xsd:element ref="ns2:TPAppVersion" minOccurs="0"/>
                <xsd:element ref="ns2:VoteCou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873beb7-5857-4685-be1f-d57550cc96cc" elementFormDefault="qualified">
    <xsd:import namespace="http://schemas.microsoft.com/office/2006/documentManagement/types"/>
    <xsd:import namespace="http://schemas.microsoft.com/office/infopath/2007/PartnerControls"/>
    <xsd:element name="AcquiredFrom" ma:index="1" nillable="true" ma:displayName="Acquired From" ma:default="Internal MS" ma:internalName="AcquiredFrom" ma:readOnly="false">
      <xsd:simpleType>
        <xsd:restriction base="dms:Choice">
          <xsd:enumeration value="Internal MS"/>
          <xsd:enumeration value="Community"/>
          <xsd:enumeration value="MVP"/>
          <xsd:enumeration value="Publisher"/>
          <xsd:enumeration value="Partner"/>
          <xsd:enumeration value="None"/>
        </xsd:restriction>
      </xsd:simpleType>
    </xsd:element>
    <xsd:element name="UACurrentWords" ma:index="2" nillable="true" ma:displayName="Actual Word Count" ma:default="" ma:internalName="UACurrentWords" ma:readOnly="false">
      <xsd:simpleType>
        <xsd:restriction base="dms:Unknown"/>
      </xsd:simpleType>
    </xsd:element>
    <xsd:element name="TPApplication" ma:index="3" nillable="true" ma:displayName="Application to Open Template With" ma:default="" ma:internalName="TPApplication">
      <xsd:simpleType>
        <xsd:restriction base="dms:Text"/>
      </xsd:simpleType>
    </xsd:element>
    <xsd:element name="ApprovalLog" ma:index="4" nillable="true" ma:displayName="Approval Log" ma:default="" ma:hidden="true" ma:internalName="ApprovalLog" ma:readOnly="false">
      <xsd:simpleType>
        <xsd:restriction base="dms:Note"/>
      </xsd:simpleType>
    </xsd:element>
    <xsd:element name="ApprovalStatus" ma:index="5" nillable="true" ma:displayName="Approval Status" ma:default="InProgress" ma:internalName="ApprovalStatus" ma:readOnly="false">
      <xsd:simpleType>
        <xsd:restriction base="dms:Choice">
          <xsd:enumeration value="InProgress"/>
          <xsd:enumeration value="Rejected"/>
          <xsd:enumeration value="Questionable"/>
          <xsd:enumeration value="ApprovedAutomatic"/>
          <xsd:enumeration value="ApprovedManual"/>
          <xsd:enumeration value="On Hold"/>
          <xsd:enumeration value="Needs Review"/>
          <xsd:enumeration value="A Violation"/>
          <xsd:enumeration value="Unpublished Violation"/>
        </xsd:restriction>
      </xsd:simpleType>
    </xsd:element>
    <xsd:element name="AssetStart" ma:index="6" nillable="true" ma:displayName="Asset Begin Date" ma:default="[Today]" ma:internalName="AssetStart" ma:readOnly="false">
      <xsd:simpleType>
        <xsd:restriction base="dms:DateTime"/>
      </xsd:simpleType>
    </xsd:element>
    <xsd:element name="AssetExpire" ma:index="7" nillable="true" ma:displayName="Asset End Date" ma:default="2029-01-01T08:00:00Z" ma:format="DateTime" ma:internalName="AssetExpire" ma:readOnly="false">
      <xsd:simpleType>
        <xsd:restriction base="dms:DateTime"/>
      </xsd:simpleType>
    </xsd:element>
    <xsd:element name="AssetId" ma:index="8" nillable="true" ma:displayName="Asset ID" ma:default="" ma:indexed="true" ma:internalName="AssetId" ma:readOnly="false">
      <xsd:simpleType>
        <xsd:restriction base="dms:Text">
          <xsd:maxLength value="255"/>
        </xsd:restriction>
      </xsd:simpleType>
    </xsd:element>
    <xsd:element name="IsSearchable" ma:index="9" nillable="true" ma:displayName="Asset Searchable?" ma:default="true" ma:internalName="IsSearchable" ma:readOnly="false">
      <xsd:simpleType>
        <xsd:restriction base="dms:Boolean"/>
      </xsd:simpleType>
    </xsd:element>
    <xsd:element name="AssetType" ma:index="10" nillable="true" ma:displayName="Asset Type" ma:default="" ma:internalName="AssetType" ma:readOnly="false">
      <xsd:simpleType>
        <xsd:restriction base="dms:Unknown"/>
      </xsd:simpleType>
    </xsd:element>
    <xsd:element name="APAuthor" ma:index="11" nillable="true" ma:displayName="Author" ma:default="" ma:list="UserInfo" ma:internalName="APAuth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12" nillable="true" ma:displayName="Average Rating" ma:internalName="AverageRating" ma:readOnly="false">
      <xsd:simpleType>
        <xsd:restriction base="dms:Text"/>
      </xsd:simpleType>
    </xsd:element>
    <xsd:element name="BlockPublish" ma:index="13" nillable="true" ma:displayName="Block from Publishing?" ma:default="" ma:internalName="BlockPublish" ma:readOnly="false">
      <xsd:simpleType>
        <xsd:restriction base="dms:Boolean"/>
      </xsd:simpleType>
    </xsd:element>
    <xsd:element name="BugNumber" ma:index="14" nillable="true" ma:displayName="Bug Number" ma:default="" ma:internalName="BugNumber" ma:readOnly="false">
      <xsd:simpleType>
        <xsd:restriction base="dms:Text"/>
      </xsd:simpleType>
    </xsd:element>
    <xsd:element name="CampaignTagsTaxHTField0" ma:index="16" nillable="true" ma:taxonomy="true" ma:internalName="CampaignTagsTaxHTField0" ma:taxonomyFieldName="CampaignTags" ma:displayName="Campaigns" ma:readOnly="false" ma:default="" ma:fieldId="{1df42cc3-2301-4f11-a52a-6ead923c29ed}" ma:taxonomyMulti="true" ma:sspId="8f79753a-75d3-41f5-8ca3-40b843941b4f" ma:termSetId="ca0e50d4-faa1-44ce-961e-bb1441c60e66" ma:anchorId="00000000-0000-0000-0000-000000000000" ma:open="false" ma:isKeyword="false">
      <xsd:complexType>
        <xsd:sequence>
          <xsd:element ref="pc:Terms" minOccurs="0" maxOccurs="1"/>
        </xsd:sequence>
      </xsd:complexType>
    </xsd:element>
    <xsd:element name="TPClientViewer" ma:index="17" nillable="true" ma:displayName="Client Viewer" ma:default="" ma:internalName="TPClientViewer">
      <xsd:simpleType>
        <xsd:restriction base="dms:Text"/>
      </xsd:simpleType>
    </xsd:element>
    <xsd:element name="ClipArtFilename" ma:index="18" nillable="true" ma:displayName="Clip Art Name" ma:default="" ma:internalName="ClipArtFilename" ma:readOnly="false">
      <xsd:simpleType>
        <xsd:restriction base="dms:Text"/>
      </xsd:simpleType>
    </xsd:element>
    <xsd:element name="TPCommandLine" ma:index="19" nillable="true" ma:displayName="Command Line" ma:default="" ma:internalName="TPCommandLine">
      <xsd:simpleType>
        <xsd:restriction base="dms:Text"/>
      </xsd:simpleType>
    </xsd:element>
    <xsd:element name="TPComponent" ma:index="20" nillable="true" ma:displayName="Component" ma:default="" ma:internalName="TPComponent">
      <xsd:simpleType>
        <xsd:restriction base="dms:Text"/>
      </xsd:simpleType>
    </xsd:element>
    <xsd:element name="ContentItem" ma:index="21" nillable="true" ma:displayName="Content Item" ma:default="" ma:hidden="true" ma:internalName="ContentItem" ma:readOnly="false">
      <xsd:simpleType>
        <xsd:restriction base="dms:Unknown"/>
      </xsd:simpleType>
    </xsd:element>
    <xsd:element name="CrawlForDependencies" ma:index="23" nillable="true" ma:displayName="Crawl for Dependencies?" ma:default="true" ma:internalName="CrawlForDependencies" ma:readOnly="false">
      <xsd:simpleType>
        <xsd:restriction base="dms:Boolean"/>
      </xsd:simpleType>
    </xsd:element>
    <xsd:element name="CSXHash" ma:index="26" nillable="true" ma:displayName="CSX Hash" ma:default="" ma:indexed="true" ma:internalName="CSXHash" ma:readOnly="false">
      <xsd:simpleType>
        <xsd:restriction base="dms:Text"/>
      </xsd:simpleType>
    </xsd:element>
    <xsd:element name="CSXSubmissionMarket" ma:index="27" nillable="true" ma:displayName="CSX Submission Market" ma:default="" ma:list="{2FBD1B11-2ACE-4FDC-B5A3-635D4ADF6F1B}" ma:internalName="CSXSubmissionMarket" ma:readOnly="false" ma:showField="MarketName" ma:web="4873beb7-5857-4685-be1f-d57550cc96cc">
      <xsd:simpleType>
        <xsd:restriction base="dms:Lookup"/>
      </xsd:simpleType>
    </xsd:element>
    <xsd:element name="CSXUpdate" ma:index="28" nillable="true" ma:displayName="CSX Updated?" ma:default="false" ma:internalName="CSXUpdate" ma:readOnly="false">
      <xsd:simpleType>
        <xsd:restriction base="dms:Boolean"/>
      </xsd:simpleType>
    </xsd:element>
    <xsd:element name="IntlLangReviewDate" ma:index="29" nillable="true" ma:displayName="Date to Complete Intl QA" ma:default="" ma:internalName="IntlLangReviewDate" ma:readOnly="false">
      <xsd:simpleType>
        <xsd:restriction base="dms:DateTime"/>
      </xsd:simpleType>
    </xsd:element>
    <xsd:element name="IsDeleted" ma:index="30" nillable="true" ma:displayName="Deleted?" ma:default="" ma:internalName="IsDeleted" ma:readOnly="false">
      <xsd:simpleType>
        <xsd:restriction base="dms:Boolean"/>
      </xsd:simpleType>
    </xsd:element>
    <xsd:element name="APDescription" ma:index="31" nillable="true" ma:displayName="Description" ma:default="" ma:internalName="APDescription" ma:readOnly="false">
      <xsd:simpleType>
        <xsd:restriction base="dms:Note"/>
      </xsd:simpleType>
    </xsd:element>
    <xsd:element name="DirectSourceMarket" ma:index="32" nillable="true" ma:displayName="Direct Source Market Group" ma:default="" ma:internalName="DirectSourceMarket" ma:readOnly="false">
      <xsd:simpleType>
        <xsd:restriction base="dms:Text"/>
      </xsd:simpleType>
    </xsd:element>
    <xsd:element name="Downloads" ma:index="33" nillable="true" ma:displayName="Downloads" ma:default="0" ma:hidden="true" ma:internalName="Downloads" ma:readOnly="false">
      <xsd:simpleType>
        <xsd:restriction base="dms:Unknown"/>
      </xsd:simpleType>
    </xsd:element>
    <xsd:element name="DSATActionTaken" ma:index="34" nillable="true" ma:displayName="DSAT Action Taken" ma:default="" ma:internalName="DSATActionTaken" ma:readOnly="false">
      <xsd:simpleType>
        <xsd:restriction base="dms:Choice">
          <xsd:enumeration value="Best Bets"/>
          <xsd:enumeration value="Expire"/>
          <xsd:enumeration value="Hide"/>
          <xsd:enumeration value="None"/>
        </xsd:restriction>
      </xsd:simpleType>
    </xsd:element>
    <xsd:element name="APEditor" ma:index="35" nillable="true" ma:displayName="Editor" ma:default="" ma:list="UserInfo" ma:internalName="APEdit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ditorialStatus" ma:index="36" nillable="true" ma:displayName="Editorial Status" ma:default="" ma:internalName="EditorialStatus" ma:readOnly="false">
      <xsd:simpleType>
        <xsd:restriction base="dms:Unknown"/>
      </xsd:simpleType>
    </xsd:element>
    <xsd:element name="EditorialTags" ma:index="37" nillable="true" ma:displayName="Editorial Tags" ma:default="" ma:internalName="EditorialTags">
      <xsd:simpleType>
        <xsd:restriction base="dms:Unknown"/>
      </xsd:simpleType>
    </xsd:element>
    <xsd:element name="TPExecutable" ma:index="38" nillable="true" ma:displayName="Executable" ma:default="" ma:internalName="TPExecutable">
      <xsd:simpleType>
        <xsd:restriction base="dms:Text"/>
      </xsd:simpleType>
    </xsd:element>
    <xsd:element name="FeatureTagsTaxHTField0" ma:index="40" nillable="true" ma:taxonomy="true" ma:internalName="FeatureTagsTaxHTField0" ma:taxonomyFieldName="FeatureTags" ma:displayName="Features" ma:readOnly="false" ma:default="" ma:fieldId="{7fc0d542-15c6-4882-a8e3-13bca44403fb}" ma:taxonomyMulti="true" ma:sspId="8f79753a-75d3-41f5-8ca3-40b843941b4f" ma:termSetId="f1ab6845-967d-4854-a0ba-4ec07f0f8113" ma:anchorId="00000000-0000-0000-0000-000000000000" ma:open="false" ma:isKeyword="false">
      <xsd:complexType>
        <xsd:sequence>
          <xsd:element ref="pc:Terms" minOccurs="0" maxOccurs="1"/>
        </xsd:sequence>
      </xsd:complexType>
    </xsd:element>
    <xsd:element name="TPFriendlyName" ma:index="41" nillable="true" ma:displayName="Friendly Name" ma:default="" ma:internalName="TPFriendlyName">
      <xsd:simpleType>
        <xsd:restriction base="dms:Text"/>
      </xsd:simpleType>
    </xsd:element>
    <xsd:element name="FriendlyTitle" ma:index="42" nillable="true" ma:displayName="Friendly Title" ma:default="" ma:description="Shorter title to be used when displaying search results" ma:internalName="FriendlyTitle" ma:readOnly="false">
      <xsd:simpleType>
        <xsd:restriction base="dms:Text"/>
      </xsd:simpleType>
    </xsd:element>
    <xsd:element name="PrimaryImageGen" ma:index="43" nillable="true" ma:displayName="Generate Images?" ma:default="true" ma:internalName="PrimaryImageGen">
      <xsd:simpleType>
        <xsd:restriction base="dms:Boolean"/>
      </xsd:simpleType>
    </xsd:element>
    <xsd:element name="HandoffToMSDN" ma:index="44" nillable="true" ma:displayName="Handoff To MSDN Date" ma:default="" ma:internalName="HandoffToMSDN" ma:readOnly="false">
      <xsd:simpleType>
        <xsd:restriction base="dms:DateTime"/>
      </xsd:simpleType>
    </xsd:element>
    <xsd:element name="InProjectListLookup" ma:index="45" nillable="true" ma:displayName="InProjectListLookup" ma:list="{9E343742-310B-4684-A24C-1D137CB4B230}" ma:internalName="InProjectListLookup" ma:readOnly="true" ma:showField="InProjectLis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InstallLocation" ma:index="46" nillable="true" ma:displayName="Install Location" ma:default="" ma:internalName="TPInstallLocation">
      <xsd:simpleType>
        <xsd:restriction base="dms:Text"/>
      </xsd:simpleType>
    </xsd:element>
    <xsd:element name="InternalTagsTaxHTField0" ma:index="48" nillable="true" ma:taxonomy="true" ma:internalName="InternalTagsTaxHTField0" ma:taxonomyFieldName="InternalTags" ma:displayName="Internal Tags" ma:readOnly="false" ma:default="" ma:fieldId="{1490b8a4-2706-41ec-b5e3-73176dccf34e}" ma:taxonomyMulti="true" ma:sspId="8f79753a-75d3-41f5-8ca3-40b843941b4f" ma:termSetId="82b6639e-f7fc-4c18-ad2d-003a6e707765" ma:anchorId="00000000-0000-0000-0000-000000000000" ma:open="false" ma:isKeyword="false">
      <xsd:complexType>
        <xsd:sequence>
          <xsd:element ref="pc:Terms" minOccurs="0" maxOccurs="1"/>
        </xsd:sequence>
      </xsd:complexType>
    </xsd:element>
    <xsd:element name="IntlLangReview" ma:index="49" nillable="true" ma:displayName="Intl Lang QA Review Required?" ma:default="" ma:internalName="IntlLangReview" ma:readOnly="false">
      <xsd:simpleType>
        <xsd:restriction base="dms:Boolean"/>
      </xsd:simpleType>
    </xsd:element>
    <xsd:element name="IntlLangReviewer" ma:index="50" nillable="true" ma:displayName="Intl Lang QA Reviewer" ma:default="" ma:internalName="IntlLangReviewer" ma:readOnly="false">
      <xsd:simpleType>
        <xsd:restriction base="dms:Text"/>
      </xsd:simpleType>
    </xsd:element>
    <xsd:element name="MarketSpecific" ma:index="51" nillable="true" ma:displayName="Is Market Specific?" ma:default="" ma:internalName="MarketSpecific" ma:readOnly="false">
      <xsd:simpleType>
        <xsd:restriction base="dms:Boolean"/>
      </xsd:simpleType>
    </xsd:element>
    <xsd:element name="LastCompleteVersionLookup" ma:index="52" nillable="true" ma:displayName="Last Complete Version Lookup" ma:default="" ma:list="{9E343742-310B-4684-A24C-1D137CB4B230}" ma:internalName="LastCompleteVersionLookup" ma:readOnly="true" ma:showField="LastComplete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HandOff" ma:index="53" nillable="true" ma:displayName="Last Hand-off" ma:default="" ma:internalName="LastHandOff" ma:readOnly="false">
      <xsd:simpleType>
        <xsd:restriction base="dms:DateTime"/>
      </xsd:simpleType>
    </xsd:element>
    <xsd:element name="LastModifiedDateTime" ma:index="54" nillable="true" ma:displayName="Last Modified Date" ma:default="" ma:internalName="LastModifiedDateTime" ma:readOnly="false">
      <xsd:simpleType>
        <xsd:restriction base="dms:DateTime"/>
      </xsd:simpleType>
    </xsd:element>
    <xsd:element name="LastPreviewErrorLookup" ma:index="55" nillable="true" ma:displayName="Last Preview Attempt Error" ma:default="" ma:list="{9E343742-310B-4684-A24C-1D137CB4B230}" ma:internalName="LastPreviewErrorLookup" ma:readOnly="true" ma:showField="LastPreview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ResultLookup" ma:index="56" nillable="true" ma:displayName="Last Preview Attempt Result" ma:default="" ma:list="{9E343742-310B-4684-A24C-1D137CB4B230}" ma:internalName="LastPreviewResultLookup" ma:readOnly="true" ma:showField="LastPreview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AttemptDateLookup" ma:index="57" nillable="true" ma:displayName="Last Preview Attempted On" ma:default="" ma:list="{9E343742-310B-4684-A24C-1D137CB4B230}" ma:internalName="LastPreviewAttemptDateLookup" ma:readOnly="true" ma:showField="LastPreview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edByLookup" ma:index="58" nillable="true" ma:displayName="Last Previewed By" ma:default="" ma:list="{9E343742-310B-4684-A24C-1D137CB4B230}" ma:internalName="LastPreviewedByLookup" ma:readOnly="true" ma:showField="LastPreview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TimeLookup" ma:index="59" nillable="true" ma:displayName="Last Previewed Date" ma:default="" ma:list="{9E343742-310B-4684-A24C-1D137CB4B230}" ma:internalName="LastPreviewTimeLookup" ma:readOnly="true" ma:showField="LastPreview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VersionLookup" ma:index="60" nillable="true" ma:displayName="Last Previewed Version" ma:default="" ma:list="{9E343742-310B-4684-A24C-1D137CB4B230}" ma:internalName="LastPreviewVersionLookup" ma:readOnly="true" ma:showField="LastPreview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rrorLookup" ma:index="61" nillable="true" ma:displayName="Last Publish Attempt Error" ma:default="" ma:list="{9E343742-310B-4684-A24C-1D137CB4B230}" ma:internalName="LastPublishErrorLookup" ma:readOnly="true" ma:showField="LastPublish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ResultLookup" ma:index="62" nillable="true" ma:displayName="Last Publish Attempt Result" ma:default="" ma:list="{9E343742-310B-4684-A24C-1D137CB4B230}" ma:internalName="LastPublishResultLookup" ma:readOnly="true" ma:showField="LastPublish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AttemptDateLookup" ma:index="63" nillable="true" ma:displayName="Last Publish Attempted On" ma:default="" ma:list="{9E343742-310B-4684-A24C-1D137CB4B230}" ma:internalName="LastPublishAttemptDateLookup" ma:readOnly="true" ma:showField="LastPublish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dByLookup" ma:index="64" nillable="true" ma:displayName="Last Published By" ma:default="" ma:list="{9E343742-310B-4684-A24C-1D137CB4B230}" ma:internalName="LastPublishedByLookup" ma:readOnly="true" ma:showField="LastPublish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TimeLookup" ma:index="65" nillable="true" ma:displayName="Last Published Date" ma:default="" ma:list="{9E343742-310B-4684-A24C-1D137CB4B230}" ma:internalName="LastPublishTimeLookup" ma:readOnly="true" ma:showField="LastPublish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VersionLookup" ma:index="66" nillable="true" ma:displayName="Last Published Version" ma:default="" ma:list="{9E343742-310B-4684-A24C-1D137CB4B230}" ma:internalName="LastPublishVersionLookup" ma:readOnly="true" ma:showField="LastPublish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LaunchHelpLinkType" ma:index="67" nillable="true" ma:displayName="Launch Help Link Type" ma:default="Template" ma:internalName="TPLaunchHelpLinkType">
      <xsd:simpleType>
        <xsd:restriction base="dms:Choice">
          <xsd:enumeration value="Template"/>
          <xsd:enumeration value="Training"/>
          <xsd:enumeration value="URL"/>
          <xsd:enumeration value="None"/>
        </xsd:restriction>
      </xsd:simpleType>
    </xsd:element>
    <xsd:element name="LegacyData" ma:index="68" nillable="true" ma:displayName="Legacy Data" ma:default="" ma:internalName="LegacyData" ma:readOnly="false">
      <xsd:simpleType>
        <xsd:restriction base="dms:Note"/>
      </xsd:simpleType>
    </xsd:element>
    <xsd:element name="TPLaunchHelpLink" ma:index="69" nillable="true" ma:displayName="Link to Launch Help Topic" ma:default="" ma:internalName="TPLaunchHelpLink">
      <xsd:simpleType>
        <xsd:restriction base="dms:Text"/>
      </xsd:simpleType>
    </xsd:element>
    <xsd:element name="LocComments" ma:index="70" nillable="true" ma:displayName="Loc Approval Comments" ma:default="" ma:internalName="LocComments" ma:readOnly="false">
      <xsd:simpleType>
        <xsd:restriction base="dms:Note"/>
      </xsd:simpleType>
    </xsd:element>
    <xsd:element name="LocLastLocAttemptVersionLookup" ma:index="71" nillable="true" ma:displayName="Loc Last Loc Attempt Version" ma:default="" ma:list="{7DD1DCEC-E449-43D3-891F-7DC62F62AD21}" ma:internalName="LocLastLocAttemptVersionLookup" ma:readOnly="false" ma:showField="LastLocAttemptVersion" ma:web="4873beb7-5857-4685-be1f-d57550cc96cc">
      <xsd:simpleType>
        <xsd:restriction base="dms:Lookup"/>
      </xsd:simpleType>
    </xsd:element>
    <xsd:element name="LocLastLocAttemptVersionTypeLookup" ma:index="72" nillable="true" ma:displayName="Loc Last Loc Attempt Version Type" ma:default="" ma:list="{7DD1DCEC-E449-43D3-891F-7DC62F62AD21}" ma:internalName="LocLastLocAttemptVersionTypeLookup" ma:readOnly="true" ma:showField="LastLocAttemptVersionType" ma:web="4873beb7-5857-4685-be1f-d57550cc96cc">
      <xsd:simpleType>
        <xsd:restriction base="dms:Lookup"/>
      </xsd:simpleType>
    </xsd:element>
    <xsd:element name="LocManualTestRequired" ma:index="73" nillable="true" ma:displayName="Loc Manual Test Required" ma:default="" ma:internalName="LocManualTestRequired" ma:readOnly="false">
      <xsd:simpleType>
        <xsd:restriction base="dms:Boolean"/>
      </xsd:simpleType>
    </xsd:element>
    <xsd:element name="LocMarketGroupTiers2" ma:index="74" nillable="true" ma:displayName="Loc Market Group Tiers" ma:internalName="LocMarketGroupTiers2" ma:readOnly="false">
      <xsd:simpleType>
        <xsd:restriction base="dms:Unknown"/>
      </xsd:simpleType>
    </xsd:element>
    <xsd:element name="LocNewPublishedVersionLookup" ma:index="75" nillable="true" ma:displayName="Loc New Published Version Lookup" ma:default="" ma:list="{7DD1DCEC-E449-43D3-891F-7DC62F62AD21}" ma:internalName="LocNewPublishedVersionLookup" ma:readOnly="true" ma:showField="NewPublishedVersion" ma:web="4873beb7-5857-4685-be1f-d57550cc96cc">
      <xsd:simpleType>
        <xsd:restriction base="dms:Lookup"/>
      </xsd:simpleType>
    </xsd:element>
    <xsd:element name="LocOverallHandbackStatusLookup" ma:index="76" nillable="true" ma:displayName="Loc Overall Handback Status" ma:default="" ma:list="{7DD1DCEC-E449-43D3-891F-7DC62F62AD21}" ma:internalName="LocOverallHandbackStatusLookup" ma:readOnly="true" ma:showField="OverallHandbackStatus" ma:web="4873beb7-5857-4685-be1f-d57550cc96cc">
      <xsd:simpleType>
        <xsd:restriction base="dms:Lookup"/>
      </xsd:simpleType>
    </xsd:element>
    <xsd:element name="LocOverallLocStatusLookup" ma:index="77" nillable="true" ma:displayName="Loc Overall Localize Status" ma:default="" ma:list="{7DD1DCEC-E449-43D3-891F-7DC62F62AD21}" ma:internalName="LocOverallLocStatusLookup" ma:readOnly="true" ma:showField="OverallLocStatus" ma:web="4873beb7-5857-4685-be1f-d57550cc96cc">
      <xsd:simpleType>
        <xsd:restriction base="dms:Lookup"/>
      </xsd:simpleType>
    </xsd:element>
    <xsd:element name="LocOverallPreviewStatusLookup" ma:index="78" nillable="true" ma:displayName="Loc Overall Preview Status" ma:default="" ma:list="{7DD1DCEC-E449-43D3-891F-7DC62F62AD21}" ma:internalName="LocOverallPreviewStatusLookup" ma:readOnly="true" ma:showField="OverallPreviewStatus" ma:web="4873beb7-5857-4685-be1f-d57550cc96cc">
      <xsd:simpleType>
        <xsd:restriction base="dms:Lookup"/>
      </xsd:simpleType>
    </xsd:element>
    <xsd:element name="LocOverallPublishStatusLookup" ma:index="79" nillable="true" ma:displayName="Loc Overall Publish Status" ma:default="" ma:list="{7DD1DCEC-E449-43D3-891F-7DC62F62AD21}" ma:internalName="LocOverallPublishStatusLookup" ma:readOnly="true" ma:showField="OverallPublishStatus" ma:web="4873beb7-5857-4685-be1f-d57550cc96cc">
      <xsd:simpleType>
        <xsd:restriction base="dms:Lookup"/>
      </xsd:simpleType>
    </xsd:element>
    <xsd:element name="IntlLocPriority" ma:index="80" nillable="true" ma:displayName="Loc Priority" ma:default="" ma:internalName="IntlLocPriority" ma:readOnly="false">
      <xsd:simpleType>
        <xsd:restriction base="dms:Unknown"/>
      </xsd:simpleType>
    </xsd:element>
    <xsd:element name="LocProcessedForHandoffsLookup" ma:index="81" nillable="true" ma:displayName="Loc Processed For Handoffs" ma:default="" ma:list="{7DD1DCEC-E449-43D3-891F-7DC62F62AD21}" ma:internalName="LocProcessedForHandoffsLookup" ma:readOnly="true" ma:showField="ProcessedForHandoffs" ma:web="4873beb7-5857-4685-be1f-d57550cc96cc">
      <xsd:simpleType>
        <xsd:restriction base="dms:Lookup"/>
      </xsd:simpleType>
    </xsd:element>
    <xsd:element name="LocProcessedForMarketsLookup" ma:index="82" nillable="true" ma:displayName="Loc Processed For Markets" ma:default="" ma:list="{7DD1DCEC-E449-43D3-891F-7DC62F62AD21}" ma:internalName="LocProcessedForMarketsLookup" ma:readOnly="true" ma:showField="ProcessedForMarkets" ma:web="4873beb7-5857-4685-be1f-d57550cc96cc">
      <xsd:simpleType>
        <xsd:restriction base="dms:Lookup"/>
      </xsd:simpleType>
    </xsd:element>
    <xsd:element name="LocPublishedDependentAssetsLookup" ma:index="83" nillable="true" ma:displayName="Loc Published Dependent Assets" ma:default="" ma:list="{7DD1DCEC-E449-43D3-891F-7DC62F62AD21}" ma:internalName="LocPublishedDependentAssetsLookup" ma:readOnly="true" ma:showField="PublishedDependentAssets" ma:web="4873beb7-5857-4685-be1f-d57550cc96cc">
      <xsd:simpleType>
        <xsd:restriction base="dms:Lookup"/>
      </xsd:simpleType>
    </xsd:element>
    <xsd:element name="LocPublishedLinkedAssetsLookup" ma:index="84" nillable="true" ma:displayName="Loc Published Linked Assets" ma:default="" ma:list="{7DD1DCEC-E449-43D3-891F-7DC62F62AD21}" ma:internalName="LocPublishedLinkedAssetsLookup" ma:readOnly="true" ma:showField="PublishedLinkedAssets" ma:web="4873beb7-5857-4685-be1f-d57550cc96cc">
      <xsd:simpleType>
        <xsd:restriction base="dms:Lookup"/>
      </xsd:simpleType>
    </xsd:element>
    <xsd:element name="LocRecommendedHandoff" ma:index="85" nillable="true" ma:displayName="Loc Recommended Handoff" ma:default="" ma:indexed="true" ma:internalName="LocRecommendedHandoff" ma:readOnly="false">
      <xsd:simpleType>
        <xsd:restriction base="dms:Text"/>
      </xsd:simpleType>
    </xsd:element>
    <xsd:element name="LocalizationTagsTaxHTField0" ma:index="87" nillable="true" ma:taxonomy="true" ma:internalName="LocalizationTagsTaxHTField0" ma:taxonomyFieldName="LocalizationTags" ma:displayName="Localization Tags" ma:readOnly="false" ma:default="" ma:fieldId="{00f02cb3-2c7c-424a-9c61-10e9b6878429}" ma:taxonomyMulti="true" ma:sspId="8f79753a-75d3-41f5-8ca3-40b843941b4f" ma:termSetId="5b7703a5-8e8b-4b58-8b31-1cea35331da3" ma:anchorId="00000000-0000-0000-0000-000000000000" ma:open="false" ma:isKeyword="false">
      <xsd:complexType>
        <xsd:sequence>
          <xsd:element ref="pc:Terms" minOccurs="0" maxOccurs="1"/>
        </xsd:sequence>
      </xsd:complexType>
    </xsd:element>
    <xsd:element name="MachineTranslated" ma:index="88" nillable="true" ma:displayName="Machine Translated" ma:default="" ma:internalName="MachineTranslated" ma:readOnly="false">
      <xsd:simpleType>
        <xsd:restriction base="dms:Boolean"/>
      </xsd:simpleType>
    </xsd:element>
    <xsd:element name="Manager" ma:index="89" nillable="true" ma:displayName="Manager" ma:hidden="true" ma:internalName="Manager" ma:readOnly="false">
      <xsd:simpleType>
        <xsd:restriction base="dms:Text"/>
      </xsd:simpleType>
    </xsd:element>
    <xsd:element name="Markets" ma:index="90" nillable="true" ma:displayName="Markets" ma:default="" ma:description="Leave blank to show in all markets" ma:list="{2FBD1B11-2ACE-4FDC-B5A3-635D4ADF6F1B}" ma:internalName="Markets" ma:readOnly="false" ma:showField="MarketNa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Milestone" ma:index="91" nillable="true" ma:displayName="Milestone" ma:default="" ma:internalName="Milestone" ma:readOnly="false">
      <xsd:simpleType>
        <xsd:restriction base="dms:Unknown"/>
      </xsd:simpleType>
    </xsd:element>
    <xsd:element name="TPNamespace" ma:index="94" nillable="true" ma:displayName="Namespace" ma:default="" ma:internalName="TPNamespace">
      <xsd:simpleType>
        <xsd:restriction base="dms:Text"/>
      </xsd:simpleType>
    </xsd:element>
    <xsd:element name="NumericId" ma:index="95" nillable="true" ma:displayName="Numeric ID" ma:default="" ma:indexed="true" ma:internalName="NumericId" ma:readOnly="false">
      <xsd:simpleType>
        <xsd:restriction base="dms:Number"/>
      </xsd:simpleType>
    </xsd:element>
    <xsd:element name="NumOfRatingsLookup" ma:index="96" nillable="true" ma:displayName="NumOfRatings" ma:default="" ma:list="{9E343742-310B-4684-A24C-1D137CB4B230}" ma:internalName="NumOfRatingsLookup" ma:readOnly="true" ma:showField="NumOfRating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OOCacheId" ma:index="97" nillable="true" ma:displayName="OOCacheId" ma:internalName="OOCacheId" ma:readOnly="false">
      <xsd:simpleType>
        <xsd:restriction base="dms:Text"/>
      </xsd:simpleType>
    </xsd:element>
    <xsd:element name="OpenTemplate" ma:index="98" nillable="true" ma:displayName="Open Template" ma:default="true" ma:internalName="OpenTemplate">
      <xsd:simpleType>
        <xsd:restriction base="dms:Boolean"/>
      </xsd:simpleType>
    </xsd:element>
    <xsd:element name="OriginAsset" ma:index="99" nillable="true" ma:displayName="Origin Asset" ma:default="" ma:internalName="OriginAsset" ma:readOnly="false">
      <xsd:simpleType>
        <xsd:restriction base="dms:Text"/>
      </xsd:simpleType>
    </xsd:element>
    <xsd:element name="OriginalRelease" ma:index="100" nillable="true" ma:displayName="Original Release" ma:default="15" ma:internalName="OriginalRelease" ma:readOnly="false">
      <xsd:simpleType>
        <xsd:restriction base="dms:Choice">
          <xsd:enumeration value="14"/>
          <xsd:enumeration value="15"/>
          <xsd:enumeration value="16"/>
        </xsd:restriction>
      </xsd:simpleType>
    </xsd:element>
    <xsd:element name="OriginalSourceMarket" ma:index="101" nillable="true" ma:displayName="Original Source Market Group" ma:default="" ma:internalName="OriginalSourceMarket" ma:readOnly="false">
      <xsd:simpleType>
        <xsd:restriction base="dms:Text"/>
      </xsd:simpleType>
    </xsd:element>
    <xsd:element name="OutputCachingOn" ma:index="102" nillable="true" ma:displayName="Output Caching" ma:default="true" ma:hidden="true" ma:internalName="OutputCachingOn" ma:readOnly="false">
      <xsd:simpleType>
        <xsd:restriction base="dms:Boolean"/>
      </xsd:simpleType>
    </xsd:element>
    <xsd:element name="ParentAssetId" ma:index="103" nillable="true" ma:displayName="Parent Asset Id" ma:default="" ma:internalName="ParentAssetId" ma:readOnly="false">
      <xsd:simpleType>
        <xsd:restriction base="dms:Text"/>
      </xsd:simpleType>
    </xsd:element>
    <xsd:element name="PlannedPubDate" ma:index="104" nillable="true" ma:displayName="Planned Publish Date" ma:default="" ma:indexed="true" ma:internalName="PlannedPubDate" ma:readOnly="false">
      <xsd:simpleType>
        <xsd:restriction base="dms:DateTime"/>
      </xsd:simpleType>
    </xsd:element>
    <xsd:element name="PolicheckWords" ma:index="105" nillable="true" ma:displayName="Policheck Words" ma:default="" ma:internalName="PolicheckWords" ma:readOnly="false">
      <xsd:simpleType>
        <xsd:restriction base="dms:Text"/>
      </xsd:simpleType>
    </xsd:element>
    <xsd:element name="BusinessGroup" ma:index="106" nillable="true" ma:displayName="Product Division Owner" ma:default="" ma:internalName="BusinessGroup" ma:readOnly="false">
      <xsd:simpleType>
        <xsd:restriction base="dms:Unknown"/>
      </xsd:simpleType>
    </xsd:element>
    <xsd:element name="UAProjectedTotalWords" ma:index="107" nillable="true" ma:displayName="Projected Word Count" ma:default="" ma:internalName="UAProjectedTotalWords" ma:readOnly="false">
      <xsd:simpleType>
        <xsd:restriction base="dms:Unknown"/>
      </xsd:simpleType>
    </xsd:element>
    <xsd:element name="Provider" ma:index="108" nillable="true" ma:displayName="Provider" ma:default="" ma:internalName="Provider" ma:readOnly="false">
      <xsd:simpleType>
        <xsd:restriction base="dms:Unknown"/>
      </xsd:simpleType>
    </xsd:element>
    <xsd:element name="Providers" ma:index="109" nillable="true" ma:displayName="Providers" ma:default="" ma:internalName="Providers">
      <xsd:simpleType>
        <xsd:restriction base="dms:Unknown"/>
      </xsd:simpleType>
    </xsd:element>
    <xsd:element name="PublishStatusLookup" ma:index="110" nillable="true" ma:displayName="Publish Status" ma:default="" ma:list="{9E343742-310B-4684-A24C-1D137CB4B230}" ma:internalName="PublishStatusLookup" ma:readOnly="false" ma:showField="PublishStatu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PublishTargets" ma:index="111" nillable="true" ma:displayName="Publish Target" ma:default="OfficeOnlineVNext" ma:internalName="PublishTargets" ma:readOnly="false">
      <xsd:simpleType>
        <xsd:restriction base="dms:Unknown"/>
      </xsd:simpleType>
    </xsd:element>
    <xsd:element name="RecommendationsModifier" ma:index="112" nillable="true" ma:displayName="Recommendations Modifier" ma:default="" ma:internalName="RecommendationsModifier" ma:readOnly="false">
      <xsd:simpleType>
        <xsd:restriction base="dms:Number"/>
      </xsd:simpleType>
    </xsd:element>
    <xsd:element name="ArtSampleDocs" ma:index="113" nillable="true" ma:displayName="Sample Docs" ma:default="" ma:hidden="true" ma:internalName="ArtSampleDocs" ma:readOnly="false">
      <xsd:simpleType>
        <xsd:restriction base="dms:Text"/>
      </xsd:simpleType>
    </xsd:element>
    <xsd:element name="ScenarioTagsTaxHTField0" ma:index="115" nillable="true" ma:taxonomy="true" ma:internalName="ScenarioTagsTaxHTField0" ma:taxonomyFieldName="ScenarioTags" ma:displayName="Scenarios" ma:readOnly="false" ma:default="" ma:fieldId="{93aef74d-6c78-4815-8310-51477dceeccc}" ma:taxonomyMulti="true" ma:sspId="8f79753a-75d3-41f5-8ca3-40b843941b4f" ma:termSetId="4b7d5f16-e2f2-4fc0-bab3-6e8b931e57d6" ma:anchorId="00000000-0000-0000-0000-000000000000" ma:open="false" ma:isKeyword="false">
      <xsd:complexType>
        <xsd:sequence>
          <xsd:element ref="pc:Terms" minOccurs="0" maxOccurs="1"/>
        </xsd:sequence>
      </xsd:complexType>
    </xsd:element>
    <xsd:element name="ShowIn" ma:index="117" nillable="true" ma:displayName="Show In" ma:default="Show everywhere" ma:internalName="ShowIn" ma:readOnly="false">
      <xsd:simpleType>
        <xsd:restriction base="dms:Choice">
          <xsd:enumeration value="Hide on web"/>
          <xsd:enumeration value="On Web no search"/>
          <xsd:enumeration value="Show everywhere"/>
          <xsd:enumeration value="Special use only"/>
        </xsd:restriction>
      </xsd:simpleType>
    </xsd:element>
    <xsd:element name="SourceTitle" ma:index="118" nillable="true" ma:displayName="Source Title" ma:default="" ma:indexed="true" ma:internalName="SourceTitle" ma:readOnly="false">
      <xsd:simpleType>
        <xsd:restriction base="dms:Text"/>
      </xsd:simpleType>
    </xsd:element>
    <xsd:element name="CSXSubmissionDate" ma:index="119" nillable="true" ma:displayName="Submission Date" ma:default="" ma:internalName="CSXSubmissionDate" ma:readOnly="false">
      <xsd:simpleType>
        <xsd:restriction base="dms:DateTime"/>
      </xsd:simpleType>
    </xsd:element>
    <xsd:element name="SubmitterId" ma:index="120" nillable="true" ma:displayName="Submitter ID" ma:default="" ma:internalName="SubmitterId" ma:readOnly="false">
      <xsd:simpleType>
        <xsd:restriction base="dms:Text"/>
      </xsd:simpleType>
    </xsd:element>
    <xsd:element name="TaxCatchAll" ma:index="121" nillable="true" ma:displayName="Taxonomy Catch All Column" ma:hidden="true" ma:list="{530f955b-6704-4601-bd83-f81d87f1e440}" ma:internalName="TaxCatchAll" ma:showField="CatchAllData"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axCatchAllLabel" ma:index="122" nillable="true" ma:displayName="Taxonomy Catch All Column1" ma:hidden="true" ma:list="{530f955b-6704-4601-bd83-f81d87f1e440}" ma:internalName="TaxCatchAllLabel" ma:readOnly="true" ma:showField="CatchAllDataLabel"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emplateStatus" ma:index="123" nillable="true" ma:displayName="Template Status" ma:default="" ma:internalName="TemplateStatus">
      <xsd:simpleType>
        <xsd:restriction base="dms:Unknown"/>
      </xsd:simpleType>
    </xsd:element>
    <xsd:element name="TemplateTemplateType" ma:index="124" nillable="true" ma:displayName="Template Type" ma:default="" ma:internalName="TemplateTemplateType">
      <xsd:simpleType>
        <xsd:restriction base="dms:Unknown"/>
      </xsd:simpleType>
    </xsd:element>
    <xsd:element name="ThumbnailAssetId" ma:index="125" nillable="true" ma:displayName="Thumbnail Image Asset" ma:default="" ma:internalName="ThumbnailAssetId" ma:readOnly="false">
      <xsd:simpleType>
        <xsd:restriction base="dms:Text"/>
      </xsd:simpleType>
    </xsd:element>
    <xsd:element name="TimesCloned" ma:index="126" nillable="true" ma:displayName="Times Cloned" ma:default="" ma:internalName="TimesCloned" ma:readOnly="false">
      <xsd:simpleType>
        <xsd:restriction base="dms:Number"/>
      </xsd:simpleType>
    </xsd:element>
    <xsd:element name="TrustLevel" ma:index="128" nillable="true" ma:displayName="Trust Level" ma:default="1 Microsoft Managed Content" ma:internalName="TrustLevel" ma:readOnly="false">
      <xsd:simpleType>
        <xsd:restriction base="dms:Unknown"/>
      </xsd:simpleType>
    </xsd:element>
    <xsd:element name="UALocComments" ma:index="129" nillable="true" ma:displayName="UA Loc Comments" ma:default="" ma:internalName="UALocComments" ma:readOnly="false">
      <xsd:simpleType>
        <xsd:restriction base="dms:Note"/>
      </xsd:simpleType>
    </xsd:element>
    <xsd:element name="UALocRecommendation" ma:index="130" nillable="true" ma:displayName="UA Loc Recommendation" ma:default="Localize" ma:internalName="UALocRecommendation" ma:readOnly="false">
      <xsd:simpleType>
        <xsd:restriction base="dms:Choice">
          <xsd:enumeration value="Localize"/>
          <xsd:enumeration value="Never Localize"/>
          <xsd:enumeration value="Priority Localize"/>
        </xsd:restriction>
      </xsd:simpleType>
    </xsd:element>
    <xsd:element name="UANotes" ma:index="131" nillable="true" ma:displayName="UA Notes" ma:default="" ma:internalName="UANotes" ma:readOnly="false">
      <xsd:simpleType>
        <xsd:restriction base="dms:Note"/>
      </xsd:simpleType>
    </xsd:element>
    <xsd:element name="TPAppVersion" ma:index="132" nillable="true" ma:displayName="Version" ma:default="" ma:internalName="TPAppVersion">
      <xsd:simpleType>
        <xsd:restriction base="dms:Text"/>
      </xsd:simpleType>
    </xsd:element>
    <xsd:element name="VoteCount" ma:index="133" nillable="true" ma:displayName="Vote Count" ma:default="" ma:internalName="VoteCount" ma:readOnly="fals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2" ma:displayName="Content Type"/>
        <xsd:element ref="dc:title" minOccurs="0" maxOccurs="1" ma:index="12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APDescription xmlns="4873beb7-5857-4685-be1f-d57550cc96cc" xsi:nil="true"/>
    <AssetExpire xmlns="4873beb7-5857-4685-be1f-d57550cc96cc">2029-01-01T08:00:00+00:00</AssetExpire>
    <CampaignTagsTaxHTField0 xmlns="4873beb7-5857-4685-be1f-d57550cc96cc">
      <Terms xmlns="http://schemas.microsoft.com/office/infopath/2007/PartnerControls"/>
    </CampaignTagsTaxHTField0>
    <IntlLangReviewDate xmlns="4873beb7-5857-4685-be1f-d57550cc96cc" xsi:nil="true"/>
    <TPFriendlyName xmlns="4873beb7-5857-4685-be1f-d57550cc96cc" xsi:nil="true"/>
    <IntlLangReview xmlns="4873beb7-5857-4685-be1f-d57550cc96cc">false</IntlLangReview>
    <LocLastLocAttemptVersionLookup xmlns="4873beb7-5857-4685-be1f-d57550cc96cc">855024</LocLastLocAttemptVersionLookup>
    <PolicheckWords xmlns="4873beb7-5857-4685-be1f-d57550cc96cc" xsi:nil="true"/>
    <SubmitterId xmlns="4873beb7-5857-4685-be1f-d57550cc96cc" xsi:nil="true"/>
    <AcquiredFrom xmlns="4873beb7-5857-4685-be1f-d57550cc96cc">Internal MS</AcquiredFrom>
    <EditorialStatus xmlns="4873beb7-5857-4685-be1f-d57550cc96cc">Complete</EditorialStatus>
    <Markets xmlns="4873beb7-5857-4685-be1f-d57550cc96cc"/>
    <OriginAsset xmlns="4873beb7-5857-4685-be1f-d57550cc96cc" xsi:nil="true"/>
    <AssetStart xmlns="4873beb7-5857-4685-be1f-d57550cc96cc">2012-08-31T08:50:00+00:00</AssetStart>
    <FriendlyTitle xmlns="4873beb7-5857-4685-be1f-d57550cc96cc" xsi:nil="true"/>
    <MarketSpecific xmlns="4873beb7-5857-4685-be1f-d57550cc96cc">false</MarketSpecific>
    <TPNamespace xmlns="4873beb7-5857-4685-be1f-d57550cc96cc" xsi:nil="true"/>
    <PublishStatusLookup xmlns="4873beb7-5857-4685-be1f-d57550cc96cc">
      <Value>1616423</Value>
    </PublishStatusLookup>
    <APAuthor xmlns="4873beb7-5857-4685-be1f-d57550cc96cc">
      <UserInfo>
        <DisplayName>REDMOND\kristaa</DisplayName>
        <AccountId>136</AccountId>
        <AccountType/>
      </UserInfo>
    </APAuthor>
    <TPCommandLine xmlns="4873beb7-5857-4685-be1f-d57550cc96cc" xsi:nil="true"/>
    <IntlLangReviewer xmlns="4873beb7-5857-4685-be1f-d57550cc96cc" xsi:nil="true"/>
    <OpenTemplate xmlns="4873beb7-5857-4685-be1f-d57550cc96cc">true</OpenTemplate>
    <CSXSubmissionDate xmlns="4873beb7-5857-4685-be1f-d57550cc96cc" xsi:nil="true"/>
    <TaxCatchAll xmlns="4873beb7-5857-4685-be1f-d57550cc96cc"/>
    <Manager xmlns="4873beb7-5857-4685-be1f-d57550cc96cc" xsi:nil="true"/>
    <NumericId xmlns="4873beb7-5857-4685-be1f-d57550cc96cc" xsi:nil="true"/>
    <ParentAssetId xmlns="4873beb7-5857-4685-be1f-d57550cc96cc" xsi:nil="true"/>
    <OriginalSourceMarket xmlns="4873beb7-5857-4685-be1f-d57550cc96cc" xsi:nil="true"/>
    <ApprovalStatus xmlns="4873beb7-5857-4685-be1f-d57550cc96cc">InProgress</ApprovalStatus>
    <TPComponent xmlns="4873beb7-5857-4685-be1f-d57550cc96cc" xsi:nil="true"/>
    <EditorialTags xmlns="4873beb7-5857-4685-be1f-d57550cc96cc" xsi:nil="true"/>
    <TPExecutable xmlns="4873beb7-5857-4685-be1f-d57550cc96cc" xsi:nil="true"/>
    <TPLaunchHelpLink xmlns="4873beb7-5857-4685-be1f-d57550cc96cc" xsi:nil="true"/>
    <LocComments xmlns="4873beb7-5857-4685-be1f-d57550cc96cc" xsi:nil="true"/>
    <LocRecommendedHandoff xmlns="4873beb7-5857-4685-be1f-d57550cc96cc" xsi:nil="true"/>
    <SourceTitle xmlns="4873beb7-5857-4685-be1f-d57550cc96cc" xsi:nil="true"/>
    <CSXUpdate xmlns="4873beb7-5857-4685-be1f-d57550cc96cc">false</CSXUpdate>
    <IntlLocPriority xmlns="4873beb7-5857-4685-be1f-d57550cc96cc" xsi:nil="true"/>
    <UAProjectedTotalWords xmlns="4873beb7-5857-4685-be1f-d57550cc96cc" xsi:nil="true"/>
    <AssetType xmlns="4873beb7-5857-4685-be1f-d57550cc96cc">TP</AssetType>
    <MachineTranslated xmlns="4873beb7-5857-4685-be1f-d57550cc96cc">false</MachineTranslated>
    <OutputCachingOn xmlns="4873beb7-5857-4685-be1f-d57550cc96cc">false</OutputCachingOn>
    <TemplateStatus xmlns="4873beb7-5857-4685-be1f-d57550cc96cc">Complete</TemplateStatus>
    <IsSearchable xmlns="4873beb7-5857-4685-be1f-d57550cc96cc">true</IsSearchable>
    <ContentItem xmlns="4873beb7-5857-4685-be1f-d57550cc96cc" xsi:nil="true"/>
    <HandoffToMSDN xmlns="4873beb7-5857-4685-be1f-d57550cc96cc" xsi:nil="true"/>
    <ShowIn xmlns="4873beb7-5857-4685-be1f-d57550cc96cc">Show everywhere</ShowIn>
    <ThumbnailAssetId xmlns="4873beb7-5857-4685-be1f-d57550cc96cc" xsi:nil="true"/>
    <UALocComments xmlns="4873beb7-5857-4685-be1f-d57550cc96cc" xsi:nil="true"/>
    <UALocRecommendation xmlns="4873beb7-5857-4685-be1f-d57550cc96cc">Localize</UALocRecommendation>
    <LastModifiedDateTime xmlns="4873beb7-5857-4685-be1f-d57550cc96cc" xsi:nil="true"/>
    <LegacyData xmlns="4873beb7-5857-4685-be1f-d57550cc96cc" xsi:nil="true"/>
    <LocManualTestRequired xmlns="4873beb7-5857-4685-be1f-d57550cc96cc">false</LocManualTestRequired>
    <LocMarketGroupTiers2 xmlns="4873beb7-5857-4685-be1f-d57550cc96cc" xsi:nil="true"/>
    <ClipArtFilename xmlns="4873beb7-5857-4685-be1f-d57550cc96cc" xsi:nil="true"/>
    <TPApplication xmlns="4873beb7-5857-4685-be1f-d57550cc96cc" xsi:nil="true"/>
    <CSXHash xmlns="4873beb7-5857-4685-be1f-d57550cc96cc" xsi:nil="true"/>
    <DirectSourceMarket xmlns="4873beb7-5857-4685-be1f-d57550cc96cc" xsi:nil="true"/>
    <PrimaryImageGen xmlns="4873beb7-5857-4685-be1f-d57550cc96cc">true</PrimaryImageGen>
    <PlannedPubDate xmlns="4873beb7-5857-4685-be1f-d57550cc96cc" xsi:nil="true"/>
    <CSXSubmissionMarket xmlns="4873beb7-5857-4685-be1f-d57550cc96cc" xsi:nil="true"/>
    <Downloads xmlns="4873beb7-5857-4685-be1f-d57550cc96cc">0</Downloads>
    <ArtSampleDocs xmlns="4873beb7-5857-4685-be1f-d57550cc96cc" xsi:nil="true"/>
    <TrustLevel xmlns="4873beb7-5857-4685-be1f-d57550cc96cc">1 Microsoft Managed Content</TrustLevel>
    <BlockPublish xmlns="4873beb7-5857-4685-be1f-d57550cc96cc">false</BlockPublish>
    <TPLaunchHelpLinkType xmlns="4873beb7-5857-4685-be1f-d57550cc96cc">Template</TPLaunchHelpLinkType>
    <LocalizationTagsTaxHTField0 xmlns="4873beb7-5857-4685-be1f-d57550cc96cc">
      <Terms xmlns="http://schemas.microsoft.com/office/infopath/2007/PartnerControls"/>
    </LocalizationTagsTaxHTField0>
    <BusinessGroup xmlns="4873beb7-5857-4685-be1f-d57550cc96cc" xsi:nil="true"/>
    <Providers xmlns="4873beb7-5857-4685-be1f-d57550cc96cc" xsi:nil="true"/>
    <TemplateTemplateType xmlns="4873beb7-5857-4685-be1f-d57550cc96cc">PowerPoint Presentation Template</TemplateTemplateType>
    <TimesCloned xmlns="4873beb7-5857-4685-be1f-d57550cc96cc" xsi:nil="true"/>
    <TPAppVersion xmlns="4873beb7-5857-4685-be1f-d57550cc96cc" xsi:nil="true"/>
    <VoteCount xmlns="4873beb7-5857-4685-be1f-d57550cc96cc" xsi:nil="true"/>
    <AverageRating xmlns="4873beb7-5857-4685-be1f-d57550cc96cc" xsi:nil="true"/>
    <FeatureTagsTaxHTField0 xmlns="4873beb7-5857-4685-be1f-d57550cc96cc">
      <Terms xmlns="http://schemas.microsoft.com/office/infopath/2007/PartnerControls"/>
    </FeatureTagsTaxHTField0>
    <Provider xmlns="4873beb7-5857-4685-be1f-d57550cc96cc" xsi:nil="true"/>
    <UACurrentWords xmlns="4873beb7-5857-4685-be1f-d57550cc96cc" xsi:nil="true"/>
    <AssetId xmlns="4873beb7-5857-4685-be1f-d57550cc96cc">TP103431361</AssetId>
    <TPClientViewer xmlns="4873beb7-5857-4685-be1f-d57550cc96cc" xsi:nil="true"/>
    <DSATActionTaken xmlns="4873beb7-5857-4685-be1f-d57550cc96cc" xsi:nil="true"/>
    <APEditor xmlns="4873beb7-5857-4685-be1f-d57550cc96cc">
      <UserInfo>
        <DisplayName/>
        <AccountId xsi:nil="true"/>
        <AccountType/>
      </UserInfo>
    </APEditor>
    <TPInstallLocation xmlns="4873beb7-5857-4685-be1f-d57550cc96cc" xsi:nil="true"/>
    <OOCacheId xmlns="4873beb7-5857-4685-be1f-d57550cc96cc" xsi:nil="true"/>
    <IsDeleted xmlns="4873beb7-5857-4685-be1f-d57550cc96cc">false</IsDeleted>
    <PublishTargets xmlns="4873beb7-5857-4685-be1f-d57550cc96cc">OfficeOnlineVNext</PublishTargets>
    <ApprovalLog xmlns="4873beb7-5857-4685-be1f-d57550cc96cc" xsi:nil="true"/>
    <BugNumber xmlns="4873beb7-5857-4685-be1f-d57550cc96cc" xsi:nil="true"/>
    <CrawlForDependencies xmlns="4873beb7-5857-4685-be1f-d57550cc96cc">false</CrawlForDependencies>
    <InternalTagsTaxHTField0 xmlns="4873beb7-5857-4685-be1f-d57550cc96cc">
      <Terms xmlns="http://schemas.microsoft.com/office/infopath/2007/PartnerControls"/>
    </InternalTagsTaxHTField0>
    <LastHandOff xmlns="4873beb7-5857-4685-be1f-d57550cc96cc" xsi:nil="true"/>
    <Milestone xmlns="4873beb7-5857-4685-be1f-d57550cc96cc" xsi:nil="true"/>
    <OriginalRelease xmlns="4873beb7-5857-4685-be1f-d57550cc96cc">15</OriginalRelease>
    <RecommendationsModifier xmlns="4873beb7-5857-4685-be1f-d57550cc96cc" xsi:nil="true"/>
    <ScenarioTagsTaxHTField0 xmlns="4873beb7-5857-4685-be1f-d57550cc96cc">
      <Terms xmlns="http://schemas.microsoft.com/office/infopath/2007/PartnerControls"/>
    </ScenarioTagsTaxHTField0>
    <UANotes xmlns="4873beb7-5857-4685-be1f-d57550cc96cc" xsi:nil="true"/>
  </documentManagement>
</p:properties>
</file>

<file path=customXml/itemProps1.xml><?xml version="1.0" encoding="utf-8"?>
<ds:datastoreItem xmlns:ds="http://schemas.openxmlformats.org/officeDocument/2006/customXml" ds:itemID="{561E720F-F05D-4536-9C34-0CFCED65D3B7}">
  <ds:schemaRefs>
    <ds:schemaRef ds:uri="http://schemas.microsoft.com/sharepoint/v3/contenttype/forms"/>
  </ds:schemaRefs>
</ds:datastoreItem>
</file>

<file path=customXml/itemProps2.xml><?xml version="1.0" encoding="utf-8"?>
<ds:datastoreItem xmlns:ds="http://schemas.openxmlformats.org/officeDocument/2006/customXml" ds:itemID="{28C8B9CA-0273-4370-889A-FC05DA5C2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873beb7-5857-4685-be1f-d57550cc96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CDDBB83-77C1-4099-A0AA-289882E745E2}">
  <ds:schemaRefs>
    <ds:schemaRef ds:uri="http://purl.org/dc/terms/"/>
    <ds:schemaRef ds:uri="http://purl.org/dc/dcmitype/"/>
    <ds:schemaRef ds:uri="http://www.w3.org/XML/1998/namespace"/>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4873beb7-5857-4685-be1f-d57550cc96cc"/>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
  <TotalTime>0</TotalTime>
  <Words>1378</Words>
  <Application>Microsoft Office PowerPoint</Application>
  <PresentationFormat>全屏显示(4:3)</PresentationFormat>
  <Paragraphs>173</Paragraphs>
  <Slides>23</Slides>
  <Notes>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23</vt:i4>
      </vt:variant>
    </vt:vector>
  </HeadingPairs>
  <TitlesOfParts>
    <vt:vector size="29" baseType="lpstr">
      <vt:lpstr>微软雅黑</vt:lpstr>
      <vt:lpstr>Arial</vt:lpstr>
      <vt:lpstr>Euphemia</vt:lpstr>
      <vt:lpstr>Times New Roman</vt:lpstr>
      <vt:lpstr>Wingdings</vt:lpstr>
      <vt:lpstr>学术文献 16x9</vt:lpstr>
      <vt:lpstr>Compilers</vt:lpstr>
      <vt:lpstr>RUN-TIME Environments</vt:lpstr>
      <vt:lpstr>Outlines</vt:lpstr>
      <vt:lpstr>8.1 Symbol Table</vt:lpstr>
      <vt:lpstr>8.1 Symbol Table-Structure</vt:lpstr>
      <vt:lpstr>8.1 Symbol Table Per Scope</vt:lpstr>
      <vt:lpstr>8.1 Symbol Table Per Scope</vt:lpstr>
      <vt:lpstr>8.1 Symbol Table Per Scope-Implementation</vt:lpstr>
      <vt:lpstr>8.2 Storage Organization</vt:lpstr>
      <vt:lpstr>8.2 Storage Organization</vt:lpstr>
      <vt:lpstr>8.2 Storage Organization</vt:lpstr>
      <vt:lpstr>8.2 Storage Organization</vt:lpstr>
      <vt:lpstr>8.2 Storage Organization</vt:lpstr>
      <vt:lpstr>8.2 Storage Organization</vt:lpstr>
      <vt:lpstr>8.3 Stack Allocation of Space-Activation Trees</vt:lpstr>
      <vt:lpstr>8.3 Stack Allocation of Space-Activation Record</vt:lpstr>
      <vt:lpstr>8.3 Stack Allocation of Space-Activation Record</vt:lpstr>
      <vt:lpstr>8.3 Stack Allocation of Space-Activation Record</vt:lpstr>
      <vt:lpstr>8.3 Stack Allocation of Space-Calling Sequence</vt:lpstr>
      <vt:lpstr>8.3 Stack Allocation of Space-Calling Sequence</vt:lpstr>
      <vt:lpstr>8.3 Stack Allocation of Space-Calling Sequence</vt:lpstr>
      <vt:lpstr>8.3 Stack Allocation of Space-Calling Sequence</vt:lpstr>
      <vt:lpstr>8.4 Fully Static Runtime Environments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2017-04-09T02:54:44Z</dcterms:created>
  <dcterms:modified xsi:type="dcterms:W3CDTF">2020-05-24T04:43:51Z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0x0101006EDDDB5EE6D98C44930B742096920B300400F5B6D36B3EF94B4E9A635CDF2A18F5B8</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