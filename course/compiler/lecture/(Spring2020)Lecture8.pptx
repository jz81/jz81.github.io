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emf" ContentType="image/x-emf"/>
  <Default Extension="rels" ContentType="application/vnd.openxmlformats-package.relationships+xml"/>
  <Default Extension="xml" ContentType="application/xml"/>
  <Default Extension="wdp" ContentType="image/vnd.ms-photo"/>
  <Default Extension="vml" ContentType="application/vnd.openxmlformats-officedocument.vmlDrawing"/>
  <Default Extension="doc" ContentType="application/msword"/>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48" r:id="rId4"/>
  </p:sldMasterIdLst>
  <p:notesMasterIdLst>
    <p:notesMasterId r:id="rId87"/>
  </p:notesMasterIdLst>
  <p:handoutMasterIdLst>
    <p:handoutMasterId r:id="rId88"/>
  </p:handoutMasterIdLst>
  <p:sldIdLst>
    <p:sldId id="256" r:id="rId5"/>
    <p:sldId id="261" r:id="rId6"/>
    <p:sldId id="278" r:id="rId7"/>
    <p:sldId id="279" r:id="rId8"/>
    <p:sldId id="280" r:id="rId9"/>
    <p:sldId id="281" r:id="rId10"/>
    <p:sldId id="282" r:id="rId11"/>
    <p:sldId id="283" r:id="rId12"/>
    <p:sldId id="284" r:id="rId13"/>
    <p:sldId id="285" r:id="rId14"/>
    <p:sldId id="286" r:id="rId15"/>
    <p:sldId id="287" r:id="rId16"/>
    <p:sldId id="288" r:id="rId17"/>
    <p:sldId id="289" r:id="rId18"/>
    <p:sldId id="290" r:id="rId19"/>
    <p:sldId id="291" r:id="rId20"/>
    <p:sldId id="295" r:id="rId21"/>
    <p:sldId id="294" r:id="rId22"/>
    <p:sldId id="293" r:id="rId23"/>
    <p:sldId id="296" r:id="rId24"/>
    <p:sldId id="297" r:id="rId25"/>
    <p:sldId id="299" r:id="rId26"/>
    <p:sldId id="298" r:id="rId27"/>
    <p:sldId id="300" r:id="rId28"/>
    <p:sldId id="301" r:id="rId29"/>
    <p:sldId id="303" r:id="rId30"/>
    <p:sldId id="304" r:id="rId31"/>
    <p:sldId id="305" r:id="rId32"/>
    <p:sldId id="302" r:id="rId33"/>
    <p:sldId id="306" r:id="rId34"/>
    <p:sldId id="307" r:id="rId35"/>
    <p:sldId id="308" r:id="rId36"/>
    <p:sldId id="309" r:id="rId37"/>
    <p:sldId id="310" r:id="rId38"/>
    <p:sldId id="311" r:id="rId39"/>
    <p:sldId id="313" r:id="rId40"/>
    <p:sldId id="314" r:id="rId41"/>
    <p:sldId id="312" r:id="rId42"/>
    <p:sldId id="315" r:id="rId43"/>
    <p:sldId id="317" r:id="rId44"/>
    <p:sldId id="318" r:id="rId45"/>
    <p:sldId id="319" r:id="rId46"/>
    <p:sldId id="320" r:id="rId47"/>
    <p:sldId id="321" r:id="rId48"/>
    <p:sldId id="316" r:id="rId49"/>
    <p:sldId id="322" r:id="rId50"/>
    <p:sldId id="323" r:id="rId51"/>
    <p:sldId id="325" r:id="rId52"/>
    <p:sldId id="324" r:id="rId53"/>
    <p:sldId id="328" r:id="rId54"/>
    <p:sldId id="327" r:id="rId55"/>
    <p:sldId id="326" r:id="rId56"/>
    <p:sldId id="329" r:id="rId57"/>
    <p:sldId id="330" r:id="rId58"/>
    <p:sldId id="335" r:id="rId59"/>
    <p:sldId id="336" r:id="rId60"/>
    <p:sldId id="334" r:id="rId61"/>
    <p:sldId id="333" r:id="rId62"/>
    <p:sldId id="332" r:id="rId63"/>
    <p:sldId id="331" r:id="rId64"/>
    <p:sldId id="337" r:id="rId65"/>
    <p:sldId id="338" r:id="rId66"/>
    <p:sldId id="339" r:id="rId67"/>
    <p:sldId id="340" r:id="rId68"/>
    <p:sldId id="341" r:id="rId69"/>
    <p:sldId id="345" r:id="rId70"/>
    <p:sldId id="343" r:id="rId71"/>
    <p:sldId id="344" r:id="rId72"/>
    <p:sldId id="346" r:id="rId73"/>
    <p:sldId id="347" r:id="rId74"/>
    <p:sldId id="349" r:id="rId75"/>
    <p:sldId id="350" r:id="rId76"/>
    <p:sldId id="351" r:id="rId77"/>
    <p:sldId id="352" r:id="rId78"/>
    <p:sldId id="353" r:id="rId79"/>
    <p:sldId id="354" r:id="rId80"/>
    <p:sldId id="355" r:id="rId81"/>
    <p:sldId id="356" r:id="rId82"/>
    <p:sldId id="357" r:id="rId83"/>
    <p:sldId id="358" r:id="rId84"/>
    <p:sldId id="359" r:id="rId85"/>
    <p:sldId id="360" r:id="rId86"/>
  </p:sldIdLst>
  <p:sldSz cx="9144000" cy="6858000" type="screen4x3"/>
  <p:notesSz cx="6858000" cy="9144000"/>
  <p:defaultTextStyle>
    <a:defPPr rtl="0">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showGuides="1">
      <p:cViewPr varScale="1">
        <p:scale>
          <a:sx n="112" d="100"/>
          <a:sy n="112" d="100"/>
        </p:scale>
        <p:origin x="1542" y="114"/>
      </p:cViewPr>
      <p:guideLst>
        <p:guide orient="horz" pos="2160"/>
        <p:guide pos="2880"/>
      </p:guideLst>
    </p:cSldViewPr>
  </p:slideViewPr>
  <p:notesTextViewPr>
    <p:cViewPr>
      <p:scale>
        <a:sx n="1" d="1"/>
        <a:sy n="1" d="1"/>
      </p:scale>
      <p:origin x="0" y="0"/>
    </p:cViewPr>
  </p:notesTextViewPr>
  <p:notesViewPr>
    <p:cSldViewPr snapToGrid="0" showGuides="1">
      <p:cViewPr varScale="1">
        <p:scale>
          <a:sx n="99" d="100"/>
          <a:sy n="99" d="100"/>
        </p:scale>
        <p:origin x="3570" y="9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presProps" Target="presProps.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5" Type="http://schemas.openxmlformats.org/officeDocument/2006/relationships/slide" Target="slides/slide1.xml"/><Relationship Id="rId90" Type="http://schemas.openxmlformats.org/officeDocument/2006/relationships/viewProps" Target="viewProps.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slide" Target="slides/slide8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tableStyles" Target="tableStyles.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notesMaster" Target="notesMasters/notesMaster1.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18.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19.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20.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21.e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22.emf"/></Relationships>
</file>

<file path=ppt/drawings/_rels/vmlDrawing6.vml.rels><?xml version="1.0" encoding="UTF-8" standalone="yes"?>
<Relationships xmlns="http://schemas.openxmlformats.org/package/2006/relationships"><Relationship Id="rId1" Type="http://schemas.openxmlformats.org/officeDocument/2006/relationships/image" Target="../media/image23.emf"/></Relationships>
</file>

<file path=ppt/drawings/_rels/vmlDrawing7.vml.rels><?xml version="1.0" encoding="UTF-8" standalone="yes"?>
<Relationships xmlns="http://schemas.openxmlformats.org/package/2006/relationships"><Relationship Id="rId1" Type="http://schemas.openxmlformats.org/officeDocument/2006/relationships/image" Target="../media/image24.emf"/></Relationships>
</file>

<file path=ppt/drawings/_rels/vmlDrawing8.vml.rels><?xml version="1.0" encoding="UTF-8" standalone="yes"?>
<Relationships xmlns="http://schemas.openxmlformats.org/package/2006/relationships"><Relationship Id="rId1" Type="http://schemas.openxmlformats.org/officeDocument/2006/relationships/image" Target="../media/image25.emf"/></Relationships>
</file>

<file path=ppt/drawings/_rels/vmlDrawing9.vml.rels><?xml version="1.0" encoding="UTF-8" standalone="yes"?>
<Relationships xmlns="http://schemas.openxmlformats.org/package/2006/relationships"><Relationship Id="rId1" Type="http://schemas.openxmlformats.org/officeDocument/2006/relationships/image" Target="../media/image26.emf"/></Relationships>
</file>

<file path=ppt/drawings/_rels/vmlDrawing10.vml.rels><?xml version="1.0" encoding="UTF-8" standalone="yes"?>
<Relationships xmlns="http://schemas.openxmlformats.org/package/2006/relationships"><Relationship Id="rId1" Type="http://schemas.openxmlformats.org/officeDocument/2006/relationships/image" Target="../media/image27.emf"/></Relationships>
</file>

<file path=ppt/drawings/_rels/vmlDrawing11.vml.rels><?xml version="1.0" encoding="UTF-8" standalone="yes"?>
<Relationships xmlns="http://schemas.openxmlformats.org/package/2006/relationships"><Relationship Id="rId1" Type="http://schemas.openxmlformats.org/officeDocument/2006/relationships/image" Target="../media/image28.emf"/></Relationships>
</file>

<file path=ppt/drawings/_rels/vmlDrawing12.vml.rels><?xml version="1.0" encoding="UTF-8" standalone="yes"?>
<Relationships xmlns="http://schemas.openxmlformats.org/package/2006/relationships"><Relationship Id="rId1" Type="http://schemas.openxmlformats.org/officeDocument/2006/relationships/image" Target="../media/image29.emf"/></Relationships>
</file>

<file path=ppt/drawings/_rels/vmlDrawing13.vml.rels><?xml version="1.0" encoding="UTF-8" standalone="yes"?>
<Relationships xmlns="http://schemas.openxmlformats.org/package/2006/relationships"><Relationship Id="rId1" Type="http://schemas.openxmlformats.org/officeDocument/2006/relationships/image" Target="../media/image30.emf"/></Relationships>
</file>

<file path=ppt/drawings/_rels/vmlDrawing14.vml.rels><?xml version="1.0" encoding="UTF-8" standalone="yes"?>
<Relationships xmlns="http://schemas.openxmlformats.org/package/2006/relationships"><Relationship Id="rId1" Type="http://schemas.openxmlformats.org/officeDocument/2006/relationships/image" Target="../media/image31.emf"/></Relationships>
</file>

<file path=ppt/drawings/_rels/vmlDrawing15.vml.rels><?xml version="1.0" encoding="UTF-8" standalone="yes"?>
<Relationships xmlns="http://schemas.openxmlformats.org/package/2006/relationships"><Relationship Id="rId1" Type="http://schemas.openxmlformats.org/officeDocument/2006/relationships/image" Target="../media/image32.emf"/></Relationships>
</file>

<file path=ppt/drawings/_rels/vmlDrawing16.vml.rels><?xml version="1.0" encoding="UTF-8" standalone="yes"?>
<Relationships xmlns="http://schemas.openxmlformats.org/package/2006/relationships"><Relationship Id="rId1" Type="http://schemas.openxmlformats.org/officeDocument/2006/relationships/image" Target="../media/image33.emf"/></Relationships>
</file>

<file path=ppt/drawings/_rels/vmlDrawing17.vml.rels><?xml version="1.0" encoding="UTF-8" standalone="yes"?>
<Relationships xmlns="http://schemas.openxmlformats.org/package/2006/relationships"><Relationship Id="rId1" Type="http://schemas.openxmlformats.org/officeDocument/2006/relationships/image" Target="../media/image34.emf"/></Relationships>
</file>

<file path=ppt/drawings/_rels/vmlDrawing18.vml.rels><?xml version="1.0" encoding="UTF-8" standalone="yes"?>
<Relationships xmlns="http://schemas.openxmlformats.org/package/2006/relationships"><Relationship Id="rId1" Type="http://schemas.openxmlformats.org/officeDocument/2006/relationships/image" Target="../media/image35.emf"/></Relationships>
</file>

<file path=ppt/drawings/_rels/vmlDrawing19.vml.rels><?xml version="1.0" encoding="UTF-8" standalone="yes"?>
<Relationships xmlns="http://schemas.openxmlformats.org/package/2006/relationships"><Relationship Id="rId1" Type="http://schemas.openxmlformats.org/officeDocument/2006/relationships/image" Target="../media/image36.emf"/></Relationships>
</file>

<file path=ppt/drawings/_rels/vmlDrawing20.vml.rels><?xml version="1.0" encoding="UTF-8" standalone="yes"?>
<Relationships xmlns="http://schemas.openxmlformats.org/package/2006/relationships"><Relationship Id="rId1" Type="http://schemas.openxmlformats.org/officeDocument/2006/relationships/image" Target="../media/image37.emf"/></Relationships>
</file>

<file path=ppt/drawings/_rels/vmlDrawing21.vml.rels><?xml version="1.0" encoding="UTF-8" standalone="yes"?>
<Relationships xmlns="http://schemas.openxmlformats.org/package/2006/relationships"><Relationship Id="rId1" Type="http://schemas.openxmlformats.org/officeDocument/2006/relationships/image" Target="../media/image38.emf"/></Relationships>
</file>

<file path=ppt/drawings/_rels/vmlDrawing22.vml.rels><?xml version="1.0" encoding="UTF-8" standalone="yes"?>
<Relationships xmlns="http://schemas.openxmlformats.org/package/2006/relationships"><Relationship Id="rId1" Type="http://schemas.openxmlformats.org/officeDocument/2006/relationships/image" Target="../media/image39.emf"/></Relationships>
</file>

<file path=ppt/drawings/_rels/vmlDrawing23.vml.rels><?xml version="1.0" encoding="UTF-8" standalone="yes"?>
<Relationships xmlns="http://schemas.openxmlformats.org/package/2006/relationships"><Relationship Id="rId1" Type="http://schemas.openxmlformats.org/officeDocument/2006/relationships/image" Target="../media/image40.emf"/></Relationships>
</file>

<file path=ppt/drawings/_rels/vmlDrawing24.vml.rels><?xml version="1.0" encoding="UTF-8" standalone="yes"?>
<Relationships xmlns="http://schemas.openxmlformats.org/package/2006/relationships"><Relationship Id="rId1" Type="http://schemas.openxmlformats.org/officeDocument/2006/relationships/image" Target="../media/image41.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l" rtl="0">
              <a:defRPr sz="1200"/>
            </a:lvl1pPr>
          </a:lstStyle>
          <a:p>
            <a:pPr algn="r" rtl="0"/>
            <a:fld id="{91C0301E-2321-4F52-B85E-5901506D265C}" type="datetime1">
              <a:rPr lang="zh-CN" altLang="en-US" smtClean="0">
                <a:latin typeface="微软雅黑" panose="020B0503020204020204" pitchFamily="34" charset="-122"/>
                <a:ea typeface="微软雅黑" panose="020B0503020204020204" pitchFamily="34" charset="-122"/>
              </a:rPr>
              <a:pPr algn="r" rtl="0"/>
              <a:t>2020/5/26</a:t>
            </a:fld>
            <a:endParaRPr lang="zh-CN" altLang="en-US" dirty="0">
              <a:latin typeface="微软雅黑" panose="020B0503020204020204" pitchFamily="34" charset="-122"/>
              <a:ea typeface="微软雅黑" panose="020B0503020204020204" pitchFamily="34" charset="-122"/>
            </a:endParaRPr>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rtl="0">
              <a:defRPr sz="1200"/>
            </a:lvl1pPr>
          </a:lstStyle>
          <a:p>
            <a:pPr rtl="0"/>
            <a:endParaRPr lang="zh-CN" altLang="en-US" dirty="0">
              <a:latin typeface="微软雅黑" panose="020B0503020204020204" pitchFamily="34" charset="-122"/>
              <a:ea typeface="微软雅黑" panose="020B0503020204020204" pitchFamily="34" charset="-122"/>
            </a:endParaRPr>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l" rtl="0">
              <a:defRPr sz="1200"/>
            </a:lvl1pPr>
          </a:lstStyle>
          <a:p>
            <a:pPr algn="r" rtl="0"/>
            <a:fld id="{06834459-7356-44BF-850D-8B30C4FB3B6B}" type="slidenum">
              <a:rPr lang="en-US" altLang="zh-CN" smtClean="0">
                <a:latin typeface="微软雅黑" panose="020B0503020204020204" pitchFamily="34" charset="-122"/>
                <a:ea typeface="微软雅黑" panose="020B0503020204020204" pitchFamily="34" charset="-122"/>
              </a:rPr>
              <a:pPr algn="r" rtl="0"/>
              <a:t>‹#›</a:t>
            </a:fld>
            <a:endParaRPr lang="en-US" altLang="zh-CN"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6901652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rtl="0">
              <a:defRPr sz="1200">
                <a:latin typeface="微软雅黑" panose="020B0503020204020204" pitchFamily="34" charset="-122"/>
                <a:ea typeface="微软雅黑" panose="020B0503020204020204" pitchFamily="34" charset="-122"/>
              </a:defRPr>
            </a:lvl1pPr>
          </a:lstStyle>
          <a:p>
            <a:fld id="{229B22C3-6CB1-491B-AD00-E0837F23A3F3}" type="datetime1">
              <a:rPr lang="zh-CN" altLang="en-US" smtClean="0"/>
              <a:pPr/>
              <a:t>2020/5/26</a:t>
            </a:fld>
            <a:endParaRPr lang="zh-CN" altLang="en-US" dirty="0"/>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pPr rtl="0"/>
            <a:endParaRPr lang="zh-CN" altLang="en-US" noProof="0" dirty="0"/>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rtl="0">
              <a:defRPr sz="1200">
                <a:latin typeface="微软雅黑" panose="020B0503020204020204" pitchFamily="34" charset="-122"/>
                <a:ea typeface="微软雅黑" panose="020B0503020204020204"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rtl="0">
              <a:defRPr sz="1200">
                <a:latin typeface="微软雅黑" panose="020B0503020204020204" pitchFamily="34" charset="-122"/>
                <a:ea typeface="微软雅黑" panose="020B0503020204020204" pitchFamily="34" charset="-122"/>
              </a:defRPr>
            </a:lvl1pPr>
          </a:lstStyle>
          <a:p>
            <a:fld id="{0A3C37BE-C303-496D-B5CD-85F2937540FC}" type="slidenum">
              <a:rPr lang="en-US" altLang="zh-CN" smtClean="0"/>
              <a:pPr/>
              <a:t>‹#›</a:t>
            </a:fld>
            <a:endParaRPr lang="en-US" altLang="zh-CN" dirty="0"/>
          </a:p>
        </p:txBody>
      </p:sp>
    </p:spTree>
    <p:extLst>
      <p:ext uri="{BB962C8B-B14F-4D97-AF65-F5344CB8AC3E}">
        <p14:creationId xmlns:p14="http://schemas.microsoft.com/office/powerpoint/2010/main" val="33508422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1pPr>
    <a:lvl2pPr marL="4572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2pPr>
    <a:lvl3pPr marL="9144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3pPr>
    <a:lvl4pPr marL="13716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4pPr>
    <a:lvl5pPr marL="1828800" algn="l" defTabSz="914400" rtl="0" eaLnBrk="1" latinLnBrk="0" hangingPunct="1">
      <a:defRPr sz="1200" kern="1200">
        <a:solidFill>
          <a:schemeClr val="tx1"/>
        </a:solidFill>
        <a:latin typeface="微软雅黑" panose="020B0503020204020204" pitchFamily="34" charset="-122"/>
        <a:ea typeface="微软雅黑" panose="020B0503020204020204" pitchFamily="34"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371600" y="1143000"/>
            <a:ext cx="4114800" cy="3086100"/>
          </a:xfrm>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0A3C37BE-C303-496D-B5CD-85F2937540FC}" type="slidenum">
              <a:rPr lang="en-US" altLang="zh-CN" smtClean="0"/>
              <a:pPr/>
              <a:t>1</a:t>
            </a:fld>
            <a:endParaRPr lang="en-US" altLang="zh-CN" dirty="0"/>
          </a:p>
        </p:txBody>
      </p:sp>
    </p:spTree>
    <p:extLst>
      <p:ext uri="{BB962C8B-B14F-4D97-AF65-F5344CB8AC3E}">
        <p14:creationId xmlns:p14="http://schemas.microsoft.com/office/powerpoint/2010/main" val="849057192"/>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标题幻灯片">
    <p:spTree>
      <p:nvGrpSpPr>
        <p:cNvPr id="1" name=""/>
        <p:cNvGrpSpPr/>
        <p:nvPr/>
      </p:nvGrpSpPr>
      <p:grpSpPr>
        <a:xfrm>
          <a:off x="0" y="0"/>
          <a:ext cx="0" cy="0"/>
          <a:chOff x="0" y="0"/>
          <a:chExt cx="0" cy="0"/>
        </a:xfrm>
      </p:grpSpPr>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p>
        </p:txBody>
      </p:sp>
      <p:sp>
        <p:nvSpPr>
          <p:cNvPr id="2" name="标题 1"/>
          <p:cNvSpPr>
            <a:spLocks noGrp="1"/>
          </p:cNvSpPr>
          <p:nvPr>
            <p:ph type="ctrTitle"/>
          </p:nvPr>
        </p:nvSpPr>
        <p:spPr>
          <a:xfrm>
            <a:off x="828675" y="2292095"/>
            <a:ext cx="7572375" cy="2219691"/>
          </a:xfrm>
        </p:spPr>
        <p:txBody>
          <a:bodyPr rtlCol="0" anchor="ctr">
            <a:normAutofit/>
          </a:bodyPr>
          <a:lstStyle>
            <a:lvl1pPr algn="l" rtl="0">
              <a:defRPr sz="3300" cap="all" baseline="0"/>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4" y="4511785"/>
            <a:ext cx="7572376" cy="955565"/>
          </a:xfrm>
        </p:spPr>
        <p:txBody>
          <a:bodyPr rtlCol="0">
            <a:normAutofit/>
          </a:bodyPr>
          <a:lstStyle>
            <a:lvl1pPr marL="0" indent="0" algn="l" rtl="0">
              <a:spcBef>
                <a:spcPts val="0"/>
              </a:spcBef>
              <a:buNone/>
              <a:defRPr sz="1350"/>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sp>
        <p:nvSpPr>
          <p:cNvPr id="4" name="日期占位符 3"/>
          <p:cNvSpPr>
            <a:spLocks noGrp="1"/>
          </p:cNvSpPr>
          <p:nvPr>
            <p:ph type="dt" sz="half" idx="10"/>
          </p:nvPr>
        </p:nvSpPr>
        <p:spPr/>
        <p:txBody>
          <a:bodyPr rtlCol="0"/>
          <a:lstStyle>
            <a:lvl1pPr>
              <a:defRPr/>
            </a:lvl1pPr>
          </a:lstStyle>
          <a:p>
            <a:fld id="{A7392AAC-879E-4B39-8824-AF6B730A809E}" type="datetime1">
              <a:rPr lang="zh-CN" altLang="en-US" smtClean="0"/>
              <a:pPr/>
              <a:t>2020/5/26</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pic>
        <p:nvPicPr>
          <p:cNvPr id="11" name="图 10"/>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3334" y="0"/>
            <a:ext cx="1310643" cy="2292094"/>
          </a:xfrm>
          <a:prstGeom prst="rect">
            <a:avLst/>
          </a:prstGeom>
        </p:spPr>
      </p:pic>
    </p:spTree>
    <p:extLst>
      <p:ext uri="{BB962C8B-B14F-4D97-AF65-F5344CB8AC3E}">
        <p14:creationId xmlns:p14="http://schemas.microsoft.com/office/powerpoint/2010/main" val="16597565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9BA78444-6099-4C0A-A3A9-C6F3C5D7F289}" type="datetime1">
              <a:rPr lang="zh-CN" altLang="en-US" smtClean="0"/>
              <a:pPr/>
              <a:t>2020/5/26</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786876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包含图片的标题幻灯片">
    <p:spTree>
      <p:nvGrpSpPr>
        <p:cNvPr id="1" name=""/>
        <p:cNvGrpSpPr/>
        <p:nvPr/>
      </p:nvGrpSpPr>
      <p:grpSpPr>
        <a:xfrm>
          <a:off x="0" y="0"/>
          <a:ext cx="0" cy="0"/>
          <a:chOff x="0" y="0"/>
          <a:chExt cx="0" cy="0"/>
        </a:xfrm>
      </p:grpSpPr>
      <p:grpSp>
        <p:nvGrpSpPr>
          <p:cNvPr id="13" name="组 12"/>
          <p:cNvGrpSpPr/>
          <p:nvPr/>
        </p:nvGrpSpPr>
        <p:grpSpPr>
          <a:xfrm rot="10800000">
            <a:off x="0" y="5645511"/>
            <a:ext cx="9144000" cy="63125"/>
            <a:chOff x="507492" y="1501519"/>
            <a:chExt cx="8129016" cy="63125"/>
          </a:xfrm>
        </p:grpSpPr>
        <p:cxnSp>
          <p:nvCxnSpPr>
            <p:cNvPr id="17" name="直接连接符 16"/>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nvGrpSpPr>
          <p:cNvPr id="14" name="组 13"/>
          <p:cNvGrpSpPr/>
          <p:nvPr/>
        </p:nvGrpSpPr>
        <p:grpSpPr>
          <a:xfrm>
            <a:off x="0" y="1143001"/>
            <a:ext cx="9144000" cy="63125"/>
            <a:chOff x="507492" y="1501519"/>
            <a:chExt cx="8129016" cy="63125"/>
          </a:xfrm>
        </p:grpSpPr>
        <p:cxnSp>
          <p:nvCxnSpPr>
            <p:cNvPr id="15" name="直接连接符​ 14"/>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7" name="矩形 6"/>
          <p:cNvSpPr/>
          <p:nvPr/>
        </p:nvSpPr>
        <p:spPr>
          <a:xfrm>
            <a:off x="0" y="5778124"/>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8" name="矩形 7"/>
          <p:cNvSpPr/>
          <p:nvPr/>
        </p:nvSpPr>
        <p:spPr>
          <a:xfrm>
            <a:off x="0" y="0"/>
            <a:ext cx="9144000" cy="107987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sp>
        <p:nvSpPr>
          <p:cNvPr id="2" name="标题 1"/>
          <p:cNvSpPr>
            <a:spLocks noGrp="1"/>
          </p:cNvSpPr>
          <p:nvPr>
            <p:ph type="ctrTitle"/>
          </p:nvPr>
        </p:nvSpPr>
        <p:spPr>
          <a:xfrm>
            <a:off x="828675" y="2292095"/>
            <a:ext cx="4300538" cy="2219691"/>
          </a:xfrm>
        </p:spPr>
        <p:txBody>
          <a:bodyPr rtlCol="0" anchor="ctr">
            <a:normAutofit/>
          </a:bodyPr>
          <a:lstStyle>
            <a:lvl1pPr algn="l" rtl="0">
              <a:defRPr sz="3300" cap="all" baseline="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副标题 2"/>
          <p:cNvSpPr>
            <a:spLocks noGrp="1"/>
          </p:cNvSpPr>
          <p:nvPr>
            <p:ph type="subTitle" idx="1"/>
          </p:nvPr>
        </p:nvSpPr>
        <p:spPr>
          <a:xfrm>
            <a:off x="828675" y="4511785"/>
            <a:ext cx="4300538" cy="955565"/>
          </a:xfrm>
        </p:spPr>
        <p:txBody>
          <a:bodyPr rtlCol="0">
            <a:normAutofit/>
          </a:bodyPr>
          <a:lstStyle>
            <a:lvl1pPr marL="0" indent="0" algn="l" rtl="0">
              <a:spcBef>
                <a:spcPts val="0"/>
              </a:spcBef>
              <a:buNone/>
              <a:defRPr sz="1350">
                <a:latin typeface="微软雅黑" panose="020B0503020204020204" pitchFamily="34" charset="-122"/>
                <a:ea typeface="微软雅黑" panose="020B0503020204020204" pitchFamily="34" charset="-122"/>
              </a:defRPr>
            </a:lvl1pPr>
            <a:lvl2pPr marL="342900" indent="0" algn="ctr" rtl="0">
              <a:buNone/>
              <a:defRPr sz="1500"/>
            </a:lvl2pPr>
            <a:lvl3pPr marL="685800" indent="0" algn="ctr" rtl="0">
              <a:buNone/>
              <a:defRPr sz="1350"/>
            </a:lvl3pPr>
            <a:lvl4pPr marL="1028700" indent="0" algn="ctr" rtl="0">
              <a:buNone/>
              <a:defRPr sz="1200"/>
            </a:lvl4pPr>
            <a:lvl5pPr marL="1371600" indent="0" algn="ctr" rtl="0">
              <a:buNone/>
              <a:defRPr sz="1200"/>
            </a:lvl5pPr>
            <a:lvl6pPr marL="1714500" indent="0" algn="ctr" rtl="0">
              <a:buNone/>
              <a:defRPr sz="1200"/>
            </a:lvl6pPr>
            <a:lvl7pPr marL="2057400" indent="0" algn="ctr" rtl="0">
              <a:buNone/>
              <a:defRPr sz="1200"/>
            </a:lvl7pPr>
            <a:lvl8pPr marL="2400300" indent="0" algn="ctr" rtl="0">
              <a:buNone/>
              <a:defRPr sz="1200"/>
            </a:lvl8pPr>
            <a:lvl9pPr marL="2743200" indent="0" algn="ctr" rtl="0">
              <a:buNone/>
              <a:defRPr sz="1200"/>
            </a:lvl9pPr>
          </a:lstStyle>
          <a:p>
            <a:pPr rtl="0"/>
            <a:r>
              <a:rPr lang="zh-CN" altLang="en-US" noProof="0"/>
              <a:t>单击以编辑母版副标题样式</a:t>
            </a:r>
            <a:endParaRPr lang="zh-CN" altLang="en-US" noProof="0" dirty="0"/>
          </a:p>
        </p:txBody>
      </p:sp>
      <p:pic>
        <p:nvPicPr>
          <p:cNvPr id="10" name="图 9"/>
          <p:cNvPicPr>
            <a:picLocks noChangeAspect="1"/>
          </p:cNvPicPr>
          <p:nvPr/>
        </p:nvPicPr>
        <p:blipFill rotWithShape="1">
          <a:blip r:embed="rId2" cstate="print">
            <a:duotone>
              <a:schemeClr val="accent2">
                <a:shade val="45000"/>
                <a:satMod val="135000"/>
              </a:schemeClr>
              <a:prstClr val="white"/>
            </a:duotone>
            <a:extLst>
              <a:ext uri="{BEBA8EAE-BF5A-486C-A8C5-ECC9F3942E4B}">
                <a14:imgProps xmlns:a14="http://schemas.microsoft.com/office/drawing/2010/main">
                  <a14:imgLayer r:embed="rId3">
                    <a14:imgEffect>
                      <a14:saturation sat="30000"/>
                    </a14:imgEffect>
                  </a14:imgLayer>
                </a14:imgProps>
              </a:ext>
              <a:ext uri="{28A0092B-C50C-407E-A947-70E740481C1C}">
                <a14:useLocalDpi xmlns:a14="http://schemas.microsoft.com/office/drawing/2010/main" val="0"/>
              </a:ext>
            </a:extLst>
          </a:blip>
          <a:srcRect/>
          <a:stretch/>
        </p:blipFill>
        <p:spPr>
          <a:xfrm>
            <a:off x="994410" y="0"/>
            <a:ext cx="1310643" cy="2292094"/>
          </a:xfrm>
          <a:prstGeom prst="rect">
            <a:avLst/>
          </a:prstGeom>
        </p:spPr>
      </p:pic>
      <p:sp>
        <p:nvSpPr>
          <p:cNvPr id="11" name="图片占位符 10"/>
          <p:cNvSpPr>
            <a:spLocks noGrp="1"/>
          </p:cNvSpPr>
          <p:nvPr>
            <p:ph type="pic" sz="quarter" idx="13"/>
          </p:nvPr>
        </p:nvSpPr>
        <p:spPr>
          <a:xfrm>
            <a:off x="5235798" y="1310656"/>
            <a:ext cx="3908203" cy="4208604"/>
          </a:xfrm>
          <a:solidFill>
            <a:schemeClr val="tx1">
              <a:lumMod val="20000"/>
              <a:lumOff val="80000"/>
            </a:schemeClr>
          </a:solidFill>
        </p:spPr>
        <p:txBody>
          <a:bodyPr tIns="1005840" rtlCol="0"/>
          <a:lstStyle>
            <a:lvl1pPr marL="0" indent="0" algn="ctr" rtl="0">
              <a:buNone/>
              <a:defRPr>
                <a:latin typeface="微软雅黑" panose="020B0503020204020204" pitchFamily="34" charset="-122"/>
                <a:ea typeface="微软雅黑" panose="020B0503020204020204" pitchFamily="34" charset="-122"/>
              </a:defRPr>
            </a:lvl1pPr>
          </a:lstStyle>
          <a:p>
            <a:pPr rtl="0"/>
            <a:r>
              <a:rPr lang="zh-CN" altLang="en-US" noProof="0"/>
              <a:t>单击图标添加图片</a:t>
            </a:r>
            <a:endParaRPr lang="zh-CN" altLang="en-US" noProof="0" dirty="0"/>
          </a:p>
        </p:txBody>
      </p:sp>
      <p:sp>
        <p:nvSpPr>
          <p:cNvPr id="19" name="说明文字"/>
          <p:cNvSpPr/>
          <p:nvPr/>
        </p:nvSpPr>
        <p:spPr>
          <a:xfrm>
            <a:off x="9258300" y="0"/>
            <a:ext cx="971550" cy="6858000"/>
          </a:xfrm>
          <a:prstGeom prst="roundRect">
            <a:avLst>
              <a:gd name="adj" fmla="val 9717"/>
            </a:avLst>
          </a:prstGeom>
          <a:solidFill>
            <a:srgbClr val="A6A6A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8580" tIns="34290" rIns="68580" bIns="34290" numCol="1" spcCol="0" rtlCol="0" fromWordArt="0" anchor="t" anchorCtr="0" forceAA="0" compatLnSpc="1">
            <a:prstTxWarp prst="textNoShape">
              <a:avLst/>
            </a:prstTxWarp>
            <a:noAutofit/>
          </a:bodyPr>
          <a:lstStyle/>
          <a:p>
            <a:pPr rtl="0"/>
            <a:r>
              <a:rPr lang="zh-CN" altLang="en-US" sz="900" b="1" i="1" noProof="0" dirty="0">
                <a:latin typeface="微软雅黑" panose="020B0503020204020204" pitchFamily="34" charset="-122"/>
                <a:ea typeface="微软雅黑" panose="020B0503020204020204" pitchFamily="34" charset="-122"/>
                <a:cs typeface="Arial" pitchFamily="34" charset="0"/>
              </a:rPr>
              <a:t>注意：</a:t>
            </a:r>
          </a:p>
          <a:p>
            <a:pPr rtl="0"/>
            <a:r>
              <a:rPr lang="zh-CN" altLang="en-US" sz="900" i="1" noProof="0" dirty="0">
                <a:latin typeface="微软雅黑" panose="020B0503020204020204" pitchFamily="34" charset="-122"/>
                <a:ea typeface="微软雅黑" panose="020B0503020204020204" pitchFamily="34" charset="-122"/>
                <a:cs typeface="Arial" pitchFamily="34" charset="0"/>
              </a:rPr>
              <a:t>若要更改此幻灯片上的图像，请选择该图片，并将其删除。然后单击占位符中的图片图标以插入自己的图像。</a:t>
            </a:r>
          </a:p>
        </p:txBody>
      </p:sp>
    </p:spTree>
    <p:extLst>
      <p:ext uri="{BB962C8B-B14F-4D97-AF65-F5344CB8AC3E}">
        <p14:creationId xmlns:p14="http://schemas.microsoft.com/office/powerpoint/2010/main" val="26739436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节标题">
    <p:spTree>
      <p:nvGrpSpPr>
        <p:cNvPr id="1" name=""/>
        <p:cNvGrpSpPr/>
        <p:nvPr/>
      </p:nvGrpSpPr>
      <p:grpSpPr>
        <a:xfrm>
          <a:off x="0" y="0"/>
          <a:ext cx="0" cy="0"/>
          <a:chOff x="0" y="0"/>
          <a:chExt cx="0" cy="0"/>
        </a:xfrm>
      </p:grpSpPr>
      <p:grpSp>
        <p:nvGrpSpPr>
          <p:cNvPr id="8" name="组 7"/>
          <p:cNvGrpSpPr/>
          <p:nvPr/>
        </p:nvGrpSpPr>
        <p:grpSpPr>
          <a:xfrm>
            <a:off x="0" y="2514601"/>
            <a:ext cx="9144000" cy="3194035"/>
            <a:chOff x="647402" y="2514600"/>
            <a:chExt cx="10838688" cy="3194035"/>
          </a:xfrm>
        </p:grpSpPr>
        <p:grpSp>
          <p:nvGrpSpPr>
            <p:cNvPr id="9" name="组 8"/>
            <p:cNvGrpSpPr/>
            <p:nvPr/>
          </p:nvGrpSpPr>
          <p:grpSpPr>
            <a:xfrm>
              <a:off x="647402" y="2514600"/>
              <a:ext cx="10838688" cy="63125"/>
              <a:chOff x="507492" y="1501519"/>
              <a:chExt cx="8129016" cy="63125"/>
            </a:xfrm>
          </p:grpSpPr>
          <p:cxnSp>
            <p:nvCxnSpPr>
              <p:cNvPr id="14" name="直接连接符 13"/>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
          <p:nvSpPr>
            <p:cNvPr id="10" name="矩形 9"/>
            <p:cNvSpPr/>
            <p:nvPr/>
          </p:nvSpPr>
          <p:spPr>
            <a:xfrm>
              <a:off x="647402" y="2640850"/>
              <a:ext cx="10838688" cy="2941536"/>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zh-CN" altLang="en-US" sz="1350" noProof="0" dirty="0">
                <a:latin typeface="微软雅黑" panose="020B0503020204020204" pitchFamily="34" charset="-122"/>
                <a:ea typeface="微软雅黑" panose="020B0503020204020204" pitchFamily="34" charset="-122"/>
              </a:endParaRPr>
            </a:p>
          </p:txBody>
        </p:sp>
        <p:grpSp>
          <p:nvGrpSpPr>
            <p:cNvPr id="11" name="组 10"/>
            <p:cNvGrpSpPr/>
            <p:nvPr/>
          </p:nvGrpSpPr>
          <p:grpSpPr>
            <a:xfrm rot="10800000">
              <a:off x="647402" y="5645510"/>
              <a:ext cx="10838688" cy="63125"/>
              <a:chOff x="507492" y="1501519"/>
              <a:chExt cx="8129016" cy="63125"/>
            </a:xfrm>
          </p:grpSpPr>
          <p:cxnSp>
            <p:nvCxnSpPr>
              <p:cNvPr id="12" name="直接连接符​ 11"/>
              <p:cNvCxnSpPr/>
              <p:nvPr/>
            </p:nvCxnSpPr>
            <p:spPr>
              <a:xfrm>
                <a:off x="507492" y="1564644"/>
                <a:ext cx="8129016"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a:off x="507492" y="1501519"/>
                <a:ext cx="8129016"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grpSp>
      <p:sp>
        <p:nvSpPr>
          <p:cNvPr id="2" name="标题 1"/>
          <p:cNvSpPr>
            <a:spLocks noGrp="1"/>
          </p:cNvSpPr>
          <p:nvPr>
            <p:ph type="title"/>
          </p:nvPr>
        </p:nvSpPr>
        <p:spPr>
          <a:xfrm>
            <a:off x="828675" y="2971806"/>
            <a:ext cx="7553324" cy="1684150"/>
          </a:xfrm>
        </p:spPr>
        <p:txBody>
          <a:bodyPr rtlCol="0" anchor="ctr">
            <a:normAutofit/>
          </a:bodyPr>
          <a:lstStyle>
            <a:lvl1pPr algn="l" rtl="0">
              <a:defRPr sz="3300" cap="all" baseline="0">
                <a:solidFill>
                  <a:schemeClr val="bg1"/>
                </a:solidFill>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4655956"/>
            <a:ext cx="7553324" cy="509750"/>
          </a:xfrm>
        </p:spPr>
        <p:txBody>
          <a:bodyPr rtlCol="0">
            <a:normAutofit/>
          </a:bodyPr>
          <a:lstStyle>
            <a:lvl1pPr marL="0" indent="0" algn="l" rtl="0">
              <a:spcBef>
                <a:spcPts val="0"/>
              </a:spcBef>
              <a:buNone/>
              <a:defRPr sz="1200">
                <a:solidFill>
                  <a:schemeClr val="bg1"/>
                </a:solidFill>
                <a:latin typeface="微软雅黑" panose="020B0503020204020204" pitchFamily="34" charset="-122"/>
                <a:ea typeface="微软雅黑" panose="020B0503020204020204" pitchFamily="34" charset="-122"/>
              </a:defRPr>
            </a:lvl1pPr>
            <a:lvl2pPr marL="342900" indent="0" algn="l" rtl="0">
              <a:buNone/>
              <a:defRPr sz="1500">
                <a:solidFill>
                  <a:schemeClr val="tx1">
                    <a:tint val="75000"/>
                  </a:schemeClr>
                </a:solidFill>
              </a:defRPr>
            </a:lvl2pPr>
            <a:lvl3pPr marL="685800" indent="0" algn="l" rtl="0">
              <a:buNone/>
              <a:defRPr sz="1350">
                <a:solidFill>
                  <a:schemeClr val="tx1">
                    <a:tint val="75000"/>
                  </a:schemeClr>
                </a:solidFill>
              </a:defRPr>
            </a:lvl3pPr>
            <a:lvl4pPr marL="1028700" indent="0" algn="l" rtl="0">
              <a:buNone/>
              <a:defRPr sz="1200">
                <a:solidFill>
                  <a:schemeClr val="tx1">
                    <a:tint val="75000"/>
                  </a:schemeClr>
                </a:solidFill>
              </a:defRPr>
            </a:lvl4pPr>
            <a:lvl5pPr marL="1371600" indent="0" algn="l" rtl="0">
              <a:buNone/>
              <a:defRPr sz="1200">
                <a:solidFill>
                  <a:schemeClr val="tx1">
                    <a:tint val="75000"/>
                  </a:schemeClr>
                </a:solidFill>
              </a:defRPr>
            </a:lvl5pPr>
            <a:lvl6pPr marL="1714500" indent="0" algn="l" rtl="0">
              <a:buNone/>
              <a:defRPr sz="1200">
                <a:solidFill>
                  <a:schemeClr val="tx1">
                    <a:tint val="75000"/>
                  </a:schemeClr>
                </a:solidFill>
              </a:defRPr>
            </a:lvl6pPr>
            <a:lvl7pPr marL="2057400" indent="0" algn="l" rtl="0">
              <a:buNone/>
              <a:defRPr sz="1200">
                <a:solidFill>
                  <a:schemeClr val="tx1">
                    <a:tint val="75000"/>
                  </a:schemeClr>
                </a:solidFill>
              </a:defRPr>
            </a:lvl7pPr>
            <a:lvl8pPr marL="2400300" indent="0" algn="l" rtl="0">
              <a:buNone/>
              <a:defRPr sz="1200">
                <a:solidFill>
                  <a:schemeClr val="tx1">
                    <a:tint val="75000"/>
                  </a:schemeClr>
                </a:solidFill>
              </a:defRPr>
            </a:lvl8pPr>
            <a:lvl9pPr marL="2743200" indent="0" algn="l" rtl="0">
              <a:buNone/>
              <a:defRPr sz="1200">
                <a:solidFill>
                  <a:schemeClr val="tx1">
                    <a:tint val="75000"/>
                  </a:schemeClr>
                </a:solidFill>
              </a:defRPr>
            </a:lvl9pPr>
          </a:lstStyle>
          <a:p>
            <a:pPr lvl="0" rtl="0"/>
            <a:r>
              <a:rPr lang="zh-CN" altLang="en-US" noProof="0"/>
              <a:t>编辑母版文本样式</a:t>
            </a:r>
          </a:p>
        </p:txBody>
      </p:sp>
      <p:sp>
        <p:nvSpPr>
          <p:cNvPr id="4" name="日期占位符 3"/>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AF5F6A19-70BF-4380-9A40-68C9536408C6}" type="datetime1">
              <a:rPr lang="zh-CN" altLang="en-US" smtClean="0"/>
              <a:pPr/>
              <a:t>2020/5/26</a:t>
            </a:fld>
            <a:endParaRPr lang="zh-CN" altLang="en-US" dirty="0"/>
          </a:p>
        </p:txBody>
      </p:sp>
      <p:sp>
        <p:nvSpPr>
          <p:cNvPr id="5" name="页脚占位符 4"/>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6" name="灯片编号占位符 5"/>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pic>
        <p:nvPicPr>
          <p:cNvPr id="7" name="图 6"/>
          <p:cNvPicPr>
            <a:picLocks noChangeAspect="1"/>
          </p:cNvPicPr>
          <p:nvPr/>
        </p:nvPicPr>
        <p:blipFill>
          <a:blip r:embed="rId2" cstate="print">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994410" y="0"/>
            <a:ext cx="1337391" cy="2971806"/>
          </a:xfrm>
          <a:prstGeom prst="rect">
            <a:avLst/>
          </a:prstGeom>
        </p:spPr>
      </p:pic>
    </p:spTree>
    <p:extLst>
      <p:ext uri="{BB962C8B-B14F-4D97-AF65-F5344CB8AC3E}">
        <p14:creationId xmlns:p14="http://schemas.microsoft.com/office/powerpoint/2010/main" val="3602678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内容占位符 2"/>
          <p:cNvSpPr>
            <a:spLocks noGrp="1"/>
          </p:cNvSpPr>
          <p:nvPr>
            <p:ph sz="half" idx="1"/>
          </p:nvPr>
        </p:nvSpPr>
        <p:spPr>
          <a:xfrm>
            <a:off x="828675"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vl9pPr algn="l" rtl="0">
              <a:defRPr/>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内容占位符 3"/>
          <p:cNvSpPr>
            <a:spLocks noGrp="1"/>
          </p:cNvSpPr>
          <p:nvPr>
            <p:ph sz="half" idx="2"/>
          </p:nvPr>
        </p:nvSpPr>
        <p:spPr>
          <a:xfrm>
            <a:off x="4629150" y="1600201"/>
            <a:ext cx="3686175" cy="4571999"/>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lgn="l" rtl="0">
              <a:defRPr>
                <a:latin typeface="微软雅黑" panose="020B0503020204020204" pitchFamily="34" charset="-122"/>
                <a:ea typeface="微软雅黑" panose="020B0503020204020204" pitchFamily="34" charset="-122"/>
              </a:defRPr>
            </a:lvl5pPr>
            <a:lvl6pPr algn="l" rtl="0">
              <a:defRPr/>
            </a:lvl6pPr>
            <a:lvl7pPr algn="l" rtl="0">
              <a:defRPr/>
            </a:lvl7pPr>
            <a:lvl8pPr algn="l" rtl="0">
              <a:defRPr/>
            </a:lvl8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r>
              <a:rPr lang="zh-CN" altLang="en-US" dirty="0"/>
              <a:t>​</a:t>
            </a:r>
            <a:fld id="{6017EB90-196C-4C15-BD31-13E0E0436C73}" type="datetime1">
              <a:rPr lang="zh-CN" altLang="en-US" smtClean="0"/>
              <a:pPr/>
              <a:t>2020/5/26</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5277910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lvl1pPr>
              <a:defRPr>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文本占位符 2"/>
          <p:cNvSpPr>
            <a:spLocks noGrp="1"/>
          </p:cNvSpPr>
          <p:nvPr>
            <p:ph type="body" idx="1"/>
          </p:nvPr>
        </p:nvSpPr>
        <p:spPr>
          <a:xfrm>
            <a:off x="828675"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4" name="内容占位符 3"/>
          <p:cNvSpPr>
            <a:spLocks noGrp="1"/>
          </p:cNvSpPr>
          <p:nvPr>
            <p:ph sz="half" idx="2"/>
          </p:nvPr>
        </p:nvSpPr>
        <p:spPr>
          <a:xfrm>
            <a:off x="828675"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5" name="文本占位符 4"/>
          <p:cNvSpPr>
            <a:spLocks noGrp="1"/>
          </p:cNvSpPr>
          <p:nvPr>
            <p:ph type="body" sz="quarter" idx="3"/>
          </p:nvPr>
        </p:nvSpPr>
        <p:spPr>
          <a:xfrm>
            <a:off x="4624583" y="1600201"/>
            <a:ext cx="3689604" cy="823911"/>
          </a:xfrm>
        </p:spPr>
        <p:txBody>
          <a:bodyPr rtlCol="0" anchor="ctr"/>
          <a:lstStyle>
            <a:lvl1pPr marL="0" indent="0" algn="l" rtl="0">
              <a:spcBef>
                <a:spcPts val="0"/>
              </a:spcBef>
              <a:buNone/>
              <a:defRPr sz="1800" b="1">
                <a:latin typeface="微软雅黑" panose="020B0503020204020204" pitchFamily="34" charset="-122"/>
                <a:ea typeface="微软雅黑" panose="020B0503020204020204" pitchFamily="34" charset="-122"/>
              </a:defRPr>
            </a:lvl1pPr>
            <a:lvl2pPr marL="342900" indent="0" algn="l" rtl="0">
              <a:buNone/>
              <a:defRPr sz="1500" b="1"/>
            </a:lvl2pPr>
            <a:lvl3pPr marL="685800" indent="0" algn="l" rtl="0">
              <a:buNone/>
              <a:defRPr sz="1350" b="1"/>
            </a:lvl3pPr>
            <a:lvl4pPr marL="1028700" indent="0" algn="l" rtl="0">
              <a:buNone/>
              <a:defRPr sz="1200" b="1"/>
            </a:lvl4pPr>
            <a:lvl5pPr marL="1371600" indent="0" algn="l" rtl="0">
              <a:buNone/>
              <a:defRPr sz="1200" b="1"/>
            </a:lvl5pPr>
            <a:lvl6pPr marL="1714500" indent="0" algn="l" rtl="0">
              <a:buNone/>
              <a:defRPr sz="1200" b="1"/>
            </a:lvl6pPr>
            <a:lvl7pPr marL="2057400" indent="0" algn="l" rtl="0">
              <a:buNone/>
              <a:defRPr sz="1200" b="1"/>
            </a:lvl7pPr>
            <a:lvl8pPr marL="2400300" indent="0" algn="l" rtl="0">
              <a:buNone/>
              <a:defRPr sz="1200" b="1"/>
            </a:lvl8pPr>
            <a:lvl9pPr marL="2743200" indent="0" algn="l" rtl="0">
              <a:buNone/>
              <a:defRPr sz="1200" b="1"/>
            </a:lvl9pPr>
          </a:lstStyle>
          <a:p>
            <a:pPr lvl="0" rtl="0"/>
            <a:r>
              <a:rPr lang="zh-CN" altLang="en-US" noProof="0"/>
              <a:t>编辑母版文本样式</a:t>
            </a:r>
          </a:p>
        </p:txBody>
      </p:sp>
      <p:sp>
        <p:nvSpPr>
          <p:cNvPr id="6" name="内容占位符 5"/>
          <p:cNvSpPr>
            <a:spLocks noGrp="1"/>
          </p:cNvSpPr>
          <p:nvPr>
            <p:ph sz="quarter" idx="4"/>
          </p:nvPr>
        </p:nvSpPr>
        <p:spPr>
          <a:xfrm>
            <a:off x="4624583" y="2424112"/>
            <a:ext cx="3689604" cy="3748088"/>
          </a:xfrm>
        </p:spPr>
        <p:txBody>
          <a:bodyPr rtlCol="0"/>
          <a:lstStyle>
            <a:lvl1pPr>
              <a:defRPr>
                <a:latin typeface="微软雅黑" panose="020B0503020204020204" pitchFamily="34" charset="-122"/>
                <a:ea typeface="微软雅黑" panose="020B0503020204020204" pitchFamily="34" charset="-122"/>
              </a:defRPr>
            </a:lvl1pPr>
            <a:lvl2pPr>
              <a:defRPr>
                <a:latin typeface="微软雅黑" panose="020B0503020204020204" pitchFamily="34" charset="-122"/>
                <a:ea typeface="微软雅黑" panose="020B0503020204020204" pitchFamily="34" charset="-122"/>
              </a:defRPr>
            </a:lvl2pPr>
            <a:lvl3pPr>
              <a:defRPr>
                <a:latin typeface="微软雅黑" panose="020B0503020204020204" pitchFamily="34" charset="-122"/>
                <a:ea typeface="微软雅黑" panose="020B0503020204020204" pitchFamily="34" charset="-122"/>
              </a:defRPr>
            </a:lvl3pPr>
            <a:lvl4pPr>
              <a:defRPr>
                <a:latin typeface="微软雅黑" panose="020B0503020204020204" pitchFamily="34" charset="-122"/>
                <a:ea typeface="微软雅黑" panose="020B0503020204020204" pitchFamily="34" charset="-122"/>
              </a:defRPr>
            </a:lvl4pPr>
            <a:lvl5pPr>
              <a:defRPr>
                <a:latin typeface="微软雅黑" panose="020B0503020204020204" pitchFamily="34" charset="-122"/>
                <a:ea typeface="微软雅黑" panose="020B0503020204020204" pitchFamily="34" charset="-122"/>
              </a:defRPr>
            </a:lvl5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7" name="日期占位符 6"/>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C2EC0F41-B48F-4298-A7F6-618EB9D22195}" type="datetime1">
              <a:rPr lang="zh-CN" altLang="en-US" smtClean="0"/>
              <a:pPr/>
              <a:t>2020/5/26</a:t>
            </a:fld>
            <a:endParaRPr lang="zh-CN" altLang="en-US" dirty="0"/>
          </a:p>
        </p:txBody>
      </p:sp>
      <p:sp>
        <p:nvSpPr>
          <p:cNvPr id="8" name="页脚占位符 7"/>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9" name="灯片编号占位符 8"/>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39710161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日期占位符 2"/>
          <p:cNvSpPr>
            <a:spLocks noGrp="1"/>
          </p:cNvSpPr>
          <p:nvPr>
            <p:ph type="dt" sz="half" idx="10"/>
          </p:nvPr>
        </p:nvSpPr>
        <p:spPr/>
        <p:txBody>
          <a:bodyPr rtlCol="0"/>
          <a:lstStyle>
            <a:lvl1pPr>
              <a:defRPr/>
            </a:lvl1pPr>
          </a:lstStyle>
          <a:p>
            <a:fld id="{7DB2D836-56E8-4B15-857C-14B1A5B3B67B}" type="datetime1">
              <a:rPr lang="zh-CN" altLang="en-US" smtClean="0"/>
              <a:pPr/>
              <a:t>2020/5/26</a:t>
            </a:fld>
            <a:endParaRPr lang="zh-CN" altLang="en-US" dirty="0"/>
          </a:p>
        </p:txBody>
      </p:sp>
      <p:sp>
        <p:nvSpPr>
          <p:cNvPr id="4" name="页脚占位符 3"/>
          <p:cNvSpPr>
            <a:spLocks noGrp="1"/>
          </p:cNvSpPr>
          <p:nvPr>
            <p:ph type="ftr" sz="quarter" idx="11"/>
          </p:nvPr>
        </p:nvSpPr>
        <p:spPr/>
        <p:txBody>
          <a:bodyPr rtlCol="0"/>
          <a:lstStyle/>
          <a:p>
            <a:pPr rtl="0"/>
            <a:endParaRPr lang="zh-CN" altLang="en-US" noProof="0" dirty="0"/>
          </a:p>
        </p:txBody>
      </p:sp>
      <p:sp>
        <p:nvSpPr>
          <p:cNvPr id="5" name="灯片编号占位符 4"/>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17581115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rtlCol="0"/>
          <a:lstStyle>
            <a:lvl1pPr>
              <a:defRPr/>
            </a:lvl1pPr>
          </a:lstStyle>
          <a:p>
            <a:fld id="{038D929F-7D8C-4CC3-8AC7-BB9B8FE2DEBF}" type="datetime1">
              <a:rPr lang="zh-CN" altLang="en-US" smtClean="0"/>
              <a:pPr/>
              <a:t>2020/5/26</a:t>
            </a:fld>
            <a:endParaRPr lang="zh-CN" altLang="en-US" dirty="0"/>
          </a:p>
        </p:txBody>
      </p:sp>
      <p:sp>
        <p:nvSpPr>
          <p:cNvPr id="3" name="页脚占位符 2"/>
          <p:cNvSpPr>
            <a:spLocks noGrp="1"/>
          </p:cNvSpPr>
          <p:nvPr>
            <p:ph type="ftr" sz="quarter" idx="11"/>
          </p:nvPr>
        </p:nvSpPr>
        <p:spPr/>
        <p:txBody>
          <a:bodyPr rtlCol="0"/>
          <a:lstStyle/>
          <a:p>
            <a:pPr rtl="0"/>
            <a:endParaRPr lang="zh-CN" altLang="en-US" noProof="0" dirty="0"/>
          </a:p>
        </p:txBody>
      </p:sp>
      <p:sp>
        <p:nvSpPr>
          <p:cNvPr id="4" name="灯片编号占位符 3"/>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024169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带题注的内容">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vl1pPr>
          </a:lstStyle>
          <a:p>
            <a:pPr rtl="0"/>
            <a:r>
              <a:rPr lang="zh-CN" altLang="en-US" noProof="0"/>
              <a:t>单击此处编辑母版标题样式</a:t>
            </a:r>
            <a:endParaRPr lang="zh-CN" altLang="en-US" noProof="0" dirty="0"/>
          </a:p>
        </p:txBody>
      </p:sp>
      <p:sp>
        <p:nvSpPr>
          <p:cNvPr id="3" name="内容占位符 2"/>
          <p:cNvSpPr>
            <a:spLocks noGrp="1"/>
          </p:cNvSpPr>
          <p:nvPr>
            <p:ph idx="1"/>
          </p:nvPr>
        </p:nvSpPr>
        <p:spPr>
          <a:xfrm>
            <a:off x="4231386" y="1600200"/>
            <a:ext cx="4083939" cy="4572001"/>
          </a:xfrm>
        </p:spPr>
        <p:txBody>
          <a:bodyPr rtlCol="0">
            <a:normAutofit/>
          </a:bodyPr>
          <a:lstStyle>
            <a:lvl1pPr algn="l" rtl="0">
              <a:defRPr sz="1500"/>
            </a:lvl1pPr>
            <a:lvl2pPr algn="l" rtl="0">
              <a:defRPr sz="1200"/>
            </a:lvl2pPr>
            <a:lvl3pPr algn="l" rtl="0">
              <a:defRPr sz="1200"/>
            </a:lvl3pPr>
            <a:lvl4pPr algn="l" rtl="0">
              <a:defRPr sz="1050"/>
            </a:lvl4pPr>
            <a:lvl5pPr algn="l" rtl="0">
              <a:defRPr sz="1050"/>
            </a:lvl5pPr>
            <a:lvl6pPr algn="l" rtl="0">
              <a:defRPr sz="1050"/>
            </a:lvl6pPr>
            <a:lvl7pPr algn="l" rtl="0">
              <a:defRPr sz="1050"/>
            </a:lvl7pPr>
            <a:lvl8pPr algn="l" rtl="0">
              <a:defRPr sz="1050"/>
            </a:lvl8pPr>
            <a:lvl9pPr algn="l" rtl="0">
              <a:defRPr sz="1050"/>
            </a:lvl9pPr>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文本占位符 3"/>
          <p:cNvSpPr>
            <a:spLocks noGrp="1"/>
          </p:cNvSpPr>
          <p:nvPr>
            <p:ph type="body" sz="half" idx="2"/>
          </p:nvPr>
        </p:nvSpPr>
        <p:spPr>
          <a:xfrm>
            <a:off x="828675" y="1600200"/>
            <a:ext cx="3288411" cy="4572000"/>
          </a:xfrm>
        </p:spPr>
        <p:txBody>
          <a:bodyPr rtlCol="0">
            <a:normAutofit/>
          </a:bodyPr>
          <a:lstStyle>
            <a:lvl1pPr marL="0" indent="0" algn="l" rtl="0">
              <a:spcBef>
                <a:spcPts val="900"/>
              </a:spcBef>
              <a:buNone/>
              <a:defRPr sz="1350"/>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vl1pPr>
          </a:lstStyle>
          <a:p>
            <a:fld id="{F7892ACC-8BC8-4C9E-9D2B-0669DA5038B6}" type="datetime1">
              <a:rPr lang="zh-CN" altLang="en-US" smtClean="0"/>
              <a:pPr/>
              <a:t>2020/5/26</a:t>
            </a:fld>
            <a:endParaRPr lang="zh-CN" altLang="en-US" dirty="0"/>
          </a:p>
        </p:txBody>
      </p:sp>
      <p:sp>
        <p:nvSpPr>
          <p:cNvPr id="6" name="页脚占位符 5"/>
          <p:cNvSpPr>
            <a:spLocks noGrp="1"/>
          </p:cNvSpPr>
          <p:nvPr>
            <p:ph type="ftr" sz="quarter" idx="11"/>
          </p:nvPr>
        </p:nvSpPr>
        <p:spPr/>
        <p:txBody>
          <a:bodyPr rtlCol="0"/>
          <a:lstStyle/>
          <a:p>
            <a:pPr rtl="0"/>
            <a:endParaRPr lang="zh-CN" altLang="en-US" noProof="0" dirty="0"/>
          </a:p>
        </p:txBody>
      </p:sp>
      <p:sp>
        <p:nvSpPr>
          <p:cNvPr id="7" name="灯片编号占位符 6"/>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spTree>
    <p:extLst>
      <p:ext uri="{BB962C8B-B14F-4D97-AF65-F5344CB8AC3E}">
        <p14:creationId xmlns:p14="http://schemas.microsoft.com/office/powerpoint/2010/main" val="3769764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带题注的图片">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nchor="b"/>
          <a:lstStyle>
            <a:lvl1pPr algn="l" rtl="0">
              <a:defRPr sz="2400">
                <a:latin typeface="微软雅黑" panose="020B0503020204020204" pitchFamily="34" charset="-122"/>
                <a:ea typeface="微软雅黑" panose="020B0503020204020204" pitchFamily="34" charset="-122"/>
              </a:defRPr>
            </a:lvl1pPr>
          </a:lstStyle>
          <a:p>
            <a:pPr rtl="0"/>
            <a:r>
              <a:rPr lang="zh-CN" altLang="en-US" noProof="0"/>
              <a:t>单击此处编辑母版标题样式</a:t>
            </a:r>
            <a:endParaRPr lang="zh-CN" altLang="en-US" noProof="0" dirty="0"/>
          </a:p>
        </p:txBody>
      </p:sp>
      <p:sp>
        <p:nvSpPr>
          <p:cNvPr id="3" name="图片占位符 2"/>
          <p:cNvSpPr>
            <a:spLocks noGrp="1"/>
          </p:cNvSpPr>
          <p:nvPr>
            <p:ph type="pic" idx="1"/>
          </p:nvPr>
        </p:nvSpPr>
        <p:spPr>
          <a:xfrm>
            <a:off x="3491003" y="1600200"/>
            <a:ext cx="4823184" cy="4572001"/>
          </a:xfrm>
        </p:spPr>
        <p:txBody>
          <a:bodyPr tIns="1188720" rtlCol="0">
            <a:normAutofit/>
          </a:bodyPr>
          <a:lstStyle>
            <a:lvl1pPr marL="0" indent="0" algn="ctr" rtl="0">
              <a:buNone/>
              <a:defRPr sz="1500">
                <a:latin typeface="微软雅黑" panose="020B0503020204020204" pitchFamily="34" charset="-122"/>
                <a:ea typeface="微软雅黑" panose="020B0503020204020204" pitchFamily="34" charset="-122"/>
              </a:defRPr>
            </a:lvl1pPr>
            <a:lvl2pPr marL="342900" indent="0" algn="l" rtl="0">
              <a:buNone/>
              <a:defRPr sz="2100"/>
            </a:lvl2pPr>
            <a:lvl3pPr marL="685800" indent="0" algn="l" rtl="0">
              <a:buNone/>
              <a:defRPr sz="1800"/>
            </a:lvl3pPr>
            <a:lvl4pPr marL="1028700" indent="0" algn="l" rtl="0">
              <a:buNone/>
              <a:defRPr sz="1500"/>
            </a:lvl4pPr>
            <a:lvl5pPr marL="1371600" indent="0" algn="l" rtl="0">
              <a:buNone/>
              <a:defRPr sz="1500"/>
            </a:lvl5pPr>
            <a:lvl6pPr marL="1714500" indent="0" algn="l" rtl="0">
              <a:buNone/>
              <a:defRPr sz="1500"/>
            </a:lvl6pPr>
            <a:lvl7pPr marL="2057400" indent="0" algn="l" rtl="0">
              <a:buNone/>
              <a:defRPr sz="1500"/>
            </a:lvl7pPr>
            <a:lvl8pPr marL="2400300" indent="0" algn="l" rtl="0">
              <a:buNone/>
              <a:defRPr sz="1500"/>
            </a:lvl8pPr>
            <a:lvl9pPr marL="2743200" indent="0" algn="l" rtl="0">
              <a:buNone/>
              <a:defRPr sz="1500"/>
            </a:lvl9pPr>
          </a:lstStyle>
          <a:p>
            <a:pPr rtl="0"/>
            <a:r>
              <a:rPr lang="zh-CN" altLang="en-US" noProof="0"/>
              <a:t>单击图标添加图片</a:t>
            </a:r>
            <a:endParaRPr lang="zh-CN" altLang="en-US" noProof="0" dirty="0"/>
          </a:p>
        </p:txBody>
      </p:sp>
      <p:sp>
        <p:nvSpPr>
          <p:cNvPr id="4" name="文本占位符 3"/>
          <p:cNvSpPr>
            <a:spLocks noGrp="1"/>
          </p:cNvSpPr>
          <p:nvPr>
            <p:ph type="body" sz="half" idx="2"/>
          </p:nvPr>
        </p:nvSpPr>
        <p:spPr>
          <a:xfrm>
            <a:off x="828675" y="1600200"/>
            <a:ext cx="2547747" cy="4572000"/>
          </a:xfrm>
        </p:spPr>
        <p:txBody>
          <a:bodyPr rtlCol="0">
            <a:normAutofit/>
          </a:bodyPr>
          <a:lstStyle>
            <a:lvl1pPr marL="0" indent="0" algn="l" rtl="0">
              <a:spcBef>
                <a:spcPts val="900"/>
              </a:spcBef>
              <a:buNone/>
              <a:defRPr sz="1350">
                <a:latin typeface="微软雅黑" panose="020B0503020204020204" pitchFamily="34" charset="-122"/>
                <a:ea typeface="微软雅黑" panose="020B0503020204020204" pitchFamily="34" charset="-122"/>
              </a:defRPr>
            </a:lvl1pPr>
            <a:lvl2pPr marL="342900" indent="0" algn="l" rtl="0">
              <a:buNone/>
              <a:defRPr sz="1050"/>
            </a:lvl2pPr>
            <a:lvl3pPr marL="685800" indent="0" algn="l" rtl="0">
              <a:buNone/>
              <a:defRPr sz="900"/>
            </a:lvl3pPr>
            <a:lvl4pPr marL="1028700" indent="0" algn="l" rtl="0">
              <a:buNone/>
              <a:defRPr sz="750"/>
            </a:lvl4pPr>
            <a:lvl5pPr marL="1371600" indent="0" algn="l" rtl="0">
              <a:buNone/>
              <a:defRPr sz="750"/>
            </a:lvl5pPr>
            <a:lvl6pPr marL="1714500" indent="0" algn="l" rtl="0">
              <a:buNone/>
              <a:defRPr sz="750"/>
            </a:lvl6pPr>
            <a:lvl7pPr marL="2057400" indent="0" algn="l" rtl="0">
              <a:buNone/>
              <a:defRPr sz="750"/>
            </a:lvl7pPr>
            <a:lvl8pPr marL="2400300" indent="0" algn="l" rtl="0">
              <a:buNone/>
              <a:defRPr sz="750"/>
            </a:lvl8pPr>
            <a:lvl9pPr marL="2743200" indent="0" algn="l" rtl="0">
              <a:buNone/>
              <a:defRPr sz="750"/>
            </a:lvl9pPr>
          </a:lstStyle>
          <a:p>
            <a:pPr lvl="0" rtl="0"/>
            <a:r>
              <a:rPr lang="zh-CN" altLang="en-US" noProof="0"/>
              <a:t>编辑母版文本样式</a:t>
            </a:r>
          </a:p>
        </p:txBody>
      </p:sp>
      <p:sp>
        <p:nvSpPr>
          <p:cNvPr id="5" name="日期占位符 4"/>
          <p:cNvSpPr>
            <a:spLocks noGrp="1"/>
          </p:cNvSpPr>
          <p:nvPr>
            <p:ph type="dt" sz="half" idx="10"/>
          </p:nvPr>
        </p:nvSpPr>
        <p:spPr/>
        <p:txBody>
          <a:bodyPr rtlCol="0"/>
          <a:lstStyle>
            <a:lvl1pPr>
              <a:defRPr>
                <a:latin typeface="微软雅黑" panose="020B0503020204020204" pitchFamily="34" charset="-122"/>
                <a:ea typeface="微软雅黑" panose="020B0503020204020204" pitchFamily="34" charset="-122"/>
              </a:defRPr>
            </a:lvl1pPr>
          </a:lstStyle>
          <a:p>
            <a:fld id="{7118C275-B304-48F5-8C4F-015CBCF4E7C1}" type="datetime1">
              <a:rPr lang="zh-CN" altLang="en-US" smtClean="0"/>
              <a:pPr/>
              <a:t>2020/5/26</a:t>
            </a:fld>
            <a:r>
              <a:rPr lang="zh-CN" altLang="en-US" dirty="0"/>
              <a:t>​</a:t>
            </a:r>
          </a:p>
        </p:txBody>
      </p:sp>
      <p:sp>
        <p:nvSpPr>
          <p:cNvPr id="6" name="页脚占位符 5"/>
          <p:cNvSpPr>
            <a:spLocks noGrp="1"/>
          </p:cNvSpPr>
          <p:nvPr>
            <p:ph type="ftr" sz="quarter" idx="11"/>
          </p:nvPr>
        </p:nvSpPr>
        <p:spPr/>
        <p:txBody>
          <a:bodyPr rtlCol="0"/>
          <a:lstStyle>
            <a:lvl1pPr>
              <a:defRPr>
                <a:latin typeface="微软雅黑" panose="020B0503020204020204" pitchFamily="34" charset="-122"/>
                <a:ea typeface="微软雅黑" panose="020B0503020204020204" pitchFamily="34" charset="-122"/>
              </a:defRPr>
            </a:lvl1pPr>
          </a:lstStyle>
          <a:p>
            <a:endParaRPr lang="zh-CN" altLang="en-US" noProof="0" dirty="0"/>
          </a:p>
        </p:txBody>
      </p:sp>
      <p:sp>
        <p:nvSpPr>
          <p:cNvPr id="7" name="灯片编号占位符 6"/>
          <p:cNvSpPr>
            <a:spLocks noGrp="1"/>
          </p:cNvSpPr>
          <p:nvPr>
            <p:ph type="sldNum" sz="quarter" idx="12"/>
          </p:nvPr>
        </p:nvSpPr>
        <p:spPr/>
        <p:txBody>
          <a:bodyPr rtlCol="0"/>
          <a:lstStyle>
            <a:lvl1pPr algn="r">
              <a:defRPr>
                <a:latin typeface="微软雅黑" panose="020B0503020204020204" pitchFamily="34" charset="-122"/>
                <a:ea typeface="微软雅黑" panose="020B0503020204020204" pitchFamily="34" charset="-122"/>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7696370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标题和竖排文本">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8791AA9-DDCB-4BA8-AD1D-963A3AA00622}" type="datetime1">
              <a:rPr lang="zh-CN" altLang="en-US" smtClean="0"/>
              <a:pPr/>
              <a:t>2020/5/26</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zh-CN" altLang="en-US" dirty="0"/>
          </a:p>
        </p:txBody>
      </p:sp>
    </p:spTree>
    <p:extLst>
      <p:ext uri="{BB962C8B-B14F-4D97-AF65-F5344CB8AC3E}">
        <p14:creationId xmlns:p14="http://schemas.microsoft.com/office/powerpoint/2010/main" val="20120767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vertTitleAndTx" preserve="1">
  <p:cSld name="垂直排列标题与文本">
    <p:spTree>
      <p:nvGrpSpPr>
        <p:cNvPr id="1" name=""/>
        <p:cNvGrpSpPr/>
        <p:nvPr/>
      </p:nvGrpSpPr>
      <p:grpSpPr>
        <a:xfrm>
          <a:off x="0" y="0"/>
          <a:ext cx="0" cy="0"/>
          <a:chOff x="0" y="0"/>
          <a:chExt cx="0" cy="0"/>
        </a:xfrm>
      </p:grpSpPr>
      <p:sp>
        <p:nvSpPr>
          <p:cNvPr id="2" name="垂直标题 1"/>
          <p:cNvSpPr>
            <a:spLocks noGrp="1"/>
          </p:cNvSpPr>
          <p:nvPr>
            <p:ph type="title" orient="vert"/>
          </p:nvPr>
        </p:nvSpPr>
        <p:spPr>
          <a:xfrm>
            <a:off x="7029450" y="365125"/>
            <a:ext cx="1285875" cy="5811838"/>
          </a:xfrm>
        </p:spPr>
        <p:txBody>
          <a:bodyPr vert="eaVert" rtlCol="0"/>
          <a:lstStyle/>
          <a:p>
            <a:pPr rtl="0"/>
            <a:r>
              <a:rPr lang="zh-CN" altLang="en-US" noProof="0"/>
              <a:t>单击此处编辑母版标题样式</a:t>
            </a:r>
            <a:endParaRPr lang="zh-CN" altLang="en-US" noProof="0" dirty="0"/>
          </a:p>
        </p:txBody>
      </p:sp>
      <p:sp>
        <p:nvSpPr>
          <p:cNvPr id="3" name="竖排文字占位符 2"/>
          <p:cNvSpPr>
            <a:spLocks noGrp="1"/>
          </p:cNvSpPr>
          <p:nvPr>
            <p:ph type="body" orient="vert" idx="1"/>
          </p:nvPr>
        </p:nvSpPr>
        <p:spPr>
          <a:xfrm>
            <a:off x="828675" y="365125"/>
            <a:ext cx="6074172" cy="5811838"/>
          </a:xfrm>
        </p:spPr>
        <p:txBody>
          <a:bodyPr vert="eaVert" rtlCol="0"/>
          <a:lstStyle/>
          <a:p>
            <a:pPr lvl="0" rtl="0"/>
            <a:r>
              <a:rPr lang="zh-CN" altLang="en-US" noProof="0"/>
              <a:t>编辑母版文本样式</a:t>
            </a:r>
          </a:p>
          <a:p>
            <a:pPr lvl="1" rtl="0"/>
            <a:r>
              <a:rPr lang="zh-CN" altLang="en-US" noProof="0"/>
              <a:t>第二级</a:t>
            </a:r>
          </a:p>
          <a:p>
            <a:pPr lvl="2" rtl="0"/>
            <a:r>
              <a:rPr lang="zh-CN" altLang="en-US" noProof="0"/>
              <a:t>第三级</a:t>
            </a:r>
          </a:p>
          <a:p>
            <a:pPr lvl="3" rtl="0"/>
            <a:r>
              <a:rPr lang="zh-CN" altLang="en-US" noProof="0"/>
              <a:t>第四级</a:t>
            </a:r>
          </a:p>
          <a:p>
            <a:pPr lvl="4" rtl="0"/>
            <a:r>
              <a:rPr lang="zh-CN" altLang="en-US" noProof="0"/>
              <a:t>第五级</a:t>
            </a:r>
            <a:endParaRPr lang="zh-CN" altLang="en-US" noProof="0" dirty="0"/>
          </a:p>
        </p:txBody>
      </p:sp>
      <p:sp>
        <p:nvSpPr>
          <p:cNvPr id="4" name="日期占位符 3"/>
          <p:cNvSpPr>
            <a:spLocks noGrp="1"/>
          </p:cNvSpPr>
          <p:nvPr>
            <p:ph type="dt" sz="half" idx="10"/>
          </p:nvPr>
        </p:nvSpPr>
        <p:spPr/>
        <p:txBody>
          <a:bodyPr rtlCol="0"/>
          <a:lstStyle>
            <a:lvl1pPr>
              <a:defRPr/>
            </a:lvl1pPr>
          </a:lstStyle>
          <a:p>
            <a:fld id="{9170426F-E661-472B-BE42-25E072CD46D9}" type="datetime1">
              <a:rPr lang="zh-CN" altLang="en-US" smtClean="0"/>
              <a:pPr/>
              <a:t>2020/5/26</a:t>
            </a:fld>
            <a:endParaRPr lang="zh-CN" altLang="en-US" dirty="0"/>
          </a:p>
        </p:txBody>
      </p:sp>
      <p:sp>
        <p:nvSpPr>
          <p:cNvPr id="5" name="页脚占位符 4"/>
          <p:cNvSpPr>
            <a:spLocks noGrp="1"/>
          </p:cNvSpPr>
          <p:nvPr>
            <p:ph type="ftr" sz="quarter" idx="11"/>
          </p:nvPr>
        </p:nvSpPr>
        <p:spPr/>
        <p:txBody>
          <a:bodyPr rtlCol="0"/>
          <a:lstStyle/>
          <a:p>
            <a:pPr rtl="0"/>
            <a:endParaRPr lang="zh-CN" altLang="en-US" noProof="0" dirty="0"/>
          </a:p>
        </p:txBody>
      </p:sp>
      <p:sp>
        <p:nvSpPr>
          <p:cNvPr id="6" name="灯片编号占位符 5"/>
          <p:cNvSpPr>
            <a:spLocks noGrp="1"/>
          </p:cNvSpPr>
          <p:nvPr>
            <p:ph type="sldNum" sz="quarter" idx="12"/>
          </p:nvPr>
        </p:nvSpPr>
        <p:spPr/>
        <p:txBody>
          <a:bodyPr rtlCol="0"/>
          <a:lstStyle>
            <a:lvl1pPr algn="r">
              <a:defRPr/>
            </a:lvl1pPr>
          </a:lstStyle>
          <a:p>
            <a:fld id="{0FF54DE5-C571-48E8-A5BC-B369434E2F44}" type="slidenum">
              <a:rPr lang="en-US" altLang="zh-CN" smtClean="0"/>
              <a:pPr/>
              <a:t>‹#›</a:t>
            </a:fld>
            <a:endParaRPr lang="en-US" altLang="zh-CN" dirty="0"/>
          </a:p>
        </p:txBody>
      </p:sp>
      <p:grpSp>
        <p:nvGrpSpPr>
          <p:cNvPr id="7" name="组 6"/>
          <p:cNvGrpSpPr/>
          <p:nvPr/>
        </p:nvGrpSpPr>
        <p:grpSpPr>
          <a:xfrm rot="5400000">
            <a:off x="4181447" y="3239394"/>
            <a:ext cx="5632704" cy="63302"/>
            <a:chOff x="1073150" y="1219201"/>
            <a:chExt cx="10058400" cy="63125"/>
          </a:xfrm>
        </p:grpSpPr>
        <p:cxnSp>
          <p:nvCxnSpPr>
            <p:cNvPr id="8" name="直接连接符 7"/>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459271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28675" y="76200"/>
            <a:ext cx="7485512" cy="1096962"/>
          </a:xfrm>
          <a:prstGeom prst="rect">
            <a:avLst/>
          </a:prstGeom>
        </p:spPr>
        <p:txBody>
          <a:bodyPr vert="horz" lIns="0" tIns="45720" rIns="0" bIns="45720" rtlCol="0" anchor="b">
            <a:normAutofit/>
          </a:bodyPr>
          <a:lstStyle/>
          <a:p>
            <a:pPr rtl="0"/>
            <a:r>
              <a:rPr lang="zh-CN" altLang="en-US" noProof="0" dirty="0"/>
              <a:t>单击此处编辑母版标题样式</a:t>
            </a:r>
          </a:p>
        </p:txBody>
      </p:sp>
      <p:sp>
        <p:nvSpPr>
          <p:cNvPr id="3" name="文本占位符 2"/>
          <p:cNvSpPr>
            <a:spLocks noGrp="1"/>
          </p:cNvSpPr>
          <p:nvPr>
            <p:ph type="body" idx="1"/>
          </p:nvPr>
        </p:nvSpPr>
        <p:spPr>
          <a:xfrm>
            <a:off x="828675" y="1600200"/>
            <a:ext cx="7486650" cy="4572000"/>
          </a:xfrm>
          <a:prstGeom prst="rect">
            <a:avLst/>
          </a:prstGeom>
        </p:spPr>
        <p:txBody>
          <a:bodyPr vert="horz" lIns="0" tIns="45720" rIns="0" bIns="45720" rtlCol="0">
            <a:normAutofit/>
          </a:bodyPr>
          <a:lstStyle/>
          <a:p>
            <a:pPr lvl="0" rtl="0"/>
            <a:r>
              <a:rPr lang="zh-CN" altLang="en-US" noProof="0" dirty="0"/>
              <a:t>单击此处编辑母版文本样式</a:t>
            </a:r>
          </a:p>
          <a:p>
            <a:pPr lvl="1" rtl="0"/>
            <a:r>
              <a:rPr lang="zh-CN" altLang="en-US" noProof="0" dirty="0"/>
              <a:t>第二级</a:t>
            </a:r>
          </a:p>
          <a:p>
            <a:pPr lvl="2" rtl="0"/>
            <a:r>
              <a:rPr lang="zh-CN" altLang="en-US" noProof="0" dirty="0"/>
              <a:t>第三级</a:t>
            </a:r>
          </a:p>
          <a:p>
            <a:pPr lvl="3" rtl="0"/>
            <a:r>
              <a:rPr lang="zh-CN" altLang="en-US" noProof="0" dirty="0"/>
              <a:t>第四级</a:t>
            </a:r>
          </a:p>
          <a:p>
            <a:pPr lvl="4" rtl="0"/>
            <a:r>
              <a:rPr lang="zh-CN" altLang="en-US" noProof="0" dirty="0"/>
              <a:t>第五级</a:t>
            </a:r>
          </a:p>
          <a:p>
            <a:pPr lvl="5" rtl="0"/>
            <a:r>
              <a:rPr lang="zh-CN" altLang="en-US" noProof="0" dirty="0"/>
              <a:t>第六级</a:t>
            </a:r>
          </a:p>
          <a:p>
            <a:pPr lvl="6" rtl="0"/>
            <a:r>
              <a:rPr lang="zh-CN" altLang="en-US" noProof="0" dirty="0"/>
              <a:t>第七级</a:t>
            </a:r>
          </a:p>
          <a:p>
            <a:pPr lvl="7" rtl="0"/>
            <a:r>
              <a:rPr lang="zh-CN" altLang="en-US" noProof="0" dirty="0"/>
              <a:t>第八级</a:t>
            </a:r>
          </a:p>
          <a:p>
            <a:pPr lvl="8" rtl="0"/>
            <a:r>
              <a:rPr lang="zh-CN" altLang="en-US" noProof="0" dirty="0"/>
              <a:t>第九级</a:t>
            </a:r>
          </a:p>
        </p:txBody>
      </p:sp>
      <p:sp>
        <p:nvSpPr>
          <p:cNvPr id="4" name="日期占位符 3"/>
          <p:cNvSpPr>
            <a:spLocks noGrp="1"/>
          </p:cNvSpPr>
          <p:nvPr>
            <p:ph type="dt" sz="half" idx="2"/>
          </p:nvPr>
        </p:nvSpPr>
        <p:spPr>
          <a:xfrm>
            <a:off x="828675" y="6356352"/>
            <a:ext cx="1372169"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r>
              <a:rPr lang="zh-CN" altLang="en-US" dirty="0"/>
              <a:t>​</a:t>
            </a:r>
            <a:fld id="{660B6A15-7713-4A08-BBFD-F297CCC2B976}" type="datetime1">
              <a:rPr lang="zh-CN" altLang="en-US" smtClean="0"/>
              <a:pPr/>
              <a:t>2020/5/26</a:t>
            </a:fld>
            <a:r>
              <a:rPr lang="zh-CN" altLang="en-US" dirty="0"/>
              <a:t>​</a:t>
            </a:r>
          </a:p>
        </p:txBody>
      </p:sp>
      <p:sp>
        <p:nvSpPr>
          <p:cNvPr id="5" name="页脚占位符 4"/>
          <p:cNvSpPr>
            <a:spLocks noGrp="1"/>
          </p:cNvSpPr>
          <p:nvPr>
            <p:ph type="ftr" sz="quarter" idx="3"/>
          </p:nvPr>
        </p:nvSpPr>
        <p:spPr>
          <a:xfrm>
            <a:off x="2200844" y="6356350"/>
            <a:ext cx="4742312" cy="365126"/>
          </a:xfrm>
          <a:prstGeom prst="rect">
            <a:avLst/>
          </a:prstGeom>
        </p:spPr>
        <p:txBody>
          <a:bodyPr vert="horz" lIns="0" tIns="45720" rIns="0" bIns="45720" rtlCol="0" anchor="ctr"/>
          <a:lstStyle>
            <a:lvl1pPr algn="ctr"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endParaRPr lang="zh-CN" altLang="en-US" noProof="0" dirty="0"/>
          </a:p>
        </p:txBody>
      </p:sp>
      <p:sp>
        <p:nvSpPr>
          <p:cNvPr id="6" name="幻灯片编号占位符 5"/>
          <p:cNvSpPr>
            <a:spLocks noGrp="1"/>
          </p:cNvSpPr>
          <p:nvPr>
            <p:ph type="sldNum" sz="quarter" idx="4"/>
          </p:nvPr>
        </p:nvSpPr>
        <p:spPr>
          <a:xfrm>
            <a:off x="6942587" y="6356352"/>
            <a:ext cx="1371600" cy="365125"/>
          </a:xfrm>
          <a:prstGeom prst="rect">
            <a:avLst/>
          </a:prstGeom>
        </p:spPr>
        <p:txBody>
          <a:bodyPr vert="horz" lIns="0" tIns="45720" rIns="0" bIns="45720" rtlCol="0" anchor="ctr"/>
          <a:lstStyle>
            <a:lvl1pPr algn="l" rtl="0">
              <a:defRPr sz="900">
                <a:solidFill>
                  <a:schemeClr val="tx1">
                    <a:lumMod val="60000"/>
                    <a:lumOff val="40000"/>
                  </a:schemeClr>
                </a:solidFill>
                <a:latin typeface="微软雅黑" panose="020B0503020204020204" pitchFamily="34" charset="-122"/>
                <a:ea typeface="微软雅黑" panose="020B0503020204020204" pitchFamily="34" charset="-122"/>
              </a:defRPr>
            </a:lvl1pPr>
          </a:lstStyle>
          <a:p>
            <a:pPr algn="r"/>
            <a:fld id="{0FF54DE5-C571-48E8-A5BC-B369434E2F44}" type="slidenum">
              <a:rPr lang="en-US" altLang="zh-CN" noProof="0" smtClean="0"/>
              <a:pPr algn="r"/>
              <a:t>‹#›</a:t>
            </a:fld>
            <a:endParaRPr lang="zh-CN" altLang="en-US" noProof="0" dirty="0"/>
          </a:p>
        </p:txBody>
      </p:sp>
      <p:grpSp>
        <p:nvGrpSpPr>
          <p:cNvPr id="15" name="组 14"/>
          <p:cNvGrpSpPr/>
          <p:nvPr/>
        </p:nvGrpSpPr>
        <p:grpSpPr>
          <a:xfrm>
            <a:off x="827532" y="1219202"/>
            <a:ext cx="7488936" cy="84403"/>
            <a:chOff x="1073150" y="1219201"/>
            <a:chExt cx="10058400" cy="63125"/>
          </a:xfrm>
        </p:grpSpPr>
        <p:cxnSp>
          <p:nvCxnSpPr>
            <p:cNvPr id="13" name="直接连接符​​ 12"/>
            <p:cNvCxnSpPr/>
            <p:nvPr/>
          </p:nvCxnSpPr>
          <p:spPr>
            <a:xfrm rot="10800000">
              <a:off x="1073150" y="1219201"/>
              <a:ext cx="10058400" cy="0"/>
            </a:xfrm>
            <a:prstGeom prst="line">
              <a:avLst/>
            </a:prstGeom>
            <a:ln w="381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rot="10800000">
              <a:off x="1073150" y="1282326"/>
              <a:ext cx="10058400" cy="0"/>
            </a:xfrm>
            <a:prstGeom prst="line">
              <a:avLst/>
            </a:prstGeom>
            <a:ln w="12700" cap="flat">
              <a:solidFill>
                <a:schemeClr val="tx1"/>
              </a:solidFill>
              <a:miter lim="800000"/>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462510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685800" rtl="0" eaLnBrk="1" latinLnBrk="0" hangingPunct="1">
        <a:lnSpc>
          <a:spcPct val="90000"/>
        </a:lnSpc>
        <a:spcBef>
          <a:spcPct val="0"/>
        </a:spcBef>
        <a:buNone/>
        <a:defRPr sz="2100" kern="1200">
          <a:solidFill>
            <a:schemeClr val="tx1"/>
          </a:solidFill>
          <a:latin typeface="微软雅黑" panose="020B0503020204020204" pitchFamily="34" charset="-122"/>
          <a:ea typeface="微软雅黑" panose="020B0503020204020204" pitchFamily="34" charset="-122"/>
          <a:cs typeface="+mj-cs"/>
        </a:defRPr>
      </a:lvl1pPr>
    </p:titleStyle>
    <p:body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p:bodyStyle>
    <p:otherStyle>
      <a:defPPr>
        <a:defRP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2" userDrawn="1">
          <p15:clr>
            <a:srgbClr val="F26B43"/>
          </p15:clr>
        </p15:guide>
        <p15:guide id="2" pos="5238" userDrawn="1">
          <p15:clr>
            <a:srgbClr val="F26B43"/>
          </p15:clr>
        </p15:guide>
        <p15:guide id="3" orient="horz" pos="1008" userDrawn="1">
          <p15:clr>
            <a:srgbClr val="F26B43"/>
          </p15:clr>
        </p15:guide>
        <p15:guide id="4" orient="horz" pos="388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vmlDrawing" Target="../drawings/vmlDrawing1.vml"/><Relationship Id="rId4" Type="http://schemas.openxmlformats.org/officeDocument/2006/relationships/image" Target="../media/image18.emf"/></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oleObject" Target="../embeddings/Microsoft_Word_97_-_2003___1.doc"/><Relationship Id="rId2" Type="http://schemas.openxmlformats.org/officeDocument/2006/relationships/slideLayout" Target="../slideLayouts/slideLayout2.xml"/><Relationship Id="rId1" Type="http://schemas.openxmlformats.org/officeDocument/2006/relationships/vmlDrawing" Target="../drawings/vmlDrawing2.vml"/><Relationship Id="rId4" Type="http://schemas.openxmlformats.org/officeDocument/2006/relationships/image" Target="../media/image19.emf"/></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oleObject" Target="../embeddings/Microsoft_Word_97_-_2003___2.doc"/><Relationship Id="rId2" Type="http://schemas.openxmlformats.org/officeDocument/2006/relationships/slideLayout" Target="../slideLayouts/slideLayout2.xml"/><Relationship Id="rId1" Type="http://schemas.openxmlformats.org/officeDocument/2006/relationships/vmlDrawing" Target="../drawings/vmlDrawing3.vml"/><Relationship Id="rId4" Type="http://schemas.openxmlformats.org/officeDocument/2006/relationships/image" Target="../media/image20.emf"/></Relationships>
</file>

<file path=ppt/slides/_rels/slide33.xml.rels><?xml version="1.0" encoding="UTF-8" standalone="yes"?>
<Relationships xmlns="http://schemas.openxmlformats.org/package/2006/relationships"><Relationship Id="rId3" Type="http://schemas.openxmlformats.org/officeDocument/2006/relationships/oleObject" Target="../embeddings/Microsoft_Word_97_-_2003___3.doc"/><Relationship Id="rId2" Type="http://schemas.openxmlformats.org/officeDocument/2006/relationships/slideLayout" Target="../slideLayouts/slideLayout2.xml"/><Relationship Id="rId1" Type="http://schemas.openxmlformats.org/officeDocument/2006/relationships/vmlDrawing" Target="../drawings/vmlDrawing4.vml"/><Relationship Id="rId4" Type="http://schemas.openxmlformats.org/officeDocument/2006/relationships/image" Target="../media/image21.emf"/></Relationships>
</file>

<file path=ppt/slides/_rels/slide34.xml.rels><?xml version="1.0" encoding="UTF-8" standalone="yes"?>
<Relationships xmlns="http://schemas.openxmlformats.org/package/2006/relationships"><Relationship Id="rId3" Type="http://schemas.openxmlformats.org/officeDocument/2006/relationships/oleObject" Target="../embeddings/Microsoft_Word_97_-_2003___4.doc"/><Relationship Id="rId2" Type="http://schemas.openxmlformats.org/officeDocument/2006/relationships/slideLayout" Target="../slideLayouts/slideLayout2.xml"/><Relationship Id="rId1" Type="http://schemas.openxmlformats.org/officeDocument/2006/relationships/vmlDrawing" Target="../drawings/vmlDrawing5.vml"/><Relationship Id="rId4" Type="http://schemas.openxmlformats.org/officeDocument/2006/relationships/image" Target="../media/image22.emf"/></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oleObject" Target="../embeddings/Microsoft_Word_97_-_2003___5.doc"/><Relationship Id="rId2" Type="http://schemas.openxmlformats.org/officeDocument/2006/relationships/slideLayout" Target="../slideLayouts/slideLayout2.xml"/><Relationship Id="rId1" Type="http://schemas.openxmlformats.org/officeDocument/2006/relationships/vmlDrawing" Target="../drawings/vmlDrawing6.vml"/><Relationship Id="rId4" Type="http://schemas.openxmlformats.org/officeDocument/2006/relationships/image" Target="../media/image23.emf"/></Relationships>
</file>

<file path=ppt/slides/_rels/slide37.xml.rels><?xml version="1.0" encoding="UTF-8" standalone="yes"?>
<Relationships xmlns="http://schemas.openxmlformats.org/package/2006/relationships"><Relationship Id="rId3" Type="http://schemas.openxmlformats.org/officeDocument/2006/relationships/oleObject" Target="../embeddings/Microsoft_Word_97_-_2003___6.doc"/><Relationship Id="rId2" Type="http://schemas.openxmlformats.org/officeDocument/2006/relationships/slideLayout" Target="../slideLayouts/slideLayout2.xml"/><Relationship Id="rId1" Type="http://schemas.openxmlformats.org/officeDocument/2006/relationships/vmlDrawing" Target="../drawings/vmlDrawing7.vml"/><Relationship Id="rId4" Type="http://schemas.openxmlformats.org/officeDocument/2006/relationships/image" Target="../media/image24.emf"/></Relationships>
</file>

<file path=ppt/slides/_rels/slide38.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Layout" Target="../slideLayouts/slideLayout2.xml"/><Relationship Id="rId1" Type="http://schemas.openxmlformats.org/officeDocument/2006/relationships/vmlDrawing" Target="../drawings/vmlDrawing8.vml"/><Relationship Id="rId4" Type="http://schemas.openxmlformats.org/officeDocument/2006/relationships/image" Target="../media/image25.emf"/></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oleObject" Target="../embeddings/Microsoft_Word_97_-_2003___7.doc"/><Relationship Id="rId2" Type="http://schemas.openxmlformats.org/officeDocument/2006/relationships/slideLayout" Target="../slideLayouts/slideLayout2.xml"/><Relationship Id="rId1" Type="http://schemas.openxmlformats.org/officeDocument/2006/relationships/vmlDrawing" Target="../drawings/vmlDrawing9.vml"/><Relationship Id="rId4" Type="http://schemas.openxmlformats.org/officeDocument/2006/relationships/image" Target="../media/image26.emf"/></Relationships>
</file>

<file path=ppt/slides/_rels/slide4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Layout" Target="../slideLayouts/slideLayout2.xml"/><Relationship Id="rId1" Type="http://schemas.openxmlformats.org/officeDocument/2006/relationships/vmlDrawing" Target="../drawings/vmlDrawing10.vml"/><Relationship Id="rId4" Type="http://schemas.openxmlformats.org/officeDocument/2006/relationships/image" Target="../media/image27.emf"/></Relationships>
</file>

<file path=ppt/slides/_rels/slide42.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Layout" Target="../slideLayouts/slideLayout2.xml"/><Relationship Id="rId1" Type="http://schemas.openxmlformats.org/officeDocument/2006/relationships/vmlDrawing" Target="../drawings/vmlDrawing11.vml"/><Relationship Id="rId4" Type="http://schemas.openxmlformats.org/officeDocument/2006/relationships/image" Target="../media/image28.emf"/></Relationships>
</file>

<file path=ppt/slides/_rels/slide43.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Layout" Target="../slideLayouts/slideLayout2.xml"/><Relationship Id="rId1" Type="http://schemas.openxmlformats.org/officeDocument/2006/relationships/vmlDrawing" Target="../drawings/vmlDrawing12.vml"/><Relationship Id="rId4" Type="http://schemas.openxmlformats.org/officeDocument/2006/relationships/image" Target="../media/image29.emf"/></Relationships>
</file>

<file path=ppt/slides/_rels/slide44.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Layout" Target="../slideLayouts/slideLayout2.xml"/><Relationship Id="rId1" Type="http://schemas.openxmlformats.org/officeDocument/2006/relationships/vmlDrawing" Target="../drawings/vmlDrawing13.vml"/><Relationship Id="rId4" Type="http://schemas.openxmlformats.org/officeDocument/2006/relationships/image" Target="../media/image30.emf"/></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oleObject" Target="../embeddings/Microsoft_Word_97_-_2003___8.doc"/><Relationship Id="rId2" Type="http://schemas.openxmlformats.org/officeDocument/2006/relationships/slideLayout" Target="../slideLayouts/slideLayout2.xml"/><Relationship Id="rId1" Type="http://schemas.openxmlformats.org/officeDocument/2006/relationships/vmlDrawing" Target="../drawings/vmlDrawing14.vml"/><Relationship Id="rId4" Type="http://schemas.openxmlformats.org/officeDocument/2006/relationships/image" Target="../media/image31.emf"/></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Layout" Target="../slideLayouts/slideLayout2.xml"/><Relationship Id="rId1" Type="http://schemas.openxmlformats.org/officeDocument/2006/relationships/vmlDrawing" Target="../drawings/vmlDrawing15.vml"/><Relationship Id="rId4" Type="http://schemas.openxmlformats.org/officeDocument/2006/relationships/image" Target="../media/image32.emf"/></Relationships>
</file>

<file path=ppt/slides/_rels/slide5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Layout" Target="../slideLayouts/slideLayout2.xml"/><Relationship Id="rId1" Type="http://schemas.openxmlformats.org/officeDocument/2006/relationships/vmlDrawing" Target="../drawings/vmlDrawing16.vml"/><Relationship Id="rId4" Type="http://schemas.openxmlformats.org/officeDocument/2006/relationships/image" Target="../media/image33.emf"/></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Layout" Target="../slideLayouts/slideLayout2.xml"/><Relationship Id="rId1" Type="http://schemas.openxmlformats.org/officeDocument/2006/relationships/vmlDrawing" Target="../drawings/vmlDrawing17.vml"/><Relationship Id="rId4" Type="http://schemas.openxmlformats.org/officeDocument/2006/relationships/image" Target="../media/image34.emf"/></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Layout" Target="../slideLayouts/slideLayout2.xml"/><Relationship Id="rId1" Type="http://schemas.openxmlformats.org/officeDocument/2006/relationships/vmlDrawing" Target="../drawings/vmlDrawing18.vml"/><Relationship Id="rId4" Type="http://schemas.openxmlformats.org/officeDocument/2006/relationships/image" Target="../media/image35.emf"/></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oleObject" Target="../embeddings/Microsoft_Word_97_-_2003___9.doc"/><Relationship Id="rId2" Type="http://schemas.openxmlformats.org/officeDocument/2006/relationships/slideLayout" Target="../slideLayouts/slideLayout2.xml"/><Relationship Id="rId1" Type="http://schemas.openxmlformats.org/officeDocument/2006/relationships/vmlDrawing" Target="../drawings/vmlDrawing19.vml"/><Relationship Id="rId4" Type="http://schemas.openxmlformats.org/officeDocument/2006/relationships/image" Target="../media/image36.emf"/></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Layout" Target="../slideLayouts/slideLayout2.xml"/><Relationship Id="rId1" Type="http://schemas.openxmlformats.org/officeDocument/2006/relationships/vmlDrawing" Target="../drawings/vmlDrawing20.vml"/><Relationship Id="rId4" Type="http://schemas.openxmlformats.org/officeDocument/2006/relationships/image" Target="../media/image37.emf"/></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Layout" Target="../slideLayouts/slideLayout2.xml"/><Relationship Id="rId1" Type="http://schemas.openxmlformats.org/officeDocument/2006/relationships/vmlDrawing" Target="../drawings/vmlDrawing21.vml"/><Relationship Id="rId4" Type="http://schemas.openxmlformats.org/officeDocument/2006/relationships/image" Target="../media/image38.emf"/></Relationships>
</file>

<file path=ppt/slides/_rels/slide77.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Layout" Target="../slideLayouts/slideLayout2.xml"/><Relationship Id="rId1" Type="http://schemas.openxmlformats.org/officeDocument/2006/relationships/vmlDrawing" Target="../drawings/vmlDrawing22.vml"/><Relationship Id="rId4" Type="http://schemas.openxmlformats.org/officeDocument/2006/relationships/image" Target="../media/image39.emf"/></Relationships>
</file>

<file path=ppt/slides/_rels/slide78.xml.rels><?xml version="1.0" encoding="UTF-8" standalone="yes"?>
<Relationships xmlns="http://schemas.openxmlformats.org/package/2006/relationships"><Relationship Id="rId3" Type="http://schemas.openxmlformats.org/officeDocument/2006/relationships/oleObject" Target="../embeddings/Microsoft_Word_97_-_2003___10.doc"/><Relationship Id="rId2" Type="http://schemas.openxmlformats.org/officeDocument/2006/relationships/slideLayout" Target="../slideLayouts/slideLayout2.xml"/><Relationship Id="rId1" Type="http://schemas.openxmlformats.org/officeDocument/2006/relationships/vmlDrawing" Target="../drawings/vmlDrawing23.vml"/><Relationship Id="rId4" Type="http://schemas.openxmlformats.org/officeDocument/2006/relationships/image" Target="../media/image40.emf"/></Relationships>
</file>

<file path=ppt/slides/_rels/slide79.xml.rels><?xml version="1.0" encoding="UTF-8" standalone="yes"?>
<Relationships xmlns="http://schemas.openxmlformats.org/package/2006/relationships"><Relationship Id="rId3" Type="http://schemas.openxmlformats.org/officeDocument/2006/relationships/oleObject" Target="../embeddings/Microsoft_Word_97_-_2003___11.doc"/><Relationship Id="rId2" Type="http://schemas.openxmlformats.org/officeDocument/2006/relationships/slideLayout" Target="../slideLayouts/slideLayout2.xml"/><Relationship Id="rId1" Type="http://schemas.openxmlformats.org/officeDocument/2006/relationships/vmlDrawing" Target="../drawings/vmlDrawing24.vml"/><Relationship Id="rId4" Type="http://schemas.openxmlformats.org/officeDocument/2006/relationships/image" Target="../media/image41.emf"/></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ctrTitle"/>
          </p:nvPr>
        </p:nvSpPr>
        <p:spPr>
          <a:xfrm>
            <a:off x="828675" y="2576321"/>
            <a:ext cx="4300538" cy="1664768"/>
          </a:xfrm>
        </p:spPr>
        <p:txBody>
          <a:bodyPr rtlCol="0" anchor="ctr"/>
          <a:lstStyle/>
          <a:p>
            <a:pPr rtl="0"/>
            <a:r>
              <a:rPr lang="en-US" altLang="zh-CN" dirty="0"/>
              <a:t>Compilers</a:t>
            </a:r>
            <a:endParaRPr lang="en-US" dirty="0">
              <a:latin typeface="微软雅黑" panose="020B0503020204020204" pitchFamily="34" charset="-122"/>
              <a:ea typeface="微软雅黑" panose="020B0503020204020204" pitchFamily="34" charset="-122"/>
            </a:endParaRPr>
          </a:p>
        </p:txBody>
      </p:sp>
      <p:sp>
        <p:nvSpPr>
          <p:cNvPr id="7" name="副标题 6"/>
          <p:cNvSpPr>
            <a:spLocks noGrp="1"/>
          </p:cNvSpPr>
          <p:nvPr>
            <p:ph type="subTitle" idx="1"/>
          </p:nvPr>
        </p:nvSpPr>
        <p:spPr>
          <a:xfrm>
            <a:off x="828675" y="3879543"/>
            <a:ext cx="4300538" cy="1473692"/>
          </a:xfrm>
        </p:spPr>
        <p:txBody>
          <a:bodyPr rtlCol="0">
            <a:normAutofit/>
          </a:bodyPr>
          <a:lstStyle/>
          <a:p>
            <a:pPr rtl="0"/>
            <a:r>
              <a:rPr lang="en-US" sz="2000" dirty="0"/>
              <a:t>Principles, Techniques, &amp; Tools</a:t>
            </a:r>
          </a:p>
          <a:p>
            <a:pPr rtl="0"/>
            <a:endParaRPr lang="en-US" sz="2000" dirty="0">
              <a:latin typeface="微软雅黑" panose="020B0503020204020204" pitchFamily="34" charset="-122"/>
              <a:ea typeface="微软雅黑" panose="020B0503020204020204" pitchFamily="34" charset="-122"/>
            </a:endParaRPr>
          </a:p>
          <a:p>
            <a:pPr rtl="0"/>
            <a:endParaRPr lang="en-US" sz="2000" dirty="0">
              <a:latin typeface="微软雅黑" panose="020B0503020204020204" pitchFamily="34" charset="-122"/>
              <a:ea typeface="微软雅黑" panose="020B0503020204020204" pitchFamily="34" charset="-122"/>
            </a:endParaRPr>
          </a:p>
          <a:p>
            <a:pPr rtl="0"/>
            <a:r>
              <a:rPr lang="en-US" sz="2000" dirty="0">
                <a:latin typeface="微软雅黑" panose="020B0503020204020204" pitchFamily="34" charset="-122"/>
                <a:ea typeface="微软雅黑" panose="020B0503020204020204" pitchFamily="34" charset="-122"/>
              </a:rPr>
              <a:t>Taught by Jing Zhang </a:t>
            </a:r>
          </a:p>
          <a:p>
            <a:pPr rtl="0"/>
            <a:r>
              <a:rPr lang="en-US" sz="2000" dirty="0">
                <a:latin typeface="微软雅黑" panose="020B0503020204020204" pitchFamily="34" charset="-122"/>
                <a:ea typeface="微软雅黑" panose="020B0503020204020204" pitchFamily="34" charset="-122"/>
              </a:rPr>
              <a:t>(jzhang@njust.edu.cn)</a:t>
            </a:r>
          </a:p>
        </p:txBody>
      </p:sp>
      <p:pic>
        <p:nvPicPr>
          <p:cNvPr id="4" name="图片占位符 3" descr="桌上一本打开的书，书架在背景中模糊显示" title="示例图片"/>
          <p:cNvPicPr>
            <a:picLocks noGrp="1" noChangeAspect="1"/>
          </p:cNvPicPr>
          <p:nvPr>
            <p:ph type="pic" sz="quarter" idx="13"/>
          </p:nvPr>
        </p:nvPicPr>
        <p:blipFill>
          <a:blip r:embed="rId3" cstate="print">
            <a:extLst>
              <a:ext uri="{28A0092B-C50C-407E-A947-70E740481C1C}">
                <a14:useLocalDpi xmlns:a14="http://schemas.microsoft.com/office/drawing/2010/main" val="0"/>
              </a:ext>
            </a:extLst>
          </a:blip>
          <a:srcRect l="8805" r="8805"/>
          <a:stretch>
            <a:fillRect/>
          </a:stretch>
        </p:blipFill>
        <p:spPr/>
      </p:pic>
    </p:spTree>
    <p:extLst>
      <p:ext uri="{BB962C8B-B14F-4D97-AF65-F5344CB8AC3E}">
        <p14:creationId xmlns:p14="http://schemas.microsoft.com/office/powerpoint/2010/main" val="16521339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rtlCol="0"/>
          <a:lstStyle/>
          <a:p>
            <a:r>
              <a:rPr lang="en-US" altLang="zh-CN" dirty="0"/>
              <a:t>RUN-TIME Environments</a:t>
            </a:r>
            <a:endParaRPr lang="en-US" dirty="0"/>
          </a:p>
        </p:txBody>
      </p:sp>
      <p:sp>
        <p:nvSpPr>
          <p:cNvPr id="3" name="文本占位符 2"/>
          <p:cNvSpPr>
            <a:spLocks noGrp="1"/>
          </p:cNvSpPr>
          <p:nvPr>
            <p:ph type="body" idx="1"/>
          </p:nvPr>
        </p:nvSpPr>
        <p:spPr/>
        <p:txBody>
          <a:bodyPr rtlCol="0"/>
          <a:lstStyle/>
          <a:p>
            <a:pPr rtl="0"/>
            <a:endParaRPr lang="en-US"/>
          </a:p>
        </p:txBody>
      </p:sp>
    </p:spTree>
    <p:extLst>
      <p:ext uri="{BB962C8B-B14F-4D97-AF65-F5344CB8AC3E}">
        <p14:creationId xmlns:p14="http://schemas.microsoft.com/office/powerpoint/2010/main" val="13288436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Outlines</a:t>
            </a:r>
            <a:endParaRPr lang="zh-CN" altLang="en-US" dirty="0"/>
          </a:p>
        </p:txBody>
      </p:sp>
      <p:sp>
        <p:nvSpPr>
          <p:cNvPr id="3" name="内容占位符 2"/>
          <p:cNvSpPr>
            <a:spLocks noGrp="1"/>
          </p:cNvSpPr>
          <p:nvPr>
            <p:ph idx="1"/>
          </p:nvPr>
        </p:nvSpPr>
        <p:spPr/>
        <p:txBody>
          <a:bodyPr/>
          <a:lstStyle/>
          <a:p>
            <a:r>
              <a:rPr lang="en-US" altLang="zh-CN" dirty="0"/>
              <a:t>Symbol Table</a:t>
            </a:r>
          </a:p>
          <a:p>
            <a:r>
              <a:rPr lang="en-US" altLang="zh-CN" dirty="0"/>
              <a:t>Storage Organization</a:t>
            </a:r>
          </a:p>
          <a:p>
            <a:r>
              <a:rPr lang="en-US" altLang="zh-CN" dirty="0"/>
              <a:t>Stack Allocation of Space</a:t>
            </a:r>
          </a:p>
          <a:p>
            <a:r>
              <a:rPr lang="en-US" altLang="zh-CN" dirty="0"/>
              <a:t>Fully Static Runtime Environments</a:t>
            </a:r>
          </a:p>
          <a:p>
            <a:r>
              <a:rPr lang="en-US" altLang="zh-CN" dirty="0"/>
              <a:t>Stack-Based Runtime </a:t>
            </a:r>
            <a:r>
              <a:rPr lang="en-US" altLang="zh-CN" dirty="0" smtClean="0"/>
              <a:t>Environments</a:t>
            </a:r>
          </a:p>
          <a:p>
            <a:r>
              <a:rPr lang="en-US" altLang="zh-CN" dirty="0" smtClean="0"/>
              <a:t>Fully </a:t>
            </a:r>
            <a:r>
              <a:rPr lang="en-US" altLang="zh-CN" dirty="0"/>
              <a:t>Dynamic Runtime </a:t>
            </a:r>
            <a:r>
              <a:rPr lang="en-US" altLang="zh-CN" dirty="0" smtClean="0"/>
              <a:t>Environments</a:t>
            </a:r>
          </a:p>
          <a:p>
            <a:r>
              <a:rPr lang="en-US" altLang="zh-CN" dirty="0"/>
              <a:t>Dynamic Memory in Object-Oriented Languages</a:t>
            </a:r>
            <a:endParaRPr lang="en-US" altLang="zh-CN" dirty="0"/>
          </a:p>
          <a:p>
            <a:r>
              <a:rPr lang="en-US" altLang="zh-CN" dirty="0" smtClean="0"/>
              <a:t>Heap Management</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a:p>
            <a:endParaRPr lang="en-US" altLang="zh-CN" dirty="0"/>
          </a:p>
        </p:txBody>
      </p:sp>
    </p:spTree>
    <p:extLst>
      <p:ext uri="{BB962C8B-B14F-4D97-AF65-F5344CB8AC3E}">
        <p14:creationId xmlns:p14="http://schemas.microsoft.com/office/powerpoint/2010/main" val="19557097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a:t>
            </a:r>
            <a:endParaRPr lang="zh-CN" altLang="en-US" dirty="0"/>
          </a:p>
        </p:txBody>
      </p:sp>
      <p:sp>
        <p:nvSpPr>
          <p:cNvPr id="3" name="内容占位符 2"/>
          <p:cNvSpPr>
            <a:spLocks noGrp="1"/>
          </p:cNvSpPr>
          <p:nvPr>
            <p:ph idx="1"/>
          </p:nvPr>
        </p:nvSpPr>
        <p:spPr>
          <a:xfrm>
            <a:off x="828675" y="1600200"/>
            <a:ext cx="7486650" cy="1262641"/>
          </a:xfrm>
        </p:spPr>
        <p:txBody>
          <a:bodyPr/>
          <a:lstStyle/>
          <a:p>
            <a:r>
              <a:rPr lang="en-US" altLang="zh-CN" b="1" dirty="0">
                <a:solidFill>
                  <a:srgbClr val="7030A0"/>
                </a:solidFill>
              </a:rPr>
              <a:t>Symbol tables </a:t>
            </a:r>
            <a:r>
              <a:rPr lang="en-US" altLang="zh-CN" dirty="0"/>
              <a:t>are data structures that are used by compilers to hold information about source-program constructs. The information is collected incrementally by the analysis phases of a compiler and used by the synthesis phases to generate the target code.</a:t>
            </a:r>
            <a:endParaRPr lang="zh-CN" altLang="en-US" dirty="0"/>
          </a:p>
        </p:txBody>
      </p:sp>
      <p:pic>
        <p:nvPicPr>
          <p:cNvPr id="4" name="图片 3"/>
          <p:cNvPicPr>
            <a:picLocks noChangeAspect="1"/>
          </p:cNvPicPr>
          <p:nvPr/>
        </p:nvPicPr>
        <p:blipFill>
          <a:blip r:embed="rId2"/>
          <a:stretch>
            <a:fillRect/>
          </a:stretch>
        </p:blipFill>
        <p:spPr>
          <a:xfrm>
            <a:off x="1482651" y="2529199"/>
            <a:ext cx="6088923" cy="3215073"/>
          </a:xfrm>
          <a:prstGeom prst="rect">
            <a:avLst/>
          </a:prstGeom>
        </p:spPr>
      </p:pic>
      <p:cxnSp>
        <p:nvCxnSpPr>
          <p:cNvPr id="8" name="直接连接符 7"/>
          <p:cNvCxnSpPr/>
          <p:nvPr/>
        </p:nvCxnSpPr>
        <p:spPr>
          <a:xfrm>
            <a:off x="4606183" y="3837062"/>
            <a:ext cx="2734654" cy="0"/>
          </a:xfrm>
          <a:prstGeom prst="line">
            <a:avLst/>
          </a:prstGeom>
          <a:ln>
            <a:solidFill>
              <a:srgbClr val="FF0000"/>
            </a:solidFill>
          </a:ln>
        </p:spPr>
        <p:style>
          <a:lnRef idx="1">
            <a:schemeClr val="accent5"/>
          </a:lnRef>
          <a:fillRef idx="0">
            <a:schemeClr val="accent5"/>
          </a:fillRef>
          <a:effectRef idx="0">
            <a:schemeClr val="accent5"/>
          </a:effectRef>
          <a:fontRef idx="minor">
            <a:schemeClr val="tx1"/>
          </a:fontRef>
        </p:style>
      </p:cxnSp>
      <p:cxnSp>
        <p:nvCxnSpPr>
          <p:cNvPr id="10" name="直接连接符 9"/>
          <p:cNvCxnSpPr/>
          <p:nvPr/>
        </p:nvCxnSpPr>
        <p:spPr>
          <a:xfrm flipV="1">
            <a:off x="1828800" y="4050706"/>
            <a:ext cx="5469308" cy="8546"/>
          </a:xfrm>
          <a:prstGeom prst="line">
            <a:avLst/>
          </a:prstGeom>
          <a:ln>
            <a:solidFill>
              <a:srgbClr val="FF0000"/>
            </a:solidFill>
          </a:ln>
        </p:spPr>
        <p:style>
          <a:lnRef idx="1">
            <a:schemeClr val="accent5"/>
          </a:lnRef>
          <a:fillRef idx="0">
            <a:schemeClr val="accent5"/>
          </a:fillRef>
          <a:effectRef idx="0">
            <a:schemeClr val="accent5"/>
          </a:effectRef>
          <a:fontRef idx="minor">
            <a:schemeClr val="tx1"/>
          </a:fontRef>
        </p:style>
      </p:cxnSp>
      <p:cxnSp>
        <p:nvCxnSpPr>
          <p:cNvPr id="14" name="直接连接符 13"/>
          <p:cNvCxnSpPr/>
          <p:nvPr/>
        </p:nvCxnSpPr>
        <p:spPr>
          <a:xfrm flipV="1">
            <a:off x="1793192" y="4254381"/>
            <a:ext cx="5469308" cy="8546"/>
          </a:xfrm>
          <a:prstGeom prst="line">
            <a:avLst/>
          </a:prstGeom>
          <a:ln>
            <a:solidFill>
              <a:srgbClr val="FF0000"/>
            </a:solidFill>
          </a:ln>
        </p:spPr>
        <p:style>
          <a:lnRef idx="1">
            <a:schemeClr val="accent5"/>
          </a:lnRef>
          <a:fillRef idx="0">
            <a:schemeClr val="accent5"/>
          </a:fillRef>
          <a:effectRef idx="0">
            <a:schemeClr val="accent5"/>
          </a:effectRef>
          <a:fontRef idx="minor">
            <a:schemeClr val="tx1"/>
          </a:fontRef>
        </p:style>
      </p:cxnSp>
      <p:sp>
        <p:nvSpPr>
          <p:cNvPr id="15" name="文本框 14"/>
          <p:cNvSpPr txBox="1"/>
          <p:nvPr/>
        </p:nvSpPr>
        <p:spPr>
          <a:xfrm>
            <a:off x="1331762" y="5864451"/>
            <a:ext cx="6654000" cy="646331"/>
          </a:xfrm>
          <a:prstGeom prst="rect">
            <a:avLst/>
          </a:prstGeom>
        </p:spPr>
        <p:style>
          <a:lnRef idx="1">
            <a:schemeClr val="accent5"/>
          </a:lnRef>
          <a:fillRef idx="2">
            <a:schemeClr val="accent5"/>
          </a:fillRef>
          <a:effectRef idx="1">
            <a:schemeClr val="accent5"/>
          </a:effectRef>
          <a:fontRef idx="minor">
            <a:schemeClr val="dk1"/>
          </a:fontRef>
        </p:style>
        <p:txBody>
          <a:bodyPr wrap="square" rtlCol="0">
            <a:spAutoFit/>
          </a:bodyPr>
          <a:lstStyle/>
          <a:p>
            <a:r>
              <a:rPr lang="en-US" altLang="zh-CN" b="1" dirty="0"/>
              <a:t>Symbol Table is NOT a part of run-time environments but can provide information to create run-time environments.</a:t>
            </a:r>
            <a:endParaRPr lang="zh-CN" altLang="en-US" b="1" dirty="0"/>
          </a:p>
        </p:txBody>
      </p:sp>
    </p:spTree>
    <p:extLst>
      <p:ext uri="{BB962C8B-B14F-4D97-AF65-F5344CB8AC3E}">
        <p14:creationId xmlns:p14="http://schemas.microsoft.com/office/powerpoint/2010/main" val="23821176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Table-Structure</a:t>
            </a:r>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3328024537"/>
              </p:ext>
            </p:extLst>
          </p:nvPr>
        </p:nvGraphicFramePr>
        <p:xfrm>
          <a:off x="1524000" y="2012299"/>
          <a:ext cx="6096000" cy="1807673"/>
        </p:xfrm>
        <a:graphic>
          <a:graphicData uri="http://schemas.openxmlformats.org/drawingml/2006/table">
            <a:tbl>
              <a:tblPr firstRow="1" bandRow="1">
                <a:tableStyleId>{5940675A-B579-460E-94D1-54222C63F5DA}</a:tableStyleId>
              </a:tblPr>
              <a:tblGrid>
                <a:gridCol w="1524000">
                  <a:extLst>
                    <a:ext uri="{9D8B030D-6E8A-4147-A177-3AD203B41FA5}">
                      <a16:colId xmlns:a16="http://schemas.microsoft.com/office/drawing/2014/main" xmlns="" val="20000"/>
                    </a:ext>
                  </a:extLst>
                </a:gridCol>
                <a:gridCol w="1524000">
                  <a:extLst>
                    <a:ext uri="{9D8B030D-6E8A-4147-A177-3AD203B41FA5}">
                      <a16:colId xmlns:a16="http://schemas.microsoft.com/office/drawing/2014/main" xmlns="" val="20001"/>
                    </a:ext>
                  </a:extLst>
                </a:gridCol>
                <a:gridCol w="1524000">
                  <a:extLst>
                    <a:ext uri="{9D8B030D-6E8A-4147-A177-3AD203B41FA5}">
                      <a16:colId xmlns:a16="http://schemas.microsoft.com/office/drawing/2014/main" xmlns="" val="20002"/>
                    </a:ext>
                  </a:extLst>
                </a:gridCol>
                <a:gridCol w="1524000">
                  <a:extLst>
                    <a:ext uri="{9D8B030D-6E8A-4147-A177-3AD203B41FA5}">
                      <a16:colId xmlns:a16="http://schemas.microsoft.com/office/drawing/2014/main" xmlns="" val="20003"/>
                    </a:ext>
                  </a:extLst>
                </a:gridCol>
              </a:tblGrid>
              <a:tr h="370840">
                <a:tc rowSpan="2">
                  <a:txBody>
                    <a:bodyPr/>
                    <a:lstStyle/>
                    <a:p>
                      <a:pPr algn="ctr"/>
                      <a:r>
                        <a:rPr lang="en-US" altLang="zh-CN" b="1" dirty="0"/>
                        <a:t>NAME</a:t>
                      </a:r>
                      <a:endParaRPr lang="zh-CN" altLang="en-US" b="1" dirty="0"/>
                    </a:p>
                  </a:txBody>
                  <a:tcPr anchor="ctr"/>
                </a:tc>
                <a:tc gridSpan="3">
                  <a:txBody>
                    <a:bodyPr/>
                    <a:lstStyle/>
                    <a:p>
                      <a:pPr algn="ctr"/>
                      <a:r>
                        <a:rPr lang="en-US" altLang="zh-CN" dirty="0"/>
                        <a:t>INFORMATION</a:t>
                      </a:r>
                      <a:endParaRPr lang="zh-CN" altLang="en-US" dirty="0"/>
                    </a:p>
                  </a:txBody>
                  <a:tcPr anchor="ctr"/>
                </a:tc>
                <a:tc hMerge="1">
                  <a:txBody>
                    <a:bodyPr/>
                    <a:lstStyle/>
                    <a:p>
                      <a:endParaRPr lang="zh-CN" altLang="en-US" dirty="0"/>
                    </a:p>
                  </a:txBody>
                  <a:tcPr/>
                </a:tc>
                <a:tc hMerge="1">
                  <a:txBody>
                    <a:bodyPr/>
                    <a:lstStyle/>
                    <a:p>
                      <a:endParaRPr lang="zh-CN" altLang="en-US" dirty="0"/>
                    </a:p>
                  </a:txBody>
                  <a:tcPr/>
                </a:tc>
                <a:extLst>
                  <a:ext uri="{0D108BD9-81ED-4DB2-BD59-A6C34878D82A}">
                    <a16:rowId xmlns:a16="http://schemas.microsoft.com/office/drawing/2014/main" xmlns="" val="10000"/>
                  </a:ext>
                </a:extLst>
              </a:tr>
              <a:tr h="370840">
                <a:tc vMerge="1">
                  <a:txBody>
                    <a:bodyPr/>
                    <a:lstStyle/>
                    <a:p>
                      <a:pPr algn="l"/>
                      <a:endParaRPr lang="en-US" altLang="zh-CN" dirty="0"/>
                    </a:p>
                  </a:txBody>
                  <a:tcPr anchor="ctr"/>
                </a:tc>
                <a:tc>
                  <a:txBody>
                    <a:bodyPr/>
                    <a:lstStyle/>
                    <a:p>
                      <a:pPr algn="ctr"/>
                      <a:r>
                        <a:rPr lang="en-US" altLang="zh-CN" dirty="0"/>
                        <a:t>Category</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r>
                        <a:rPr lang="en-US" altLang="zh-CN" dirty="0" err="1"/>
                        <a:t>addr</a:t>
                      </a:r>
                      <a:endParaRPr lang="zh-CN" altLang="en-US" dirty="0"/>
                    </a:p>
                  </a:txBody>
                  <a:tcPr anchor="ctr"/>
                </a:tc>
                <a:extLst>
                  <a:ext uri="{0D108BD9-81ED-4DB2-BD59-A6C34878D82A}">
                    <a16:rowId xmlns:a16="http://schemas.microsoft.com/office/drawing/2014/main" xmlns="" val="10001"/>
                  </a:ext>
                </a:extLst>
              </a:tr>
              <a:tr h="370840">
                <a:tc>
                  <a:txBody>
                    <a:bodyPr/>
                    <a:lstStyle/>
                    <a:p>
                      <a:pPr algn="l"/>
                      <a:r>
                        <a:rPr lang="en-US" altLang="zh-CN" dirty="0"/>
                        <a:t>     , 6</a:t>
                      </a:r>
                      <a:endParaRPr lang="zh-CN" altLang="en-US" dirty="0"/>
                    </a:p>
                  </a:txBody>
                  <a:tcPr anchor="ctr"/>
                </a:tc>
                <a:tc gridSpan="3">
                  <a:txBody>
                    <a:bodyPr/>
                    <a:lstStyle/>
                    <a:p>
                      <a:endParaRPr lang="zh-CN" altLang="en-US" dirty="0"/>
                    </a:p>
                  </a:txBody>
                  <a:tcPr/>
                </a:tc>
                <a:tc hMerge="1">
                  <a:txBody>
                    <a:bodyPr/>
                    <a:lstStyle/>
                    <a:p>
                      <a:endParaRPr lang="zh-CN" altLang="en-US" dirty="0"/>
                    </a:p>
                  </a:txBody>
                  <a:tcPr/>
                </a:tc>
                <a:tc hMerge="1">
                  <a:txBody>
                    <a:bodyPr/>
                    <a:lstStyle/>
                    <a:p>
                      <a:endParaRPr lang="zh-CN" altLang="en-US" dirty="0"/>
                    </a:p>
                  </a:txBody>
                  <a:tcPr/>
                </a:tc>
                <a:extLst>
                  <a:ext uri="{0D108BD9-81ED-4DB2-BD59-A6C34878D82A}">
                    <a16:rowId xmlns:a16="http://schemas.microsoft.com/office/drawing/2014/main" xmlns="" val="10002"/>
                  </a:ext>
                </a:extLst>
              </a:tr>
              <a:tr h="370840">
                <a:tc>
                  <a:txBody>
                    <a:bodyPr/>
                    <a:lstStyle/>
                    <a:p>
                      <a:pPr algn="l"/>
                      <a:r>
                        <a:rPr lang="en-US" altLang="zh-CN" dirty="0"/>
                        <a:t>     , 4</a:t>
                      </a:r>
                      <a:endParaRPr lang="zh-CN" altLang="en-US" dirty="0"/>
                    </a:p>
                  </a:txBody>
                  <a:tcPr anchor="ctr"/>
                </a:tc>
                <a:tc gridSpan="3">
                  <a:txBody>
                    <a:bodyPr/>
                    <a:lstStyle/>
                    <a:p>
                      <a:endParaRPr lang="zh-CN" altLang="en-US" dirty="0"/>
                    </a:p>
                  </a:txBody>
                  <a:tcPr/>
                </a:tc>
                <a:tc hMerge="1">
                  <a:txBody>
                    <a:bodyPr/>
                    <a:lstStyle/>
                    <a:p>
                      <a:endParaRPr lang="zh-CN" altLang="en-US" dirty="0"/>
                    </a:p>
                  </a:txBody>
                  <a:tcPr/>
                </a:tc>
                <a:tc hMerge="1">
                  <a:txBody>
                    <a:bodyPr/>
                    <a:lstStyle/>
                    <a:p>
                      <a:endParaRPr lang="zh-CN" altLang="en-US" dirty="0"/>
                    </a:p>
                  </a:txBody>
                  <a:tcPr/>
                </a:tc>
                <a:extLst>
                  <a:ext uri="{0D108BD9-81ED-4DB2-BD59-A6C34878D82A}">
                    <a16:rowId xmlns:a16="http://schemas.microsoft.com/office/drawing/2014/main" xmlns="" val="10003"/>
                  </a:ext>
                </a:extLst>
              </a:tr>
              <a:tr h="324313">
                <a:tc>
                  <a:txBody>
                    <a:bodyPr/>
                    <a:lstStyle/>
                    <a:p>
                      <a:pPr algn="l"/>
                      <a:r>
                        <a:rPr lang="en-US" altLang="zh-CN" dirty="0"/>
                        <a:t>     , 1</a:t>
                      </a:r>
                      <a:endParaRPr lang="zh-CN" altLang="en-US" dirty="0"/>
                    </a:p>
                  </a:txBody>
                  <a:tcPr anchor="ctr"/>
                </a:tc>
                <a:tc gridSpan="3">
                  <a:txBody>
                    <a:bodyPr/>
                    <a:lstStyle/>
                    <a:p>
                      <a:r>
                        <a:rPr lang="en-US" altLang="zh-CN" dirty="0"/>
                        <a:t>      array            ……</a:t>
                      </a:r>
                      <a:r>
                        <a:rPr lang="en-US" altLang="zh-CN" baseline="0" dirty="0"/>
                        <a:t>                </a:t>
                      </a:r>
                      <a:endParaRPr lang="zh-CN" altLang="en-US" dirty="0"/>
                    </a:p>
                  </a:txBody>
                  <a:tcPr/>
                </a:tc>
                <a:tc hMerge="1">
                  <a:txBody>
                    <a:bodyPr/>
                    <a:lstStyle/>
                    <a:p>
                      <a:endParaRPr lang="zh-CN" altLang="en-US" dirty="0"/>
                    </a:p>
                  </a:txBody>
                  <a:tcPr/>
                </a:tc>
                <a:tc hMerge="1">
                  <a:txBody>
                    <a:bodyPr/>
                    <a:lstStyle/>
                    <a:p>
                      <a:endParaRPr lang="zh-CN" altLang="en-US" dirty="0"/>
                    </a:p>
                  </a:txBody>
                  <a:tcPr/>
                </a:tc>
                <a:extLst>
                  <a:ext uri="{0D108BD9-81ED-4DB2-BD59-A6C34878D82A}">
                    <a16:rowId xmlns:a16="http://schemas.microsoft.com/office/drawing/2014/main" xmlns="" val="10004"/>
                  </a:ext>
                </a:extLst>
              </a:tr>
            </a:tbl>
          </a:graphicData>
        </a:graphic>
      </p:graphicFrame>
      <p:graphicFrame>
        <p:nvGraphicFramePr>
          <p:cNvPr id="5" name="表格 4"/>
          <p:cNvGraphicFramePr>
            <a:graphicFrameLocks noGrp="1"/>
          </p:cNvGraphicFramePr>
          <p:nvPr>
            <p:extLst>
              <p:ext uri="{D42A27DB-BD31-4B8C-83A1-F6EECF244321}">
                <p14:modId xmlns:p14="http://schemas.microsoft.com/office/powerpoint/2010/main" val="1266756993"/>
              </p:ext>
            </p:extLst>
          </p:nvPr>
        </p:nvGraphicFramePr>
        <p:xfrm>
          <a:off x="133477" y="4232985"/>
          <a:ext cx="3124200" cy="370840"/>
        </p:xfrm>
        <a:graphic>
          <a:graphicData uri="http://schemas.openxmlformats.org/drawingml/2006/table">
            <a:tbl>
              <a:tblPr firstRow="1" bandRow="1">
                <a:tableStyleId>{5940675A-B579-460E-94D1-54222C63F5DA}</a:tableStyleId>
              </a:tblPr>
              <a:tblGrid>
                <a:gridCol w="208280">
                  <a:extLst>
                    <a:ext uri="{9D8B030D-6E8A-4147-A177-3AD203B41FA5}">
                      <a16:colId xmlns:a16="http://schemas.microsoft.com/office/drawing/2014/main" xmlns="" val="20000"/>
                    </a:ext>
                  </a:extLst>
                </a:gridCol>
                <a:gridCol w="208280">
                  <a:extLst>
                    <a:ext uri="{9D8B030D-6E8A-4147-A177-3AD203B41FA5}">
                      <a16:colId xmlns:a16="http://schemas.microsoft.com/office/drawing/2014/main" xmlns="" val="20001"/>
                    </a:ext>
                  </a:extLst>
                </a:gridCol>
                <a:gridCol w="208280">
                  <a:extLst>
                    <a:ext uri="{9D8B030D-6E8A-4147-A177-3AD203B41FA5}">
                      <a16:colId xmlns:a16="http://schemas.microsoft.com/office/drawing/2014/main" xmlns="" val="20002"/>
                    </a:ext>
                  </a:extLst>
                </a:gridCol>
                <a:gridCol w="208280">
                  <a:extLst>
                    <a:ext uri="{9D8B030D-6E8A-4147-A177-3AD203B41FA5}">
                      <a16:colId xmlns:a16="http://schemas.microsoft.com/office/drawing/2014/main" xmlns="" val="20003"/>
                    </a:ext>
                  </a:extLst>
                </a:gridCol>
                <a:gridCol w="208280">
                  <a:extLst>
                    <a:ext uri="{9D8B030D-6E8A-4147-A177-3AD203B41FA5}">
                      <a16:colId xmlns:a16="http://schemas.microsoft.com/office/drawing/2014/main" xmlns="" val="20004"/>
                    </a:ext>
                  </a:extLst>
                </a:gridCol>
                <a:gridCol w="208280">
                  <a:extLst>
                    <a:ext uri="{9D8B030D-6E8A-4147-A177-3AD203B41FA5}">
                      <a16:colId xmlns:a16="http://schemas.microsoft.com/office/drawing/2014/main" xmlns="" val="20005"/>
                    </a:ext>
                  </a:extLst>
                </a:gridCol>
                <a:gridCol w="208280">
                  <a:extLst>
                    <a:ext uri="{9D8B030D-6E8A-4147-A177-3AD203B41FA5}">
                      <a16:colId xmlns:a16="http://schemas.microsoft.com/office/drawing/2014/main" xmlns="" val="20006"/>
                    </a:ext>
                  </a:extLst>
                </a:gridCol>
                <a:gridCol w="208280">
                  <a:extLst>
                    <a:ext uri="{9D8B030D-6E8A-4147-A177-3AD203B41FA5}">
                      <a16:colId xmlns:a16="http://schemas.microsoft.com/office/drawing/2014/main" xmlns="" val="20007"/>
                    </a:ext>
                  </a:extLst>
                </a:gridCol>
                <a:gridCol w="208280">
                  <a:extLst>
                    <a:ext uri="{9D8B030D-6E8A-4147-A177-3AD203B41FA5}">
                      <a16:colId xmlns:a16="http://schemas.microsoft.com/office/drawing/2014/main" xmlns="" val="20008"/>
                    </a:ext>
                  </a:extLst>
                </a:gridCol>
                <a:gridCol w="208280">
                  <a:extLst>
                    <a:ext uri="{9D8B030D-6E8A-4147-A177-3AD203B41FA5}">
                      <a16:colId xmlns:a16="http://schemas.microsoft.com/office/drawing/2014/main" xmlns="" val="20009"/>
                    </a:ext>
                  </a:extLst>
                </a:gridCol>
                <a:gridCol w="208280">
                  <a:extLst>
                    <a:ext uri="{9D8B030D-6E8A-4147-A177-3AD203B41FA5}">
                      <a16:colId xmlns:a16="http://schemas.microsoft.com/office/drawing/2014/main" xmlns="" val="20010"/>
                    </a:ext>
                  </a:extLst>
                </a:gridCol>
                <a:gridCol w="208280">
                  <a:extLst>
                    <a:ext uri="{9D8B030D-6E8A-4147-A177-3AD203B41FA5}">
                      <a16:colId xmlns:a16="http://schemas.microsoft.com/office/drawing/2014/main" xmlns="" val="20011"/>
                    </a:ext>
                  </a:extLst>
                </a:gridCol>
                <a:gridCol w="208280">
                  <a:extLst>
                    <a:ext uri="{9D8B030D-6E8A-4147-A177-3AD203B41FA5}">
                      <a16:colId xmlns:a16="http://schemas.microsoft.com/office/drawing/2014/main" xmlns="" val="20012"/>
                    </a:ext>
                  </a:extLst>
                </a:gridCol>
                <a:gridCol w="208280">
                  <a:extLst>
                    <a:ext uri="{9D8B030D-6E8A-4147-A177-3AD203B41FA5}">
                      <a16:colId xmlns:a16="http://schemas.microsoft.com/office/drawing/2014/main" xmlns="" val="20013"/>
                    </a:ext>
                  </a:extLst>
                </a:gridCol>
                <a:gridCol w="208280">
                  <a:extLst>
                    <a:ext uri="{9D8B030D-6E8A-4147-A177-3AD203B41FA5}">
                      <a16:colId xmlns:a16="http://schemas.microsoft.com/office/drawing/2014/main" xmlns="" val="20014"/>
                    </a:ext>
                  </a:extLst>
                </a:gridCol>
              </a:tblGrid>
              <a:tr h="370840">
                <a:tc>
                  <a:txBody>
                    <a:bodyPr/>
                    <a:lstStyle/>
                    <a:p>
                      <a:pPr algn="ctr"/>
                      <a:r>
                        <a:rPr lang="en-US" altLang="zh-CN" dirty="0"/>
                        <a:t>…</a:t>
                      </a:r>
                      <a:endParaRPr lang="zh-CN" altLang="en-US" dirty="0"/>
                    </a:p>
                  </a:txBody>
                  <a:tcPr anchor="ctr"/>
                </a:tc>
                <a:tc>
                  <a:txBody>
                    <a:bodyPr/>
                    <a:lstStyle/>
                    <a:p>
                      <a:pPr algn="ctr"/>
                      <a:r>
                        <a:rPr lang="en-US" altLang="zh-CN" dirty="0"/>
                        <a:t>S</a:t>
                      </a:r>
                      <a:endParaRPr lang="zh-CN" altLang="en-US" dirty="0"/>
                    </a:p>
                  </a:txBody>
                  <a:tcPr anchor="ctr"/>
                </a:tc>
                <a:tc>
                  <a:txBody>
                    <a:bodyPr/>
                    <a:lstStyle/>
                    <a:p>
                      <a:pPr algn="ctr"/>
                      <a:r>
                        <a:rPr lang="en-US" altLang="zh-CN" dirty="0"/>
                        <a:t>a</a:t>
                      </a:r>
                      <a:endParaRPr lang="zh-CN" altLang="en-US" dirty="0"/>
                    </a:p>
                  </a:txBody>
                  <a:tcPr anchor="ctr"/>
                </a:tc>
                <a:tc>
                  <a:txBody>
                    <a:bodyPr/>
                    <a:lstStyle/>
                    <a:p>
                      <a:pPr algn="ctr"/>
                      <a:r>
                        <a:rPr lang="en-US" altLang="zh-CN" dirty="0"/>
                        <a:t>m</a:t>
                      </a:r>
                      <a:endParaRPr lang="zh-CN" altLang="en-US" dirty="0"/>
                    </a:p>
                  </a:txBody>
                  <a:tcPr anchor="ctr"/>
                </a:tc>
                <a:tc>
                  <a:txBody>
                    <a:bodyPr/>
                    <a:lstStyle/>
                    <a:p>
                      <a:pPr algn="ctr"/>
                      <a:r>
                        <a:rPr lang="en-US" altLang="zh-CN" dirty="0"/>
                        <a:t>p</a:t>
                      </a:r>
                      <a:endParaRPr lang="zh-CN" altLang="en-US" dirty="0"/>
                    </a:p>
                  </a:txBody>
                  <a:tcPr anchor="ctr"/>
                </a:tc>
                <a:tc>
                  <a:txBody>
                    <a:bodyPr/>
                    <a:lstStyle/>
                    <a:p>
                      <a:pPr algn="ctr"/>
                      <a:r>
                        <a:rPr lang="en-US" altLang="zh-CN" dirty="0"/>
                        <a:t>l</a:t>
                      </a:r>
                      <a:endParaRPr lang="zh-CN" altLang="en-US" dirty="0"/>
                    </a:p>
                  </a:txBody>
                  <a:tcPr anchor="ctr"/>
                </a:tc>
                <a:tc>
                  <a:txBody>
                    <a:bodyPr/>
                    <a:lstStyle/>
                    <a:p>
                      <a:pPr algn="ctr"/>
                      <a:r>
                        <a:rPr lang="en-US" altLang="zh-CN" dirty="0"/>
                        <a:t>e</a:t>
                      </a:r>
                      <a:endParaRPr lang="zh-CN" altLang="en-US" dirty="0"/>
                    </a:p>
                  </a:txBody>
                  <a:tcPr anchor="ctr"/>
                </a:tc>
                <a:tc>
                  <a:txBody>
                    <a:bodyPr/>
                    <a:lstStyle/>
                    <a:p>
                      <a:pPr algn="ctr"/>
                      <a:r>
                        <a:rPr lang="en-US" altLang="zh-CN" dirty="0"/>
                        <a:t>L</a:t>
                      </a:r>
                      <a:endParaRPr lang="zh-CN" altLang="en-US" dirty="0"/>
                    </a:p>
                  </a:txBody>
                  <a:tcPr anchor="ctr"/>
                </a:tc>
                <a:tc>
                  <a:txBody>
                    <a:bodyPr/>
                    <a:lstStyle/>
                    <a:p>
                      <a:pPr algn="ctr"/>
                      <a:r>
                        <a:rPr lang="en-US" altLang="zh-CN" dirty="0"/>
                        <a:t>e</a:t>
                      </a:r>
                      <a:endParaRPr lang="zh-CN" altLang="en-US" dirty="0"/>
                    </a:p>
                  </a:txBody>
                  <a:tcPr anchor="ctr"/>
                </a:tc>
                <a:tc>
                  <a:txBody>
                    <a:bodyPr/>
                    <a:lstStyle/>
                    <a:p>
                      <a:pPr algn="ctr"/>
                      <a:r>
                        <a:rPr lang="en-US" altLang="zh-CN" dirty="0"/>
                        <a:t>n</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r>
                        <a:rPr lang="en-US" altLang="zh-CN" dirty="0"/>
                        <a:t>a</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endParaRPr lang="zh-CN" altLang="en-US" dirty="0"/>
                    </a:p>
                  </a:txBody>
                  <a:tcPr anchor="ctr"/>
                </a:tc>
                <a:tc>
                  <a:txBody>
                    <a:bodyPr/>
                    <a:lstStyle/>
                    <a:p>
                      <a:pPr algn="ctr"/>
                      <a:endParaRPr lang="zh-CN" altLang="en-US" dirty="0"/>
                    </a:p>
                  </a:txBody>
                  <a:tcPr anchor="ctr"/>
                </a:tc>
                <a:extLst>
                  <a:ext uri="{0D108BD9-81ED-4DB2-BD59-A6C34878D82A}">
                    <a16:rowId xmlns:a16="http://schemas.microsoft.com/office/drawing/2014/main" xmlns="" val="10000"/>
                  </a:ext>
                </a:extLst>
              </a:tr>
            </a:tbl>
          </a:graphicData>
        </a:graphic>
      </p:graphicFrame>
      <p:grpSp>
        <p:nvGrpSpPr>
          <p:cNvPr id="18" name="组合 17"/>
          <p:cNvGrpSpPr/>
          <p:nvPr/>
        </p:nvGrpSpPr>
        <p:grpSpPr>
          <a:xfrm>
            <a:off x="444381" y="2973938"/>
            <a:ext cx="1384419" cy="1222049"/>
            <a:chOff x="1093863" y="2358639"/>
            <a:chExt cx="822023" cy="1222049"/>
          </a:xfrm>
        </p:grpSpPr>
        <p:cxnSp>
          <p:nvCxnSpPr>
            <p:cNvPr id="7" name="直接连接符 6"/>
            <p:cNvCxnSpPr/>
            <p:nvPr/>
          </p:nvCxnSpPr>
          <p:spPr>
            <a:xfrm>
              <a:off x="1110953" y="2358639"/>
              <a:ext cx="804933" cy="1384"/>
            </a:xfrm>
            <a:prstGeom prst="line">
              <a:avLst/>
            </a:prstGeom>
            <a:ln w="19050">
              <a:solidFill>
                <a:schemeClr val="accent1"/>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8" name="直接连接符 7"/>
            <p:cNvCxnSpPr/>
            <p:nvPr/>
          </p:nvCxnSpPr>
          <p:spPr>
            <a:xfrm flipH="1">
              <a:off x="1093863" y="2358639"/>
              <a:ext cx="8544" cy="1222049"/>
            </a:xfrm>
            <a:prstGeom prst="line">
              <a:avLst/>
            </a:prstGeom>
            <a:ln w="19050">
              <a:solidFill>
                <a:schemeClr val="accent1"/>
              </a:solidFill>
              <a:headEnd type="none"/>
              <a:tailEnd type="arrow"/>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1640791" y="3341408"/>
            <a:ext cx="188009" cy="888761"/>
            <a:chOff x="1093863" y="2358639"/>
            <a:chExt cx="822023" cy="1222049"/>
          </a:xfrm>
        </p:grpSpPr>
        <p:cxnSp>
          <p:nvCxnSpPr>
            <p:cNvPr id="20" name="直接连接符 19"/>
            <p:cNvCxnSpPr/>
            <p:nvPr/>
          </p:nvCxnSpPr>
          <p:spPr>
            <a:xfrm>
              <a:off x="1110953" y="2358639"/>
              <a:ext cx="804933" cy="1384"/>
            </a:xfrm>
            <a:prstGeom prst="line">
              <a:avLst/>
            </a:prstGeom>
            <a:ln w="19050">
              <a:solidFill>
                <a:schemeClr val="accent1"/>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H="1">
              <a:off x="1093863" y="2358639"/>
              <a:ext cx="8544" cy="1222049"/>
            </a:xfrm>
            <a:prstGeom prst="line">
              <a:avLst/>
            </a:prstGeom>
            <a:ln w="19050">
              <a:solidFill>
                <a:schemeClr val="accent1"/>
              </a:solidFill>
              <a:headEnd type="none"/>
              <a:tailEnd type="arrow"/>
            </a:ln>
          </p:spPr>
          <p:style>
            <a:lnRef idx="1">
              <a:schemeClr val="accent1"/>
            </a:lnRef>
            <a:fillRef idx="0">
              <a:schemeClr val="accent1"/>
            </a:fillRef>
            <a:effectRef idx="0">
              <a:schemeClr val="accent1"/>
            </a:effectRef>
            <a:fontRef idx="minor">
              <a:schemeClr val="tx1"/>
            </a:fontRef>
          </p:style>
        </p:cxnSp>
      </p:grpSp>
      <p:grpSp>
        <p:nvGrpSpPr>
          <p:cNvPr id="22" name="组合 21"/>
          <p:cNvGrpSpPr/>
          <p:nvPr/>
        </p:nvGrpSpPr>
        <p:grpSpPr>
          <a:xfrm flipH="1">
            <a:off x="1837346" y="3956705"/>
            <a:ext cx="640933" cy="282011"/>
            <a:chOff x="1093863" y="2358639"/>
            <a:chExt cx="780401" cy="1222049"/>
          </a:xfrm>
        </p:grpSpPr>
        <p:cxnSp>
          <p:nvCxnSpPr>
            <p:cNvPr id="23" name="直接连接符 22"/>
            <p:cNvCxnSpPr/>
            <p:nvPr/>
          </p:nvCxnSpPr>
          <p:spPr>
            <a:xfrm>
              <a:off x="1110951" y="2358639"/>
              <a:ext cx="763313" cy="0"/>
            </a:xfrm>
            <a:prstGeom prst="line">
              <a:avLst/>
            </a:prstGeom>
            <a:ln w="1905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H="1">
              <a:off x="1093863" y="2358639"/>
              <a:ext cx="8544" cy="1222049"/>
            </a:xfrm>
            <a:prstGeom prst="line">
              <a:avLst/>
            </a:prstGeom>
            <a:ln w="19050">
              <a:solidFill>
                <a:schemeClr val="accent1"/>
              </a:solidFill>
              <a:headEnd type="none"/>
              <a:tailEnd type="arrow"/>
            </a:ln>
          </p:spPr>
          <p:style>
            <a:lnRef idx="1">
              <a:schemeClr val="accent1"/>
            </a:lnRef>
            <a:fillRef idx="0">
              <a:schemeClr val="accent1"/>
            </a:fillRef>
            <a:effectRef idx="0">
              <a:schemeClr val="accent1"/>
            </a:effectRef>
            <a:fontRef idx="minor">
              <a:schemeClr val="tx1"/>
            </a:fontRef>
          </p:style>
        </p:cxnSp>
      </p:grpSp>
      <p:cxnSp>
        <p:nvCxnSpPr>
          <p:cNvPr id="25" name="直接连接符 24"/>
          <p:cNvCxnSpPr/>
          <p:nvPr/>
        </p:nvCxnSpPr>
        <p:spPr>
          <a:xfrm flipV="1">
            <a:off x="1820254" y="3631965"/>
            <a:ext cx="0" cy="324740"/>
          </a:xfrm>
          <a:prstGeom prst="line">
            <a:avLst/>
          </a:prstGeom>
          <a:ln w="19050">
            <a:solidFill>
              <a:schemeClr val="accent1"/>
            </a:solidFill>
            <a:headEnd type="none"/>
            <a:tailEnd type="oval"/>
          </a:ln>
        </p:spPr>
        <p:style>
          <a:lnRef idx="1">
            <a:schemeClr val="accent1"/>
          </a:lnRef>
          <a:fillRef idx="0">
            <a:schemeClr val="accent1"/>
          </a:fillRef>
          <a:effectRef idx="0">
            <a:schemeClr val="accent1"/>
          </a:effectRef>
          <a:fontRef idx="minor">
            <a:schemeClr val="tx1"/>
          </a:fontRef>
        </p:style>
      </p:cxnSp>
      <p:graphicFrame>
        <p:nvGraphicFramePr>
          <p:cNvPr id="32" name="表格 31"/>
          <p:cNvGraphicFramePr>
            <a:graphicFrameLocks noGrp="1"/>
          </p:cNvGraphicFramePr>
          <p:nvPr>
            <p:extLst>
              <p:ext uri="{D42A27DB-BD31-4B8C-83A1-F6EECF244321}">
                <p14:modId xmlns:p14="http://schemas.microsoft.com/office/powerpoint/2010/main" val="4110901264"/>
              </p:ext>
            </p:extLst>
          </p:nvPr>
        </p:nvGraphicFramePr>
        <p:xfrm>
          <a:off x="4691639" y="4541855"/>
          <a:ext cx="3273040" cy="1112520"/>
        </p:xfrm>
        <a:graphic>
          <a:graphicData uri="http://schemas.openxmlformats.org/drawingml/2006/table">
            <a:tbl>
              <a:tblPr firstRow="1" bandRow="1">
                <a:tableStyleId>{5940675A-B579-460E-94D1-54222C63F5DA}</a:tableStyleId>
              </a:tblPr>
              <a:tblGrid>
                <a:gridCol w="818260">
                  <a:extLst>
                    <a:ext uri="{9D8B030D-6E8A-4147-A177-3AD203B41FA5}">
                      <a16:colId xmlns:a16="http://schemas.microsoft.com/office/drawing/2014/main" xmlns="" val="20000"/>
                    </a:ext>
                  </a:extLst>
                </a:gridCol>
                <a:gridCol w="818260">
                  <a:extLst>
                    <a:ext uri="{9D8B030D-6E8A-4147-A177-3AD203B41FA5}">
                      <a16:colId xmlns:a16="http://schemas.microsoft.com/office/drawing/2014/main" xmlns="" val="20001"/>
                    </a:ext>
                  </a:extLst>
                </a:gridCol>
                <a:gridCol w="818260">
                  <a:extLst>
                    <a:ext uri="{9D8B030D-6E8A-4147-A177-3AD203B41FA5}">
                      <a16:colId xmlns:a16="http://schemas.microsoft.com/office/drawing/2014/main" xmlns="" val="20002"/>
                    </a:ext>
                  </a:extLst>
                </a:gridCol>
                <a:gridCol w="818260">
                  <a:extLst>
                    <a:ext uri="{9D8B030D-6E8A-4147-A177-3AD203B41FA5}">
                      <a16:colId xmlns:a16="http://schemas.microsoft.com/office/drawing/2014/main" xmlns="" val="20003"/>
                    </a:ext>
                  </a:extLst>
                </a:gridCol>
              </a:tblGrid>
              <a:tr h="370840">
                <a:tc gridSpan="2">
                  <a:txBody>
                    <a:bodyPr/>
                    <a:lstStyle/>
                    <a:p>
                      <a:pPr algn="ctr"/>
                      <a:r>
                        <a:rPr lang="en-US" altLang="zh-CN" dirty="0"/>
                        <a:t>Dimension</a:t>
                      </a:r>
                      <a:endParaRPr lang="zh-CN" altLang="en-US" dirty="0"/>
                    </a:p>
                  </a:txBody>
                  <a:tcPr anchor="ctr"/>
                </a:tc>
                <a:tc hMerge="1">
                  <a:txBody>
                    <a:bodyPr/>
                    <a:lstStyle/>
                    <a:p>
                      <a:endParaRPr lang="zh-CN" altLang="en-US"/>
                    </a:p>
                  </a:txBody>
                  <a:tcPr/>
                </a:tc>
                <a:tc gridSpan="2">
                  <a:txBody>
                    <a:bodyPr/>
                    <a:lstStyle/>
                    <a:p>
                      <a:pPr algn="ctr"/>
                      <a:r>
                        <a:rPr lang="en-US" altLang="zh-CN" dirty="0"/>
                        <a:t>First </a:t>
                      </a:r>
                      <a:r>
                        <a:rPr lang="en-US" altLang="zh-CN" dirty="0" err="1"/>
                        <a:t>Addr</a:t>
                      </a:r>
                      <a:endParaRPr lang="zh-CN" altLang="en-US" dirty="0"/>
                    </a:p>
                  </a:txBody>
                  <a:tcPr anchor="ctr"/>
                </a:tc>
                <a:tc hMerge="1">
                  <a:txBody>
                    <a:bodyPr/>
                    <a:lstStyle/>
                    <a:p>
                      <a:endParaRPr lang="zh-CN" altLang="en-US"/>
                    </a:p>
                  </a:txBody>
                  <a:tcPr/>
                </a:tc>
                <a:extLst>
                  <a:ext uri="{0D108BD9-81ED-4DB2-BD59-A6C34878D82A}">
                    <a16:rowId xmlns:a16="http://schemas.microsoft.com/office/drawing/2014/main" xmlns="" val="10000"/>
                  </a:ext>
                </a:extLst>
              </a:tr>
              <a:tr h="370840">
                <a:tc>
                  <a:txBody>
                    <a:bodyPr/>
                    <a:lstStyle/>
                    <a:p>
                      <a:pPr algn="ctr"/>
                      <a:r>
                        <a:rPr lang="en-US" altLang="zh-CN" dirty="0"/>
                        <a:t>Upper 1</a:t>
                      </a:r>
                      <a:endParaRPr lang="zh-CN" altLang="en-US" dirty="0"/>
                    </a:p>
                  </a:txBody>
                  <a:tcPr anchor="ctr"/>
                </a:tc>
                <a:tc>
                  <a:txBody>
                    <a:bodyPr/>
                    <a:lstStyle/>
                    <a:p>
                      <a:pPr algn="ctr"/>
                      <a:r>
                        <a:rPr lang="en-US" altLang="zh-CN" dirty="0"/>
                        <a:t>Upper</a:t>
                      </a:r>
                      <a:r>
                        <a:rPr lang="en-US" altLang="zh-CN" baseline="0" dirty="0"/>
                        <a:t> 2</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r>
                        <a:rPr lang="en-US" altLang="zh-CN" dirty="0"/>
                        <a:t>Upper</a:t>
                      </a:r>
                      <a:r>
                        <a:rPr lang="en-US" altLang="zh-CN" baseline="0" dirty="0"/>
                        <a:t> N</a:t>
                      </a:r>
                      <a:endParaRPr lang="zh-CN" altLang="en-US" dirty="0"/>
                    </a:p>
                  </a:txBody>
                  <a:tcPr anchor="ctr"/>
                </a:tc>
                <a:extLst>
                  <a:ext uri="{0D108BD9-81ED-4DB2-BD59-A6C34878D82A}">
                    <a16:rowId xmlns:a16="http://schemas.microsoft.com/office/drawing/2014/main" xmlns="" val="10001"/>
                  </a:ext>
                </a:extLst>
              </a:tr>
              <a:tr h="370840">
                <a:tc>
                  <a:txBody>
                    <a:bodyPr/>
                    <a:lstStyle/>
                    <a:p>
                      <a:pPr algn="ctr"/>
                      <a:r>
                        <a:rPr lang="en-US" altLang="zh-CN" dirty="0"/>
                        <a:t>Lower 1</a:t>
                      </a:r>
                      <a:endParaRPr lang="zh-CN" altLang="en-US" dirty="0"/>
                    </a:p>
                  </a:txBody>
                  <a:tcPr anchor="ctr"/>
                </a:tc>
                <a:tc>
                  <a:txBody>
                    <a:bodyPr/>
                    <a:lstStyle/>
                    <a:p>
                      <a:pPr algn="ctr"/>
                      <a:r>
                        <a:rPr lang="en-US" altLang="zh-CN" dirty="0"/>
                        <a:t>Lower 2</a:t>
                      </a:r>
                      <a:endParaRPr lang="zh-CN" altLang="en-US" dirty="0"/>
                    </a:p>
                  </a:txBody>
                  <a:tcPr anchor="ctr"/>
                </a:tc>
                <a:tc>
                  <a:txBody>
                    <a:bodyPr/>
                    <a:lstStyle/>
                    <a:p>
                      <a:pPr algn="ctr"/>
                      <a:r>
                        <a:rPr lang="en-US" altLang="zh-CN" dirty="0"/>
                        <a:t>…</a:t>
                      </a:r>
                      <a:endParaRPr lang="zh-CN" altLang="en-US" dirty="0"/>
                    </a:p>
                  </a:txBody>
                  <a:tcPr anchor="ctr"/>
                </a:tc>
                <a:tc>
                  <a:txBody>
                    <a:bodyPr/>
                    <a:lstStyle/>
                    <a:p>
                      <a:pPr algn="ctr"/>
                      <a:r>
                        <a:rPr lang="en-US" altLang="zh-CN" dirty="0"/>
                        <a:t>Lower N</a:t>
                      </a:r>
                      <a:endParaRPr lang="zh-CN" altLang="en-US" dirty="0"/>
                    </a:p>
                  </a:txBody>
                  <a:tcPr anchor="ctr"/>
                </a:tc>
                <a:extLst>
                  <a:ext uri="{0D108BD9-81ED-4DB2-BD59-A6C34878D82A}">
                    <a16:rowId xmlns:a16="http://schemas.microsoft.com/office/drawing/2014/main" xmlns="" val="10002"/>
                  </a:ext>
                </a:extLst>
              </a:tr>
            </a:tbl>
          </a:graphicData>
        </a:graphic>
      </p:graphicFrame>
      <p:sp>
        <p:nvSpPr>
          <p:cNvPr id="34" name="文本框 33"/>
          <p:cNvSpPr txBox="1"/>
          <p:nvPr/>
        </p:nvSpPr>
        <p:spPr>
          <a:xfrm>
            <a:off x="3666146" y="1478423"/>
            <a:ext cx="1705916" cy="369332"/>
          </a:xfrm>
          <a:prstGeom prst="rect">
            <a:avLst/>
          </a:prstGeom>
          <a:noFill/>
        </p:spPr>
        <p:txBody>
          <a:bodyPr wrap="none" rtlCol="0">
            <a:spAutoFit/>
          </a:bodyPr>
          <a:lstStyle/>
          <a:p>
            <a:r>
              <a:rPr lang="en-US" altLang="zh-CN" b="1" dirty="0"/>
              <a:t>Symbol Table </a:t>
            </a:r>
            <a:endParaRPr lang="zh-CN" altLang="en-US" b="1" dirty="0"/>
          </a:p>
        </p:txBody>
      </p:sp>
      <p:cxnSp>
        <p:nvCxnSpPr>
          <p:cNvPr id="36" name="直接连接符 35"/>
          <p:cNvCxnSpPr/>
          <p:nvPr/>
        </p:nvCxnSpPr>
        <p:spPr>
          <a:xfrm flipH="1">
            <a:off x="6929212" y="3621994"/>
            <a:ext cx="955363" cy="747"/>
          </a:xfrm>
          <a:prstGeom prst="line">
            <a:avLst/>
          </a:prstGeom>
          <a:ln w="19050">
            <a:solidFill>
              <a:schemeClr val="accent1"/>
            </a:solidFill>
            <a:headEnd type="none"/>
            <a:tailEnd type="ova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341264" y="4631821"/>
            <a:ext cx="358923" cy="0"/>
          </a:xfrm>
          <a:prstGeom prst="line">
            <a:avLst/>
          </a:prstGeom>
          <a:ln w="19050">
            <a:solidFill>
              <a:schemeClr val="accent1"/>
            </a:solidFill>
            <a:headEnd type="none"/>
            <a:tailEnd type="arrow"/>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flipH="1" flipV="1">
            <a:off x="7896314" y="3623417"/>
            <a:ext cx="8547" cy="521293"/>
          </a:xfrm>
          <a:prstGeom prst="line">
            <a:avLst/>
          </a:prstGeom>
          <a:ln w="1905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直接连接符 40"/>
          <p:cNvCxnSpPr/>
          <p:nvPr/>
        </p:nvCxnSpPr>
        <p:spPr>
          <a:xfrm flipH="1">
            <a:off x="4349809" y="4153256"/>
            <a:ext cx="3546506" cy="0"/>
          </a:xfrm>
          <a:prstGeom prst="line">
            <a:avLst/>
          </a:prstGeom>
          <a:ln w="1905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flipH="1">
            <a:off x="4349809" y="4144710"/>
            <a:ext cx="1" cy="495656"/>
          </a:xfrm>
          <a:prstGeom prst="line">
            <a:avLst/>
          </a:prstGeom>
          <a:ln w="19050">
            <a:solidFill>
              <a:schemeClr val="accent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52" name="矩形 51"/>
          <p:cNvSpPr/>
          <p:nvPr/>
        </p:nvSpPr>
        <p:spPr>
          <a:xfrm>
            <a:off x="5128667" y="4150188"/>
            <a:ext cx="2525050" cy="369332"/>
          </a:xfrm>
          <a:prstGeom prst="rect">
            <a:avLst/>
          </a:prstGeom>
        </p:spPr>
        <p:txBody>
          <a:bodyPr wrap="none">
            <a:spAutoFit/>
          </a:bodyPr>
          <a:lstStyle/>
          <a:p>
            <a:r>
              <a:rPr lang="zh-CN" altLang="en-US" b="1" dirty="0"/>
              <a:t>Insider Vector Table</a:t>
            </a:r>
          </a:p>
        </p:txBody>
      </p:sp>
    </p:spTree>
    <p:extLst>
      <p:ext uri="{BB962C8B-B14F-4D97-AF65-F5344CB8AC3E}">
        <p14:creationId xmlns:p14="http://schemas.microsoft.com/office/powerpoint/2010/main" val="1029009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 Per Scope</a:t>
            </a:r>
            <a:endParaRPr lang="zh-CN" altLang="en-US" dirty="0"/>
          </a:p>
        </p:txBody>
      </p:sp>
      <p:sp>
        <p:nvSpPr>
          <p:cNvPr id="3" name="内容占位符 2"/>
          <p:cNvSpPr>
            <a:spLocks noGrp="1"/>
          </p:cNvSpPr>
          <p:nvPr>
            <p:ph idx="1"/>
          </p:nvPr>
        </p:nvSpPr>
        <p:spPr>
          <a:xfrm>
            <a:off x="828675" y="1600201"/>
            <a:ext cx="7486650" cy="4689504"/>
          </a:xfrm>
        </p:spPr>
        <p:txBody>
          <a:bodyPr/>
          <a:lstStyle/>
          <a:p>
            <a:r>
              <a:rPr lang="en-US" altLang="zh-CN" dirty="0"/>
              <a:t>The term "scope of identifier </a:t>
            </a:r>
            <a:r>
              <a:rPr lang="en-US" altLang="zh-CN" i="1" dirty="0"/>
              <a:t>x</a:t>
            </a:r>
            <a:r>
              <a:rPr lang="en-US" altLang="zh-CN" dirty="0"/>
              <a:t>' really refers to the scope of a particular declaration of </a:t>
            </a:r>
            <a:r>
              <a:rPr lang="en-US" altLang="zh-CN" i="1" dirty="0"/>
              <a:t>x</a:t>
            </a:r>
            <a:r>
              <a:rPr lang="en-US" altLang="zh-CN" dirty="0"/>
              <a:t>. The term scope by itself refers to a portion of a program that is the scope of one or more declarations.</a:t>
            </a:r>
          </a:p>
          <a:p>
            <a:r>
              <a:rPr lang="en-US" altLang="zh-CN" dirty="0"/>
              <a:t>Scopes are important, because the same identifier can be declared for different purposes in different parts of a program. Common names like </a:t>
            </a:r>
            <a:r>
              <a:rPr lang="en-US" altLang="zh-CN" i="1" dirty="0" err="1"/>
              <a:t>i</a:t>
            </a:r>
            <a:r>
              <a:rPr lang="en-US" altLang="zh-CN" dirty="0"/>
              <a:t> and </a:t>
            </a:r>
            <a:r>
              <a:rPr lang="en-US" altLang="zh-CN" i="1" dirty="0"/>
              <a:t>x </a:t>
            </a:r>
            <a:r>
              <a:rPr lang="en-US" altLang="zh-CN" dirty="0"/>
              <a:t>often have multiple uses. As another example, subclasses can </a:t>
            </a:r>
            <a:r>
              <a:rPr lang="en-US" altLang="zh-CN" dirty="0" err="1"/>
              <a:t>redeclare</a:t>
            </a:r>
            <a:r>
              <a:rPr lang="en-US" altLang="zh-CN" dirty="0"/>
              <a:t> a method name to override a method in a superclass.</a:t>
            </a:r>
          </a:p>
          <a:p>
            <a:r>
              <a:rPr lang="en-US" altLang="zh-CN" dirty="0"/>
              <a:t>If blocks can be nested, several declarations of the same identifier can appear within a single block. The following syntax results in nested blocks when </a:t>
            </a:r>
            <a:r>
              <a:rPr lang="en-US" altLang="zh-CN" i="1" dirty="0" err="1"/>
              <a:t>stmts</a:t>
            </a:r>
            <a:r>
              <a:rPr lang="en-US" altLang="zh-CN" dirty="0"/>
              <a:t> can generate a block:</a:t>
            </a:r>
          </a:p>
          <a:p>
            <a:endParaRPr lang="en-US" altLang="zh-CN" dirty="0"/>
          </a:p>
          <a:p>
            <a:r>
              <a:rPr lang="en-US" altLang="zh-CN" dirty="0"/>
              <a:t>The </a:t>
            </a:r>
            <a:r>
              <a:rPr lang="en-US" altLang="zh-CN" b="1" i="1" dirty="0">
                <a:solidFill>
                  <a:srgbClr val="7030A0"/>
                </a:solidFill>
              </a:rPr>
              <a:t>most- closely nested </a:t>
            </a:r>
            <a:r>
              <a:rPr lang="en-US" altLang="zh-CN" dirty="0"/>
              <a:t>rule for blocks is that an identifier </a:t>
            </a:r>
            <a:r>
              <a:rPr lang="en-US" altLang="zh-CN" i="1" dirty="0"/>
              <a:t>x</a:t>
            </a:r>
            <a:r>
              <a:rPr lang="en-US" altLang="zh-CN" dirty="0"/>
              <a:t> is in the scope of the most-closely nested declaration of </a:t>
            </a:r>
            <a:r>
              <a:rPr lang="en-US" altLang="zh-CN" i="1" dirty="0"/>
              <a:t>x</a:t>
            </a:r>
            <a:r>
              <a:rPr lang="en-US" altLang="zh-CN" dirty="0"/>
              <a:t>; that is, the declaration of </a:t>
            </a:r>
            <a:r>
              <a:rPr lang="en-US" altLang="zh-CN" i="1" dirty="0"/>
              <a:t>x</a:t>
            </a:r>
            <a:r>
              <a:rPr lang="en-US" altLang="zh-CN" dirty="0"/>
              <a:t> found by examining blocks inside-out, starting with the block in which </a:t>
            </a:r>
            <a:r>
              <a:rPr lang="en-US" altLang="zh-CN" i="1" dirty="0"/>
              <a:t>x</a:t>
            </a:r>
            <a:r>
              <a:rPr lang="en-US" altLang="zh-CN" dirty="0"/>
              <a:t> appears.</a:t>
            </a:r>
          </a:p>
          <a:p>
            <a:endParaRPr lang="en-US" altLang="zh-CN" dirty="0"/>
          </a:p>
          <a:p>
            <a:endParaRPr lang="zh-CN" altLang="en-US" dirty="0"/>
          </a:p>
        </p:txBody>
      </p:sp>
      <p:pic>
        <p:nvPicPr>
          <p:cNvPr id="4" name="图片 3"/>
          <p:cNvPicPr>
            <a:picLocks noChangeAspect="1"/>
          </p:cNvPicPr>
          <p:nvPr/>
        </p:nvPicPr>
        <p:blipFill>
          <a:blip r:embed="rId2"/>
          <a:stretch>
            <a:fillRect/>
          </a:stretch>
        </p:blipFill>
        <p:spPr>
          <a:xfrm>
            <a:off x="3035937" y="4120541"/>
            <a:ext cx="3134086" cy="468551"/>
          </a:xfrm>
          <a:prstGeom prst="rect">
            <a:avLst/>
          </a:prstGeom>
        </p:spPr>
      </p:pic>
    </p:spTree>
    <p:extLst>
      <p:ext uri="{BB962C8B-B14F-4D97-AF65-F5344CB8AC3E}">
        <p14:creationId xmlns:p14="http://schemas.microsoft.com/office/powerpoint/2010/main" val="9775798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 Per Scope</a:t>
            </a:r>
            <a:endParaRPr lang="zh-CN" altLang="en-US" dirty="0"/>
          </a:p>
        </p:txBody>
      </p:sp>
      <p:pic>
        <p:nvPicPr>
          <p:cNvPr id="5" name="图片 4"/>
          <p:cNvPicPr>
            <a:picLocks noChangeAspect="1"/>
          </p:cNvPicPr>
          <p:nvPr/>
        </p:nvPicPr>
        <p:blipFill>
          <a:blip r:embed="rId2"/>
          <a:stretch>
            <a:fillRect/>
          </a:stretch>
        </p:blipFill>
        <p:spPr>
          <a:xfrm>
            <a:off x="0" y="1505663"/>
            <a:ext cx="9144000" cy="4735435"/>
          </a:xfrm>
          <a:prstGeom prst="rect">
            <a:avLst/>
          </a:prstGeom>
        </p:spPr>
      </p:pic>
    </p:spTree>
    <p:extLst>
      <p:ext uri="{BB962C8B-B14F-4D97-AF65-F5344CB8AC3E}">
        <p14:creationId xmlns:p14="http://schemas.microsoft.com/office/powerpoint/2010/main" val="21208837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8.1 Symbol Table Per Scope-Implementation</a:t>
            </a:r>
            <a:endParaRPr lang="zh-CN" altLang="en-US" dirty="0"/>
          </a:p>
        </p:txBody>
      </p:sp>
      <p:pic>
        <p:nvPicPr>
          <p:cNvPr id="4" name="图片 3"/>
          <p:cNvPicPr>
            <a:picLocks noChangeAspect="1"/>
          </p:cNvPicPr>
          <p:nvPr/>
        </p:nvPicPr>
        <p:blipFill>
          <a:blip r:embed="rId2"/>
          <a:stretch>
            <a:fillRect/>
          </a:stretch>
        </p:blipFill>
        <p:spPr>
          <a:xfrm>
            <a:off x="419100" y="1485835"/>
            <a:ext cx="5545865" cy="5040213"/>
          </a:xfrm>
          <a:prstGeom prst="rect">
            <a:avLst/>
          </a:prstGeom>
        </p:spPr>
      </p:pic>
      <p:cxnSp>
        <p:nvCxnSpPr>
          <p:cNvPr id="6" name="直接箭头连接符 5"/>
          <p:cNvCxnSpPr/>
          <p:nvPr/>
        </p:nvCxnSpPr>
        <p:spPr>
          <a:xfrm>
            <a:off x="3315768" y="2862841"/>
            <a:ext cx="2777383" cy="8546"/>
          </a:xfrm>
          <a:prstGeom prst="straightConnector1">
            <a:avLst/>
          </a:prstGeom>
          <a:ln w="190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7" name="文本框 6"/>
          <p:cNvSpPr txBox="1"/>
          <p:nvPr/>
        </p:nvSpPr>
        <p:spPr>
          <a:xfrm>
            <a:off x="6178611" y="2623560"/>
            <a:ext cx="2597920" cy="646331"/>
          </a:xfrm>
          <a:prstGeom prst="rect">
            <a:avLst/>
          </a:prstGeom>
          <a:noFill/>
        </p:spPr>
        <p:txBody>
          <a:bodyPr wrap="square" rtlCol="0">
            <a:spAutoFit/>
          </a:bodyPr>
          <a:lstStyle/>
          <a:p>
            <a:r>
              <a:rPr lang="en-US" altLang="zh-CN" dirty="0">
                <a:latin typeface="微软雅黑" panose="020B0503020204020204" pitchFamily="34" charset="-122"/>
                <a:ea typeface="微软雅黑" panose="020B0503020204020204" pitchFamily="34" charset="-122"/>
              </a:rPr>
              <a:t>Create a new symbol table.</a:t>
            </a:r>
            <a:endParaRPr lang="zh-CN" altLang="en-US" dirty="0">
              <a:latin typeface="微软雅黑" panose="020B0503020204020204" pitchFamily="34" charset="-122"/>
              <a:ea typeface="微软雅黑" panose="020B0503020204020204" pitchFamily="34" charset="-122"/>
            </a:endParaRPr>
          </a:p>
        </p:txBody>
      </p:sp>
      <p:cxnSp>
        <p:nvCxnSpPr>
          <p:cNvPr id="9" name="直接箭头连接符 8"/>
          <p:cNvCxnSpPr/>
          <p:nvPr/>
        </p:nvCxnSpPr>
        <p:spPr>
          <a:xfrm>
            <a:off x="5194418" y="3647629"/>
            <a:ext cx="1009828" cy="9971"/>
          </a:xfrm>
          <a:prstGeom prst="straightConnector1">
            <a:avLst/>
          </a:prstGeom>
          <a:ln w="190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1" name="文本框 10"/>
          <p:cNvSpPr txBox="1"/>
          <p:nvPr/>
        </p:nvSpPr>
        <p:spPr>
          <a:xfrm>
            <a:off x="6262645" y="3451078"/>
            <a:ext cx="2597920" cy="646331"/>
          </a:xfrm>
          <a:prstGeom prst="rect">
            <a:avLst/>
          </a:prstGeom>
          <a:noFill/>
        </p:spPr>
        <p:txBody>
          <a:bodyPr wrap="square" rtlCol="0">
            <a:spAutoFit/>
          </a:bodyPr>
          <a:lstStyle/>
          <a:p>
            <a:r>
              <a:rPr lang="en-US" altLang="zh-CN" dirty="0">
                <a:latin typeface="微软雅黑" panose="020B0503020204020204" pitchFamily="34" charset="-122"/>
                <a:ea typeface="微软雅黑" panose="020B0503020204020204" pitchFamily="34" charset="-122"/>
              </a:rPr>
              <a:t>Put a new entry in the current table.</a:t>
            </a:r>
            <a:endParaRPr lang="zh-CN" altLang="en-US" dirty="0">
              <a:latin typeface="微软雅黑" panose="020B0503020204020204" pitchFamily="34" charset="-122"/>
              <a:ea typeface="微软雅黑" panose="020B0503020204020204" pitchFamily="34" charset="-122"/>
            </a:endParaRPr>
          </a:p>
        </p:txBody>
      </p:sp>
      <p:cxnSp>
        <p:nvCxnSpPr>
          <p:cNvPr id="12" name="直接箭头连接符 11"/>
          <p:cNvCxnSpPr/>
          <p:nvPr/>
        </p:nvCxnSpPr>
        <p:spPr>
          <a:xfrm>
            <a:off x="4201682" y="4449510"/>
            <a:ext cx="1994019" cy="11395"/>
          </a:xfrm>
          <a:prstGeom prst="straightConnector1">
            <a:avLst/>
          </a:prstGeom>
          <a:ln w="190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5" name="文本框 14"/>
          <p:cNvSpPr txBox="1"/>
          <p:nvPr/>
        </p:nvSpPr>
        <p:spPr>
          <a:xfrm>
            <a:off x="6235583" y="4287142"/>
            <a:ext cx="2597920" cy="1754326"/>
          </a:xfrm>
          <a:prstGeom prst="rect">
            <a:avLst/>
          </a:prstGeom>
          <a:noFill/>
        </p:spPr>
        <p:txBody>
          <a:bodyPr wrap="square" rtlCol="0">
            <a:spAutoFit/>
          </a:bodyPr>
          <a:lstStyle/>
          <a:p>
            <a:r>
              <a:rPr lang="en-US" altLang="zh-CN" dirty="0">
                <a:latin typeface="微软雅黑" panose="020B0503020204020204" pitchFamily="34" charset="-122"/>
                <a:ea typeface="微软雅黑" panose="020B0503020204020204" pitchFamily="34" charset="-122"/>
              </a:rPr>
              <a:t>Get an entry for an identifier by searching the chain of tables, starting</a:t>
            </a:r>
          </a:p>
          <a:p>
            <a:r>
              <a:rPr lang="en-US" altLang="zh-CN" dirty="0">
                <a:latin typeface="微软雅黑" panose="020B0503020204020204" pitchFamily="34" charset="-122"/>
                <a:ea typeface="微软雅黑" panose="020B0503020204020204" pitchFamily="34" charset="-122"/>
              </a:rPr>
              <a:t>with the table for the current block.</a:t>
            </a:r>
            <a:endParaRPr lang="zh-CN" altLang="en-US" dirty="0">
              <a:latin typeface="微软雅黑" panose="020B0503020204020204" pitchFamily="34" charset="-122"/>
              <a:ea typeface="微软雅黑" panose="020B0503020204020204" pitchFamily="34" charset="-122"/>
            </a:endParaRPr>
          </a:p>
        </p:txBody>
      </p:sp>
      <p:cxnSp>
        <p:nvCxnSpPr>
          <p:cNvPr id="18" name="直接连接符 17"/>
          <p:cNvCxnSpPr/>
          <p:nvPr/>
        </p:nvCxnSpPr>
        <p:spPr>
          <a:xfrm>
            <a:off x="2119357" y="4760007"/>
            <a:ext cx="3409772" cy="0"/>
          </a:xfrm>
          <a:prstGeom prst="line">
            <a:avLst/>
          </a:prstGeom>
          <a:ln>
            <a:solidFill>
              <a:srgbClr val="FF0000"/>
            </a:solidFill>
          </a:ln>
        </p:spPr>
        <p:style>
          <a:lnRef idx="1">
            <a:schemeClr val="accent5"/>
          </a:lnRef>
          <a:fillRef idx="0">
            <a:schemeClr val="accent5"/>
          </a:fillRef>
          <a:effectRef idx="0">
            <a:schemeClr val="accent5"/>
          </a:effectRef>
          <a:fontRef idx="minor">
            <a:schemeClr val="tx1"/>
          </a:fontRef>
        </p:style>
      </p:cxnSp>
    </p:spTree>
    <p:extLst>
      <p:ext uri="{BB962C8B-B14F-4D97-AF65-F5344CB8AC3E}">
        <p14:creationId xmlns:p14="http://schemas.microsoft.com/office/powerpoint/2010/main" val="1835688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sp>
        <p:nvSpPr>
          <p:cNvPr id="3" name="内容占位符 2"/>
          <p:cNvSpPr>
            <a:spLocks noGrp="1"/>
          </p:cNvSpPr>
          <p:nvPr>
            <p:ph idx="1"/>
          </p:nvPr>
        </p:nvSpPr>
        <p:spPr/>
        <p:txBody>
          <a:bodyPr>
            <a:normAutofit/>
          </a:bodyPr>
          <a:lstStyle/>
          <a:p>
            <a:pPr marL="342900" lvl="0" indent="-342900" defTabSz="914400" fontAlgn="base">
              <a:lnSpc>
                <a:spcPct val="100000"/>
              </a:lnSpc>
              <a:spcBef>
                <a:spcPct val="20000"/>
              </a:spcBef>
              <a:spcAft>
                <a:spcPct val="0"/>
              </a:spcAft>
              <a:buFontTx/>
              <a:buChar char="•"/>
              <a:tabLst>
                <a:tab pos="365125" algn="l"/>
              </a:tabLst>
            </a:pPr>
            <a:r>
              <a:rPr lang="en-US" altLang="zh-CN" sz="2200" b="1" dirty="0">
                <a:solidFill>
                  <a:srgbClr val="000000"/>
                </a:solidFill>
              </a:rPr>
              <a:t>Runtime Environment</a:t>
            </a:r>
            <a:endParaRPr lang="en-US" altLang="zh-CN" sz="2200" dirty="0">
              <a:solidFill>
                <a:srgbClr val="000000"/>
              </a:solidFill>
            </a:endParaRPr>
          </a:p>
          <a:p>
            <a:pPr marL="522288" lvl="1" indent="11113" defTabSz="914400" fontAlgn="base">
              <a:lnSpc>
                <a:spcPct val="100000"/>
              </a:lnSpc>
              <a:spcBef>
                <a:spcPct val="20000"/>
              </a:spcBef>
              <a:spcAft>
                <a:spcPct val="0"/>
              </a:spcAft>
              <a:buNone/>
              <a:tabLst>
                <a:tab pos="365125" algn="l"/>
              </a:tabLst>
            </a:pPr>
            <a:r>
              <a:rPr lang="en-US" altLang="zh-CN" sz="2200" dirty="0">
                <a:solidFill>
                  <a:srgbClr val="000000"/>
                </a:solidFill>
              </a:rPr>
              <a:t>The structure of the target computer’s </a:t>
            </a:r>
            <a:r>
              <a:rPr lang="en-US" altLang="zh-CN" sz="2200" b="1" dirty="0">
                <a:solidFill>
                  <a:srgbClr val="000000"/>
                </a:solidFill>
              </a:rPr>
              <a:t>registers and memory</a:t>
            </a:r>
            <a:r>
              <a:rPr lang="en-US" altLang="zh-CN" sz="2200" dirty="0">
                <a:solidFill>
                  <a:srgbClr val="000000"/>
                </a:solidFill>
              </a:rPr>
              <a:t> that serves to manage memory and maintain the information needed </a:t>
            </a:r>
            <a:r>
              <a:rPr lang="en-US" altLang="zh-CN" sz="2200" b="1" dirty="0">
                <a:solidFill>
                  <a:srgbClr val="000000"/>
                </a:solidFill>
              </a:rPr>
              <a:t>to guide the execution process</a:t>
            </a:r>
          </a:p>
          <a:p>
            <a:pPr marL="522288" lvl="1" indent="11113" defTabSz="914400" fontAlgn="base">
              <a:lnSpc>
                <a:spcPct val="100000"/>
              </a:lnSpc>
              <a:spcBef>
                <a:spcPct val="20000"/>
              </a:spcBef>
              <a:spcAft>
                <a:spcPct val="0"/>
              </a:spcAft>
              <a:buNone/>
              <a:tabLst>
                <a:tab pos="365125" algn="l"/>
              </a:tabLst>
            </a:pPr>
            <a:endParaRPr lang="en-US" altLang="zh-CN" sz="2200" b="1" dirty="0">
              <a:solidFill>
                <a:srgbClr val="000000"/>
              </a:solidFill>
            </a:endParaRPr>
          </a:p>
          <a:p>
            <a:pPr marL="342900" lvl="0" indent="-342900" defTabSz="914400" fontAlgn="base">
              <a:lnSpc>
                <a:spcPct val="100000"/>
              </a:lnSpc>
              <a:spcBef>
                <a:spcPct val="20000"/>
              </a:spcBef>
              <a:spcAft>
                <a:spcPct val="0"/>
              </a:spcAft>
              <a:buFontTx/>
              <a:buChar char="•"/>
              <a:tabLst>
                <a:tab pos="365125" algn="l"/>
              </a:tabLst>
            </a:pPr>
            <a:r>
              <a:rPr lang="en-US" altLang="zh-CN" sz="2200" b="1" dirty="0">
                <a:solidFill>
                  <a:srgbClr val="000000"/>
                </a:solidFill>
              </a:rPr>
              <a:t>Three kinds of runtime environments</a:t>
            </a:r>
            <a:endParaRPr lang="en-US" altLang="zh-CN" sz="2200" dirty="0">
              <a:solidFill>
                <a:srgbClr val="000000"/>
              </a:solidFill>
            </a:endParaRPr>
          </a:p>
          <a:p>
            <a:pPr marL="522288" lvl="1" indent="11113" defTabSz="914400" fontAlgn="base">
              <a:lnSpc>
                <a:spcPct val="100000"/>
              </a:lnSpc>
              <a:spcBef>
                <a:spcPct val="20000"/>
              </a:spcBef>
              <a:spcAft>
                <a:spcPct val="0"/>
              </a:spcAft>
              <a:buNone/>
              <a:tabLst>
                <a:tab pos="365125" algn="l"/>
              </a:tabLst>
            </a:pPr>
            <a:r>
              <a:rPr lang="en-US" altLang="zh-CN" sz="2200" dirty="0">
                <a:solidFill>
                  <a:srgbClr val="000000"/>
                </a:solidFill>
              </a:rPr>
              <a:t>(1) </a:t>
            </a:r>
            <a:r>
              <a:rPr lang="en-US" altLang="zh-CN" sz="2200" b="1" dirty="0">
                <a:solidFill>
                  <a:srgbClr val="000000"/>
                </a:solidFill>
              </a:rPr>
              <a:t>Fully static</a:t>
            </a:r>
            <a:r>
              <a:rPr lang="en-US" altLang="zh-CN" sz="2200" dirty="0">
                <a:solidFill>
                  <a:srgbClr val="000000"/>
                </a:solidFill>
              </a:rPr>
              <a:t> environment; FORTRAN77</a:t>
            </a:r>
          </a:p>
          <a:p>
            <a:pPr marL="522288" lvl="1" indent="11113" defTabSz="914400" fontAlgn="base">
              <a:lnSpc>
                <a:spcPct val="100000"/>
              </a:lnSpc>
              <a:spcBef>
                <a:spcPct val="20000"/>
              </a:spcBef>
              <a:spcAft>
                <a:spcPct val="0"/>
              </a:spcAft>
              <a:buNone/>
              <a:tabLst>
                <a:tab pos="365125" algn="l"/>
              </a:tabLst>
            </a:pPr>
            <a:r>
              <a:rPr lang="en-US" altLang="zh-CN" sz="2200" dirty="0">
                <a:solidFill>
                  <a:srgbClr val="000000"/>
                </a:solidFill>
              </a:rPr>
              <a:t>(2) </a:t>
            </a:r>
            <a:r>
              <a:rPr lang="en-US" altLang="zh-CN" sz="2200" b="1" dirty="0">
                <a:solidFill>
                  <a:srgbClr val="000000"/>
                </a:solidFill>
              </a:rPr>
              <a:t>Stack-Based</a:t>
            </a:r>
            <a:r>
              <a:rPr lang="en-US" altLang="zh-CN" sz="2200" dirty="0">
                <a:solidFill>
                  <a:srgbClr val="000000"/>
                </a:solidFill>
              </a:rPr>
              <a:t> environment;	C </a:t>
            </a:r>
            <a:r>
              <a:rPr lang="en-US" altLang="zh-CN" sz="2200" dirty="0" err="1">
                <a:solidFill>
                  <a:srgbClr val="000000"/>
                </a:solidFill>
              </a:rPr>
              <a:t>C</a:t>
            </a:r>
            <a:r>
              <a:rPr lang="en-US" altLang="zh-CN" sz="2200" dirty="0">
                <a:solidFill>
                  <a:srgbClr val="000000"/>
                </a:solidFill>
              </a:rPr>
              <a:t>++</a:t>
            </a:r>
          </a:p>
          <a:p>
            <a:pPr marL="522288" lvl="1" indent="11113" defTabSz="914400" fontAlgn="base">
              <a:lnSpc>
                <a:spcPct val="100000"/>
              </a:lnSpc>
              <a:spcBef>
                <a:spcPct val="20000"/>
              </a:spcBef>
              <a:spcAft>
                <a:spcPct val="0"/>
              </a:spcAft>
              <a:buNone/>
              <a:tabLst>
                <a:tab pos="365125" algn="l"/>
              </a:tabLst>
            </a:pPr>
            <a:r>
              <a:rPr lang="en-US" altLang="zh-CN" sz="2200" dirty="0">
                <a:solidFill>
                  <a:srgbClr val="000000"/>
                </a:solidFill>
              </a:rPr>
              <a:t>(3) </a:t>
            </a:r>
            <a:r>
              <a:rPr lang="en-US" altLang="zh-CN" sz="2200" b="1" dirty="0">
                <a:solidFill>
                  <a:srgbClr val="000000"/>
                </a:solidFill>
              </a:rPr>
              <a:t>Fully dynamic</a:t>
            </a:r>
            <a:r>
              <a:rPr lang="en-US" altLang="zh-CN" sz="2200" dirty="0">
                <a:solidFill>
                  <a:srgbClr val="000000"/>
                </a:solidFill>
              </a:rPr>
              <a:t> environment; LISP</a:t>
            </a:r>
            <a:endParaRPr lang="zh-CN" altLang="en-US" sz="2200" dirty="0">
              <a:solidFill>
                <a:srgbClr val="000000"/>
              </a:solidFill>
            </a:endParaRPr>
          </a:p>
          <a:p>
            <a:endParaRPr lang="zh-CN" altLang="en-US" dirty="0"/>
          </a:p>
        </p:txBody>
      </p:sp>
    </p:spTree>
    <p:extLst>
      <p:ext uri="{BB962C8B-B14F-4D97-AF65-F5344CB8AC3E}">
        <p14:creationId xmlns:p14="http://schemas.microsoft.com/office/powerpoint/2010/main" val="4695672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sp>
        <p:nvSpPr>
          <p:cNvPr id="3" name="内容占位符 2"/>
          <p:cNvSpPr>
            <a:spLocks noGrp="1"/>
          </p:cNvSpPr>
          <p:nvPr>
            <p:ph idx="1"/>
          </p:nvPr>
        </p:nvSpPr>
        <p:spPr/>
        <p:txBody>
          <a:bodyPr>
            <a:normAutofit fontScale="92500" lnSpcReduction="10000"/>
          </a:bodyPr>
          <a:lstStyle/>
          <a:p>
            <a:pPr marL="342900" lvl="0" indent="-342900" defTabSz="914400" fontAlgn="base">
              <a:lnSpc>
                <a:spcPct val="80000"/>
              </a:lnSpc>
              <a:spcBef>
                <a:spcPct val="20000"/>
              </a:spcBef>
              <a:spcAft>
                <a:spcPct val="0"/>
              </a:spcAft>
              <a:buFontTx/>
              <a:buChar char="•"/>
            </a:pPr>
            <a:r>
              <a:rPr lang="en-US" altLang="zh-CN" sz="2800" dirty="0">
                <a:solidFill>
                  <a:srgbClr val="000000"/>
                </a:solidFill>
                <a:latin typeface="Times New Roman"/>
                <a:ea typeface="宋体"/>
              </a:rPr>
              <a:t>Main issues will be discussed in more detail in the chapter: </a:t>
            </a:r>
          </a:p>
          <a:p>
            <a:pPr marL="742950" lvl="1" indent="-285750" defTabSz="914400" fontAlgn="base">
              <a:lnSpc>
                <a:spcPct val="80000"/>
              </a:lnSpc>
              <a:spcBef>
                <a:spcPct val="20000"/>
              </a:spcBef>
              <a:spcAft>
                <a:spcPct val="0"/>
              </a:spcAft>
              <a:buFontTx/>
              <a:buChar char="–"/>
            </a:pPr>
            <a:r>
              <a:rPr lang="en-US" altLang="zh-CN" sz="2400" dirty="0">
                <a:solidFill>
                  <a:srgbClr val="000000"/>
                </a:solidFill>
                <a:latin typeface="Times New Roman"/>
                <a:ea typeface="宋体"/>
              </a:rPr>
              <a:t>For each environment, the language features and their properties</a:t>
            </a:r>
          </a:p>
          <a:p>
            <a:pPr marL="742950" lvl="1" indent="-285750" defTabSz="914400" fontAlgn="base">
              <a:lnSpc>
                <a:spcPct val="80000"/>
              </a:lnSpc>
              <a:spcBef>
                <a:spcPct val="20000"/>
              </a:spcBef>
              <a:spcAft>
                <a:spcPct val="0"/>
              </a:spcAft>
              <a:buNone/>
            </a:pPr>
            <a:r>
              <a:rPr lang="en-US" altLang="zh-CN" sz="2400" dirty="0">
                <a:solidFill>
                  <a:srgbClr val="000000"/>
                </a:solidFill>
                <a:latin typeface="Times New Roman"/>
                <a:ea typeface="宋体"/>
              </a:rPr>
              <a:t>	(1) </a:t>
            </a:r>
            <a:r>
              <a:rPr lang="en-US" altLang="zh-CN" sz="2400" b="1" dirty="0">
                <a:solidFill>
                  <a:srgbClr val="000000"/>
                </a:solidFill>
                <a:latin typeface="Times New Roman"/>
                <a:ea typeface="宋体"/>
              </a:rPr>
              <a:t>Scoping and allocation</a:t>
            </a:r>
            <a:r>
              <a:rPr lang="en-US" altLang="zh-CN" sz="2400" dirty="0">
                <a:solidFill>
                  <a:srgbClr val="000000"/>
                </a:solidFill>
                <a:latin typeface="Times New Roman"/>
                <a:ea typeface="宋体"/>
              </a:rPr>
              <a:t> issues;</a:t>
            </a:r>
          </a:p>
          <a:p>
            <a:pPr marL="742950" lvl="1" indent="-285750" defTabSz="914400" fontAlgn="base">
              <a:lnSpc>
                <a:spcPct val="80000"/>
              </a:lnSpc>
              <a:spcBef>
                <a:spcPct val="20000"/>
              </a:spcBef>
              <a:spcAft>
                <a:spcPct val="0"/>
              </a:spcAft>
              <a:buNone/>
            </a:pPr>
            <a:r>
              <a:rPr lang="en-US" altLang="zh-CN" sz="2400" dirty="0">
                <a:solidFill>
                  <a:srgbClr val="000000"/>
                </a:solidFill>
                <a:latin typeface="Times New Roman"/>
                <a:ea typeface="宋体"/>
              </a:rPr>
              <a:t>	(2) Nature of </a:t>
            </a:r>
            <a:r>
              <a:rPr lang="en-US" altLang="zh-CN" sz="2400" b="1" dirty="0">
                <a:solidFill>
                  <a:srgbClr val="000000"/>
                </a:solidFill>
                <a:latin typeface="Times New Roman"/>
                <a:ea typeface="宋体"/>
              </a:rPr>
              <a:t>procedure calls</a:t>
            </a:r>
            <a:r>
              <a:rPr lang="en-US" altLang="zh-CN" sz="2400" dirty="0">
                <a:solidFill>
                  <a:srgbClr val="000000"/>
                </a:solidFill>
                <a:latin typeface="Times New Roman"/>
                <a:ea typeface="宋体"/>
              </a:rPr>
              <a:t>;</a:t>
            </a:r>
          </a:p>
          <a:p>
            <a:pPr marL="742950" lvl="1" indent="-285750" defTabSz="914400" fontAlgn="base">
              <a:lnSpc>
                <a:spcPct val="80000"/>
              </a:lnSpc>
              <a:spcBef>
                <a:spcPct val="20000"/>
              </a:spcBef>
              <a:spcAft>
                <a:spcPct val="0"/>
              </a:spcAft>
              <a:buNone/>
            </a:pPr>
            <a:r>
              <a:rPr lang="en-US" altLang="zh-CN" sz="2400" dirty="0">
                <a:solidFill>
                  <a:srgbClr val="000000"/>
                </a:solidFill>
                <a:latin typeface="Times New Roman"/>
                <a:ea typeface="宋体"/>
              </a:rPr>
              <a:t>	(3) </a:t>
            </a:r>
            <a:r>
              <a:rPr lang="en-US" altLang="zh-CN" sz="2400" b="1" dirty="0">
                <a:solidFill>
                  <a:srgbClr val="000000"/>
                </a:solidFill>
                <a:latin typeface="Times New Roman"/>
                <a:ea typeface="宋体"/>
              </a:rPr>
              <a:t>Parameter passing</a:t>
            </a:r>
            <a:r>
              <a:rPr lang="en-US" altLang="zh-CN" sz="2400" dirty="0">
                <a:solidFill>
                  <a:srgbClr val="000000"/>
                </a:solidFill>
                <a:latin typeface="Times New Roman"/>
                <a:ea typeface="宋体"/>
              </a:rPr>
              <a:t> mechanisms</a:t>
            </a:r>
          </a:p>
          <a:p>
            <a:pPr marL="342900" lvl="0" indent="-342900" defTabSz="914400" fontAlgn="base">
              <a:lnSpc>
                <a:spcPct val="80000"/>
              </a:lnSpc>
              <a:spcBef>
                <a:spcPct val="20000"/>
              </a:spcBef>
              <a:spcAft>
                <a:spcPct val="0"/>
              </a:spcAft>
              <a:buFontTx/>
              <a:buChar char="•"/>
            </a:pPr>
            <a:r>
              <a:rPr lang="en-US" altLang="zh-CN" sz="2800" dirty="0">
                <a:solidFill>
                  <a:srgbClr val="000000"/>
                </a:solidFill>
                <a:latin typeface="Times New Roman"/>
                <a:ea typeface="宋体"/>
              </a:rPr>
              <a:t>Focus on the general structure of the environment</a:t>
            </a:r>
          </a:p>
          <a:p>
            <a:pPr marL="342900" lvl="0" indent="-342900" defTabSz="914400" fontAlgn="base">
              <a:lnSpc>
                <a:spcPct val="80000"/>
              </a:lnSpc>
              <a:spcBef>
                <a:spcPct val="20000"/>
              </a:spcBef>
              <a:spcAft>
                <a:spcPct val="0"/>
              </a:spcAft>
              <a:buFontTx/>
              <a:buChar char="•"/>
            </a:pPr>
            <a:endParaRPr lang="en-US" altLang="zh-CN" sz="2800" b="1" dirty="0">
              <a:solidFill>
                <a:srgbClr val="000000"/>
              </a:solidFill>
              <a:latin typeface="Times New Roman"/>
              <a:ea typeface="宋体"/>
            </a:endParaRPr>
          </a:p>
          <a:p>
            <a:pPr marL="342900" lvl="0" indent="-342900" defTabSz="914400" fontAlgn="base">
              <a:lnSpc>
                <a:spcPct val="80000"/>
              </a:lnSpc>
              <a:spcBef>
                <a:spcPct val="20000"/>
              </a:spcBef>
              <a:spcAft>
                <a:spcPct val="0"/>
              </a:spcAft>
              <a:buFontTx/>
              <a:buChar char="•"/>
            </a:pPr>
            <a:r>
              <a:rPr lang="en-US" altLang="zh-CN" sz="2800" b="1" dirty="0">
                <a:solidFill>
                  <a:srgbClr val="000000"/>
                </a:solidFill>
                <a:latin typeface="Times New Roman"/>
                <a:ea typeface="宋体"/>
              </a:rPr>
              <a:t>Note:</a:t>
            </a:r>
            <a:r>
              <a:rPr lang="en-US" altLang="zh-CN" sz="2800" dirty="0">
                <a:solidFill>
                  <a:srgbClr val="000000"/>
                </a:solidFill>
                <a:latin typeface="Times New Roman"/>
                <a:ea typeface="宋体"/>
              </a:rPr>
              <a:t> </a:t>
            </a:r>
          </a:p>
          <a:p>
            <a:pPr marL="742950" lvl="1" indent="-285750" defTabSz="914400" fontAlgn="base">
              <a:lnSpc>
                <a:spcPct val="80000"/>
              </a:lnSpc>
              <a:spcBef>
                <a:spcPct val="20000"/>
              </a:spcBef>
              <a:spcAft>
                <a:spcPct val="0"/>
              </a:spcAft>
              <a:buFontTx/>
              <a:buChar char="–"/>
            </a:pPr>
            <a:r>
              <a:rPr lang="en-US" altLang="zh-CN" sz="2400" dirty="0">
                <a:solidFill>
                  <a:srgbClr val="000000"/>
                </a:solidFill>
                <a:latin typeface="Times New Roman"/>
                <a:ea typeface="宋体"/>
              </a:rPr>
              <a:t>The compiler can only maintain an environment only indirectly</a:t>
            </a:r>
          </a:p>
          <a:p>
            <a:pPr marL="742950" lvl="1" indent="-285750" defTabSz="914400" fontAlgn="base">
              <a:lnSpc>
                <a:spcPct val="80000"/>
              </a:lnSpc>
              <a:spcBef>
                <a:spcPct val="20000"/>
              </a:spcBef>
              <a:spcAft>
                <a:spcPct val="0"/>
              </a:spcAft>
              <a:buFontTx/>
              <a:buChar char="–"/>
            </a:pPr>
            <a:r>
              <a:rPr lang="en-US" altLang="zh-CN" sz="2400" dirty="0">
                <a:solidFill>
                  <a:srgbClr val="000000"/>
                </a:solidFill>
                <a:latin typeface="Times New Roman"/>
                <a:ea typeface="宋体"/>
              </a:rPr>
              <a:t>It must generate code to perform the necessary maintenance operations during program execution.</a:t>
            </a:r>
            <a:endParaRPr lang="zh-CN" altLang="en-US" sz="2400" dirty="0">
              <a:solidFill>
                <a:srgbClr val="000000"/>
              </a:solidFill>
              <a:latin typeface="Times New Roman"/>
              <a:ea typeface="宋体"/>
            </a:endParaRPr>
          </a:p>
          <a:p>
            <a:endParaRPr lang="zh-CN" altLang="en-US" dirty="0"/>
          </a:p>
        </p:txBody>
      </p:sp>
    </p:spTree>
    <p:extLst>
      <p:ext uri="{BB962C8B-B14F-4D97-AF65-F5344CB8AC3E}">
        <p14:creationId xmlns:p14="http://schemas.microsoft.com/office/powerpoint/2010/main" val="21999817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pic>
        <p:nvPicPr>
          <p:cNvPr id="4" name="图片 3"/>
          <p:cNvPicPr>
            <a:picLocks noChangeAspect="1"/>
          </p:cNvPicPr>
          <p:nvPr/>
        </p:nvPicPr>
        <p:blipFill>
          <a:blip r:embed="rId2"/>
          <a:stretch>
            <a:fillRect/>
          </a:stretch>
        </p:blipFill>
        <p:spPr>
          <a:xfrm>
            <a:off x="883831" y="1732752"/>
            <a:ext cx="7514364" cy="4351853"/>
          </a:xfrm>
          <a:prstGeom prst="rect">
            <a:avLst/>
          </a:prstGeom>
        </p:spPr>
      </p:pic>
    </p:spTree>
    <p:extLst>
      <p:ext uri="{BB962C8B-B14F-4D97-AF65-F5344CB8AC3E}">
        <p14:creationId xmlns:p14="http://schemas.microsoft.com/office/powerpoint/2010/main" val="17967012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sp>
        <p:nvSpPr>
          <p:cNvPr id="4" name="矩形 3"/>
          <p:cNvSpPr/>
          <p:nvPr/>
        </p:nvSpPr>
        <p:spPr>
          <a:xfrm>
            <a:off x="299102" y="1386139"/>
            <a:ext cx="8691073" cy="5312223"/>
          </a:xfrm>
          <a:prstGeom prst="rect">
            <a:avLst/>
          </a:prstGeom>
        </p:spPr>
        <p:txBody>
          <a:bodyPr wrap="square">
            <a:spAutoFit/>
          </a:bodyPr>
          <a:lstStyle/>
          <a:p>
            <a:pPr marL="342900" lvl="0" indent="-342900" fontAlgn="base">
              <a:lnSpc>
                <a:spcPct val="90000"/>
              </a:lnSpc>
              <a:spcBef>
                <a:spcPct val="20000"/>
              </a:spcBef>
              <a:spcAft>
                <a:spcPct val="0"/>
              </a:spcAft>
              <a:buFontTx/>
              <a:buChar char="•"/>
            </a:pPr>
            <a:r>
              <a:rPr lang="en-US" altLang="zh-CN" sz="2800" dirty="0">
                <a:solidFill>
                  <a:srgbClr val="000000"/>
                </a:solidFill>
                <a:latin typeface="Times New Roman"/>
                <a:ea typeface="宋体"/>
              </a:rPr>
              <a:t>The global and/or static data of a program can be </a:t>
            </a:r>
            <a:r>
              <a:rPr lang="en-US" altLang="zh-CN" sz="2800" b="1" dirty="0">
                <a:solidFill>
                  <a:srgbClr val="000000"/>
                </a:solidFill>
                <a:latin typeface="Times New Roman"/>
                <a:ea typeface="宋体"/>
              </a:rPr>
              <a:t>fixed in memory prior to execution</a:t>
            </a:r>
            <a:endParaRPr lang="en-US" altLang="zh-CN" sz="2800" dirty="0">
              <a:solidFill>
                <a:srgbClr val="000000"/>
              </a:solidFill>
              <a:latin typeface="Times New Roman"/>
              <a:ea typeface="宋体"/>
            </a:endParaRPr>
          </a:p>
          <a:p>
            <a:pPr marL="742950" lvl="1" indent="-285750" fontAlgn="base">
              <a:lnSpc>
                <a:spcPct val="90000"/>
              </a:lnSpc>
              <a:spcBef>
                <a:spcPct val="20000"/>
              </a:spcBef>
              <a:spcAft>
                <a:spcPct val="0"/>
              </a:spcAft>
              <a:buFontTx/>
              <a:buChar char="–"/>
            </a:pPr>
            <a:r>
              <a:rPr lang="en-US" altLang="zh-CN" sz="2400" dirty="0">
                <a:solidFill>
                  <a:srgbClr val="000000"/>
                </a:solidFill>
                <a:latin typeface="Times New Roman"/>
                <a:ea typeface="宋体"/>
              </a:rPr>
              <a:t>Data are allocated separately in a fixed area in a similar fashion to the code</a:t>
            </a:r>
          </a:p>
          <a:p>
            <a:pPr marL="1143000" lvl="2" indent="-228600" fontAlgn="base">
              <a:lnSpc>
                <a:spcPct val="90000"/>
              </a:lnSpc>
              <a:spcBef>
                <a:spcPct val="20000"/>
              </a:spcBef>
              <a:spcAft>
                <a:spcPct val="0"/>
              </a:spcAft>
              <a:buFontTx/>
              <a:buChar char="•"/>
            </a:pPr>
            <a:r>
              <a:rPr lang="en-US" altLang="zh-CN" sz="2000" dirty="0">
                <a:solidFill>
                  <a:srgbClr val="000000"/>
                </a:solidFill>
                <a:latin typeface="Times New Roman"/>
                <a:ea typeface="宋体"/>
              </a:rPr>
              <a:t>In Fortran77, all data are in this class;</a:t>
            </a:r>
          </a:p>
          <a:p>
            <a:pPr marL="1143000" lvl="2" indent="-228600" fontAlgn="base">
              <a:lnSpc>
                <a:spcPct val="90000"/>
              </a:lnSpc>
              <a:spcBef>
                <a:spcPct val="20000"/>
              </a:spcBef>
              <a:spcAft>
                <a:spcPct val="0"/>
              </a:spcAft>
              <a:buFontTx/>
              <a:buChar char="•"/>
            </a:pPr>
            <a:r>
              <a:rPr lang="en-US" altLang="zh-CN" sz="2000" dirty="0">
                <a:solidFill>
                  <a:srgbClr val="000000"/>
                </a:solidFill>
                <a:latin typeface="Times New Roman"/>
                <a:ea typeface="宋体"/>
              </a:rPr>
              <a:t>In Pascal, global variables are in this class;</a:t>
            </a:r>
          </a:p>
          <a:p>
            <a:pPr marL="1143000" lvl="2" indent="-228600" fontAlgn="base">
              <a:lnSpc>
                <a:spcPct val="90000"/>
              </a:lnSpc>
              <a:spcBef>
                <a:spcPct val="20000"/>
              </a:spcBef>
              <a:spcAft>
                <a:spcPct val="0"/>
              </a:spcAft>
              <a:buFontTx/>
              <a:buChar char="•"/>
            </a:pPr>
            <a:r>
              <a:rPr lang="en-US" altLang="zh-CN" sz="2000" dirty="0">
                <a:solidFill>
                  <a:srgbClr val="000000"/>
                </a:solidFill>
                <a:latin typeface="Times New Roman"/>
                <a:ea typeface="宋体"/>
              </a:rPr>
              <a:t>In C, the external and static variables are in this class</a:t>
            </a:r>
          </a:p>
          <a:p>
            <a:pPr marL="1143000" lvl="2" indent="-228600" fontAlgn="base">
              <a:lnSpc>
                <a:spcPct val="90000"/>
              </a:lnSpc>
              <a:spcBef>
                <a:spcPct val="20000"/>
              </a:spcBef>
              <a:spcAft>
                <a:spcPct val="0"/>
              </a:spcAft>
              <a:buFontTx/>
              <a:buChar char="•"/>
            </a:pPr>
            <a:endParaRPr lang="en-US" altLang="zh-CN" sz="2000" dirty="0">
              <a:solidFill>
                <a:srgbClr val="000000"/>
              </a:solidFill>
              <a:latin typeface="Times New Roman"/>
              <a:ea typeface="宋体"/>
            </a:endParaRPr>
          </a:p>
          <a:p>
            <a:pPr marL="342900" lvl="0" indent="-342900" fontAlgn="base">
              <a:lnSpc>
                <a:spcPct val="90000"/>
              </a:lnSpc>
              <a:spcBef>
                <a:spcPct val="20000"/>
              </a:spcBef>
              <a:spcAft>
                <a:spcPct val="0"/>
              </a:spcAft>
              <a:buFontTx/>
              <a:buChar char="•"/>
            </a:pPr>
            <a:r>
              <a:rPr lang="en-US" altLang="zh-CN" sz="2800" dirty="0">
                <a:solidFill>
                  <a:srgbClr val="000000"/>
                </a:solidFill>
                <a:latin typeface="Times New Roman"/>
                <a:ea typeface="宋体"/>
              </a:rPr>
              <a:t>The </a:t>
            </a:r>
            <a:r>
              <a:rPr lang="en-US" altLang="zh-CN" sz="2800" b="1" dirty="0">
                <a:solidFill>
                  <a:srgbClr val="000000"/>
                </a:solidFill>
                <a:latin typeface="Times New Roman"/>
                <a:ea typeface="宋体"/>
              </a:rPr>
              <a:t>constants</a:t>
            </a:r>
            <a:r>
              <a:rPr lang="en-US" altLang="zh-CN" sz="2800" dirty="0">
                <a:solidFill>
                  <a:srgbClr val="000000"/>
                </a:solidFill>
                <a:latin typeface="Times New Roman"/>
                <a:ea typeface="宋体"/>
              </a:rPr>
              <a:t> are usually allocated memory </a:t>
            </a:r>
            <a:r>
              <a:rPr lang="en-US" altLang="zh-CN" sz="2800" b="1" dirty="0">
                <a:solidFill>
                  <a:srgbClr val="000000"/>
                </a:solidFill>
                <a:latin typeface="Times New Roman"/>
                <a:ea typeface="宋体"/>
              </a:rPr>
              <a:t>in the global/static area</a:t>
            </a:r>
          </a:p>
          <a:p>
            <a:pPr marL="742950" lvl="1" indent="-285750" fontAlgn="base">
              <a:lnSpc>
                <a:spcPct val="90000"/>
              </a:lnSpc>
              <a:spcBef>
                <a:spcPct val="20000"/>
              </a:spcBef>
              <a:spcAft>
                <a:spcPct val="0"/>
              </a:spcAft>
              <a:buFontTx/>
              <a:buChar char="–"/>
            </a:pPr>
            <a:r>
              <a:rPr lang="en-US" altLang="zh-CN" sz="2400" dirty="0" err="1">
                <a:solidFill>
                  <a:srgbClr val="000000"/>
                </a:solidFill>
                <a:latin typeface="Times New Roman"/>
                <a:ea typeface="宋体"/>
              </a:rPr>
              <a:t>Const</a:t>
            </a:r>
            <a:r>
              <a:rPr lang="en-US" altLang="zh-CN" sz="2400" dirty="0">
                <a:solidFill>
                  <a:srgbClr val="000000"/>
                </a:solidFill>
                <a:latin typeface="Times New Roman"/>
                <a:ea typeface="宋体"/>
              </a:rPr>
              <a:t> declarations of C and Pascal;</a:t>
            </a:r>
          </a:p>
          <a:p>
            <a:pPr marL="742950" lvl="1" indent="-285750" fontAlgn="base">
              <a:lnSpc>
                <a:spcPct val="90000"/>
              </a:lnSpc>
              <a:spcBef>
                <a:spcPct val="20000"/>
              </a:spcBef>
              <a:spcAft>
                <a:spcPct val="0"/>
              </a:spcAft>
              <a:buFontTx/>
              <a:buChar char="–"/>
            </a:pPr>
            <a:r>
              <a:rPr lang="en-US" altLang="zh-CN" sz="2400" dirty="0">
                <a:solidFill>
                  <a:srgbClr val="000000"/>
                </a:solidFill>
                <a:latin typeface="Times New Roman"/>
                <a:ea typeface="宋体"/>
              </a:rPr>
              <a:t>Literal values used in the code, </a:t>
            </a:r>
          </a:p>
          <a:p>
            <a:pPr marL="1143000" lvl="2" indent="-228600" fontAlgn="base">
              <a:lnSpc>
                <a:spcPct val="90000"/>
              </a:lnSpc>
              <a:spcBef>
                <a:spcPct val="20000"/>
              </a:spcBef>
              <a:spcAft>
                <a:spcPct val="0"/>
              </a:spcAft>
              <a:buFontTx/>
              <a:buChar char="•"/>
            </a:pPr>
            <a:r>
              <a:rPr lang="en-US" altLang="zh-CN" sz="2000" dirty="0">
                <a:solidFill>
                  <a:srgbClr val="000000"/>
                </a:solidFill>
                <a:latin typeface="Times New Roman"/>
                <a:ea typeface="宋体"/>
              </a:rPr>
              <a:t>such as </a:t>
            </a:r>
            <a:r>
              <a:rPr lang="en-US" altLang="zh-CN" sz="2000" dirty="0">
                <a:solidFill>
                  <a:srgbClr val="000000"/>
                </a:solidFill>
                <a:latin typeface="Arial" panose="020B0604020202020204" pitchFamily="34" charset="0"/>
                <a:ea typeface="宋体"/>
              </a:rPr>
              <a:t>“</a:t>
            </a:r>
            <a:r>
              <a:rPr lang="en-US" altLang="zh-CN" sz="2000" dirty="0" err="1">
                <a:solidFill>
                  <a:srgbClr val="000000"/>
                </a:solidFill>
                <a:latin typeface="Times New Roman"/>
                <a:ea typeface="宋体"/>
              </a:rPr>
              <a:t>Hello%D</a:t>
            </a:r>
            <a:r>
              <a:rPr lang="en-US" altLang="zh-CN" sz="2000" dirty="0">
                <a:solidFill>
                  <a:srgbClr val="000000"/>
                </a:solidFill>
                <a:latin typeface="Times New Roman"/>
                <a:ea typeface="宋体"/>
              </a:rPr>
              <a:t>\n</a:t>
            </a:r>
            <a:r>
              <a:rPr lang="en-US" altLang="zh-CN" sz="2000" dirty="0">
                <a:solidFill>
                  <a:srgbClr val="000000"/>
                </a:solidFill>
                <a:latin typeface="Arial" panose="020B0604020202020204" pitchFamily="34" charset="0"/>
                <a:ea typeface="宋体"/>
              </a:rPr>
              <a:t>”</a:t>
            </a:r>
            <a:r>
              <a:rPr lang="en-US" altLang="zh-CN" sz="2000" dirty="0">
                <a:solidFill>
                  <a:srgbClr val="000000"/>
                </a:solidFill>
                <a:latin typeface="Times New Roman"/>
                <a:ea typeface="宋体"/>
              </a:rPr>
              <a:t> and integer value 12345:</a:t>
            </a:r>
          </a:p>
          <a:p>
            <a:pPr marL="1143000" lvl="2" indent="-228600" fontAlgn="base">
              <a:lnSpc>
                <a:spcPct val="90000"/>
              </a:lnSpc>
              <a:spcBef>
                <a:spcPct val="20000"/>
              </a:spcBef>
              <a:spcAft>
                <a:spcPct val="0"/>
              </a:spcAft>
              <a:buFontTx/>
              <a:buChar char="•"/>
            </a:pPr>
            <a:r>
              <a:rPr lang="en-US" altLang="zh-CN" sz="2000" dirty="0" err="1">
                <a:solidFill>
                  <a:srgbClr val="000000"/>
                </a:solidFill>
                <a:latin typeface="Times New Roman"/>
                <a:ea typeface="宋体"/>
              </a:rPr>
              <a:t>Printf</a:t>
            </a:r>
            <a:r>
              <a:rPr lang="en-US" altLang="zh-CN" sz="2000" dirty="0">
                <a:solidFill>
                  <a:srgbClr val="000000"/>
                </a:solidFill>
                <a:latin typeface="Times New Roman"/>
                <a:ea typeface="宋体"/>
              </a:rPr>
              <a:t>(</a:t>
            </a:r>
            <a:r>
              <a:rPr lang="en-US" altLang="zh-CN" sz="2000" dirty="0">
                <a:solidFill>
                  <a:srgbClr val="000000"/>
                </a:solidFill>
                <a:latin typeface="Arial" panose="020B0604020202020204" pitchFamily="34" charset="0"/>
                <a:ea typeface="宋体"/>
              </a:rPr>
              <a:t>“</a:t>
            </a:r>
            <a:r>
              <a:rPr lang="en-US" altLang="zh-CN" sz="2000" dirty="0">
                <a:solidFill>
                  <a:srgbClr val="000000"/>
                </a:solidFill>
                <a:latin typeface="Times New Roman"/>
                <a:ea typeface="宋体"/>
              </a:rPr>
              <a:t>Hello %d\n</a:t>
            </a:r>
            <a:r>
              <a:rPr lang="en-US" altLang="zh-CN" sz="2000" dirty="0">
                <a:solidFill>
                  <a:srgbClr val="000000"/>
                </a:solidFill>
                <a:latin typeface="Arial" panose="020B0604020202020204" pitchFamily="34" charset="0"/>
                <a:ea typeface="宋体"/>
              </a:rPr>
              <a:t>”</a:t>
            </a:r>
            <a:r>
              <a:rPr lang="en-US" altLang="zh-CN" sz="2000" dirty="0">
                <a:solidFill>
                  <a:srgbClr val="000000"/>
                </a:solidFill>
                <a:latin typeface="Times New Roman"/>
                <a:ea typeface="宋体"/>
              </a:rPr>
              <a:t>,12345);</a:t>
            </a:r>
            <a:endParaRPr lang="zh-CN" altLang="en-US" sz="2000" dirty="0">
              <a:solidFill>
                <a:srgbClr val="000000"/>
              </a:solidFill>
              <a:latin typeface="Times New Roman"/>
              <a:ea typeface="宋体"/>
            </a:endParaRPr>
          </a:p>
        </p:txBody>
      </p:sp>
    </p:spTree>
    <p:extLst>
      <p:ext uri="{BB962C8B-B14F-4D97-AF65-F5344CB8AC3E}">
        <p14:creationId xmlns:p14="http://schemas.microsoft.com/office/powerpoint/2010/main" val="26390717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sp>
        <p:nvSpPr>
          <p:cNvPr id="4" name="Rectangle 3"/>
          <p:cNvSpPr txBox="1">
            <a:spLocks noChangeArrowheads="1"/>
          </p:cNvSpPr>
          <p:nvPr/>
        </p:nvSpPr>
        <p:spPr bwMode="auto">
          <a:xfrm>
            <a:off x="617434" y="1491568"/>
            <a:ext cx="7772400" cy="50630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dirty="0">
                <a:ln>
                  <a:noFill/>
                </a:ln>
                <a:solidFill>
                  <a:srgbClr val="000000"/>
                </a:solidFill>
                <a:effectLst/>
                <a:uLnTx/>
                <a:uFillTx/>
                <a:latin typeface="Times New Roman"/>
                <a:ea typeface="宋体"/>
                <a:cs typeface="+mn-cs"/>
              </a:rPr>
              <a:t>The memory area used for </a:t>
            </a:r>
            <a:r>
              <a:rPr kumimoji="0" lang="en-US" altLang="zh-CN" sz="2800" b="1" i="0" u="none" strike="noStrike" kern="1200" cap="none" spc="0" normalizeH="0" baseline="0" noProof="0" dirty="0">
                <a:ln>
                  <a:noFill/>
                </a:ln>
                <a:solidFill>
                  <a:srgbClr val="000000"/>
                </a:solidFill>
                <a:effectLst/>
                <a:uLnTx/>
                <a:uFillTx/>
                <a:latin typeface="Times New Roman"/>
                <a:ea typeface="宋体"/>
                <a:cs typeface="+mn-cs"/>
              </a:rPr>
              <a:t>dynamic data</a:t>
            </a:r>
            <a:r>
              <a:rPr kumimoji="0" lang="en-US" altLang="zh-CN" sz="2800" b="0" i="0" u="none" strike="noStrike" kern="1200" cap="none" spc="0" normalizeH="0" baseline="0" noProof="0" dirty="0">
                <a:ln>
                  <a:noFill/>
                </a:ln>
                <a:solidFill>
                  <a:srgbClr val="000000"/>
                </a:solidFill>
                <a:effectLst/>
                <a:uLnTx/>
                <a:uFillTx/>
                <a:latin typeface="Times New Roman"/>
                <a:ea typeface="宋体"/>
                <a:cs typeface="+mn-cs"/>
              </a:rPr>
              <a:t> can be organized in many different ways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dirty="0">
                <a:ln>
                  <a:noFill/>
                </a:ln>
                <a:solidFill>
                  <a:srgbClr val="000000"/>
                </a:solidFill>
                <a:effectLst/>
                <a:uLnTx/>
                <a:uFillTx/>
                <a:latin typeface="Times New Roman"/>
                <a:ea typeface="宋体"/>
                <a:cs typeface="+mn-cs"/>
              </a:rPr>
              <a:t>Typically, this memory can be divided into a stack area and a heap area;</a:t>
            </a:r>
          </a:p>
          <a:p>
            <a:pPr marL="1143000" marR="0" lvl="2" indent="-228600" algn="l" defTabSz="914400" rtl="0" eaLnBrk="1" fontAlgn="base" latinLnBrk="0" hangingPunct="1">
              <a:lnSpc>
                <a:spcPct val="80000"/>
              </a:lnSpc>
              <a:spcBef>
                <a:spcPct val="20000"/>
              </a:spcBef>
              <a:spcAft>
                <a:spcPct val="0"/>
              </a:spcAft>
              <a:buClrTx/>
              <a:buSzTx/>
              <a:buFontTx/>
              <a:buChar char="•"/>
              <a:tabLst/>
              <a:defRPr/>
            </a:pPr>
            <a:r>
              <a:rPr kumimoji="0" lang="en-US" altLang="zh-CN" sz="2000" b="1" i="0" u="none" strike="noStrike" kern="1200" cap="none" spc="0" normalizeH="0" baseline="0" noProof="0" dirty="0">
                <a:ln>
                  <a:noFill/>
                </a:ln>
                <a:solidFill>
                  <a:srgbClr val="000000"/>
                </a:solidFill>
                <a:effectLst/>
                <a:uLnTx/>
                <a:uFillTx/>
                <a:latin typeface="Times New Roman"/>
                <a:ea typeface="宋体"/>
                <a:cs typeface="+mn-cs"/>
              </a:rPr>
              <a:t>A stack area</a:t>
            </a:r>
            <a:r>
              <a:rPr kumimoji="0" lang="en-US" altLang="zh-CN" sz="2000" b="0" i="0" u="none" strike="noStrike" kern="1200" cap="none" spc="0" normalizeH="0" baseline="0" noProof="0" dirty="0">
                <a:ln>
                  <a:noFill/>
                </a:ln>
                <a:solidFill>
                  <a:srgbClr val="000000"/>
                </a:solidFill>
                <a:effectLst/>
                <a:uLnTx/>
                <a:uFillTx/>
                <a:latin typeface="Times New Roman"/>
                <a:ea typeface="宋体"/>
                <a:cs typeface="+mn-cs"/>
              </a:rPr>
              <a:t> used for data whose allocation occurs in FIFO fashion;</a:t>
            </a:r>
          </a:p>
          <a:p>
            <a:pPr marL="1143000" marR="0" lvl="2" indent="-228600" algn="l" defTabSz="914400" rtl="0" eaLnBrk="1" fontAlgn="base" latinLnBrk="0" hangingPunct="1">
              <a:lnSpc>
                <a:spcPct val="80000"/>
              </a:lnSpc>
              <a:spcBef>
                <a:spcPct val="20000"/>
              </a:spcBef>
              <a:spcAft>
                <a:spcPct val="0"/>
              </a:spcAft>
              <a:buClrTx/>
              <a:buSzTx/>
              <a:buFontTx/>
              <a:buChar char="•"/>
              <a:tabLst/>
              <a:defRPr/>
            </a:pPr>
            <a:r>
              <a:rPr kumimoji="0" lang="en-US" altLang="zh-CN" sz="2000" b="1" i="0" u="none" strike="noStrike" kern="1200" cap="none" spc="0" normalizeH="0" baseline="0" noProof="0" dirty="0">
                <a:ln>
                  <a:noFill/>
                </a:ln>
                <a:solidFill>
                  <a:srgbClr val="000000"/>
                </a:solidFill>
                <a:effectLst/>
                <a:uLnTx/>
                <a:uFillTx/>
                <a:latin typeface="Times New Roman"/>
                <a:ea typeface="宋体"/>
                <a:cs typeface="+mn-cs"/>
              </a:rPr>
              <a:t>A heap area</a:t>
            </a:r>
            <a:r>
              <a:rPr kumimoji="0" lang="en-US" altLang="zh-CN" sz="2000" b="0" i="0" u="none" strike="noStrike" kern="1200" cap="none" spc="0" normalizeH="0" baseline="0" noProof="0" dirty="0">
                <a:ln>
                  <a:noFill/>
                </a:ln>
                <a:solidFill>
                  <a:srgbClr val="000000"/>
                </a:solidFill>
                <a:effectLst/>
                <a:uLnTx/>
                <a:uFillTx/>
                <a:latin typeface="Times New Roman"/>
                <a:ea typeface="宋体"/>
                <a:cs typeface="+mn-cs"/>
              </a:rPr>
              <a:t> used for dynamic allocation occurs not in FIFO fashion.</a:t>
            </a:r>
          </a:p>
          <a:p>
            <a:pPr marL="1143000" marR="0" lvl="2" indent="-228600" algn="l" defTabSz="914400" rtl="0" eaLnBrk="1" fontAlgn="base" latinLnBrk="0" hangingPunct="1">
              <a:lnSpc>
                <a:spcPct val="80000"/>
              </a:lnSpc>
              <a:spcBef>
                <a:spcPct val="20000"/>
              </a:spcBef>
              <a:spcAft>
                <a:spcPct val="0"/>
              </a:spcAft>
              <a:buClrTx/>
              <a:buSzTx/>
              <a:buFontTx/>
              <a:buChar char="•"/>
              <a:tabLst/>
              <a:defRPr/>
            </a:pPr>
            <a:endParaRPr kumimoji="0" lang="en-US" altLang="zh-CN" sz="2000" b="0" i="0" u="none" strike="noStrike" kern="1200" cap="none" spc="0" normalizeH="0" baseline="0" noProof="0" dirty="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dirty="0">
                <a:ln>
                  <a:noFill/>
                </a:ln>
                <a:solidFill>
                  <a:srgbClr val="000000"/>
                </a:solidFill>
                <a:effectLst/>
                <a:uLnTx/>
                <a:uFillTx/>
                <a:latin typeface="Times New Roman"/>
                <a:ea typeface="宋体"/>
                <a:cs typeface="+mn-cs"/>
              </a:rPr>
              <a:t>Generally, the architecture of the target machine includes a processor stack for procedure calls and returns.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dirty="0">
                <a:ln>
                  <a:noFill/>
                </a:ln>
                <a:solidFill>
                  <a:srgbClr val="000000"/>
                </a:solidFill>
                <a:effectLst/>
                <a:uLnTx/>
                <a:uFillTx/>
                <a:latin typeface="Times New Roman"/>
                <a:ea typeface="宋体"/>
                <a:cs typeface="+mn-cs"/>
              </a:rPr>
              <a:t>Sometimes, a compiler will have to arrange for the </a:t>
            </a:r>
            <a:r>
              <a:rPr kumimoji="0" lang="en-US" altLang="zh-CN" sz="2400" b="1" i="0" u="none" strike="noStrike" kern="1200" cap="none" spc="0" normalizeH="0" baseline="0" noProof="0" dirty="0">
                <a:ln>
                  <a:noFill/>
                </a:ln>
                <a:solidFill>
                  <a:srgbClr val="000000"/>
                </a:solidFill>
                <a:effectLst/>
                <a:uLnTx/>
                <a:uFillTx/>
                <a:latin typeface="Times New Roman"/>
                <a:ea typeface="宋体"/>
                <a:cs typeface="+mn-cs"/>
              </a:rPr>
              <a:t>explicit allocation of the processor stack</a:t>
            </a:r>
            <a:r>
              <a:rPr kumimoji="0" lang="en-US" altLang="zh-CN" sz="2400" b="0" i="0" u="none" strike="noStrike" kern="1200" cap="none" spc="0" normalizeH="0" baseline="0" noProof="0" dirty="0">
                <a:ln>
                  <a:noFill/>
                </a:ln>
                <a:solidFill>
                  <a:srgbClr val="000000"/>
                </a:solidFill>
                <a:effectLst/>
                <a:uLnTx/>
                <a:uFillTx/>
                <a:latin typeface="Times New Roman"/>
                <a:ea typeface="宋体"/>
                <a:cs typeface="+mn-cs"/>
              </a:rPr>
              <a:t> in an appropriate place in memory.</a:t>
            </a:r>
            <a:endParaRPr kumimoji="0" lang="zh-CN" altLang="en-US" sz="2400" b="0" i="0" u="none" strike="noStrike" kern="1200" cap="none" spc="0" normalizeH="0" baseline="0" noProof="0" dirty="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306697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8.2 Storage Organization</a:t>
            </a:r>
            <a:endParaRPr lang="zh-CN" altLang="en-US" dirty="0"/>
          </a:p>
        </p:txBody>
      </p:sp>
      <p:pic>
        <p:nvPicPr>
          <p:cNvPr id="4" name="图片 3"/>
          <p:cNvPicPr>
            <a:picLocks noChangeAspect="1"/>
          </p:cNvPicPr>
          <p:nvPr/>
        </p:nvPicPr>
        <p:blipFill>
          <a:blip r:embed="rId2"/>
          <a:stretch>
            <a:fillRect/>
          </a:stretch>
        </p:blipFill>
        <p:spPr>
          <a:xfrm>
            <a:off x="558038" y="1538613"/>
            <a:ext cx="8181747" cy="5216465"/>
          </a:xfrm>
          <a:prstGeom prst="rect">
            <a:avLst/>
          </a:prstGeom>
        </p:spPr>
      </p:pic>
    </p:spTree>
    <p:extLst>
      <p:ext uri="{BB962C8B-B14F-4D97-AF65-F5344CB8AC3E}">
        <p14:creationId xmlns:p14="http://schemas.microsoft.com/office/powerpoint/2010/main" val="5226764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Space-Activation Trees</a:t>
            </a:r>
            <a:endParaRPr lang="zh-CN" altLang="en-US" dirty="0"/>
          </a:p>
        </p:txBody>
      </p:sp>
      <p:sp>
        <p:nvSpPr>
          <p:cNvPr id="5" name="内容占位符 2"/>
          <p:cNvSpPr>
            <a:spLocks noGrp="1"/>
          </p:cNvSpPr>
          <p:nvPr>
            <p:ph idx="1"/>
          </p:nvPr>
        </p:nvSpPr>
        <p:spPr>
          <a:xfrm>
            <a:off x="828675" y="1600200"/>
            <a:ext cx="7486650" cy="1587381"/>
          </a:xfrm>
        </p:spPr>
        <p:txBody>
          <a:bodyPr/>
          <a:lstStyle/>
          <a:p>
            <a:r>
              <a:rPr lang="en-US" altLang="zh-CN" dirty="0"/>
              <a:t>Almost all compilers for languages that use procedures, functions, or methods as units of user-defined actions manage at least part of their run-time memory as a stack. Each time a procedure1 is called, space for its local variables is pushed onto a stack, and when the procedure terminates, that space is popped off the stack.</a:t>
            </a:r>
          </a:p>
          <a:p>
            <a:r>
              <a:rPr lang="en-US" altLang="zh-CN" dirty="0"/>
              <a:t>The following example illustrates nesting of procedure calls.</a:t>
            </a:r>
            <a:endParaRPr lang="zh-CN" altLang="en-US" dirty="0"/>
          </a:p>
        </p:txBody>
      </p:sp>
      <p:pic>
        <p:nvPicPr>
          <p:cNvPr id="3" name="图片 2"/>
          <p:cNvPicPr>
            <a:picLocks noChangeAspect="1"/>
          </p:cNvPicPr>
          <p:nvPr/>
        </p:nvPicPr>
        <p:blipFill>
          <a:blip r:embed="rId2"/>
          <a:stretch>
            <a:fillRect/>
          </a:stretch>
        </p:blipFill>
        <p:spPr>
          <a:xfrm>
            <a:off x="966299" y="3199635"/>
            <a:ext cx="3306599" cy="3658365"/>
          </a:xfrm>
          <a:prstGeom prst="rect">
            <a:avLst/>
          </a:prstGeom>
        </p:spPr>
      </p:pic>
      <p:sp>
        <p:nvSpPr>
          <p:cNvPr id="6" name="右箭头 5"/>
          <p:cNvSpPr/>
          <p:nvPr/>
        </p:nvSpPr>
        <p:spPr>
          <a:xfrm>
            <a:off x="4366901" y="3837063"/>
            <a:ext cx="538386" cy="256374"/>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 name="图片 6"/>
          <p:cNvPicPr>
            <a:picLocks noChangeAspect="1"/>
          </p:cNvPicPr>
          <p:nvPr/>
        </p:nvPicPr>
        <p:blipFill>
          <a:blip r:embed="rId3"/>
          <a:stretch>
            <a:fillRect/>
          </a:stretch>
        </p:blipFill>
        <p:spPr>
          <a:xfrm>
            <a:off x="5107804" y="3202490"/>
            <a:ext cx="4036196" cy="2162175"/>
          </a:xfrm>
          <a:prstGeom prst="rect">
            <a:avLst/>
          </a:prstGeom>
        </p:spPr>
      </p:pic>
      <p:sp>
        <p:nvSpPr>
          <p:cNvPr id="8" name="矩形 7"/>
          <p:cNvSpPr/>
          <p:nvPr/>
        </p:nvSpPr>
        <p:spPr>
          <a:xfrm>
            <a:off x="4371174" y="5513694"/>
            <a:ext cx="4572000" cy="830997"/>
          </a:xfrm>
          <a:prstGeom prst="rect">
            <a:avLst/>
          </a:prstGeom>
        </p:spPr>
        <p:txBody>
          <a:bodyPr>
            <a:spAutoFit/>
          </a:bodyPr>
          <a:lstStyle/>
          <a:p>
            <a:pPr marL="228600" indent="-228600">
              <a:buAutoNum type="arabicPeriod"/>
            </a:pPr>
            <a:r>
              <a:rPr lang="en-US" altLang="zh-CN" sz="1200" dirty="0">
                <a:latin typeface="微软雅黑" panose="020B0503020204020204" pitchFamily="34" charset="-122"/>
                <a:ea typeface="微软雅黑" panose="020B0503020204020204" pitchFamily="34" charset="-122"/>
              </a:rPr>
              <a:t>The sequence of procedure </a:t>
            </a:r>
            <a:r>
              <a:rPr lang="en-US" altLang="zh-CN" sz="1200" b="1" dirty="0">
                <a:latin typeface="微软雅黑" panose="020B0503020204020204" pitchFamily="34" charset="-122"/>
                <a:ea typeface="微软雅黑" panose="020B0503020204020204" pitchFamily="34" charset="-122"/>
              </a:rPr>
              <a:t>calls</a:t>
            </a:r>
            <a:r>
              <a:rPr lang="en-US" altLang="zh-CN" sz="1200" dirty="0">
                <a:latin typeface="微软雅黑" panose="020B0503020204020204" pitchFamily="34" charset="-122"/>
                <a:ea typeface="微软雅黑" panose="020B0503020204020204" pitchFamily="34" charset="-122"/>
              </a:rPr>
              <a:t> corresponds to a preorder traversal of the activation tree.</a:t>
            </a:r>
          </a:p>
          <a:p>
            <a:pPr marL="228600" indent="-228600">
              <a:buAutoNum type="arabicPeriod"/>
            </a:pPr>
            <a:r>
              <a:rPr lang="en-US" altLang="zh-CN" sz="1200" dirty="0">
                <a:latin typeface="微软雅黑" panose="020B0503020204020204" pitchFamily="34" charset="-122"/>
                <a:ea typeface="微软雅黑" panose="020B0503020204020204" pitchFamily="34" charset="-122"/>
              </a:rPr>
              <a:t>The sequence of </a:t>
            </a:r>
            <a:r>
              <a:rPr lang="en-US" altLang="zh-CN" sz="1200" b="1" dirty="0">
                <a:latin typeface="微软雅黑" panose="020B0503020204020204" pitchFamily="34" charset="-122"/>
                <a:ea typeface="微软雅黑" panose="020B0503020204020204" pitchFamily="34" charset="-122"/>
              </a:rPr>
              <a:t>returns</a:t>
            </a:r>
            <a:r>
              <a:rPr lang="en-US" altLang="zh-CN" sz="1200" dirty="0">
                <a:latin typeface="微软雅黑" panose="020B0503020204020204" pitchFamily="34" charset="-122"/>
                <a:ea typeface="微软雅黑" panose="020B0503020204020204" pitchFamily="34" charset="-122"/>
              </a:rPr>
              <a:t> corresponds to a </a:t>
            </a:r>
            <a:r>
              <a:rPr lang="en-US" altLang="zh-CN" sz="1200" dirty="0" err="1">
                <a:latin typeface="微软雅黑" panose="020B0503020204020204" pitchFamily="34" charset="-122"/>
                <a:ea typeface="微软雅黑" panose="020B0503020204020204" pitchFamily="34" charset="-122"/>
              </a:rPr>
              <a:t>postorder</a:t>
            </a:r>
            <a:r>
              <a:rPr lang="en-US" altLang="zh-CN" sz="1200" dirty="0">
                <a:latin typeface="微软雅黑" panose="020B0503020204020204" pitchFamily="34" charset="-122"/>
                <a:ea typeface="微软雅黑" panose="020B0503020204020204" pitchFamily="34" charset="-122"/>
              </a:rPr>
              <a:t> traversal of the activation tree .</a:t>
            </a:r>
            <a:endParaRPr lang="zh-CN" altLang="en-US" sz="12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3525648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Space-Activation Record</a:t>
            </a:r>
            <a:endParaRPr lang="zh-CN" altLang="en-US" dirty="0"/>
          </a:p>
        </p:txBody>
      </p:sp>
      <p:sp>
        <p:nvSpPr>
          <p:cNvPr id="3" name="内容占位符 2"/>
          <p:cNvSpPr>
            <a:spLocks noGrp="1"/>
          </p:cNvSpPr>
          <p:nvPr>
            <p:ph idx="1"/>
          </p:nvPr>
        </p:nvSpPr>
        <p:spPr>
          <a:xfrm>
            <a:off x="828675" y="1600200"/>
            <a:ext cx="7486650" cy="4572000"/>
          </a:xfrm>
        </p:spPr>
        <p:txBody>
          <a:bodyPr/>
          <a:lstStyle/>
          <a:p>
            <a:r>
              <a:rPr lang="en-US" altLang="zh-CN" dirty="0"/>
              <a:t>Procedure calls and returns are usually managed by a run-time stack called the control stack. Each live activation has an </a:t>
            </a:r>
            <a:r>
              <a:rPr lang="en-US" altLang="zh-CN" b="1" dirty="0">
                <a:solidFill>
                  <a:srgbClr val="7030A0"/>
                </a:solidFill>
              </a:rPr>
              <a:t>activation record </a:t>
            </a:r>
            <a:r>
              <a:rPr lang="en-US" altLang="zh-CN" dirty="0"/>
              <a:t>( sometimes called a </a:t>
            </a:r>
            <a:r>
              <a:rPr lang="en-US" altLang="zh-CN" b="1" dirty="0">
                <a:solidFill>
                  <a:srgbClr val="7030A0"/>
                </a:solidFill>
              </a:rPr>
              <a:t>frame</a:t>
            </a:r>
            <a:r>
              <a:rPr lang="en-US" altLang="zh-CN" dirty="0"/>
              <a:t>) on the control stack, with the root of the activation tree at the bottom, and the entire sequence of activation records on the stack corresponding to the path in the activation tree to the activation where control currently resides. The latter activation has its record at the top of the stack.</a:t>
            </a:r>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3630765648"/>
              </p:ext>
            </p:extLst>
          </p:nvPr>
        </p:nvGraphicFramePr>
        <p:xfrm>
          <a:off x="959265" y="3374307"/>
          <a:ext cx="2954709" cy="1532568"/>
        </p:xfrm>
        <a:graphic>
          <a:graphicData uri="http://schemas.openxmlformats.org/drawingml/2006/table">
            <a:tbl>
              <a:tblPr/>
              <a:tblGrid>
                <a:gridCol w="2954709">
                  <a:extLst>
                    <a:ext uri="{9D8B030D-6E8A-4147-A177-3AD203B41FA5}">
                      <a16:colId xmlns:a16="http://schemas.microsoft.com/office/drawing/2014/main" xmlns="" val="20000"/>
                    </a:ext>
                  </a:extLst>
                </a:gridCol>
              </a:tblGrid>
              <a:tr h="522880">
                <a:tc>
                  <a:txBody>
                    <a:bodyPr/>
                    <a:lstStyle/>
                    <a:p>
                      <a:pPr algn="ctr">
                        <a:spcAft>
                          <a:spcPts val="0"/>
                        </a:spcAft>
                      </a:pPr>
                      <a:r>
                        <a:rPr lang="en-US" sz="1200" kern="100" dirty="0">
                          <a:effectLst/>
                          <a:latin typeface="Times New Roman" panose="02020603050405020304" pitchFamily="18" charset="0"/>
                          <a:ea typeface="宋体" panose="02010600030101010101" pitchFamily="2" charset="-122"/>
                        </a:rPr>
                        <a:t>Space for arguments</a:t>
                      </a:r>
                      <a:endParaRPr lang="zh-CN" sz="1050" kern="100" dirty="0">
                        <a:effectLst/>
                        <a:latin typeface="Times New Roman" panose="02020603050405020304" pitchFamily="18" charset="0"/>
                        <a:ea typeface="宋体" panose="02010600030101010101" pitchFamily="2" charset="-122"/>
                      </a:endParaRPr>
                    </a:p>
                    <a:p>
                      <a:pPr algn="ctr">
                        <a:spcAft>
                          <a:spcPts val="0"/>
                        </a:spcAft>
                      </a:pPr>
                      <a:r>
                        <a:rPr lang="en-US" sz="1200" kern="100" dirty="0">
                          <a:effectLst/>
                          <a:latin typeface="Times New Roman" panose="02020603050405020304" pitchFamily="18" charset="0"/>
                          <a:ea typeface="宋体" panose="02010600030101010101" pitchFamily="2" charset="-122"/>
                        </a:rPr>
                        <a:t>( parameters )</a:t>
                      </a:r>
                      <a:endParaRPr lang="zh-CN" sz="1050" kern="100" dirty="0">
                        <a:effectLst/>
                        <a:latin typeface="Times New Roman" panose="02020603050405020304" pitchFamily="18" charset="0"/>
                        <a:ea typeface="宋体"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0"/>
                  </a:ext>
                </a:extLst>
              </a:tr>
              <a:tr h="486806">
                <a:tc>
                  <a:txBody>
                    <a:bodyPr/>
                    <a:lstStyle/>
                    <a:p>
                      <a:pPr algn="ctr">
                        <a:spcAft>
                          <a:spcPts val="0"/>
                        </a:spcAft>
                      </a:pPr>
                      <a:r>
                        <a:rPr lang="en-US" sz="1200" kern="100" dirty="0">
                          <a:effectLst/>
                          <a:latin typeface="Times New Roman" panose="02020603050405020304" pitchFamily="18" charset="0"/>
                          <a:ea typeface="宋体" panose="02010600030101010101" pitchFamily="2" charset="-122"/>
                        </a:rPr>
                        <a:t>Space for bookkeeping information, including return address</a:t>
                      </a:r>
                      <a:endParaRPr lang="zh-CN" sz="1050" kern="100" dirty="0">
                        <a:effectLst/>
                        <a:latin typeface="Times New Roman" panose="02020603050405020304" pitchFamily="18" charset="0"/>
                        <a:ea typeface="宋体"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1"/>
                  </a:ext>
                </a:extLst>
              </a:tr>
              <a:tr h="261441">
                <a:tc>
                  <a:txBody>
                    <a:bodyPr/>
                    <a:lstStyle/>
                    <a:p>
                      <a:pPr algn="ctr">
                        <a:spcAft>
                          <a:spcPts val="0"/>
                        </a:spcAft>
                      </a:pPr>
                      <a:r>
                        <a:rPr lang="en-US" sz="1200" kern="100">
                          <a:effectLst/>
                          <a:latin typeface="Times New Roman" panose="02020603050405020304" pitchFamily="18" charset="0"/>
                          <a:ea typeface="宋体" panose="02010600030101010101" pitchFamily="2" charset="-122"/>
                        </a:rPr>
                        <a:t>Space for local data</a:t>
                      </a:r>
                      <a:endParaRPr lang="zh-CN" sz="1050" kern="100">
                        <a:effectLst/>
                        <a:latin typeface="Times New Roman" panose="02020603050405020304" pitchFamily="18" charset="0"/>
                        <a:ea typeface="宋体"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2"/>
                  </a:ext>
                </a:extLst>
              </a:tr>
              <a:tr h="261441">
                <a:tc>
                  <a:txBody>
                    <a:bodyPr/>
                    <a:lstStyle/>
                    <a:p>
                      <a:pPr algn="ctr">
                        <a:spcAft>
                          <a:spcPts val="0"/>
                        </a:spcAft>
                      </a:pPr>
                      <a:r>
                        <a:rPr lang="en-US" sz="1200" kern="100" dirty="0">
                          <a:effectLst/>
                          <a:latin typeface="Times New Roman" panose="02020603050405020304" pitchFamily="18" charset="0"/>
                          <a:ea typeface="宋体" panose="02010600030101010101" pitchFamily="2" charset="-122"/>
                        </a:rPr>
                        <a:t>Space for local temporaries</a:t>
                      </a:r>
                      <a:endParaRPr lang="zh-CN" sz="1050" kern="100" dirty="0">
                        <a:effectLst/>
                        <a:latin typeface="Times New Roman" panose="02020603050405020304" pitchFamily="18" charset="0"/>
                        <a:ea typeface="宋体" panose="02010600030101010101" pitchFamily="2"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xmlns="" val="10003"/>
                  </a:ext>
                </a:extLst>
              </a:tr>
            </a:tbl>
          </a:graphicData>
        </a:graphic>
      </p:graphicFrame>
      <p:pic>
        <p:nvPicPr>
          <p:cNvPr id="5" name="图片 4"/>
          <p:cNvPicPr>
            <a:picLocks noChangeAspect="1"/>
          </p:cNvPicPr>
          <p:nvPr/>
        </p:nvPicPr>
        <p:blipFill>
          <a:blip r:embed="rId2"/>
          <a:stretch>
            <a:fillRect/>
          </a:stretch>
        </p:blipFill>
        <p:spPr>
          <a:xfrm>
            <a:off x="4469179" y="3045612"/>
            <a:ext cx="2591901" cy="2970627"/>
          </a:xfrm>
          <a:prstGeom prst="rect">
            <a:avLst/>
          </a:prstGeom>
        </p:spPr>
      </p:pic>
      <p:cxnSp>
        <p:nvCxnSpPr>
          <p:cNvPr id="7" name="直接连接符 6"/>
          <p:cNvCxnSpPr/>
          <p:nvPr/>
        </p:nvCxnSpPr>
        <p:spPr>
          <a:xfrm flipV="1">
            <a:off x="3905427" y="3153398"/>
            <a:ext cx="905855" cy="222190"/>
          </a:xfrm>
          <a:prstGeom prst="line">
            <a:avLst/>
          </a:prstGeom>
          <a:ln w="12700">
            <a:solidFill>
              <a:schemeClr val="accent1"/>
            </a:solidFill>
            <a:prstDash val="sysDash"/>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3913974" y="3879791"/>
            <a:ext cx="905854" cy="42729"/>
          </a:xfrm>
          <a:prstGeom prst="line">
            <a:avLst/>
          </a:prstGeom>
          <a:ln w="12700">
            <a:solidFill>
              <a:schemeClr val="accent1"/>
            </a:solidFill>
            <a:prstDash val="sysDash"/>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3879791" y="4383994"/>
            <a:ext cx="897309" cy="692208"/>
          </a:xfrm>
          <a:prstGeom prst="line">
            <a:avLst/>
          </a:prstGeom>
          <a:ln w="12700">
            <a:solidFill>
              <a:schemeClr val="accent1"/>
            </a:solidFill>
            <a:prstDash val="sys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a:off x="3922520" y="4640366"/>
            <a:ext cx="880216" cy="837488"/>
          </a:xfrm>
          <a:prstGeom prst="line">
            <a:avLst/>
          </a:prstGeom>
          <a:ln w="12700">
            <a:solidFill>
              <a:schemeClr val="accent1"/>
            </a:solidFill>
            <a:prstDash val="sysDash"/>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2127903" y="5785503"/>
            <a:ext cx="184731" cy="369332"/>
          </a:xfrm>
          <a:prstGeom prst="rect">
            <a:avLst/>
          </a:prstGeom>
          <a:noFill/>
        </p:spPr>
        <p:txBody>
          <a:bodyPr wrap="none" rtlCol="0">
            <a:spAutoFit/>
          </a:bodyPr>
          <a:lstStyle/>
          <a:p>
            <a:endParaRPr lang="zh-CN" altLang="en-US" dirty="0"/>
          </a:p>
        </p:txBody>
      </p:sp>
      <p:pic>
        <p:nvPicPr>
          <p:cNvPr id="21" name="图片 20"/>
          <p:cNvPicPr>
            <a:picLocks noChangeAspect="1"/>
          </p:cNvPicPr>
          <p:nvPr/>
        </p:nvPicPr>
        <p:blipFill>
          <a:blip r:embed="rId3"/>
          <a:stretch>
            <a:fillRect/>
          </a:stretch>
        </p:blipFill>
        <p:spPr>
          <a:xfrm>
            <a:off x="3438206" y="5997894"/>
            <a:ext cx="4593468" cy="860106"/>
          </a:xfrm>
          <a:prstGeom prst="rect">
            <a:avLst/>
          </a:prstGeom>
        </p:spPr>
      </p:pic>
      <p:sp>
        <p:nvSpPr>
          <p:cNvPr id="6" name="文本框 5"/>
          <p:cNvSpPr txBox="1"/>
          <p:nvPr/>
        </p:nvSpPr>
        <p:spPr>
          <a:xfrm>
            <a:off x="7238289" y="4093436"/>
            <a:ext cx="1316052" cy="830997"/>
          </a:xfrm>
          <a:prstGeom prst="rect">
            <a:avLst/>
          </a:prstGeom>
          <a:noFill/>
        </p:spPr>
        <p:txBody>
          <a:bodyPr wrap="square" rtlCol="0">
            <a:spAutoFit/>
          </a:bodyPr>
          <a:lstStyle/>
          <a:p>
            <a:r>
              <a:rPr lang="en-US" altLang="zh-CN" sz="1200" dirty="0"/>
              <a:t>pointing to the activation record of the caller</a:t>
            </a:r>
            <a:endParaRPr lang="zh-CN" altLang="en-US" sz="1200" dirty="0"/>
          </a:p>
        </p:txBody>
      </p:sp>
      <p:cxnSp>
        <p:nvCxnSpPr>
          <p:cNvPr id="10" name="直接箭头连接符 9"/>
          <p:cNvCxnSpPr>
            <a:endCxn id="6" idx="1"/>
          </p:cNvCxnSpPr>
          <p:nvPr/>
        </p:nvCxnSpPr>
        <p:spPr>
          <a:xfrm>
            <a:off x="6383708" y="4119073"/>
            <a:ext cx="854581" cy="389862"/>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8040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Space-Activation Record</a:t>
            </a:r>
            <a:endParaRPr lang="zh-CN" altLang="en-US" dirty="0"/>
          </a:p>
        </p:txBody>
      </p:sp>
      <p:sp>
        <p:nvSpPr>
          <p:cNvPr id="3" name="Rectangle 3"/>
          <p:cNvSpPr txBox="1">
            <a:spLocks noChangeArrowheads="1"/>
          </p:cNvSpPr>
          <p:nvPr/>
        </p:nvSpPr>
        <p:spPr bwMode="auto">
          <a:xfrm>
            <a:off x="822533" y="1504059"/>
            <a:ext cx="6885774" cy="48146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Some parts of an activation record have the </a:t>
            </a: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same size for all procedures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Space for bookkeeping information</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Other parts of an activation record may </a:t>
            </a: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remain fixed for each individual procedure</a:t>
            </a: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Space for arguments and local data</a:t>
            </a:r>
          </a:p>
          <a:p>
            <a:pPr marL="342900" marR="0" lvl="0" indent="-342900" algn="l" defTabSz="914400" rtl="0" eaLnBrk="1" fontAlgn="base" latinLnBrk="0" hangingPunct="1">
              <a:lnSpc>
                <a:spcPct val="80000"/>
              </a:lnSpc>
              <a:spcBef>
                <a:spcPct val="20000"/>
              </a:spcBef>
              <a:spcAft>
                <a:spcPct val="0"/>
              </a:spcAft>
              <a:buClrTx/>
              <a:buSzTx/>
              <a:buFontTx/>
              <a:buNone/>
              <a:tabLst/>
              <a:defRPr/>
            </a:pPr>
            <a:endPar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Some parts of activation record may be </a:t>
            </a: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allocated automatically</a:t>
            </a: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on procedure calls: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Storing the return address</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Other parts of activation record may need to be </a:t>
            </a: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allocated explicitly</a:t>
            </a: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by instructions generated by the compiler:</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Local temporary space</a:t>
            </a:r>
          </a:p>
          <a:p>
            <a:pPr marL="342900" marR="0" lvl="0" indent="-342900" algn="l" defTabSz="914400" rtl="0" eaLnBrk="1" fontAlgn="base" latinLnBrk="0" hangingPunct="1">
              <a:lnSpc>
                <a:spcPct val="80000"/>
              </a:lnSpc>
              <a:spcBef>
                <a:spcPct val="20000"/>
              </a:spcBef>
              <a:spcAft>
                <a:spcPct val="0"/>
              </a:spcAft>
              <a:buClrTx/>
              <a:buSzTx/>
              <a:buFontTx/>
              <a:buNone/>
              <a:tabLst/>
              <a:defRPr/>
            </a:pPr>
            <a:endPar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800" b="1" i="0" u="none" strike="noStrike" kern="1200" cap="none" spc="0" normalizeH="0" baseline="0" noProof="0" dirty="0">
                <a:ln>
                  <a:noFill/>
                </a:ln>
                <a:solidFill>
                  <a:srgbClr val="000000"/>
                </a:solidFill>
                <a:effectLst/>
                <a:uLnTx/>
                <a:uFillTx/>
                <a:latin typeface="Times New Roman"/>
                <a:ea typeface="宋体"/>
                <a:cs typeface="+mn-cs"/>
              </a:rPr>
              <a:t>Depending on the language</a:t>
            </a: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 activation records may be allocated in different areas: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Fortran77 in the static area;</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C and Pascal in the stack area; referred to as stack frames</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1800" b="0" i="0" u="none" strike="noStrike" kern="1200" cap="none" spc="0" normalizeH="0" baseline="0" noProof="0" dirty="0">
                <a:ln>
                  <a:noFill/>
                </a:ln>
                <a:solidFill>
                  <a:srgbClr val="000000"/>
                </a:solidFill>
                <a:effectLst/>
                <a:uLnTx/>
                <a:uFillTx/>
                <a:latin typeface="Times New Roman"/>
                <a:ea typeface="宋体"/>
                <a:cs typeface="+mn-cs"/>
              </a:rPr>
              <a:t>LISP in the heap area.</a:t>
            </a:r>
            <a:endParaRPr kumimoji="0" lang="zh-CN" altLang="en-US" sz="1800" b="0" i="0" u="none" strike="noStrike" kern="1200" cap="none" spc="0" normalizeH="0" baseline="0" noProof="0" dirty="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9842200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Space-Activation Record</a:t>
            </a:r>
            <a:endParaRPr lang="zh-CN" altLang="en-US" dirty="0"/>
          </a:p>
        </p:txBody>
      </p:sp>
      <p:sp>
        <p:nvSpPr>
          <p:cNvPr id="3" name="Rectangle 3"/>
          <p:cNvSpPr txBox="1">
            <a:spLocks noChangeArrowheads="1"/>
          </p:cNvSpPr>
          <p:nvPr/>
        </p:nvSpPr>
        <p:spPr>
          <a:xfrm>
            <a:off x="728529" y="1528006"/>
            <a:ext cx="7772400" cy="4824413"/>
          </a:xfrm>
          <a:prstGeom prst="rect">
            <a:avLst/>
          </a:prstGeom>
        </p:spPr>
        <p:txBody>
          <a:bodyPr vert="horz" lIns="0" tIns="45720" rIns="0" bIns="45720" rtlCol="0">
            <a:normAutofit/>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r>
              <a:rPr lang="en-US" altLang="zh-CN" sz="2800" b="1" dirty="0"/>
              <a:t>Processor registers are also part of the structure of the runtime environment</a:t>
            </a:r>
            <a:endParaRPr lang="en-US" altLang="zh-CN" sz="2800" dirty="0"/>
          </a:p>
          <a:p>
            <a:pPr lvl="1"/>
            <a:r>
              <a:rPr lang="en-US" altLang="zh-CN" sz="2400" dirty="0"/>
              <a:t>Registers may be used to store temporaries, local variables, or even global variables;</a:t>
            </a:r>
          </a:p>
          <a:p>
            <a:pPr lvl="1"/>
            <a:r>
              <a:rPr lang="en-US" altLang="zh-CN" sz="2400" dirty="0"/>
              <a:t>In newer RISC processor, keep entire static area and whole activation records;</a:t>
            </a:r>
          </a:p>
          <a:p>
            <a:pPr lvl="1"/>
            <a:r>
              <a:rPr lang="en-US" altLang="zh-CN" sz="2400" dirty="0"/>
              <a:t>Special-purpose registers to keep track of execution</a:t>
            </a:r>
          </a:p>
          <a:p>
            <a:pPr lvl="2"/>
            <a:r>
              <a:rPr lang="en-US" altLang="zh-CN" sz="1800" dirty="0"/>
              <a:t>PC 	program counter;</a:t>
            </a:r>
          </a:p>
          <a:p>
            <a:pPr lvl="2"/>
            <a:r>
              <a:rPr lang="en-US" altLang="zh-CN" sz="1800" dirty="0"/>
              <a:t>SP	stack pointer;</a:t>
            </a:r>
          </a:p>
          <a:p>
            <a:pPr lvl="2"/>
            <a:r>
              <a:rPr lang="en-US" altLang="zh-CN" sz="1800" dirty="0"/>
              <a:t>FP	frame pointer;</a:t>
            </a:r>
          </a:p>
          <a:p>
            <a:pPr lvl="2"/>
            <a:r>
              <a:rPr lang="en-US" altLang="zh-CN" sz="1800" dirty="0"/>
              <a:t>AP	argument pointer</a:t>
            </a:r>
            <a:endParaRPr lang="zh-CN" altLang="en-US" sz="1800" dirty="0"/>
          </a:p>
        </p:txBody>
      </p:sp>
    </p:spTree>
    <p:extLst>
      <p:ext uri="{BB962C8B-B14F-4D97-AF65-F5344CB8AC3E}">
        <p14:creationId xmlns:p14="http://schemas.microsoft.com/office/powerpoint/2010/main" val="30367805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8.3 Stack Allocation of Space-Calling Sequence</a:t>
            </a:r>
            <a:endParaRPr lang="zh-CN" altLang="en-US" dirty="0"/>
          </a:p>
        </p:txBody>
      </p:sp>
      <p:sp>
        <p:nvSpPr>
          <p:cNvPr id="5" name="Rectangle 3"/>
          <p:cNvSpPr txBox="1">
            <a:spLocks noChangeArrowheads="1"/>
          </p:cNvSpPr>
          <p:nvPr/>
        </p:nvSpPr>
        <p:spPr>
          <a:xfrm>
            <a:off x="668708" y="1454150"/>
            <a:ext cx="7772400" cy="5403850"/>
          </a:xfrm>
          <a:prstGeom prst="rect">
            <a:avLst/>
          </a:prstGeom>
        </p:spPr>
        <p:txBody>
          <a:bodyPr vert="horz" lIns="0" tIns="45720" rIns="0" bIns="45720" rtlCol="0">
            <a:normAutofit fontScale="92500"/>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r>
              <a:rPr lang="en-US" altLang="zh-CN" sz="2800" b="1" dirty="0"/>
              <a:t>The sequence of operations when calling the functions</a:t>
            </a:r>
            <a:r>
              <a:rPr lang="en-US" altLang="zh-CN" sz="2800" dirty="0"/>
              <a:t>: </a:t>
            </a:r>
            <a:r>
              <a:rPr lang="en-US" altLang="zh-CN" sz="2800" b="1" i="1" dirty="0">
                <a:solidFill>
                  <a:srgbClr val="FF3300"/>
                </a:solidFill>
              </a:rPr>
              <a:t>calling sequence</a:t>
            </a:r>
            <a:endParaRPr lang="en-US" altLang="zh-CN" sz="2800" b="1" dirty="0">
              <a:solidFill>
                <a:srgbClr val="FF3300"/>
              </a:solidFill>
            </a:endParaRPr>
          </a:p>
          <a:p>
            <a:pPr lvl="1"/>
            <a:r>
              <a:rPr lang="en-US" altLang="zh-CN" sz="2400" dirty="0"/>
              <a:t>The allocation of memory for the activation record;</a:t>
            </a:r>
          </a:p>
          <a:p>
            <a:pPr lvl="1"/>
            <a:r>
              <a:rPr lang="en-US" altLang="zh-CN" sz="2400" dirty="0"/>
              <a:t>The computation and storing of the arguments;</a:t>
            </a:r>
          </a:p>
          <a:p>
            <a:pPr lvl="1"/>
            <a:r>
              <a:rPr lang="en-US" altLang="zh-CN" sz="2400" dirty="0"/>
              <a:t>The storing and setting of necessary registers to affect the call</a:t>
            </a:r>
          </a:p>
          <a:p>
            <a:endParaRPr lang="en-US" altLang="zh-CN" sz="2800" dirty="0"/>
          </a:p>
          <a:p>
            <a:r>
              <a:rPr lang="en-US" altLang="zh-CN" sz="2800" b="1" dirty="0"/>
              <a:t>The additional operations when a procedure or function returns: </a:t>
            </a:r>
            <a:r>
              <a:rPr lang="en-US" altLang="zh-CN" sz="2800" b="1" i="1" dirty="0">
                <a:solidFill>
                  <a:srgbClr val="FF3300"/>
                </a:solidFill>
              </a:rPr>
              <a:t>return sequence (VS call</a:t>
            </a:r>
            <a:r>
              <a:rPr lang="en-US" altLang="zh-CN" sz="2800" i="1" dirty="0">
                <a:solidFill>
                  <a:srgbClr val="FF3300"/>
                </a:solidFill>
              </a:rPr>
              <a:t>)</a:t>
            </a:r>
          </a:p>
          <a:p>
            <a:pPr lvl="1"/>
            <a:r>
              <a:rPr lang="en-US" altLang="zh-CN" sz="2400" dirty="0"/>
              <a:t>The placing of the return value where the caller can access it;</a:t>
            </a:r>
          </a:p>
          <a:p>
            <a:pPr lvl="1"/>
            <a:r>
              <a:rPr lang="en-US" altLang="zh-CN" sz="2400" dirty="0"/>
              <a:t>The readjustment of registers;</a:t>
            </a:r>
          </a:p>
          <a:p>
            <a:pPr lvl="1"/>
            <a:r>
              <a:rPr lang="en-US" altLang="zh-CN" sz="2400" dirty="0"/>
              <a:t>The possible releasing for activation record memory</a:t>
            </a:r>
            <a:endParaRPr lang="zh-CN" altLang="en-US" sz="2400" dirty="0"/>
          </a:p>
        </p:txBody>
      </p:sp>
    </p:spTree>
    <p:extLst>
      <p:ext uri="{BB962C8B-B14F-4D97-AF65-F5344CB8AC3E}">
        <p14:creationId xmlns:p14="http://schemas.microsoft.com/office/powerpoint/2010/main" val="7980562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8.3 Stack Allocation of Space-Calling Sequence</a:t>
            </a:r>
            <a:endParaRPr lang="zh-CN" altLang="en-US" dirty="0"/>
          </a:p>
        </p:txBody>
      </p:sp>
      <p:sp>
        <p:nvSpPr>
          <p:cNvPr id="6" name="Rectangle 3"/>
          <p:cNvSpPr txBox="1">
            <a:spLocks noChangeArrowheads="1"/>
          </p:cNvSpPr>
          <p:nvPr/>
        </p:nvSpPr>
        <p:spPr bwMode="auto">
          <a:xfrm>
            <a:off x="643071" y="1476731"/>
            <a:ext cx="7772400" cy="51149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Tx/>
              <a:buChar char="•"/>
              <a:tabLst>
                <a:tab pos="631825" algn="l"/>
              </a:tabLst>
              <a:defRPr/>
            </a:pPr>
            <a:r>
              <a:rPr kumimoji="0" lang="en-US" altLang="zh-CN" sz="24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The important aspects of the design of the calling sequence:</a:t>
            </a:r>
          </a:p>
          <a:p>
            <a:pPr marL="1076325" marR="0" lvl="1" indent="-554038" algn="l" defTabSz="914400" rtl="0" eaLnBrk="1" fontAlgn="base" latinLnBrk="0" hangingPunct="1">
              <a:lnSpc>
                <a:spcPct val="100000"/>
              </a:lnSpc>
              <a:spcBef>
                <a:spcPct val="20000"/>
              </a:spcBef>
              <a:spcAft>
                <a:spcPct val="0"/>
              </a:spcAft>
              <a:buClrTx/>
              <a:buSzTx/>
              <a:buFontTx/>
              <a:buNone/>
              <a:tabLst>
                <a:tab pos="631825" algn="l"/>
              </a:tabLst>
              <a:defRPr/>
            </a:pPr>
            <a:r>
              <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(1) How to </a:t>
            </a:r>
            <a:r>
              <a:rPr kumimoji="0" lang="en-US" altLang="zh-CN" sz="24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divide the calling sequence</a:t>
            </a:r>
            <a:r>
              <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 operations between the caller and </a:t>
            </a:r>
            <a:r>
              <a:rPr kumimoji="0" lang="en-US" altLang="zh-CN" sz="2400"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rPr>
              <a:t>callee</a:t>
            </a:r>
            <a:endPar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a:p>
            <a:pPr marL="1417638" marR="0" lvl="2" indent="-161925" algn="l" defTabSz="914400" rtl="0" eaLnBrk="1" fontAlgn="base" latinLnBrk="0" hangingPunct="1">
              <a:lnSpc>
                <a:spcPct val="100000"/>
              </a:lnSpc>
              <a:spcBef>
                <a:spcPct val="20000"/>
              </a:spcBef>
              <a:spcAft>
                <a:spcPct val="0"/>
              </a:spcAft>
              <a:buClrTx/>
              <a:buSzTx/>
              <a:buFontTx/>
              <a:buChar char="•"/>
              <a:tabLst>
                <a:tab pos="631825" algn="l"/>
              </a:tabLst>
              <a:defRPr/>
            </a:pPr>
            <a:r>
              <a:rPr kumimoji="0" lang="en-US" altLang="zh-CN"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At a minimum, the caller is responsible for computing the arguments and placing them in locations where they may be found by the </a:t>
            </a:r>
            <a:r>
              <a:rPr kumimoji="0" lang="en-US" altLang="zh-CN"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rPr>
              <a:t>callee</a:t>
            </a:r>
            <a:endParaRPr kumimoji="0" lang="en-US" altLang="zh-CN"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a:p>
            <a:pPr marL="1417638" marR="0" lvl="2" indent="-161925" algn="l" defTabSz="914400" rtl="0" eaLnBrk="1" fontAlgn="base" latinLnBrk="0" hangingPunct="1">
              <a:lnSpc>
                <a:spcPct val="100000"/>
              </a:lnSpc>
              <a:spcBef>
                <a:spcPct val="20000"/>
              </a:spcBef>
              <a:spcAft>
                <a:spcPct val="0"/>
              </a:spcAft>
              <a:buClrTx/>
              <a:buSzTx/>
              <a:buFontTx/>
              <a:buNone/>
              <a:tabLst>
                <a:tab pos="631825" algn="l"/>
              </a:tabLst>
              <a:defRPr/>
            </a:pPr>
            <a:endParaRPr kumimoji="0" lang="en-US" altLang="zh-CN"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a:p>
            <a:pPr marL="1076325" marR="0" lvl="1" indent="-554038" algn="l" defTabSz="914400" rtl="0" eaLnBrk="1" fontAlgn="base" latinLnBrk="0" hangingPunct="1">
              <a:lnSpc>
                <a:spcPct val="100000"/>
              </a:lnSpc>
              <a:spcBef>
                <a:spcPct val="20000"/>
              </a:spcBef>
              <a:spcAft>
                <a:spcPct val="0"/>
              </a:spcAft>
              <a:buClrTx/>
              <a:buSzTx/>
              <a:buFontTx/>
              <a:buNone/>
              <a:tabLst>
                <a:tab pos="631825" algn="l"/>
              </a:tabLst>
              <a:defRPr/>
            </a:pPr>
            <a:r>
              <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(2) To what extent to </a:t>
            </a:r>
            <a:r>
              <a:rPr kumimoji="0" lang="en-US" altLang="zh-CN" sz="24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rely on processor support for calls</a:t>
            </a:r>
            <a:r>
              <a:rPr kumimoji="0" lang="en-US" altLang="zh-CN"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rPr>
              <a:t> rather that generating explicit code for each step of the calling sequence</a:t>
            </a:r>
            <a:endParaRPr kumimoji="0" lang="zh-CN" altLang="en-US" sz="2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7466868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Space-Calling Sequence</a:t>
            </a:r>
            <a:endParaRPr lang="zh-CN" altLang="en-US" dirty="0"/>
          </a:p>
        </p:txBody>
      </p:sp>
      <p:pic>
        <p:nvPicPr>
          <p:cNvPr id="4" name="图片 3"/>
          <p:cNvPicPr>
            <a:picLocks noChangeAspect="1"/>
          </p:cNvPicPr>
          <p:nvPr/>
        </p:nvPicPr>
        <p:blipFill>
          <a:blip r:embed="rId2"/>
          <a:stretch>
            <a:fillRect/>
          </a:stretch>
        </p:blipFill>
        <p:spPr>
          <a:xfrm>
            <a:off x="811540" y="1401512"/>
            <a:ext cx="3872313" cy="2820112"/>
          </a:xfrm>
          <a:prstGeom prst="rect">
            <a:avLst/>
          </a:prstGeom>
        </p:spPr>
      </p:pic>
      <p:pic>
        <p:nvPicPr>
          <p:cNvPr id="5" name="图片 4"/>
          <p:cNvPicPr>
            <a:picLocks noChangeAspect="1"/>
          </p:cNvPicPr>
          <p:nvPr/>
        </p:nvPicPr>
        <p:blipFill>
          <a:blip r:embed="rId3"/>
          <a:stretch>
            <a:fillRect/>
          </a:stretch>
        </p:blipFill>
        <p:spPr>
          <a:xfrm>
            <a:off x="722252" y="4799061"/>
            <a:ext cx="2986622" cy="317051"/>
          </a:xfrm>
          <a:prstGeom prst="rect">
            <a:avLst/>
          </a:prstGeom>
        </p:spPr>
      </p:pic>
      <p:sp>
        <p:nvSpPr>
          <p:cNvPr id="7" name="文本框 6"/>
          <p:cNvSpPr txBox="1"/>
          <p:nvPr/>
        </p:nvSpPr>
        <p:spPr>
          <a:xfrm>
            <a:off x="658026" y="4392538"/>
            <a:ext cx="1685077" cy="369332"/>
          </a:xfrm>
          <a:prstGeom prst="rect">
            <a:avLst/>
          </a:prstGeom>
          <a:noFill/>
        </p:spPr>
        <p:txBody>
          <a:bodyPr wrap="none" rtlCol="0">
            <a:spAutoFit/>
          </a:bodyPr>
          <a:lstStyle/>
          <a:p>
            <a:r>
              <a:rPr lang="en-US" altLang="zh-CN" dirty="0"/>
              <a:t>Function call</a:t>
            </a:r>
            <a:endParaRPr lang="zh-CN" altLang="en-US" dirty="0"/>
          </a:p>
        </p:txBody>
      </p:sp>
      <p:pic>
        <p:nvPicPr>
          <p:cNvPr id="9" name="图片 8"/>
          <p:cNvPicPr>
            <a:picLocks noChangeAspect="1"/>
          </p:cNvPicPr>
          <p:nvPr/>
        </p:nvPicPr>
        <p:blipFill>
          <a:blip r:embed="rId4"/>
          <a:stretch>
            <a:fillRect/>
          </a:stretch>
        </p:blipFill>
        <p:spPr>
          <a:xfrm>
            <a:off x="4773315" y="3324804"/>
            <a:ext cx="4304186" cy="1341200"/>
          </a:xfrm>
          <a:prstGeom prst="rect">
            <a:avLst/>
          </a:prstGeom>
        </p:spPr>
      </p:pic>
      <p:sp>
        <p:nvSpPr>
          <p:cNvPr id="10" name="文本框 9"/>
          <p:cNvSpPr txBox="1"/>
          <p:nvPr/>
        </p:nvSpPr>
        <p:spPr>
          <a:xfrm>
            <a:off x="4732946" y="2912690"/>
            <a:ext cx="1915909" cy="369332"/>
          </a:xfrm>
          <a:prstGeom prst="rect">
            <a:avLst/>
          </a:prstGeom>
          <a:noFill/>
        </p:spPr>
        <p:txBody>
          <a:bodyPr wrap="none" rtlCol="0">
            <a:spAutoFit/>
          </a:bodyPr>
          <a:lstStyle/>
          <a:p>
            <a:r>
              <a:rPr lang="en-US" altLang="zh-CN" dirty="0"/>
              <a:t>Function return</a:t>
            </a:r>
            <a:endParaRPr lang="zh-CN" altLang="en-US" dirty="0"/>
          </a:p>
        </p:txBody>
      </p:sp>
      <p:pic>
        <p:nvPicPr>
          <p:cNvPr id="11" name="图片 10"/>
          <p:cNvPicPr>
            <a:picLocks noChangeAspect="1"/>
          </p:cNvPicPr>
          <p:nvPr/>
        </p:nvPicPr>
        <p:blipFill>
          <a:blip r:embed="rId5"/>
          <a:stretch>
            <a:fillRect/>
          </a:stretch>
        </p:blipFill>
        <p:spPr>
          <a:xfrm>
            <a:off x="750206" y="5101839"/>
            <a:ext cx="4985384" cy="1300251"/>
          </a:xfrm>
          <a:prstGeom prst="rect">
            <a:avLst/>
          </a:prstGeom>
        </p:spPr>
      </p:pic>
      <p:sp>
        <p:nvSpPr>
          <p:cNvPr id="12" name="矩形 11"/>
          <p:cNvSpPr/>
          <p:nvPr/>
        </p:nvSpPr>
        <p:spPr>
          <a:xfrm>
            <a:off x="4695914" y="1418780"/>
            <a:ext cx="4572000" cy="523220"/>
          </a:xfrm>
          <a:prstGeom prst="rect">
            <a:avLst/>
          </a:prstGeom>
        </p:spPr>
        <p:txBody>
          <a:bodyPr>
            <a:spAutoFit/>
          </a:bodyPr>
          <a:lstStyle/>
          <a:p>
            <a:r>
              <a:rPr lang="en-US" altLang="zh-CN" sz="1400" dirty="0">
                <a:latin typeface="微软雅黑" panose="020B0503020204020204" pitchFamily="34" charset="-122"/>
                <a:ea typeface="微软雅黑" panose="020B0503020204020204" pitchFamily="34" charset="-122"/>
              </a:rPr>
              <a:t>A register </a:t>
            </a:r>
            <a:r>
              <a:rPr lang="en-US" altLang="zh-CN" sz="1400" i="1" dirty="0" err="1">
                <a:latin typeface="微软雅黑" panose="020B0503020204020204" pitchFamily="34" charset="-122"/>
                <a:ea typeface="微软雅黑" panose="020B0503020204020204" pitchFamily="34" charset="-122"/>
              </a:rPr>
              <a:t>top_sp</a:t>
            </a:r>
            <a:r>
              <a:rPr lang="en-US" altLang="zh-CN" sz="1400">
                <a:latin typeface="微软雅黑" panose="020B0503020204020204" pitchFamily="34" charset="-122"/>
                <a:ea typeface="微软雅黑" panose="020B0503020204020204" pitchFamily="34" charset="-122"/>
              </a:rPr>
              <a:t> points </a:t>
            </a:r>
            <a:r>
              <a:rPr lang="en-US" altLang="zh-CN" sz="1400" dirty="0">
                <a:latin typeface="微软雅黑" panose="020B0503020204020204" pitchFamily="34" charset="-122"/>
                <a:ea typeface="微软雅黑" panose="020B0503020204020204" pitchFamily="34" charset="-122"/>
              </a:rPr>
              <a:t>to the end of the machine status field in the current top activation record.</a:t>
            </a:r>
            <a:endParaRPr lang="zh-CN" altLang="en-US" sz="14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6647686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8.3 Stack Allocation of Space-Calling Sequence</a:t>
            </a:r>
            <a:endParaRPr lang="zh-CN" altLang="en-US" dirty="0"/>
          </a:p>
        </p:txBody>
      </p:sp>
      <p:pic>
        <p:nvPicPr>
          <p:cNvPr id="4" name="图片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09866" y="1679244"/>
            <a:ext cx="5249008" cy="4525006"/>
          </a:xfrm>
          <a:prstGeom prst="rect">
            <a:avLst/>
          </a:prstGeom>
        </p:spPr>
      </p:pic>
    </p:spTree>
    <p:extLst>
      <p:ext uri="{BB962C8B-B14F-4D97-AF65-F5344CB8AC3E}">
        <p14:creationId xmlns:p14="http://schemas.microsoft.com/office/powerpoint/2010/main" val="165346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8.4 Fully Static Runtime Environments</a:t>
            </a:r>
            <a:endParaRPr lang="zh-CN" altLang="en-US" dirty="0"/>
          </a:p>
        </p:txBody>
      </p:sp>
      <p:graphicFrame>
        <p:nvGraphicFramePr>
          <p:cNvPr id="4" name="Object 4"/>
          <p:cNvGraphicFramePr>
            <a:graphicFrameLocks noChangeAspect="1"/>
          </p:cNvGraphicFramePr>
          <p:nvPr>
            <p:extLst>
              <p:ext uri="{D42A27DB-BD31-4B8C-83A1-F6EECF244321}">
                <p14:modId xmlns:p14="http://schemas.microsoft.com/office/powerpoint/2010/main" val="3400272580"/>
              </p:ext>
            </p:extLst>
          </p:nvPr>
        </p:nvGraphicFramePr>
        <p:xfrm>
          <a:off x="1572071" y="1541640"/>
          <a:ext cx="5332932" cy="5225769"/>
        </p:xfrm>
        <a:graphic>
          <a:graphicData uri="http://schemas.openxmlformats.org/presentationml/2006/ole">
            <mc:AlternateContent xmlns:mc="http://schemas.openxmlformats.org/markup-compatibility/2006">
              <mc:Choice xmlns:v="urn:schemas-microsoft-com:vml" Requires="v">
                <p:oleObj spid="_x0000_s1069" name="文档" r:id="rId3" imgW="3675877" imgH="3610332" progId="Word.Document.8">
                  <p:embed/>
                </p:oleObj>
              </mc:Choice>
              <mc:Fallback>
                <p:oleObj name="文档" r:id="rId3" imgW="3675877" imgH="3610332"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72071" y="1541640"/>
                        <a:ext cx="5332932" cy="5225769"/>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13897652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8.4 Fully Static Runtime Environments</a:t>
            </a:r>
            <a:endParaRPr lang="zh-CN" altLang="en-US" dirty="0"/>
          </a:p>
        </p:txBody>
      </p:sp>
      <p:sp>
        <p:nvSpPr>
          <p:cNvPr id="4" name="Rectangle 3"/>
          <p:cNvSpPr txBox="1">
            <a:spLocks noChangeArrowheads="1"/>
          </p:cNvSpPr>
          <p:nvPr/>
        </p:nvSpPr>
        <p:spPr bwMode="auto">
          <a:xfrm>
            <a:off x="591796" y="1538183"/>
            <a:ext cx="7772400" cy="50249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All data are static, remaining fixed in memory for the duration of program execution</a:t>
            </a:r>
          </a:p>
          <a:p>
            <a:pPr marL="342900" marR="0" lvl="0" indent="-342900" algn="l" defTabSz="914400" rtl="0" eaLnBrk="1" fontAlgn="base" latinLnBrk="0" hangingPunct="1">
              <a:lnSpc>
                <a:spcPct val="100000"/>
              </a:lnSpc>
              <a:spcBef>
                <a:spcPct val="20000"/>
              </a:spcBef>
              <a:spcAft>
                <a:spcPct val="0"/>
              </a:spcAft>
              <a:buClrTx/>
              <a:buSzTx/>
              <a:buFontTx/>
              <a:buNone/>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10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For a language, such as FORTRAN77, no pointer or dynamic allocation, no recursive procedure calling</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The global variables and all variables are allocated statically.</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Each procedure has only a single activation record.</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All variable, whether local or global, can be accessed directly via fixed address.</a:t>
            </a:r>
            <a:endPar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769028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8.4 Fully Static Runtime Environments</a:t>
            </a:r>
            <a:endParaRPr lang="zh-CN" altLang="en-US" dirty="0"/>
          </a:p>
        </p:txBody>
      </p:sp>
      <p:sp>
        <p:nvSpPr>
          <p:cNvPr id="4" name="矩形 3"/>
          <p:cNvSpPr/>
          <p:nvPr/>
        </p:nvSpPr>
        <p:spPr>
          <a:xfrm>
            <a:off x="1110952" y="1733375"/>
            <a:ext cx="6939185" cy="3785652"/>
          </a:xfrm>
          <a:prstGeom prst="rect">
            <a:avLst/>
          </a:prstGeom>
        </p:spPr>
        <p:txBody>
          <a:bodyPr wrap="square">
            <a:spAutoFit/>
          </a:bodyPr>
          <a:lstStyle/>
          <a:p>
            <a:r>
              <a:rPr lang="en-US" altLang="zh-CN" sz="2000" dirty="0">
                <a:latin typeface="微软雅黑" panose="020B0503020204020204" pitchFamily="34" charset="-122"/>
                <a:ea typeface="微软雅黑" panose="020B0503020204020204" pitchFamily="34" charset="-122"/>
              </a:rPr>
              <a:t>Relative little overhead in terms of bookkeeping information to retain in each activation record;</a:t>
            </a:r>
          </a:p>
          <a:p>
            <a:r>
              <a:rPr lang="en-US" altLang="zh-CN" sz="2000" dirty="0">
                <a:latin typeface="微软雅黑" panose="020B0503020204020204" pitchFamily="34" charset="-122"/>
                <a:ea typeface="微软雅黑" panose="020B0503020204020204" pitchFamily="34" charset="-122"/>
              </a:rPr>
              <a:t>And no extra information about the environment needs to be kept in an activation record;</a:t>
            </a:r>
            <a:endParaRPr lang="zh-CN" altLang="en-US" sz="2000" dirty="0">
              <a:latin typeface="微软雅黑" panose="020B0503020204020204" pitchFamily="34" charset="-122"/>
              <a:ea typeface="微软雅黑" panose="020B0503020204020204" pitchFamily="34" charset="-122"/>
            </a:endParaRPr>
          </a:p>
          <a:p>
            <a:endParaRPr lang="en-US" altLang="zh-CN" sz="2000" dirty="0">
              <a:latin typeface="微软雅黑" panose="020B0503020204020204" pitchFamily="34" charset="-122"/>
              <a:ea typeface="微软雅黑" panose="020B0503020204020204" pitchFamily="34" charset="-122"/>
            </a:endParaRPr>
          </a:p>
          <a:p>
            <a:r>
              <a:rPr lang="en-US" altLang="zh-CN" sz="2000" dirty="0">
                <a:latin typeface="微软雅黑" panose="020B0503020204020204" pitchFamily="34" charset="-122"/>
                <a:ea typeface="微软雅黑" panose="020B0503020204020204" pitchFamily="34" charset="-122"/>
              </a:rPr>
              <a:t>The calling sequence is simple.</a:t>
            </a:r>
          </a:p>
          <a:p>
            <a:pPr marL="800100" lvl="1" indent="-342900">
              <a:buFont typeface="Wingdings" panose="05000000000000000000" pitchFamily="2" charset="2"/>
              <a:buChar char="p"/>
            </a:pPr>
            <a:r>
              <a:rPr lang="en-US" altLang="zh-CN" sz="2000" dirty="0">
                <a:latin typeface="微软雅黑" panose="020B0503020204020204" pitchFamily="34" charset="-122"/>
                <a:ea typeface="微软雅黑" panose="020B0503020204020204" pitchFamily="34" charset="-122"/>
              </a:rPr>
              <a:t>Each argument is computed and stored into its appropriate parameter location;</a:t>
            </a:r>
          </a:p>
          <a:p>
            <a:pPr marL="800100" lvl="1" indent="-342900">
              <a:buFont typeface="Wingdings" panose="05000000000000000000" pitchFamily="2" charset="2"/>
              <a:buChar char="p"/>
            </a:pPr>
            <a:r>
              <a:rPr lang="en-US" altLang="zh-CN" sz="2000" dirty="0">
                <a:latin typeface="微软雅黑" panose="020B0503020204020204" pitchFamily="34" charset="-122"/>
                <a:ea typeface="微软雅黑" panose="020B0503020204020204" pitchFamily="34" charset="-122"/>
              </a:rPr>
              <a:t>The return address is saved, and jump to the beginning of the code of the </a:t>
            </a:r>
            <a:r>
              <a:rPr lang="en-US" altLang="zh-CN" sz="2000" dirty="0" err="1">
                <a:latin typeface="微软雅黑" panose="020B0503020204020204" pitchFamily="34" charset="-122"/>
                <a:ea typeface="微软雅黑" panose="020B0503020204020204" pitchFamily="34" charset="-122"/>
              </a:rPr>
              <a:t>callee</a:t>
            </a:r>
            <a:r>
              <a:rPr lang="en-US" altLang="zh-CN" sz="2000" dirty="0">
                <a:latin typeface="微软雅黑" panose="020B0503020204020204" pitchFamily="34" charset="-122"/>
                <a:ea typeface="微软雅黑" panose="020B0503020204020204" pitchFamily="34" charset="-122"/>
              </a:rPr>
              <a:t>;</a:t>
            </a:r>
          </a:p>
          <a:p>
            <a:pPr marL="800100" lvl="1" indent="-342900">
              <a:buFont typeface="Wingdings" panose="05000000000000000000" pitchFamily="2" charset="2"/>
              <a:buChar char="p"/>
            </a:pPr>
            <a:r>
              <a:rPr lang="en-US" altLang="zh-CN" sz="2000" dirty="0">
                <a:latin typeface="微软雅黑" panose="020B0503020204020204" pitchFamily="34" charset="-122"/>
                <a:ea typeface="微软雅黑" panose="020B0503020204020204" pitchFamily="34" charset="-122"/>
              </a:rPr>
              <a:t>On return, a simple jump is made to the return address.</a:t>
            </a:r>
            <a:endParaRPr lang="zh-CN" altLang="en-US" sz="2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9603523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8.4 Fully Static Runtime Environments</a:t>
            </a:r>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994488794"/>
              </p:ext>
            </p:extLst>
          </p:nvPr>
        </p:nvGraphicFramePr>
        <p:xfrm>
          <a:off x="2156390" y="2003751"/>
          <a:ext cx="3364194" cy="1854200"/>
        </p:xfrm>
        <a:graphic>
          <a:graphicData uri="http://schemas.openxmlformats.org/drawingml/2006/table">
            <a:tbl>
              <a:tblPr firstRow="1" bandRow="1">
                <a:tableStyleId>{5940675A-B579-460E-94D1-54222C63F5DA}</a:tableStyleId>
              </a:tblPr>
              <a:tblGrid>
                <a:gridCol w="3364194"/>
              </a:tblGrid>
              <a:tr h="370840">
                <a:tc>
                  <a:txBody>
                    <a:bodyPr/>
                    <a:lstStyle/>
                    <a:p>
                      <a:r>
                        <a:rPr lang="en-US" altLang="zh-CN" dirty="0" smtClean="0"/>
                        <a:t>Actual</a:t>
                      </a:r>
                      <a:r>
                        <a:rPr lang="en-US" altLang="zh-CN" baseline="0" dirty="0" smtClean="0"/>
                        <a:t> Parameters</a:t>
                      </a:r>
                      <a:endParaRPr lang="zh-CN" altLang="en-US" dirty="0"/>
                    </a:p>
                  </a:txBody>
                  <a:tcPr/>
                </a:tc>
              </a:tr>
              <a:tr h="370840">
                <a:tc>
                  <a:txBody>
                    <a:bodyPr/>
                    <a:lstStyle/>
                    <a:p>
                      <a:r>
                        <a:rPr lang="en-US" altLang="zh-CN" dirty="0" smtClean="0"/>
                        <a:t>Return</a:t>
                      </a:r>
                      <a:r>
                        <a:rPr lang="en-US" altLang="zh-CN" baseline="0" dirty="0" smtClean="0"/>
                        <a:t> value</a:t>
                      </a:r>
                      <a:endParaRPr lang="zh-CN" altLang="en-US" dirty="0"/>
                    </a:p>
                  </a:txBody>
                  <a:tcPr/>
                </a:tc>
              </a:tr>
              <a:tr h="370840">
                <a:tc>
                  <a:txBody>
                    <a:bodyPr/>
                    <a:lstStyle/>
                    <a:p>
                      <a:r>
                        <a:rPr lang="en-US" altLang="zh-CN" dirty="0" smtClean="0"/>
                        <a:t>Return</a:t>
                      </a:r>
                      <a:r>
                        <a:rPr lang="en-US" altLang="zh-CN" baseline="0" dirty="0" smtClean="0"/>
                        <a:t> address and Saved Registers</a:t>
                      </a:r>
                      <a:endParaRPr lang="zh-CN" altLang="en-US" dirty="0"/>
                    </a:p>
                  </a:txBody>
                  <a:tcPr/>
                </a:tc>
              </a:tr>
              <a:tr h="370840">
                <a:tc>
                  <a:txBody>
                    <a:bodyPr/>
                    <a:lstStyle/>
                    <a:p>
                      <a:r>
                        <a:rPr lang="en-US" altLang="zh-CN" dirty="0" smtClean="0"/>
                        <a:t>Local data</a:t>
                      </a:r>
                      <a:endParaRPr lang="zh-CN" altLang="en-US" dirty="0"/>
                    </a:p>
                  </a:txBody>
                  <a:tcPr/>
                </a:tc>
              </a:tr>
              <a:tr h="370840">
                <a:tc>
                  <a:txBody>
                    <a:bodyPr/>
                    <a:lstStyle/>
                    <a:p>
                      <a:r>
                        <a:rPr lang="en-US" altLang="zh-CN" dirty="0" smtClean="0"/>
                        <a:t>Temporaries</a:t>
                      </a:r>
                      <a:endParaRPr lang="zh-CN" altLang="en-US" dirty="0"/>
                    </a:p>
                  </a:txBody>
                  <a:tcPr/>
                </a:tc>
              </a:tr>
            </a:tbl>
          </a:graphicData>
        </a:graphic>
      </p:graphicFrame>
      <p:sp>
        <p:nvSpPr>
          <p:cNvPr id="5" name="文本框 4"/>
          <p:cNvSpPr txBox="1"/>
          <p:nvPr/>
        </p:nvSpPr>
        <p:spPr>
          <a:xfrm>
            <a:off x="2119357" y="1410056"/>
            <a:ext cx="3762568" cy="369332"/>
          </a:xfrm>
          <a:prstGeom prst="rect">
            <a:avLst/>
          </a:prstGeom>
          <a:noFill/>
        </p:spPr>
        <p:txBody>
          <a:bodyPr wrap="none" rtlCol="0">
            <a:spAutoFit/>
          </a:bodyPr>
          <a:lstStyle/>
          <a:p>
            <a:r>
              <a:rPr lang="en-US" altLang="zh-CN" dirty="0" smtClean="0"/>
              <a:t>Fortran 77  (activation record)</a:t>
            </a:r>
            <a:endParaRPr lang="zh-CN" altLang="en-US" dirty="0"/>
          </a:p>
        </p:txBody>
      </p:sp>
      <p:cxnSp>
        <p:nvCxnSpPr>
          <p:cNvPr id="7" name="直接箭头连接符 6"/>
          <p:cNvCxnSpPr/>
          <p:nvPr/>
        </p:nvCxnSpPr>
        <p:spPr>
          <a:xfrm>
            <a:off x="1803162" y="2179177"/>
            <a:ext cx="0" cy="1110954"/>
          </a:xfrm>
          <a:prstGeom prst="straightConnector1">
            <a:avLst/>
          </a:prstGeom>
          <a:ln>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08739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a:t>
            </a:r>
            <a:endParaRPr lang="zh-CN" altLang="en-US" dirty="0"/>
          </a:p>
        </p:txBody>
      </p:sp>
      <p:sp>
        <p:nvSpPr>
          <p:cNvPr id="3" name="Rectangle 3"/>
          <p:cNvSpPr txBox="1">
            <a:spLocks noChangeArrowheads="1"/>
          </p:cNvSpPr>
          <p:nvPr/>
        </p:nvSpPr>
        <p:spPr bwMode="auto">
          <a:xfrm>
            <a:off x="702892" y="1457384"/>
            <a:ext cx="7772400" cy="5330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For a language,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in which</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Recursive calls are allowed;</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Local variables are newly allocated at each call;</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Activation records cannot be allocated statically</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endPar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Activation records must be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allocated in a stack-based fashion</a:t>
            </a: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The stack of activation records grows and shrinks with the chain of calls in the executing program.</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Each procedure may have several </a:t>
            </a: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different activation records on the call stack at one time</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each representing a distinct call.</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More complex strategy for bookkeeping and variable access,</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which depends heavily on the properties of the language being compiled.</a:t>
            </a:r>
            <a:endParaRPr kumimoji="0" lang="zh-CN" altLang="en-US" sz="24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7584860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4" name="Rectangle 3"/>
          <p:cNvSpPr txBox="1">
            <a:spLocks noChangeArrowheads="1"/>
          </p:cNvSpPr>
          <p:nvPr/>
        </p:nvSpPr>
        <p:spPr bwMode="auto">
          <a:xfrm>
            <a:off x="660163" y="1619754"/>
            <a:ext cx="7772400" cy="4900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In a language where all properties are global (such as C language), the stack-based environment requires two things:</a:t>
            </a:r>
          </a:p>
          <a:p>
            <a:pPr marL="963613" marR="0" lvl="1" indent="-506413" algn="l" defTabSz="914400" rtl="0" eaLnBrk="1" fontAlgn="base" latinLnBrk="0" hangingPunct="1">
              <a:lnSpc>
                <a:spcPct val="10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(1)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Frame pointer or fp</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a pointer to the current activation record to allow access to local variable;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Control link or dynamic link</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a point to a record of the immediately preceding activation</a:t>
            </a:r>
          </a:p>
          <a:p>
            <a:pPr marL="963613" marR="0" lvl="1" indent="-506413" algn="l" defTabSz="914400" rtl="0" eaLnBrk="1" fontAlgn="base" latinLnBrk="0" hangingPunct="1">
              <a:lnSpc>
                <a:spcPct val="10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(2)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Stack pointer or sp</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a point to the last location allocated on the call stack</a:t>
            </a:r>
            <a:endParaRPr kumimoji="0" lang="zh-CN" altLang="en-US" sz="28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39551811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4" name="Rectangle 3"/>
          <p:cNvSpPr txBox="1">
            <a:spLocks noChangeArrowheads="1"/>
          </p:cNvSpPr>
          <p:nvPr/>
        </p:nvSpPr>
        <p:spPr>
          <a:xfrm>
            <a:off x="728529" y="1500113"/>
            <a:ext cx="7772400" cy="5165607"/>
          </a:xfrm>
          <a:prstGeom prst="rect">
            <a:avLst/>
          </a:prstGeom>
        </p:spPr>
        <p:txBody>
          <a:bodyPr vert="horz" lIns="0" tIns="45720" rIns="0" bIns="45720" rtlCol="0">
            <a:normAutofit fontScale="70000" lnSpcReduction="20000"/>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pPr>
              <a:lnSpc>
                <a:spcPct val="110000"/>
              </a:lnSpc>
            </a:pPr>
            <a:r>
              <a:rPr lang="en-US" altLang="zh-CN" sz="2400" b="1" dirty="0" smtClean="0"/>
              <a:t>Example:</a:t>
            </a:r>
            <a:r>
              <a:rPr lang="en-US" altLang="zh-CN" sz="2400" dirty="0" smtClean="0"/>
              <a:t> The simple recursive implementation of Euclid</a:t>
            </a:r>
            <a:r>
              <a:rPr lang="en-US" altLang="zh-CN" sz="2400" dirty="0" smtClean="0">
                <a:latin typeface="Arial" panose="020B0604020202020204" pitchFamily="34" charset="0"/>
              </a:rPr>
              <a:t>’</a:t>
            </a:r>
            <a:r>
              <a:rPr lang="en-US" altLang="zh-CN" sz="2400" dirty="0" smtClean="0"/>
              <a:t>s algorithm to compute the greatest common divisor of two non-negative integer</a:t>
            </a:r>
          </a:p>
          <a:p>
            <a:pPr lvl="1">
              <a:lnSpc>
                <a:spcPct val="120000"/>
              </a:lnSpc>
              <a:buFontTx/>
              <a:buNone/>
            </a:pPr>
            <a:r>
              <a:rPr lang="en-US" altLang="zh-CN" sz="1800" dirty="0" smtClean="0"/>
              <a:t>	</a:t>
            </a:r>
          </a:p>
          <a:p>
            <a:pPr lvl="1">
              <a:lnSpc>
                <a:spcPct val="120000"/>
              </a:lnSpc>
              <a:buFontTx/>
              <a:buNone/>
            </a:pPr>
            <a:r>
              <a:rPr lang="en-US" altLang="zh-CN" sz="2200" dirty="0" smtClean="0"/>
              <a:t>    # include &lt;</a:t>
            </a:r>
            <a:r>
              <a:rPr lang="en-US" altLang="zh-CN" sz="2200" dirty="0" err="1" smtClean="0"/>
              <a:t>stdio.h</a:t>
            </a:r>
            <a:r>
              <a:rPr lang="en-US" altLang="zh-CN" sz="2200" dirty="0" smtClean="0"/>
              <a:t>&gt;</a:t>
            </a:r>
          </a:p>
          <a:p>
            <a:pPr lvl="1">
              <a:lnSpc>
                <a:spcPct val="120000"/>
              </a:lnSpc>
              <a:buFontTx/>
              <a:buNone/>
            </a:pPr>
            <a:r>
              <a:rPr lang="en-US" altLang="zh-CN" sz="2200" dirty="0" smtClean="0"/>
              <a:t>	</a:t>
            </a:r>
            <a:r>
              <a:rPr lang="en-US" altLang="zh-CN" sz="2200" dirty="0" err="1" smtClean="0"/>
              <a:t>int</a:t>
            </a:r>
            <a:r>
              <a:rPr lang="en-US" altLang="zh-CN" sz="2200" dirty="0" smtClean="0"/>
              <a:t> </a:t>
            </a:r>
            <a:r>
              <a:rPr lang="en-US" altLang="zh-CN" sz="2200" dirty="0" err="1" smtClean="0"/>
              <a:t>x,y</a:t>
            </a:r>
            <a:r>
              <a:rPr lang="en-US" altLang="zh-CN" sz="2200" dirty="0" smtClean="0"/>
              <a:t>;</a:t>
            </a:r>
          </a:p>
          <a:p>
            <a:pPr lvl="1">
              <a:lnSpc>
                <a:spcPct val="120000"/>
              </a:lnSpc>
              <a:buFontTx/>
              <a:buNone/>
            </a:pPr>
            <a:r>
              <a:rPr lang="en-US" altLang="zh-CN" sz="2200" dirty="0" smtClean="0"/>
              <a:t>	</a:t>
            </a:r>
            <a:r>
              <a:rPr lang="en-US" altLang="zh-CN" sz="2200" dirty="0" err="1" smtClean="0"/>
              <a:t>int</a:t>
            </a:r>
            <a:r>
              <a:rPr lang="en-US" altLang="zh-CN" sz="2200" dirty="0" smtClean="0"/>
              <a:t> </a:t>
            </a:r>
            <a:r>
              <a:rPr lang="en-US" altLang="zh-CN" sz="2200" dirty="0" err="1" smtClean="0"/>
              <a:t>gcd</a:t>
            </a:r>
            <a:r>
              <a:rPr lang="en-US" altLang="zh-CN" sz="2200" dirty="0" smtClean="0"/>
              <a:t>(</a:t>
            </a:r>
            <a:r>
              <a:rPr lang="en-US" altLang="zh-CN" sz="2200" dirty="0" err="1" smtClean="0"/>
              <a:t>int</a:t>
            </a:r>
            <a:r>
              <a:rPr lang="en-US" altLang="zh-CN" sz="2200" dirty="0" smtClean="0"/>
              <a:t> </a:t>
            </a:r>
            <a:r>
              <a:rPr lang="en-US" altLang="zh-CN" sz="2200" dirty="0" err="1" smtClean="0"/>
              <a:t>u,int</a:t>
            </a:r>
            <a:r>
              <a:rPr lang="en-US" altLang="zh-CN" sz="2200" dirty="0" smtClean="0"/>
              <a:t> v)</a:t>
            </a:r>
          </a:p>
          <a:p>
            <a:pPr lvl="1">
              <a:lnSpc>
                <a:spcPct val="120000"/>
              </a:lnSpc>
              <a:buFontTx/>
              <a:buNone/>
            </a:pPr>
            <a:r>
              <a:rPr lang="en-US" altLang="zh-CN" sz="2200" dirty="0" smtClean="0"/>
              <a:t>	{   if (v==0) return u;</a:t>
            </a:r>
          </a:p>
          <a:p>
            <a:pPr lvl="1">
              <a:lnSpc>
                <a:spcPct val="120000"/>
              </a:lnSpc>
              <a:buFontTx/>
              <a:buNone/>
            </a:pPr>
            <a:r>
              <a:rPr lang="en-US" altLang="zh-CN" sz="2200" dirty="0" smtClean="0"/>
              <a:t>		  else return </a:t>
            </a:r>
            <a:r>
              <a:rPr lang="en-US" altLang="zh-CN" sz="2200" dirty="0" err="1" smtClean="0"/>
              <a:t>gcd</a:t>
            </a:r>
            <a:r>
              <a:rPr lang="en-US" altLang="zh-CN" sz="2200" dirty="0" smtClean="0"/>
              <a:t>(</a:t>
            </a:r>
            <a:r>
              <a:rPr lang="en-US" altLang="zh-CN" sz="2200" dirty="0" err="1" smtClean="0"/>
              <a:t>v,u%v</a:t>
            </a:r>
            <a:r>
              <a:rPr lang="en-US" altLang="zh-CN" sz="2200" dirty="0" smtClean="0"/>
              <a:t>);</a:t>
            </a:r>
          </a:p>
          <a:p>
            <a:pPr lvl="1">
              <a:lnSpc>
                <a:spcPct val="120000"/>
              </a:lnSpc>
              <a:buFontTx/>
              <a:buNone/>
            </a:pPr>
            <a:r>
              <a:rPr lang="en-US" altLang="zh-CN" sz="2200" dirty="0" smtClean="0"/>
              <a:t>	}</a:t>
            </a:r>
          </a:p>
          <a:p>
            <a:pPr lvl="1">
              <a:lnSpc>
                <a:spcPct val="120000"/>
              </a:lnSpc>
              <a:buFontTx/>
              <a:buNone/>
            </a:pPr>
            <a:r>
              <a:rPr lang="en-US" altLang="zh-CN" sz="2200" dirty="0" smtClean="0"/>
              <a:t>	main()</a:t>
            </a:r>
          </a:p>
          <a:p>
            <a:pPr lvl="1">
              <a:lnSpc>
                <a:spcPct val="120000"/>
              </a:lnSpc>
              <a:buFontTx/>
              <a:buNone/>
            </a:pPr>
            <a:r>
              <a:rPr lang="en-US" altLang="zh-CN" sz="2200" dirty="0" smtClean="0"/>
              <a:t>	{   </a:t>
            </a:r>
            <a:r>
              <a:rPr lang="en-US" altLang="zh-CN" sz="2200" dirty="0" err="1" smtClean="0"/>
              <a:t>scanf</a:t>
            </a:r>
            <a:r>
              <a:rPr lang="en-US" altLang="zh-CN" sz="2200" dirty="0" smtClean="0"/>
              <a:t>(</a:t>
            </a:r>
            <a:r>
              <a:rPr lang="en-US" altLang="zh-CN" sz="2200" dirty="0" smtClean="0">
                <a:latin typeface="Arial" panose="020B0604020202020204" pitchFamily="34" charset="0"/>
              </a:rPr>
              <a:t>“</a:t>
            </a:r>
            <a:r>
              <a:rPr lang="en-US" altLang="zh-CN" sz="2200" dirty="0" smtClean="0"/>
              <a:t>%</a:t>
            </a:r>
            <a:r>
              <a:rPr lang="en-US" altLang="zh-CN" sz="2200" dirty="0" err="1" smtClean="0"/>
              <a:t>d%d</a:t>
            </a:r>
            <a:r>
              <a:rPr lang="en-US" altLang="zh-CN" sz="2200" dirty="0" smtClean="0">
                <a:latin typeface="Arial" panose="020B0604020202020204" pitchFamily="34" charset="0"/>
              </a:rPr>
              <a:t>”</a:t>
            </a:r>
            <a:r>
              <a:rPr lang="en-US" altLang="zh-CN" sz="2200" dirty="0" smtClean="0"/>
              <a:t>,&amp;</a:t>
            </a:r>
            <a:r>
              <a:rPr lang="en-US" altLang="zh-CN" sz="2200" dirty="0" err="1" smtClean="0"/>
              <a:t>x,&amp;y</a:t>
            </a:r>
            <a:r>
              <a:rPr lang="en-US" altLang="zh-CN" sz="2200" dirty="0" smtClean="0"/>
              <a:t>);</a:t>
            </a:r>
          </a:p>
          <a:p>
            <a:pPr lvl="1">
              <a:lnSpc>
                <a:spcPct val="120000"/>
              </a:lnSpc>
              <a:buFontTx/>
              <a:buNone/>
            </a:pPr>
            <a:r>
              <a:rPr lang="en-US" altLang="zh-CN" sz="2200" dirty="0" smtClean="0"/>
              <a:t>	    </a:t>
            </a:r>
            <a:r>
              <a:rPr lang="en-US" altLang="zh-CN" sz="2200" dirty="0" err="1" smtClean="0"/>
              <a:t>printf</a:t>
            </a:r>
            <a:r>
              <a:rPr lang="en-US" altLang="zh-CN" sz="2200" dirty="0" smtClean="0"/>
              <a:t>(</a:t>
            </a:r>
            <a:r>
              <a:rPr lang="en-US" altLang="zh-CN" sz="2200" dirty="0" smtClean="0">
                <a:latin typeface="Arial" panose="020B0604020202020204" pitchFamily="34" charset="0"/>
              </a:rPr>
              <a:t>“</a:t>
            </a:r>
            <a:r>
              <a:rPr lang="en-US" altLang="zh-CN" sz="2200" dirty="0" smtClean="0"/>
              <a:t>%d\n</a:t>
            </a:r>
            <a:r>
              <a:rPr lang="en-US" altLang="zh-CN" sz="2200" dirty="0" smtClean="0">
                <a:latin typeface="Arial" panose="020B0604020202020204" pitchFamily="34" charset="0"/>
              </a:rPr>
              <a:t>”</a:t>
            </a:r>
            <a:r>
              <a:rPr lang="en-US" altLang="zh-CN" sz="2200" dirty="0" smtClean="0"/>
              <a:t>,</a:t>
            </a:r>
            <a:r>
              <a:rPr lang="en-US" altLang="zh-CN" sz="2200" dirty="0" err="1" smtClean="0"/>
              <a:t>gcd</a:t>
            </a:r>
            <a:r>
              <a:rPr lang="en-US" altLang="zh-CN" sz="2200" dirty="0" smtClean="0"/>
              <a:t>(</a:t>
            </a:r>
            <a:r>
              <a:rPr lang="en-US" altLang="zh-CN" sz="2200" dirty="0" err="1" smtClean="0"/>
              <a:t>x,y</a:t>
            </a:r>
            <a:r>
              <a:rPr lang="en-US" altLang="zh-CN" sz="2200" dirty="0" smtClean="0"/>
              <a:t>));</a:t>
            </a:r>
          </a:p>
          <a:p>
            <a:pPr lvl="1">
              <a:lnSpc>
                <a:spcPct val="120000"/>
              </a:lnSpc>
              <a:buFontTx/>
              <a:buNone/>
            </a:pPr>
            <a:r>
              <a:rPr lang="en-US" altLang="zh-CN" sz="2200" dirty="0" smtClean="0"/>
              <a:t>	    return 0;</a:t>
            </a:r>
          </a:p>
          <a:p>
            <a:pPr lvl="1">
              <a:lnSpc>
                <a:spcPct val="120000"/>
              </a:lnSpc>
              <a:buFontTx/>
              <a:buNone/>
            </a:pPr>
            <a:r>
              <a:rPr lang="en-US" altLang="zh-CN" sz="1800" dirty="0" smtClean="0"/>
              <a:t>	}</a:t>
            </a:r>
          </a:p>
          <a:p>
            <a:pPr lvl="1">
              <a:lnSpc>
                <a:spcPct val="120000"/>
              </a:lnSpc>
              <a:buFontTx/>
              <a:buNone/>
            </a:pPr>
            <a:endParaRPr lang="en-US" altLang="zh-CN" sz="1800" dirty="0" smtClean="0"/>
          </a:p>
          <a:p>
            <a:pPr>
              <a:lnSpc>
                <a:spcPct val="120000"/>
              </a:lnSpc>
              <a:buFontTx/>
              <a:buNone/>
            </a:pPr>
            <a:r>
              <a:rPr lang="en-US" altLang="zh-CN" sz="2400" dirty="0" smtClean="0"/>
              <a:t>Suppose the user inputs the values 15 and 10 to this program. </a:t>
            </a:r>
            <a:endParaRPr lang="zh-CN" altLang="en-US" sz="2400" dirty="0" smtClean="0"/>
          </a:p>
        </p:txBody>
      </p:sp>
    </p:spTree>
    <p:extLst>
      <p:ext uri="{BB962C8B-B14F-4D97-AF65-F5344CB8AC3E}">
        <p14:creationId xmlns:p14="http://schemas.microsoft.com/office/powerpoint/2010/main" val="24632767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7" name="Object 103"/>
          <p:cNvGraphicFramePr>
            <a:graphicFrameLocks noChangeAspect="1"/>
          </p:cNvGraphicFramePr>
          <p:nvPr>
            <p:extLst>
              <p:ext uri="{D42A27DB-BD31-4B8C-83A1-F6EECF244321}">
                <p14:modId xmlns:p14="http://schemas.microsoft.com/office/powerpoint/2010/main" val="2377505436"/>
              </p:ext>
            </p:extLst>
          </p:nvPr>
        </p:nvGraphicFramePr>
        <p:xfrm>
          <a:off x="877888" y="1385888"/>
          <a:ext cx="6300787" cy="5151437"/>
        </p:xfrm>
        <a:graphic>
          <a:graphicData uri="http://schemas.openxmlformats.org/presentationml/2006/ole">
            <mc:AlternateContent xmlns:mc="http://schemas.openxmlformats.org/markup-compatibility/2006">
              <mc:Choice xmlns:v="urn:schemas-microsoft-com:vml" Requires="v">
                <p:oleObj spid="_x0000_s2089" name="Document" r:id="rId3" imgW="5177134" imgH="4205301" progId="Word.Document.8">
                  <p:embed/>
                </p:oleObj>
              </mc:Choice>
              <mc:Fallback>
                <p:oleObj name="Document" r:id="rId3" imgW="5177134" imgH="4205301" progId="Word.Document.8">
                  <p:embed/>
                  <p:pic>
                    <p:nvPicPr>
                      <p:cNvPr id="0" name=""/>
                      <p:cNvPicPr>
                        <a:picLocks noChangeAspect="1" noChangeArrowheads="1"/>
                      </p:cNvPicPr>
                      <p:nvPr/>
                    </p:nvPicPr>
                    <p:blipFill>
                      <a:blip r:embed="rId4"/>
                      <a:srcRect/>
                      <a:stretch>
                        <a:fillRect/>
                      </a:stretch>
                    </p:blipFill>
                    <p:spPr bwMode="auto">
                      <a:xfrm>
                        <a:off x="877888" y="1385888"/>
                        <a:ext cx="6300787" cy="5151437"/>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4399722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2" name="矩形 1"/>
          <p:cNvSpPr/>
          <p:nvPr/>
        </p:nvSpPr>
        <p:spPr>
          <a:xfrm>
            <a:off x="841759" y="1400664"/>
            <a:ext cx="7575847" cy="5324535"/>
          </a:xfrm>
          <a:prstGeom prst="rect">
            <a:avLst/>
          </a:prstGeom>
        </p:spPr>
        <p:txBody>
          <a:bodyPr wrap="square">
            <a:spAutoFit/>
          </a:bodyPr>
          <a:lstStyle/>
          <a:p>
            <a:pPr marL="342900" lvl="0" indent="-342900" fontAlgn="base">
              <a:lnSpc>
                <a:spcPct val="80000"/>
              </a:lnSpc>
              <a:spcBef>
                <a:spcPct val="20000"/>
              </a:spcBef>
              <a:spcAft>
                <a:spcPct val="0"/>
              </a:spcAft>
            </a:pPr>
            <a:r>
              <a:rPr lang="en-US" altLang="zh-CN" sz="2000" b="1" dirty="0">
                <a:solidFill>
                  <a:srgbClr val="000000"/>
                </a:solidFill>
                <a:latin typeface="Times New Roman"/>
                <a:ea typeface="宋体"/>
              </a:rPr>
              <a:t>Example</a:t>
            </a:r>
            <a:r>
              <a:rPr lang="en-US" altLang="zh-CN" b="1" dirty="0">
                <a:solidFill>
                  <a:srgbClr val="000000"/>
                </a:solidFill>
                <a:latin typeface="Times New Roman"/>
                <a:ea typeface="宋体"/>
              </a:rPr>
              <a:t>:             </a:t>
            </a:r>
            <a:r>
              <a:rPr lang="en-US" altLang="zh-CN" b="1" dirty="0" err="1" smtClean="0">
                <a:solidFill>
                  <a:srgbClr val="000000"/>
                </a:solidFill>
                <a:latin typeface="Times New Roman"/>
                <a:ea typeface="宋体"/>
              </a:rPr>
              <a:t>int</a:t>
            </a:r>
            <a:r>
              <a:rPr lang="en-US" altLang="zh-CN" b="1" dirty="0" smtClean="0">
                <a:solidFill>
                  <a:srgbClr val="000000"/>
                </a:solidFill>
                <a:latin typeface="Times New Roman"/>
                <a:ea typeface="宋体"/>
              </a:rPr>
              <a:t> </a:t>
            </a:r>
            <a:r>
              <a:rPr lang="en-US" altLang="zh-CN" b="1" dirty="0">
                <a:solidFill>
                  <a:srgbClr val="000000"/>
                </a:solidFill>
                <a:latin typeface="Times New Roman"/>
                <a:ea typeface="宋体"/>
              </a:rPr>
              <a:t>x=2;</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void </a:t>
            </a:r>
            <a:r>
              <a:rPr lang="en-US" altLang="zh-CN" b="1" dirty="0">
                <a:solidFill>
                  <a:srgbClr val="000000"/>
                </a:solidFill>
                <a:latin typeface="Times New Roman"/>
                <a:ea typeface="宋体"/>
              </a:rPr>
              <a:t>g(</a:t>
            </a:r>
            <a:r>
              <a:rPr lang="en-US" altLang="zh-CN" b="1" dirty="0" err="1">
                <a:solidFill>
                  <a:srgbClr val="000000"/>
                </a:solidFill>
                <a:latin typeface="Times New Roman"/>
                <a:ea typeface="宋体"/>
              </a:rPr>
              <a:t>int</a:t>
            </a:r>
            <a:r>
              <a:rPr lang="en-US" altLang="zh-CN" b="1" dirty="0">
                <a:solidFill>
                  <a:srgbClr val="000000"/>
                </a:solidFill>
                <a:latin typeface="Times New Roman"/>
                <a:ea typeface="宋体"/>
              </a:rPr>
              <a:t>);/*prototype*/</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void </a:t>
            </a:r>
            <a:r>
              <a:rPr lang="en-US" altLang="zh-CN" b="1" dirty="0">
                <a:solidFill>
                  <a:srgbClr val="000000"/>
                </a:solidFill>
                <a:latin typeface="Times New Roman"/>
                <a:ea typeface="宋体"/>
              </a:rPr>
              <a:t>f(</a:t>
            </a:r>
            <a:r>
              <a:rPr lang="en-US" altLang="zh-CN" b="1" dirty="0" err="1">
                <a:solidFill>
                  <a:srgbClr val="000000"/>
                </a:solidFill>
                <a:latin typeface="Times New Roman"/>
                <a:ea typeface="宋体"/>
              </a:rPr>
              <a:t>int</a:t>
            </a:r>
            <a:r>
              <a:rPr lang="en-US" altLang="zh-CN" b="1" dirty="0">
                <a:solidFill>
                  <a:srgbClr val="000000"/>
                </a:solidFill>
                <a:latin typeface="Times New Roman"/>
                <a:ea typeface="宋体"/>
              </a:rPr>
              <a:t> n)</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static </a:t>
            </a:r>
            <a:r>
              <a:rPr lang="en-US" altLang="zh-CN" b="1" dirty="0" err="1">
                <a:solidFill>
                  <a:srgbClr val="000000"/>
                </a:solidFill>
                <a:latin typeface="Times New Roman"/>
                <a:ea typeface="宋体"/>
              </a:rPr>
              <a:t>int</a:t>
            </a:r>
            <a:r>
              <a:rPr lang="en-US" altLang="zh-CN" b="1" dirty="0">
                <a:solidFill>
                  <a:srgbClr val="000000"/>
                </a:solidFill>
                <a:latin typeface="Times New Roman"/>
                <a:ea typeface="宋体"/>
              </a:rPr>
              <a:t> x=1;</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g(n</a:t>
            </a:r>
            <a:r>
              <a:rPr lang="en-US" altLang="zh-CN" b="1" dirty="0">
                <a:solidFill>
                  <a:srgbClr val="000000"/>
                </a:solidFill>
                <a:latin typeface="Times New Roman"/>
                <a:ea typeface="宋体"/>
              </a:rPr>
              <a:t>);</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a:t>
            </a:r>
            <a:r>
              <a:rPr lang="en-US" altLang="zh-CN" b="1" dirty="0">
                <a:solidFill>
                  <a:srgbClr val="000000"/>
                </a:solidFill>
                <a:latin typeface="Times New Roman"/>
                <a:ea typeface="宋体"/>
              </a:rPr>
              <a:t>x--;</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void g(</a:t>
            </a:r>
            <a:r>
              <a:rPr lang="en-US" altLang="zh-CN" b="1" dirty="0" err="1">
                <a:solidFill>
                  <a:srgbClr val="000000"/>
                </a:solidFill>
                <a:latin typeface="Times New Roman"/>
                <a:ea typeface="宋体"/>
              </a:rPr>
              <a:t>int</a:t>
            </a:r>
            <a:r>
              <a:rPr lang="en-US" altLang="zh-CN" b="1" dirty="0">
                <a:solidFill>
                  <a:srgbClr val="000000"/>
                </a:solidFill>
                <a:latin typeface="Times New Roman"/>
                <a:ea typeface="宋体"/>
              </a:rPr>
              <a:t> m)</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a:t>
            </a:r>
            <a:r>
              <a:rPr lang="en-US" altLang="zh-CN" b="1" dirty="0" err="1" smtClean="0">
                <a:solidFill>
                  <a:srgbClr val="000000"/>
                </a:solidFill>
                <a:latin typeface="Times New Roman"/>
                <a:ea typeface="宋体"/>
              </a:rPr>
              <a:t>int</a:t>
            </a:r>
            <a:r>
              <a:rPr lang="en-US" altLang="zh-CN" b="1" dirty="0" smtClean="0">
                <a:solidFill>
                  <a:srgbClr val="000000"/>
                </a:solidFill>
                <a:latin typeface="Times New Roman"/>
                <a:ea typeface="宋体"/>
              </a:rPr>
              <a:t> </a:t>
            </a:r>
            <a:r>
              <a:rPr lang="en-US" altLang="zh-CN" b="1" dirty="0">
                <a:solidFill>
                  <a:srgbClr val="000000"/>
                </a:solidFill>
                <a:latin typeface="Times New Roman"/>
                <a:ea typeface="宋体"/>
              </a:rPr>
              <a:t>y=m-1;</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a:t>
            </a:r>
            <a:r>
              <a:rPr lang="en-US" altLang="zh-CN" b="1" dirty="0">
                <a:solidFill>
                  <a:srgbClr val="000000"/>
                </a:solidFill>
                <a:latin typeface="Times New Roman"/>
                <a:ea typeface="宋体"/>
              </a:rPr>
              <a:t>if (y&gt;0)</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    f(y</a:t>
            </a:r>
            <a:r>
              <a:rPr lang="en-US" altLang="zh-CN" b="1" dirty="0">
                <a:solidFill>
                  <a:srgbClr val="000000"/>
                </a:solidFill>
                <a:latin typeface="Times New Roman"/>
                <a:ea typeface="宋体"/>
              </a:rPr>
              <a:t>);</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x-</a:t>
            </a:r>
            <a:r>
              <a:rPr lang="en-US" altLang="zh-CN" b="1" dirty="0">
                <a:solidFill>
                  <a:srgbClr val="000000"/>
                </a:solidFill>
                <a:latin typeface="Times New Roman"/>
                <a:ea typeface="宋体"/>
              </a:rPr>
              <a:t>-;</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a:t>
            </a:r>
            <a:r>
              <a:rPr lang="en-US" altLang="zh-CN" b="1" dirty="0">
                <a:solidFill>
                  <a:srgbClr val="000000"/>
                </a:solidFill>
                <a:latin typeface="Times New Roman"/>
                <a:ea typeface="宋体"/>
              </a:rPr>
              <a:t>g(y);</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a:t>
            </a:r>
            <a:endParaRPr lang="en-US" altLang="zh-CN" b="1" dirty="0">
              <a:solidFill>
                <a:srgbClr val="000000"/>
              </a:solidFill>
              <a:latin typeface="Times New Roman"/>
              <a:ea typeface="宋体"/>
            </a:endParaRP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main( )</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g(x</a:t>
            </a:r>
            <a:r>
              <a:rPr lang="en-US" altLang="zh-CN" b="1" dirty="0">
                <a:solidFill>
                  <a:srgbClr val="000000"/>
                </a:solidFill>
                <a:latin typeface="Times New Roman"/>
                <a:ea typeface="宋体"/>
              </a:rPr>
              <a:t>);</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r>
              <a:rPr lang="en-US" altLang="zh-CN" b="1" dirty="0" smtClean="0">
                <a:solidFill>
                  <a:srgbClr val="000000"/>
                </a:solidFill>
                <a:latin typeface="Times New Roman"/>
                <a:ea typeface="宋体"/>
              </a:rPr>
              <a:t>         return </a:t>
            </a:r>
            <a:r>
              <a:rPr lang="en-US" altLang="zh-CN" b="1" dirty="0">
                <a:solidFill>
                  <a:srgbClr val="000000"/>
                </a:solidFill>
                <a:latin typeface="Times New Roman"/>
                <a:ea typeface="宋体"/>
              </a:rPr>
              <a:t>0;</a:t>
            </a:r>
          </a:p>
          <a:p>
            <a:pPr marL="342900" lvl="0" indent="-342900" fontAlgn="base">
              <a:lnSpc>
                <a:spcPct val="80000"/>
              </a:lnSpc>
              <a:spcBef>
                <a:spcPct val="20000"/>
              </a:spcBef>
              <a:spcAft>
                <a:spcPct val="0"/>
              </a:spcAft>
            </a:pPr>
            <a:r>
              <a:rPr lang="en-US" altLang="zh-CN" b="1" dirty="0">
                <a:solidFill>
                  <a:srgbClr val="000000"/>
                </a:solidFill>
                <a:latin typeface="Times New Roman"/>
                <a:ea typeface="宋体"/>
              </a:rPr>
              <a:t>			}</a:t>
            </a:r>
            <a:endParaRPr lang="zh-CN" altLang="en-US" b="1" dirty="0">
              <a:solidFill>
                <a:srgbClr val="000000"/>
              </a:solidFill>
              <a:latin typeface="Times New Roman"/>
              <a:ea typeface="宋体"/>
            </a:endParaRPr>
          </a:p>
        </p:txBody>
      </p:sp>
    </p:spTree>
    <p:extLst>
      <p:ext uri="{BB962C8B-B14F-4D97-AF65-F5344CB8AC3E}">
        <p14:creationId xmlns:p14="http://schemas.microsoft.com/office/powerpoint/2010/main" val="27708602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4" name="Object 4"/>
          <p:cNvGraphicFramePr>
            <a:graphicFrameLocks noChangeAspect="1"/>
          </p:cNvGraphicFramePr>
          <p:nvPr>
            <p:extLst>
              <p:ext uri="{D42A27DB-BD31-4B8C-83A1-F6EECF244321}">
                <p14:modId xmlns:p14="http://schemas.microsoft.com/office/powerpoint/2010/main" val="554084041"/>
              </p:ext>
            </p:extLst>
          </p:nvPr>
        </p:nvGraphicFramePr>
        <p:xfrm>
          <a:off x="1385888" y="1584325"/>
          <a:ext cx="5983287" cy="4833938"/>
        </p:xfrm>
        <a:graphic>
          <a:graphicData uri="http://schemas.openxmlformats.org/presentationml/2006/ole">
            <mc:AlternateContent xmlns:mc="http://schemas.openxmlformats.org/markup-compatibility/2006">
              <mc:Choice xmlns:v="urn:schemas-microsoft-com:vml" Requires="v">
                <p:oleObj spid="_x0000_s3111" name="Document" r:id="rId3" imgW="4987011" imgH="4006934" progId="Word.Document.8">
                  <p:embed/>
                </p:oleObj>
              </mc:Choice>
              <mc:Fallback>
                <p:oleObj name="Document" r:id="rId3" imgW="4987011" imgH="4006934" progId="Word.Document.8">
                  <p:embed/>
                  <p:pic>
                    <p:nvPicPr>
                      <p:cNvPr id="0" name=""/>
                      <p:cNvPicPr>
                        <a:picLocks noChangeAspect="1" noChangeArrowheads="1"/>
                      </p:cNvPicPr>
                      <p:nvPr/>
                    </p:nvPicPr>
                    <p:blipFill>
                      <a:blip r:embed="rId4"/>
                      <a:srcRect/>
                      <a:stretch>
                        <a:fillRect/>
                      </a:stretch>
                    </p:blipFill>
                    <p:spPr bwMode="auto">
                      <a:xfrm>
                        <a:off x="1385888" y="1584325"/>
                        <a:ext cx="5983287" cy="4833938"/>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19723342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3567556554"/>
              </p:ext>
            </p:extLst>
          </p:nvPr>
        </p:nvGraphicFramePr>
        <p:xfrm>
          <a:off x="655208" y="1459283"/>
          <a:ext cx="7958954" cy="5226934"/>
        </p:xfrm>
        <a:graphic>
          <a:graphicData uri="http://schemas.openxmlformats.org/presentationml/2006/ole">
            <mc:AlternateContent xmlns:mc="http://schemas.openxmlformats.org/markup-compatibility/2006">
              <mc:Choice xmlns:v="urn:schemas-microsoft-com:vml" Requires="v">
                <p:oleObj spid="_x0000_s4135" name="Document" r:id="rId3" imgW="5208640" imgH="3406074" progId="Word.Document.8">
                  <p:embed/>
                </p:oleObj>
              </mc:Choice>
              <mc:Fallback>
                <p:oleObj name="Document" r:id="rId3" imgW="5208640" imgH="3406074" progId="Word.Document.8">
                  <p:embed/>
                  <p:pic>
                    <p:nvPicPr>
                      <p:cNvPr id="0" name=""/>
                      <p:cNvPicPr>
                        <a:picLocks noChangeAspect="1" noChangeArrowheads="1"/>
                      </p:cNvPicPr>
                      <p:nvPr/>
                    </p:nvPicPr>
                    <p:blipFill>
                      <a:blip r:embed="rId4"/>
                      <a:srcRect/>
                      <a:stretch>
                        <a:fillRect/>
                      </a:stretch>
                    </p:blipFill>
                    <p:spPr bwMode="auto">
                      <a:xfrm>
                        <a:off x="655208" y="1459283"/>
                        <a:ext cx="7958954" cy="5226934"/>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15686444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4" name="Object 4"/>
          <p:cNvGraphicFramePr>
            <a:graphicFrameLocks noChangeAspect="1"/>
          </p:cNvGraphicFramePr>
          <p:nvPr>
            <p:extLst>
              <p:ext uri="{D42A27DB-BD31-4B8C-83A1-F6EECF244321}">
                <p14:modId xmlns:p14="http://schemas.microsoft.com/office/powerpoint/2010/main" val="455985340"/>
              </p:ext>
            </p:extLst>
          </p:nvPr>
        </p:nvGraphicFramePr>
        <p:xfrm>
          <a:off x="969622" y="1751888"/>
          <a:ext cx="6969617" cy="4657458"/>
        </p:xfrm>
        <a:graphic>
          <a:graphicData uri="http://schemas.openxmlformats.org/presentationml/2006/ole">
            <mc:AlternateContent xmlns:mc="http://schemas.openxmlformats.org/markup-compatibility/2006">
              <mc:Choice xmlns:v="urn:schemas-microsoft-com:vml" Requires="v">
                <p:oleObj spid="_x0000_s5158" name="Document" r:id="rId3" imgW="4783127" imgH="3182866" progId="Word.Document.8">
                  <p:embed/>
                </p:oleObj>
              </mc:Choice>
              <mc:Fallback>
                <p:oleObj name="Document" r:id="rId3" imgW="4783127" imgH="3182866" progId="Word.Document.8">
                  <p:embed/>
                  <p:pic>
                    <p:nvPicPr>
                      <p:cNvPr id="0" name=""/>
                      <p:cNvPicPr>
                        <a:picLocks noChangeAspect="1" noChangeArrowheads="1"/>
                      </p:cNvPicPr>
                      <p:nvPr/>
                    </p:nvPicPr>
                    <p:blipFill>
                      <a:blip r:embed="rId4"/>
                      <a:srcRect/>
                      <a:stretch>
                        <a:fillRect/>
                      </a:stretch>
                    </p:blipFill>
                    <p:spPr bwMode="auto">
                      <a:xfrm>
                        <a:off x="969622" y="1751888"/>
                        <a:ext cx="6969617" cy="4657458"/>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31292984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5" name="Rectangle 3"/>
          <p:cNvSpPr txBox="1">
            <a:spLocks noChangeArrowheads="1"/>
          </p:cNvSpPr>
          <p:nvPr/>
        </p:nvSpPr>
        <p:spPr bwMode="auto">
          <a:xfrm>
            <a:off x="685800" y="1773238"/>
            <a:ext cx="7772400" cy="3527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Tx/>
              <a:buChar char="•"/>
              <a:tabLst/>
              <a:defRPr/>
            </a:pPr>
            <a:r>
              <a:rPr kumimoji="0" lang="en-US" altLang="zh-CN" sz="3200" b="0" i="0" u="none" strike="noStrike" kern="1200" cap="none" spc="0" normalizeH="0" baseline="0" noProof="0" smtClean="0">
                <a:ln>
                  <a:noFill/>
                </a:ln>
                <a:solidFill>
                  <a:srgbClr val="000000"/>
                </a:solidFill>
                <a:effectLst/>
                <a:uLnTx/>
                <a:uFillTx/>
                <a:latin typeface="Times New Roman"/>
                <a:ea typeface="宋体"/>
                <a:cs typeface="+mn-cs"/>
              </a:rPr>
              <a:t>Access to Names:</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Parameters and local variable can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no longer be accessed by fixed addresses</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instead they must be found by offset from the current frame pointer.</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In most language, the offset can be statically computable by the compiler.</a:t>
            </a:r>
            <a:endParaRPr kumimoji="0" lang="zh-CN" altLang="en-US" sz="28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20598875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3" name="矩形 2"/>
          <p:cNvSpPr/>
          <p:nvPr/>
        </p:nvSpPr>
        <p:spPr>
          <a:xfrm>
            <a:off x="7268198" y="1968861"/>
            <a:ext cx="1764707" cy="2492990"/>
          </a:xfrm>
          <a:prstGeom prst="rect">
            <a:avLst/>
          </a:prstGeom>
        </p:spPr>
        <p:txBody>
          <a:bodyPr wrap="square">
            <a:spAutoFit/>
          </a:bodyPr>
          <a:lstStyle/>
          <a:p>
            <a:pPr marL="342900" marR="0" lvl="0" indent="-342900" defTabSz="914400" eaLnBrk="1" fontAlgn="base" latinLnBrk="0" hangingPunct="1">
              <a:lnSpc>
                <a:spcPct val="80000"/>
              </a:lnSpc>
              <a:spcBef>
                <a:spcPct val="20000"/>
              </a:spcBef>
              <a:spcAft>
                <a:spcPct val="0"/>
              </a:spcAft>
              <a:buClrTx/>
              <a:buSzTx/>
              <a:buFontTx/>
              <a:buNone/>
              <a:tabLst/>
              <a:defRPr/>
            </a:pPr>
            <a:r>
              <a:rPr kumimoji="0" lang="en-US" altLang="zh-CN" sz="2000" b="1" i="0" u="none" strike="noStrike" kern="0" cap="none" spc="0" normalizeH="0" baseline="0" noProof="0" dirty="0" smtClean="0">
                <a:ln>
                  <a:noFill/>
                </a:ln>
                <a:solidFill>
                  <a:srgbClr val="000000"/>
                </a:solidFill>
                <a:effectLst/>
                <a:uLnTx/>
                <a:uFillTx/>
                <a:latin typeface="Times New Roman"/>
                <a:ea typeface="宋体"/>
              </a:rPr>
              <a:t>void g(</a:t>
            </a:r>
            <a:r>
              <a:rPr kumimoji="0" lang="en-US" altLang="zh-CN" sz="2000" b="1" i="0" u="none" strike="noStrike" kern="0" cap="none" spc="0" normalizeH="0" baseline="0" noProof="0" dirty="0" err="1" smtClean="0">
                <a:ln>
                  <a:noFill/>
                </a:ln>
                <a:solidFill>
                  <a:srgbClr val="000000"/>
                </a:solidFill>
                <a:effectLst/>
                <a:uLnTx/>
                <a:uFillTx/>
                <a:latin typeface="Times New Roman"/>
                <a:ea typeface="宋体"/>
              </a:rPr>
              <a:t>int</a:t>
            </a:r>
            <a:r>
              <a:rPr kumimoji="0" lang="en-US" altLang="zh-CN" sz="2000" b="1" i="0" u="none" strike="noStrike" kern="0" cap="none" spc="0" normalizeH="0" baseline="0" noProof="0" dirty="0" smtClean="0">
                <a:ln>
                  <a:noFill/>
                </a:ln>
                <a:solidFill>
                  <a:srgbClr val="000000"/>
                </a:solidFill>
                <a:effectLst/>
                <a:uLnTx/>
                <a:uFillTx/>
                <a:latin typeface="Times New Roman"/>
                <a:ea typeface="宋体"/>
              </a:rPr>
              <a:t> m)</a:t>
            </a:r>
          </a:p>
          <a:p>
            <a:pPr marL="342900" marR="0" lvl="0" indent="-342900" defTabSz="914400" eaLnBrk="1" fontAlgn="base" latinLnBrk="0" hangingPunct="1">
              <a:lnSpc>
                <a:spcPct val="80000"/>
              </a:lnSpc>
              <a:spcBef>
                <a:spcPct val="20000"/>
              </a:spcBef>
              <a:spcAft>
                <a:spcPct val="0"/>
              </a:spcAft>
              <a:buClrTx/>
              <a:buSzTx/>
              <a:buFontTx/>
              <a:buNone/>
              <a:tabLst/>
              <a:defRPr/>
            </a:pPr>
            <a:r>
              <a:rPr kumimoji="0" lang="en-US" altLang="zh-CN" sz="2000" b="1" i="0" u="none" strike="noStrike" kern="0" cap="none" spc="0" normalizeH="0" baseline="0" noProof="0" dirty="0" smtClean="0">
                <a:ln>
                  <a:noFill/>
                </a:ln>
                <a:solidFill>
                  <a:srgbClr val="000000"/>
                </a:solidFill>
                <a:effectLst/>
                <a:uLnTx/>
                <a:uFillTx/>
                <a:latin typeface="Times New Roman"/>
                <a:ea typeface="宋体"/>
              </a:rPr>
              <a:t>{ </a:t>
            </a:r>
            <a:r>
              <a:rPr kumimoji="0" lang="en-US" altLang="zh-CN" sz="2000" b="1" i="0" u="none" strike="noStrike" kern="0" cap="none" spc="0" normalizeH="0" baseline="0" noProof="0" dirty="0" err="1" smtClean="0">
                <a:ln>
                  <a:noFill/>
                </a:ln>
                <a:solidFill>
                  <a:srgbClr val="000000"/>
                </a:solidFill>
                <a:effectLst/>
                <a:uLnTx/>
                <a:uFillTx/>
                <a:latin typeface="Times New Roman"/>
                <a:ea typeface="宋体"/>
              </a:rPr>
              <a:t>int</a:t>
            </a:r>
            <a:r>
              <a:rPr kumimoji="0" lang="en-US" altLang="zh-CN" sz="2000" b="1" i="0" u="none" strike="noStrike" kern="0" cap="none" spc="0" normalizeH="0" baseline="0" noProof="0" dirty="0" smtClean="0">
                <a:ln>
                  <a:noFill/>
                </a:ln>
                <a:solidFill>
                  <a:srgbClr val="000000"/>
                </a:solidFill>
                <a:effectLst/>
                <a:uLnTx/>
                <a:uFillTx/>
                <a:latin typeface="Times New Roman"/>
                <a:ea typeface="宋体"/>
              </a:rPr>
              <a:t> y=m-1;</a:t>
            </a:r>
          </a:p>
          <a:p>
            <a:pPr marL="342900" marR="0" lvl="0" indent="-342900" defTabSz="914400" eaLnBrk="1" fontAlgn="base" latinLnBrk="0" hangingPunct="1">
              <a:lnSpc>
                <a:spcPct val="80000"/>
              </a:lnSpc>
              <a:spcBef>
                <a:spcPct val="20000"/>
              </a:spcBef>
              <a:spcAft>
                <a:spcPct val="0"/>
              </a:spcAft>
              <a:buClrTx/>
              <a:buSzTx/>
              <a:buFontTx/>
              <a:buNone/>
              <a:tabLst/>
              <a:defRPr/>
            </a:pPr>
            <a:r>
              <a:rPr lang="en-US" altLang="zh-CN" sz="2000" b="1" kern="0" dirty="0">
                <a:solidFill>
                  <a:srgbClr val="000000"/>
                </a:solidFill>
                <a:latin typeface="Times New Roman"/>
                <a:ea typeface="宋体"/>
              </a:rPr>
              <a:t> </a:t>
            </a:r>
            <a:r>
              <a:rPr lang="en-US" altLang="zh-CN" sz="2000" b="1" kern="0" dirty="0" smtClean="0">
                <a:solidFill>
                  <a:srgbClr val="000000"/>
                </a:solidFill>
                <a:latin typeface="Times New Roman"/>
                <a:ea typeface="宋体"/>
              </a:rPr>
              <a:t>  </a:t>
            </a:r>
            <a:r>
              <a:rPr kumimoji="0" lang="en-US" altLang="zh-CN" sz="2000" b="1" i="0" u="none" strike="noStrike" kern="0" cap="none" spc="0" normalizeH="0" baseline="0" noProof="0" dirty="0" smtClean="0">
                <a:ln>
                  <a:noFill/>
                </a:ln>
                <a:solidFill>
                  <a:srgbClr val="000000"/>
                </a:solidFill>
                <a:effectLst/>
                <a:uLnTx/>
                <a:uFillTx/>
                <a:latin typeface="Times New Roman"/>
                <a:ea typeface="宋体"/>
              </a:rPr>
              <a:t>if (y&gt;0){ </a:t>
            </a:r>
          </a:p>
          <a:p>
            <a:pPr marL="342900" marR="0" lvl="0" indent="-342900" defTabSz="914400" eaLnBrk="1" fontAlgn="base" latinLnBrk="0" hangingPunct="1">
              <a:lnSpc>
                <a:spcPct val="80000"/>
              </a:lnSpc>
              <a:spcBef>
                <a:spcPct val="20000"/>
              </a:spcBef>
              <a:spcAft>
                <a:spcPct val="0"/>
              </a:spcAft>
              <a:buClrTx/>
              <a:buSzTx/>
              <a:buFontTx/>
              <a:buNone/>
              <a:tabLst/>
              <a:defRPr/>
            </a:pPr>
            <a:r>
              <a:rPr lang="en-US" altLang="zh-CN" sz="2000" b="1" kern="0" dirty="0">
                <a:solidFill>
                  <a:srgbClr val="000000"/>
                </a:solidFill>
                <a:latin typeface="Times New Roman"/>
                <a:ea typeface="宋体"/>
              </a:rPr>
              <a:t> </a:t>
            </a:r>
            <a:r>
              <a:rPr lang="en-US" altLang="zh-CN" sz="2000" b="1" kern="0" dirty="0" smtClean="0">
                <a:solidFill>
                  <a:srgbClr val="000000"/>
                </a:solidFill>
                <a:latin typeface="Times New Roman"/>
                <a:ea typeface="宋体"/>
              </a:rPr>
              <a:t>    </a:t>
            </a:r>
            <a:r>
              <a:rPr kumimoji="0" lang="en-US" altLang="zh-CN" sz="2000" b="1" i="0" u="none" strike="noStrike" kern="0" cap="none" spc="0" normalizeH="0" baseline="0" noProof="0" dirty="0" smtClean="0">
                <a:ln>
                  <a:noFill/>
                </a:ln>
                <a:solidFill>
                  <a:srgbClr val="000000"/>
                </a:solidFill>
                <a:effectLst/>
                <a:uLnTx/>
                <a:uFillTx/>
                <a:latin typeface="Times New Roman"/>
                <a:ea typeface="宋体"/>
              </a:rPr>
              <a:t>f(y);</a:t>
            </a:r>
          </a:p>
          <a:p>
            <a:pPr marL="342900" marR="0" lvl="0" indent="-342900" defTabSz="914400" eaLnBrk="1" fontAlgn="base" latinLnBrk="0" hangingPunct="1">
              <a:lnSpc>
                <a:spcPct val="80000"/>
              </a:lnSpc>
              <a:spcBef>
                <a:spcPct val="20000"/>
              </a:spcBef>
              <a:spcAft>
                <a:spcPct val="0"/>
              </a:spcAft>
              <a:buClrTx/>
              <a:buSzTx/>
              <a:buFontTx/>
              <a:buNone/>
              <a:tabLst/>
              <a:defRPr/>
            </a:pPr>
            <a:r>
              <a:rPr kumimoji="0" lang="en-US" altLang="zh-CN" sz="2000" b="1" i="0" u="none" strike="noStrike" kern="0" cap="none" spc="0" normalizeH="0" baseline="0" noProof="0" dirty="0" smtClean="0">
                <a:ln>
                  <a:noFill/>
                </a:ln>
                <a:solidFill>
                  <a:srgbClr val="000000"/>
                </a:solidFill>
                <a:effectLst/>
                <a:uLnTx/>
                <a:uFillTx/>
                <a:latin typeface="Times New Roman"/>
                <a:ea typeface="宋体"/>
              </a:rPr>
              <a:t>	x--;</a:t>
            </a:r>
          </a:p>
          <a:p>
            <a:pPr marL="342900" marR="0" lvl="0" indent="-342900" defTabSz="914400" eaLnBrk="1" fontAlgn="base" latinLnBrk="0" hangingPunct="1">
              <a:lnSpc>
                <a:spcPct val="80000"/>
              </a:lnSpc>
              <a:spcBef>
                <a:spcPct val="20000"/>
              </a:spcBef>
              <a:spcAft>
                <a:spcPct val="0"/>
              </a:spcAft>
              <a:buClrTx/>
              <a:buSzTx/>
              <a:buFontTx/>
              <a:buNone/>
              <a:tabLst/>
              <a:defRPr/>
            </a:pPr>
            <a:r>
              <a:rPr kumimoji="0" lang="en-US" altLang="zh-CN" sz="2000" b="1" i="0" u="none" strike="noStrike" kern="0" cap="none" spc="0" normalizeH="0" baseline="0" noProof="0" dirty="0" smtClean="0">
                <a:ln>
                  <a:noFill/>
                </a:ln>
                <a:solidFill>
                  <a:srgbClr val="000000"/>
                </a:solidFill>
                <a:effectLst/>
                <a:uLnTx/>
                <a:uFillTx/>
                <a:latin typeface="Times New Roman"/>
                <a:ea typeface="宋体"/>
              </a:rPr>
              <a:t>	g(y);</a:t>
            </a:r>
          </a:p>
          <a:p>
            <a:pPr marL="342900" marR="0" lvl="0" indent="-342900" defTabSz="914400" eaLnBrk="1" fontAlgn="base" latinLnBrk="0" hangingPunct="1">
              <a:lnSpc>
                <a:spcPct val="80000"/>
              </a:lnSpc>
              <a:spcBef>
                <a:spcPct val="20000"/>
              </a:spcBef>
              <a:spcAft>
                <a:spcPct val="0"/>
              </a:spcAft>
              <a:buClrTx/>
              <a:buSzTx/>
              <a:buFontTx/>
              <a:buNone/>
              <a:tabLst/>
              <a:defRPr/>
            </a:pPr>
            <a:r>
              <a:rPr lang="en-US" altLang="zh-CN" sz="2000" b="1" kern="0" dirty="0">
                <a:solidFill>
                  <a:srgbClr val="000000"/>
                </a:solidFill>
                <a:latin typeface="Times New Roman"/>
                <a:ea typeface="宋体"/>
              </a:rPr>
              <a:t> </a:t>
            </a:r>
            <a:r>
              <a:rPr lang="en-US" altLang="zh-CN" sz="2000" b="1" kern="0" dirty="0" smtClean="0">
                <a:solidFill>
                  <a:srgbClr val="000000"/>
                </a:solidFill>
                <a:latin typeface="Times New Roman"/>
                <a:ea typeface="宋体"/>
              </a:rPr>
              <a:t>  </a:t>
            </a:r>
            <a:r>
              <a:rPr kumimoji="0" lang="en-US" altLang="zh-CN" sz="2000" b="1" i="0" u="none" strike="noStrike" kern="0" cap="none" spc="0" normalizeH="0" baseline="0" noProof="0" dirty="0" smtClean="0">
                <a:ln>
                  <a:noFill/>
                </a:ln>
                <a:solidFill>
                  <a:srgbClr val="000000"/>
                </a:solidFill>
                <a:effectLst/>
                <a:uLnTx/>
                <a:uFillTx/>
                <a:latin typeface="Times New Roman"/>
                <a:ea typeface="宋体"/>
              </a:rPr>
              <a:t>}</a:t>
            </a:r>
          </a:p>
          <a:p>
            <a:pPr marL="342900" marR="0" lvl="0" indent="-342900" defTabSz="914400" eaLnBrk="1" fontAlgn="base" latinLnBrk="0" hangingPunct="1">
              <a:lnSpc>
                <a:spcPct val="80000"/>
              </a:lnSpc>
              <a:spcBef>
                <a:spcPct val="20000"/>
              </a:spcBef>
              <a:spcAft>
                <a:spcPct val="0"/>
              </a:spcAft>
              <a:buClrTx/>
              <a:buSzTx/>
              <a:buFontTx/>
              <a:buNone/>
              <a:tabLst/>
              <a:defRPr/>
            </a:pPr>
            <a:r>
              <a:rPr kumimoji="0" lang="en-US" altLang="zh-CN" sz="2000" b="1" i="0" u="none" strike="noStrike" kern="0" cap="none" spc="0" normalizeH="0" baseline="0" noProof="0" dirty="0" smtClean="0">
                <a:ln>
                  <a:noFill/>
                </a:ln>
                <a:solidFill>
                  <a:srgbClr val="000000"/>
                </a:solidFill>
                <a:effectLst/>
                <a:uLnTx/>
                <a:uFillTx/>
                <a:latin typeface="Times New Roman"/>
                <a:ea typeface="宋体"/>
              </a:rPr>
              <a:t>}</a:t>
            </a:r>
            <a:endParaRPr kumimoji="0" lang="zh-CN" altLang="en-US" sz="1800" b="0" i="0" u="none" strike="noStrike" kern="0" cap="none" spc="0" normalizeH="0" baseline="0" noProof="0" dirty="0" smtClean="0">
              <a:ln>
                <a:noFill/>
              </a:ln>
              <a:solidFill>
                <a:sysClr val="windowText" lastClr="000000"/>
              </a:solidFill>
              <a:effectLst/>
              <a:uLnTx/>
              <a:uFillTx/>
            </a:endParaRPr>
          </a:p>
        </p:txBody>
      </p:sp>
      <p:graphicFrame>
        <p:nvGraphicFramePr>
          <p:cNvPr id="4" name="Object 4"/>
          <p:cNvGraphicFramePr>
            <a:graphicFrameLocks noChangeAspect="1"/>
          </p:cNvGraphicFramePr>
          <p:nvPr>
            <p:extLst>
              <p:ext uri="{D42A27DB-BD31-4B8C-83A1-F6EECF244321}">
                <p14:modId xmlns:p14="http://schemas.microsoft.com/office/powerpoint/2010/main" val="2285316122"/>
              </p:ext>
            </p:extLst>
          </p:nvPr>
        </p:nvGraphicFramePr>
        <p:xfrm>
          <a:off x="889460" y="1792614"/>
          <a:ext cx="5848350" cy="4337050"/>
        </p:xfrm>
        <a:graphic>
          <a:graphicData uri="http://schemas.openxmlformats.org/presentationml/2006/ole">
            <mc:AlternateContent xmlns:mc="http://schemas.openxmlformats.org/markup-compatibility/2006">
              <mc:Choice xmlns:v="urn:schemas-microsoft-com:vml" Requires="v">
                <p:oleObj spid="_x0000_s6180" name="Document" r:id="rId3" imgW="4880904" imgH="3597960" progId="Word.Document.8">
                  <p:embed/>
                </p:oleObj>
              </mc:Choice>
              <mc:Fallback>
                <p:oleObj name="Document" r:id="rId3" imgW="4880904" imgH="3597960" progId="Word.Document.8">
                  <p:embed/>
                  <p:pic>
                    <p:nvPicPr>
                      <p:cNvPr id="0" name=""/>
                      <p:cNvPicPr>
                        <a:picLocks noChangeAspect="1" noChangeArrowheads="1"/>
                      </p:cNvPicPr>
                      <p:nvPr/>
                    </p:nvPicPr>
                    <p:blipFill>
                      <a:blip r:embed="rId4"/>
                      <a:srcRect/>
                      <a:stretch>
                        <a:fillRect/>
                      </a:stretch>
                    </p:blipFill>
                    <p:spPr bwMode="auto">
                      <a:xfrm>
                        <a:off x="889460" y="1792614"/>
                        <a:ext cx="5848350" cy="4337050"/>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36889848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4" name="Object 4"/>
          <p:cNvGraphicFramePr>
            <a:graphicFrameLocks noChangeAspect="1"/>
          </p:cNvGraphicFramePr>
          <p:nvPr>
            <p:extLst>
              <p:ext uri="{D42A27DB-BD31-4B8C-83A1-F6EECF244321}">
                <p14:modId xmlns:p14="http://schemas.microsoft.com/office/powerpoint/2010/main" val="2576200421"/>
              </p:ext>
            </p:extLst>
          </p:nvPr>
        </p:nvGraphicFramePr>
        <p:xfrm>
          <a:off x="409308" y="1307595"/>
          <a:ext cx="7974013" cy="6265863"/>
        </p:xfrm>
        <a:graphic>
          <a:graphicData uri="http://schemas.openxmlformats.org/presentationml/2006/ole">
            <mc:AlternateContent xmlns:mc="http://schemas.openxmlformats.org/markup-compatibility/2006">
              <mc:Choice xmlns:v="urn:schemas-microsoft-com:vml" Requires="v">
                <p:oleObj spid="_x0000_s7203" name="Document" r:id="rId3" imgW="5111671" imgH="4025801" progId="Word.Document.8">
                  <p:embed/>
                </p:oleObj>
              </mc:Choice>
              <mc:Fallback>
                <p:oleObj name="Document" r:id="rId3" imgW="5111671" imgH="4025801"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9308" y="1307595"/>
                        <a:ext cx="7974013" cy="62658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5" name="Line 5"/>
          <p:cNvSpPr>
            <a:spLocks noChangeShapeType="1"/>
          </p:cNvSpPr>
          <p:nvPr/>
        </p:nvSpPr>
        <p:spPr bwMode="auto">
          <a:xfrm>
            <a:off x="1488808" y="4690558"/>
            <a:ext cx="865188"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 name="Line 6"/>
          <p:cNvSpPr>
            <a:spLocks noChangeShapeType="1"/>
          </p:cNvSpPr>
          <p:nvPr/>
        </p:nvSpPr>
        <p:spPr bwMode="auto">
          <a:xfrm>
            <a:off x="4657458" y="4042858"/>
            <a:ext cx="93662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 name="Line 8"/>
          <p:cNvSpPr>
            <a:spLocks noChangeShapeType="1"/>
          </p:cNvSpPr>
          <p:nvPr/>
        </p:nvSpPr>
        <p:spPr bwMode="auto">
          <a:xfrm>
            <a:off x="4657458" y="4403220"/>
            <a:ext cx="8636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 name="Line 9"/>
          <p:cNvSpPr>
            <a:spLocks noChangeShapeType="1"/>
          </p:cNvSpPr>
          <p:nvPr/>
        </p:nvSpPr>
        <p:spPr bwMode="auto">
          <a:xfrm>
            <a:off x="4657458" y="4690558"/>
            <a:ext cx="93662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9" name="Line 10"/>
          <p:cNvSpPr>
            <a:spLocks noChangeShapeType="1"/>
          </p:cNvSpPr>
          <p:nvPr/>
        </p:nvSpPr>
        <p:spPr bwMode="auto">
          <a:xfrm>
            <a:off x="4657458" y="6274883"/>
            <a:ext cx="6477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0" name="Line 11"/>
          <p:cNvSpPr>
            <a:spLocks noChangeShapeType="1"/>
          </p:cNvSpPr>
          <p:nvPr/>
        </p:nvSpPr>
        <p:spPr bwMode="auto">
          <a:xfrm flipV="1">
            <a:off x="4657458" y="4042858"/>
            <a:ext cx="0" cy="574675"/>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1" name="Line 12"/>
          <p:cNvSpPr>
            <a:spLocks noChangeShapeType="1"/>
          </p:cNvSpPr>
          <p:nvPr/>
        </p:nvSpPr>
        <p:spPr bwMode="auto">
          <a:xfrm flipV="1">
            <a:off x="5017821" y="4403220"/>
            <a:ext cx="0" cy="28733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 name="Line 13"/>
          <p:cNvSpPr>
            <a:spLocks noChangeShapeType="1"/>
          </p:cNvSpPr>
          <p:nvPr/>
        </p:nvSpPr>
        <p:spPr bwMode="auto">
          <a:xfrm>
            <a:off x="4657458" y="4690558"/>
            <a:ext cx="0" cy="1584325"/>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3" name="Line 14"/>
          <p:cNvSpPr>
            <a:spLocks noChangeShapeType="1"/>
          </p:cNvSpPr>
          <p:nvPr/>
        </p:nvSpPr>
        <p:spPr bwMode="auto">
          <a:xfrm>
            <a:off x="5378183" y="4690558"/>
            <a:ext cx="0" cy="201771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Tree>
    <p:extLst>
      <p:ext uri="{BB962C8B-B14F-4D97-AF65-F5344CB8AC3E}">
        <p14:creationId xmlns:p14="http://schemas.microsoft.com/office/powerpoint/2010/main" val="8710300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3" name="Object 4"/>
          <p:cNvGraphicFramePr>
            <a:graphicFrameLocks noChangeAspect="1"/>
          </p:cNvGraphicFramePr>
          <p:nvPr>
            <p:extLst>
              <p:ext uri="{D42A27DB-BD31-4B8C-83A1-F6EECF244321}">
                <p14:modId xmlns:p14="http://schemas.microsoft.com/office/powerpoint/2010/main" val="1504751503"/>
              </p:ext>
            </p:extLst>
          </p:nvPr>
        </p:nvGraphicFramePr>
        <p:xfrm>
          <a:off x="518207" y="1696013"/>
          <a:ext cx="8499475" cy="5012436"/>
        </p:xfrm>
        <a:graphic>
          <a:graphicData uri="http://schemas.openxmlformats.org/presentationml/2006/ole">
            <mc:AlternateContent xmlns:mc="http://schemas.openxmlformats.org/markup-compatibility/2006">
              <mc:Choice xmlns:v="urn:schemas-microsoft-com:vml" Requires="v">
                <p:oleObj spid="_x0000_s8226" name="文档" r:id="rId3" imgW="4346896" imgH="2707029" progId="Word.Document.8">
                  <p:embed/>
                </p:oleObj>
              </mc:Choice>
              <mc:Fallback>
                <p:oleObj name="文档" r:id="rId3" imgW="4346896" imgH="2707029"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18207" y="1696013"/>
                        <a:ext cx="8499475" cy="5012436"/>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19978238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3" name="Rectangle 3"/>
          <p:cNvSpPr txBox="1">
            <a:spLocks noChangeArrowheads="1"/>
          </p:cNvSpPr>
          <p:nvPr/>
        </p:nvSpPr>
        <p:spPr bwMode="auto">
          <a:xfrm>
            <a:off x="685800" y="1382713"/>
            <a:ext cx="7772400" cy="5475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The calling sequence: </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When a procedure is called</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1" i="0" u="none" strike="noStrike" kern="1200" cap="none" spc="0" normalizeH="0" baseline="0" noProof="0" smtClean="0">
                <a:ln>
                  <a:noFill/>
                </a:ln>
                <a:solidFill>
                  <a:srgbClr val="000000"/>
                </a:solidFill>
                <a:effectLst/>
                <a:uLnTx/>
                <a:uFillTx/>
                <a:latin typeface="Times New Roman"/>
                <a:ea typeface="宋体"/>
                <a:cs typeface="+mn-cs"/>
              </a:rPr>
              <a:t>Compute the arguments</a:t>
            </a: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and store them in their correct positions in the new activation record of the procedure;</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1" i="0" u="none" strike="noStrike" kern="1200" cap="none" spc="0" normalizeH="0" baseline="0" noProof="0" smtClean="0">
                <a:ln>
                  <a:noFill/>
                </a:ln>
                <a:solidFill>
                  <a:srgbClr val="000000"/>
                </a:solidFill>
                <a:effectLst/>
                <a:uLnTx/>
                <a:uFillTx/>
                <a:latin typeface="Times New Roman"/>
                <a:ea typeface="宋体"/>
                <a:cs typeface="+mn-cs"/>
              </a:rPr>
              <a:t>Store the fp</a:t>
            </a: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as the control link in the new activation record;</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1" i="0" u="none" strike="noStrike" kern="1200" cap="none" spc="0" normalizeH="0" baseline="0" noProof="0" smtClean="0">
                <a:ln>
                  <a:noFill/>
                </a:ln>
                <a:solidFill>
                  <a:srgbClr val="000000"/>
                </a:solidFill>
                <a:effectLst/>
                <a:uLnTx/>
                <a:uFillTx/>
                <a:latin typeface="Times New Roman"/>
                <a:ea typeface="宋体"/>
                <a:cs typeface="+mn-cs"/>
              </a:rPr>
              <a:t>Change the fp</a:t>
            </a: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so that it points to the beginning of the new activation record;</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1" i="0" u="none" strike="noStrike" kern="1200" cap="none" spc="0" normalizeH="0" baseline="0" noProof="0" smtClean="0">
                <a:ln>
                  <a:noFill/>
                </a:ln>
                <a:solidFill>
                  <a:srgbClr val="000000"/>
                </a:solidFill>
                <a:effectLst/>
                <a:uLnTx/>
                <a:uFillTx/>
                <a:latin typeface="Times New Roman"/>
                <a:ea typeface="宋体"/>
                <a:cs typeface="+mn-cs"/>
              </a:rPr>
              <a:t>Store the return address</a:t>
            </a: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in the new activation record;</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1" i="0" u="none" strike="noStrike" kern="1200" cap="none" spc="0" normalizeH="0" baseline="0" noProof="0" smtClean="0">
                <a:ln>
                  <a:noFill/>
                </a:ln>
                <a:solidFill>
                  <a:srgbClr val="000000"/>
                </a:solidFill>
                <a:effectLst/>
                <a:uLnTx/>
                <a:uFillTx/>
                <a:latin typeface="Times New Roman"/>
                <a:ea typeface="宋体"/>
                <a:cs typeface="+mn-cs"/>
              </a:rPr>
              <a:t>Perform a jump</a:t>
            </a: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to the code of the procedure to be called.</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When a procedure exits</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Copy the </a:t>
            </a:r>
            <a:r>
              <a:rPr kumimoji="0" lang="en-US" altLang="zh-CN" sz="2000" b="1" i="0" u="none" strike="noStrike" kern="1200" cap="none" spc="0" normalizeH="0" baseline="0" noProof="0" smtClean="0">
                <a:ln>
                  <a:noFill/>
                </a:ln>
                <a:solidFill>
                  <a:srgbClr val="000000"/>
                </a:solidFill>
                <a:effectLst/>
                <a:uLnTx/>
                <a:uFillTx/>
                <a:latin typeface="Times New Roman"/>
                <a:ea typeface="宋体"/>
                <a:cs typeface="+mn-cs"/>
              </a:rPr>
              <a:t>fp</a:t>
            </a: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 to the </a:t>
            </a:r>
            <a:r>
              <a:rPr kumimoji="0" lang="en-US" altLang="zh-CN" sz="2000" b="1" i="0" u="none" strike="noStrike" kern="1200" cap="none" spc="0" normalizeH="0" baseline="0" noProof="0" smtClean="0">
                <a:ln>
                  <a:noFill/>
                </a:ln>
                <a:solidFill>
                  <a:srgbClr val="000000"/>
                </a:solidFill>
                <a:effectLst/>
                <a:uLnTx/>
                <a:uFillTx/>
                <a:latin typeface="Times New Roman"/>
                <a:ea typeface="宋体"/>
                <a:cs typeface="+mn-cs"/>
              </a:rPr>
              <a:t>sp</a:t>
            </a: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Load the control link into the </a:t>
            </a:r>
            <a:r>
              <a:rPr kumimoji="0" lang="en-US" altLang="zh-CN" sz="2000" b="1" i="0" u="none" strike="noStrike" kern="1200" cap="none" spc="0" normalizeH="0" baseline="0" noProof="0" smtClean="0">
                <a:ln>
                  <a:noFill/>
                </a:ln>
                <a:solidFill>
                  <a:srgbClr val="000000"/>
                </a:solidFill>
                <a:effectLst/>
                <a:uLnTx/>
                <a:uFillTx/>
                <a:latin typeface="Times New Roman"/>
                <a:ea typeface="宋体"/>
                <a:cs typeface="+mn-cs"/>
              </a:rPr>
              <a:t>fp</a:t>
            </a: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Perform a jump to the return address;</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Change the </a:t>
            </a:r>
            <a:r>
              <a:rPr kumimoji="0" lang="en-US" altLang="zh-CN" sz="2000" b="1" i="0" u="none" strike="noStrike" kern="1200" cap="none" spc="0" normalizeH="0" baseline="0" noProof="0" smtClean="0">
                <a:ln>
                  <a:noFill/>
                </a:ln>
                <a:solidFill>
                  <a:srgbClr val="000000"/>
                </a:solidFill>
                <a:effectLst/>
                <a:uLnTx/>
                <a:uFillTx/>
                <a:latin typeface="Times New Roman"/>
                <a:ea typeface="宋体"/>
                <a:cs typeface="+mn-cs"/>
              </a:rPr>
              <a:t>sp </a:t>
            </a: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to pop the arguments.</a:t>
            </a:r>
            <a:endParaRPr kumimoji="0" lang="zh-CN" altLang="en-US" sz="20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28009311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3" name="Object 4"/>
          <p:cNvGraphicFramePr>
            <a:graphicFrameLocks noChangeAspect="1"/>
          </p:cNvGraphicFramePr>
          <p:nvPr>
            <p:extLst>
              <p:ext uri="{D42A27DB-BD31-4B8C-83A1-F6EECF244321}">
                <p14:modId xmlns:p14="http://schemas.microsoft.com/office/powerpoint/2010/main" val="382521306"/>
              </p:ext>
            </p:extLst>
          </p:nvPr>
        </p:nvGraphicFramePr>
        <p:xfrm>
          <a:off x="-389872" y="1700183"/>
          <a:ext cx="9637713" cy="4737100"/>
        </p:xfrm>
        <a:graphic>
          <a:graphicData uri="http://schemas.openxmlformats.org/presentationml/2006/ole">
            <mc:AlternateContent xmlns:mc="http://schemas.openxmlformats.org/markup-compatibility/2006">
              <mc:Choice xmlns:v="urn:schemas-microsoft-com:vml" Requires="v">
                <p:oleObj spid="_x0000_s9248" name="Document" r:id="rId3" imgW="5317503" imgH="2619903" progId="Word.Document.8">
                  <p:embed/>
                </p:oleObj>
              </mc:Choice>
              <mc:Fallback>
                <p:oleObj name="Document" r:id="rId3" imgW="5317503" imgH="2619903"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9872" y="1700183"/>
                        <a:ext cx="9637713" cy="47371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4" name="Line 5"/>
          <p:cNvSpPr>
            <a:spLocks noChangeShapeType="1"/>
          </p:cNvSpPr>
          <p:nvPr/>
        </p:nvSpPr>
        <p:spPr bwMode="auto">
          <a:xfrm>
            <a:off x="1631016" y="4598958"/>
            <a:ext cx="1008062"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 name="Line 6"/>
          <p:cNvSpPr>
            <a:spLocks noChangeShapeType="1"/>
          </p:cNvSpPr>
          <p:nvPr/>
        </p:nvSpPr>
        <p:spPr bwMode="auto">
          <a:xfrm>
            <a:off x="1557991" y="5391120"/>
            <a:ext cx="1081087"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 name="Line 7"/>
          <p:cNvSpPr>
            <a:spLocks noChangeShapeType="1"/>
          </p:cNvSpPr>
          <p:nvPr/>
        </p:nvSpPr>
        <p:spPr bwMode="auto">
          <a:xfrm flipH="1">
            <a:off x="1991378" y="4383058"/>
            <a:ext cx="1223963"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 name="Line 8"/>
          <p:cNvSpPr>
            <a:spLocks noChangeShapeType="1"/>
          </p:cNvSpPr>
          <p:nvPr/>
        </p:nvSpPr>
        <p:spPr bwMode="auto">
          <a:xfrm flipV="1">
            <a:off x="1991378" y="3590895"/>
            <a:ext cx="0" cy="792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Tree>
    <p:extLst>
      <p:ext uri="{BB962C8B-B14F-4D97-AF65-F5344CB8AC3E}">
        <p14:creationId xmlns:p14="http://schemas.microsoft.com/office/powerpoint/2010/main" val="41111337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3" name="Object 4"/>
          <p:cNvGraphicFramePr>
            <a:graphicFrameLocks noChangeAspect="1"/>
          </p:cNvGraphicFramePr>
          <p:nvPr>
            <p:extLst>
              <p:ext uri="{D42A27DB-BD31-4B8C-83A1-F6EECF244321}">
                <p14:modId xmlns:p14="http://schemas.microsoft.com/office/powerpoint/2010/main" val="1807200360"/>
              </p:ext>
            </p:extLst>
          </p:nvPr>
        </p:nvGraphicFramePr>
        <p:xfrm>
          <a:off x="253229" y="1962447"/>
          <a:ext cx="8785225" cy="4675188"/>
        </p:xfrm>
        <a:graphic>
          <a:graphicData uri="http://schemas.openxmlformats.org/presentationml/2006/ole">
            <mc:AlternateContent xmlns:mc="http://schemas.openxmlformats.org/markup-compatibility/2006">
              <mc:Choice xmlns:v="urn:schemas-microsoft-com:vml" Requires="v">
                <p:oleObj spid="_x0000_s10272" name="文档" r:id="rId3" imgW="4975528" imgH="2649425" progId="Word.Document.8">
                  <p:embed/>
                </p:oleObj>
              </mc:Choice>
              <mc:Fallback>
                <p:oleObj name="文档" r:id="rId3" imgW="4975528" imgH="2649425"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53229" y="1962447"/>
                        <a:ext cx="8785225" cy="46751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4" name="Line 5"/>
          <p:cNvSpPr>
            <a:spLocks noChangeShapeType="1"/>
          </p:cNvSpPr>
          <p:nvPr/>
        </p:nvSpPr>
        <p:spPr bwMode="auto">
          <a:xfrm>
            <a:off x="2196329" y="4124622"/>
            <a:ext cx="1008063"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 name="Line 6"/>
          <p:cNvSpPr>
            <a:spLocks noChangeShapeType="1"/>
          </p:cNvSpPr>
          <p:nvPr/>
        </p:nvSpPr>
        <p:spPr bwMode="auto">
          <a:xfrm>
            <a:off x="2053454" y="5348585"/>
            <a:ext cx="1223963"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 name="Line 7"/>
          <p:cNvSpPr>
            <a:spLocks noChangeShapeType="1"/>
          </p:cNvSpPr>
          <p:nvPr/>
        </p:nvSpPr>
        <p:spPr bwMode="auto">
          <a:xfrm flipH="1">
            <a:off x="2629717" y="3908722"/>
            <a:ext cx="100806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 name="Line 8"/>
          <p:cNvSpPr>
            <a:spLocks noChangeShapeType="1"/>
          </p:cNvSpPr>
          <p:nvPr/>
        </p:nvSpPr>
        <p:spPr bwMode="auto">
          <a:xfrm flipV="1">
            <a:off x="2629717" y="2757785"/>
            <a:ext cx="0" cy="115093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Tree>
    <p:extLst>
      <p:ext uri="{BB962C8B-B14F-4D97-AF65-F5344CB8AC3E}">
        <p14:creationId xmlns:p14="http://schemas.microsoft.com/office/powerpoint/2010/main" val="2832429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3" name="Object 4"/>
          <p:cNvGraphicFramePr>
            <a:graphicFrameLocks noChangeAspect="1"/>
          </p:cNvGraphicFramePr>
          <p:nvPr>
            <p:extLst>
              <p:ext uri="{D42A27DB-BD31-4B8C-83A1-F6EECF244321}">
                <p14:modId xmlns:p14="http://schemas.microsoft.com/office/powerpoint/2010/main" val="3304033296"/>
              </p:ext>
            </p:extLst>
          </p:nvPr>
        </p:nvGraphicFramePr>
        <p:xfrm>
          <a:off x="318375" y="1737141"/>
          <a:ext cx="8497887" cy="4806950"/>
        </p:xfrm>
        <a:graphic>
          <a:graphicData uri="http://schemas.openxmlformats.org/presentationml/2006/ole">
            <mc:AlternateContent xmlns:mc="http://schemas.openxmlformats.org/markup-compatibility/2006">
              <mc:Choice xmlns:v="urn:schemas-microsoft-com:vml" Requires="v">
                <p:oleObj spid="_x0000_s11296" name="文档" r:id="rId3" imgW="5158011" imgH="2917643" progId="Word.Document.8">
                  <p:embed/>
                </p:oleObj>
              </mc:Choice>
              <mc:Fallback>
                <p:oleObj name="文档" r:id="rId3" imgW="5158011" imgH="2917643"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8375" y="1737141"/>
                        <a:ext cx="8497887" cy="4806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4" name="Line 5"/>
          <p:cNvSpPr>
            <a:spLocks noChangeShapeType="1"/>
          </p:cNvSpPr>
          <p:nvPr/>
        </p:nvSpPr>
        <p:spPr bwMode="auto">
          <a:xfrm>
            <a:off x="2191625" y="5048666"/>
            <a:ext cx="863600"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 name="Line 6"/>
          <p:cNvSpPr>
            <a:spLocks noChangeShapeType="1"/>
          </p:cNvSpPr>
          <p:nvPr/>
        </p:nvSpPr>
        <p:spPr bwMode="auto">
          <a:xfrm flipH="1">
            <a:off x="2407525" y="4761329"/>
            <a:ext cx="115093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 name="Line 7"/>
          <p:cNvSpPr>
            <a:spLocks noChangeShapeType="1"/>
          </p:cNvSpPr>
          <p:nvPr/>
        </p:nvSpPr>
        <p:spPr bwMode="auto">
          <a:xfrm flipV="1">
            <a:off x="2407525" y="3680241"/>
            <a:ext cx="0" cy="10810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 name="Line 8"/>
          <p:cNvSpPr>
            <a:spLocks noChangeShapeType="1"/>
          </p:cNvSpPr>
          <p:nvPr/>
        </p:nvSpPr>
        <p:spPr bwMode="auto">
          <a:xfrm flipV="1">
            <a:off x="2407525" y="3464341"/>
            <a:ext cx="719137" cy="2159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 name="Line 9"/>
          <p:cNvSpPr>
            <a:spLocks noChangeShapeType="1"/>
          </p:cNvSpPr>
          <p:nvPr/>
        </p:nvSpPr>
        <p:spPr bwMode="auto">
          <a:xfrm>
            <a:off x="2334500" y="3392904"/>
            <a:ext cx="576262"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Tree>
    <p:extLst>
      <p:ext uri="{BB962C8B-B14F-4D97-AF65-F5344CB8AC3E}">
        <p14:creationId xmlns:p14="http://schemas.microsoft.com/office/powerpoint/2010/main" val="8862668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9" name="Object 4"/>
          <p:cNvGraphicFramePr>
            <a:graphicFrameLocks noChangeAspect="1"/>
          </p:cNvGraphicFramePr>
          <p:nvPr>
            <p:extLst>
              <p:ext uri="{D42A27DB-BD31-4B8C-83A1-F6EECF244321}">
                <p14:modId xmlns:p14="http://schemas.microsoft.com/office/powerpoint/2010/main" val="3517182947"/>
              </p:ext>
            </p:extLst>
          </p:nvPr>
        </p:nvGraphicFramePr>
        <p:xfrm>
          <a:off x="93930" y="1673225"/>
          <a:ext cx="8785225" cy="5184775"/>
        </p:xfrm>
        <a:graphic>
          <a:graphicData uri="http://schemas.openxmlformats.org/presentationml/2006/ole">
            <mc:AlternateContent xmlns:mc="http://schemas.openxmlformats.org/markup-compatibility/2006">
              <mc:Choice xmlns:v="urn:schemas-microsoft-com:vml" Requires="v">
                <p:oleObj spid="_x0000_s12320" name="文档" r:id="rId3" imgW="5659838" imgH="3340673" progId="Word.Document.8">
                  <p:embed/>
                </p:oleObj>
              </mc:Choice>
              <mc:Fallback>
                <p:oleObj name="文档" r:id="rId3" imgW="5659838" imgH="3340673"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3930" y="1673225"/>
                        <a:ext cx="8785225" cy="51847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0" name="Line 5"/>
          <p:cNvSpPr>
            <a:spLocks noChangeShapeType="1"/>
          </p:cNvSpPr>
          <p:nvPr/>
        </p:nvSpPr>
        <p:spPr bwMode="auto">
          <a:xfrm>
            <a:off x="2254517" y="5705475"/>
            <a:ext cx="647700"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1" name="Line 6"/>
          <p:cNvSpPr>
            <a:spLocks noChangeShapeType="1"/>
          </p:cNvSpPr>
          <p:nvPr/>
        </p:nvSpPr>
        <p:spPr bwMode="auto">
          <a:xfrm>
            <a:off x="2183080" y="5273675"/>
            <a:ext cx="719137"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 name="Line 7"/>
          <p:cNvSpPr>
            <a:spLocks noChangeShapeType="1"/>
          </p:cNvSpPr>
          <p:nvPr/>
        </p:nvSpPr>
        <p:spPr bwMode="auto">
          <a:xfrm flipH="1">
            <a:off x="2398980" y="4841875"/>
            <a:ext cx="100806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3" name="Line 8"/>
          <p:cNvSpPr>
            <a:spLocks noChangeShapeType="1"/>
          </p:cNvSpPr>
          <p:nvPr/>
        </p:nvSpPr>
        <p:spPr bwMode="auto">
          <a:xfrm flipV="1">
            <a:off x="2398980" y="3976687"/>
            <a:ext cx="0" cy="792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4" name="Line 9"/>
          <p:cNvSpPr>
            <a:spLocks noChangeShapeType="1"/>
          </p:cNvSpPr>
          <p:nvPr/>
        </p:nvSpPr>
        <p:spPr bwMode="auto">
          <a:xfrm flipV="1">
            <a:off x="2398980" y="3760787"/>
            <a:ext cx="574675" cy="2159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5" name="Line 10"/>
          <p:cNvSpPr>
            <a:spLocks noChangeShapeType="1"/>
          </p:cNvSpPr>
          <p:nvPr/>
        </p:nvSpPr>
        <p:spPr bwMode="auto">
          <a:xfrm flipH="1">
            <a:off x="2470417" y="3402012"/>
            <a:ext cx="792163"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 name="Line 11"/>
          <p:cNvSpPr>
            <a:spLocks noChangeShapeType="1"/>
          </p:cNvSpPr>
          <p:nvPr/>
        </p:nvSpPr>
        <p:spPr bwMode="auto">
          <a:xfrm flipV="1">
            <a:off x="2470417" y="2681287"/>
            <a:ext cx="0" cy="7207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Tree>
    <p:extLst>
      <p:ext uri="{BB962C8B-B14F-4D97-AF65-F5344CB8AC3E}">
        <p14:creationId xmlns:p14="http://schemas.microsoft.com/office/powerpoint/2010/main" val="12698341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9" name="Object 4"/>
          <p:cNvGraphicFramePr>
            <a:graphicFrameLocks noChangeAspect="1"/>
          </p:cNvGraphicFramePr>
          <p:nvPr>
            <p:extLst>
              <p:ext uri="{D42A27DB-BD31-4B8C-83A1-F6EECF244321}">
                <p14:modId xmlns:p14="http://schemas.microsoft.com/office/powerpoint/2010/main" val="1763991871"/>
              </p:ext>
            </p:extLst>
          </p:nvPr>
        </p:nvGraphicFramePr>
        <p:xfrm>
          <a:off x="296018" y="1661044"/>
          <a:ext cx="8394700" cy="5411787"/>
        </p:xfrm>
        <a:graphic>
          <a:graphicData uri="http://schemas.openxmlformats.org/presentationml/2006/ole">
            <mc:AlternateContent xmlns:mc="http://schemas.openxmlformats.org/markup-compatibility/2006">
              <mc:Choice xmlns:v="urn:schemas-microsoft-com:vml" Requires="v">
                <p:oleObj spid="_x0000_s13344" name="文档" r:id="rId3" imgW="5571315" imgH="3584781" progId="Word.Document.8">
                  <p:embed/>
                </p:oleObj>
              </mc:Choice>
              <mc:Fallback>
                <p:oleObj name="文档" r:id="rId3" imgW="5571315" imgH="3584781"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6018" y="1661044"/>
                        <a:ext cx="8394700" cy="54117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0" name="Line 5"/>
          <p:cNvSpPr>
            <a:spLocks noChangeShapeType="1"/>
          </p:cNvSpPr>
          <p:nvPr/>
        </p:nvSpPr>
        <p:spPr bwMode="auto">
          <a:xfrm>
            <a:off x="1974078" y="5990602"/>
            <a:ext cx="957129"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1" name="Line 6"/>
          <p:cNvSpPr>
            <a:spLocks noChangeShapeType="1"/>
          </p:cNvSpPr>
          <p:nvPr/>
        </p:nvSpPr>
        <p:spPr bwMode="auto">
          <a:xfrm>
            <a:off x="2051051" y="5087507"/>
            <a:ext cx="865188"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 name="Line 7"/>
          <p:cNvSpPr>
            <a:spLocks noChangeShapeType="1"/>
          </p:cNvSpPr>
          <p:nvPr/>
        </p:nvSpPr>
        <p:spPr bwMode="auto">
          <a:xfrm flipH="1">
            <a:off x="2343047" y="4756669"/>
            <a:ext cx="93662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3" name="Line 8"/>
          <p:cNvSpPr>
            <a:spLocks noChangeShapeType="1"/>
          </p:cNvSpPr>
          <p:nvPr/>
        </p:nvSpPr>
        <p:spPr bwMode="auto">
          <a:xfrm>
            <a:off x="2343047" y="3964506"/>
            <a:ext cx="0" cy="792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4" name="Line 9"/>
          <p:cNvSpPr>
            <a:spLocks noChangeShapeType="1"/>
          </p:cNvSpPr>
          <p:nvPr/>
        </p:nvSpPr>
        <p:spPr bwMode="auto">
          <a:xfrm flipV="1">
            <a:off x="2343047" y="3748606"/>
            <a:ext cx="504825" cy="2159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5" name="Line 10"/>
          <p:cNvSpPr>
            <a:spLocks noChangeShapeType="1"/>
          </p:cNvSpPr>
          <p:nvPr/>
        </p:nvSpPr>
        <p:spPr bwMode="auto">
          <a:xfrm flipH="1">
            <a:off x="2271609" y="3389831"/>
            <a:ext cx="8636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6" name="Line 11"/>
          <p:cNvSpPr>
            <a:spLocks noChangeShapeType="1"/>
          </p:cNvSpPr>
          <p:nvPr/>
        </p:nvSpPr>
        <p:spPr bwMode="auto">
          <a:xfrm flipV="1">
            <a:off x="2271609" y="2597669"/>
            <a:ext cx="0" cy="7921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Tree>
    <p:extLst>
      <p:ext uri="{BB962C8B-B14F-4D97-AF65-F5344CB8AC3E}">
        <p14:creationId xmlns:p14="http://schemas.microsoft.com/office/powerpoint/2010/main" val="27136657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5" name="Rectangle 3"/>
          <p:cNvSpPr txBox="1">
            <a:spLocks noChangeArrowheads="1"/>
          </p:cNvSpPr>
          <p:nvPr/>
        </p:nvSpPr>
        <p:spPr bwMode="auto">
          <a:xfrm>
            <a:off x="702892" y="1831145"/>
            <a:ext cx="7772400" cy="4248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Tx/>
              <a:buChar char="•"/>
              <a:tabLst/>
              <a:defRPr/>
            </a:pP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Dealing with variable-length data</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The number of arguments in a call may vary from call to call, and</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The size of an array parameter or a local array variable may vary from call to call</a:t>
            </a:r>
          </a:p>
          <a:p>
            <a:pPr marL="742950" marR="0" lvl="1" indent="-28575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An example of situation 1 is the printf function in C:</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Printf(</a:t>
            </a:r>
            <a:r>
              <a:rPr kumimoji="0" lang="en-US" altLang="zh-CN" sz="2400" b="0" i="0" u="none" strike="noStrike" kern="1200" cap="none" spc="0" normalizeH="0" baseline="0" noProof="0" smtClean="0">
                <a:ln>
                  <a:noFill/>
                </a:ln>
                <a:solidFill>
                  <a:srgbClr val="000000"/>
                </a:solidFill>
                <a:effectLst/>
                <a:uLnTx/>
                <a:uFillTx/>
                <a:latin typeface="Arial" panose="020B0604020202020204" pitchFamily="34" charset="0"/>
                <a:ea typeface="宋体"/>
                <a:cs typeface="+mn-cs"/>
              </a:rPr>
              <a:t>“</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%d%s%c</a:t>
            </a:r>
            <a:r>
              <a:rPr kumimoji="0" lang="en-US" altLang="zh-CN" sz="2400" b="0" i="0" u="none" strike="noStrike" kern="1200" cap="none" spc="0" normalizeH="0" baseline="0" noProof="0" smtClean="0">
                <a:ln>
                  <a:noFill/>
                </a:ln>
                <a:solidFill>
                  <a:srgbClr val="000000"/>
                </a:solidFill>
                <a:effectLst/>
                <a:uLnTx/>
                <a:uFillTx/>
                <a:latin typeface="Arial" panose="020B0604020202020204" pitchFamily="34" charset="0"/>
                <a:ea typeface="宋体"/>
                <a:cs typeface="+mn-cs"/>
              </a:rPr>
              <a:t>”</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,n,prompt,ch)</a:t>
            </a:r>
          </a:p>
          <a:p>
            <a:pPr marL="1600200" marR="0" lvl="3"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Has four arguments, while</a:t>
            </a:r>
          </a:p>
          <a:p>
            <a:pPr marL="1143000" marR="0" lvl="2"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Printf(</a:t>
            </a:r>
            <a:r>
              <a:rPr kumimoji="0" lang="en-US" altLang="zh-CN" sz="2400" b="0" i="0" u="none" strike="noStrike" kern="1200" cap="none" spc="0" normalizeH="0" baseline="0" noProof="0" smtClean="0">
                <a:ln>
                  <a:noFill/>
                </a:ln>
                <a:solidFill>
                  <a:srgbClr val="000000"/>
                </a:solidFill>
                <a:effectLst/>
                <a:uLnTx/>
                <a:uFillTx/>
                <a:latin typeface="Arial" panose="020B0604020202020204" pitchFamily="34" charset="0"/>
                <a:ea typeface="宋体"/>
                <a:cs typeface="+mn-cs"/>
              </a:rPr>
              <a:t>“</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Hello, world\n</a:t>
            </a:r>
            <a:r>
              <a:rPr kumimoji="0" lang="en-US" altLang="zh-CN" sz="2400" b="0" i="0" u="none" strike="noStrike" kern="1200" cap="none" spc="0" normalizeH="0" baseline="0" noProof="0" smtClean="0">
                <a:ln>
                  <a:noFill/>
                </a:ln>
                <a:solidFill>
                  <a:srgbClr val="000000"/>
                </a:solidFill>
                <a:effectLst/>
                <a:uLnTx/>
                <a:uFillTx/>
                <a:latin typeface="Arial" panose="020B0604020202020204" pitchFamily="34" charset="0"/>
                <a:ea typeface="宋体"/>
                <a:cs typeface="+mn-cs"/>
              </a:rPr>
              <a:t>”</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a:t>
            </a:r>
          </a:p>
          <a:p>
            <a:pPr marL="1600200" marR="0" lvl="3" indent="-228600" algn="l" defTabSz="914400" rtl="0" eaLnBrk="1" fontAlgn="base" latinLnBrk="0" hangingPunct="1">
              <a:lnSpc>
                <a:spcPct val="100000"/>
              </a:lnSpc>
              <a:spcBef>
                <a:spcPct val="20000"/>
              </a:spcBef>
              <a:spcAft>
                <a:spcPct val="0"/>
              </a:spcAft>
              <a:buClrTx/>
              <a:buSzTx/>
              <a:buFontTx/>
              <a:buChar char="–"/>
              <a:tabLst/>
              <a:defRPr/>
            </a:pPr>
            <a:r>
              <a:rPr kumimoji="0" lang="en-US" altLang="zh-CN" sz="2000" b="0" i="0" u="none" strike="noStrike" kern="1200" cap="none" spc="0" normalizeH="0" baseline="0" noProof="0" smtClean="0">
                <a:ln>
                  <a:noFill/>
                </a:ln>
                <a:solidFill>
                  <a:srgbClr val="000000"/>
                </a:solidFill>
                <a:effectLst/>
                <a:uLnTx/>
                <a:uFillTx/>
                <a:latin typeface="Times New Roman"/>
                <a:ea typeface="宋体"/>
                <a:cs typeface="+mn-cs"/>
              </a:rPr>
              <a:t>Has only one argument</a:t>
            </a:r>
            <a:endParaRPr kumimoji="0" lang="zh-CN" altLang="en-US" sz="20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23036655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4" name="Rectangle 3"/>
          <p:cNvSpPr txBox="1">
            <a:spLocks noChangeArrowheads="1"/>
          </p:cNvSpPr>
          <p:nvPr/>
        </p:nvSpPr>
        <p:spPr bwMode="auto">
          <a:xfrm>
            <a:off x="660162" y="1696326"/>
            <a:ext cx="7772400" cy="3743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C compiler typically deal with this by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pushing the arguments to a call in reverse order</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onto the runtime stack. The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first parameter is always located at a fixed offset from the fp</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in the implementation described above</a:t>
            </a:r>
          </a:p>
          <a:p>
            <a:pPr marL="342900" marR="0" lvl="0" indent="-342900" algn="l" defTabSz="914400" rtl="0" eaLnBrk="1" fontAlgn="base" latinLnBrk="0" hangingPunct="1">
              <a:lnSpc>
                <a:spcPct val="90000"/>
              </a:lnSpc>
              <a:spcBef>
                <a:spcPct val="20000"/>
              </a:spcBef>
              <a:spcAft>
                <a:spcPct val="0"/>
              </a:spcAft>
              <a:buClrTx/>
              <a:buSzTx/>
              <a:buFontTx/>
              <a:buChar char="•"/>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Another option is to use a processor mechanism such as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ap (argument pointer)</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in VAX architecture.</a:t>
            </a:r>
            <a:endParaRPr kumimoji="0" lang="zh-CN" altLang="en-US" sz="28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492002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4" name="Rectangle 3"/>
          <p:cNvSpPr txBox="1">
            <a:spLocks noChangeArrowheads="1"/>
          </p:cNvSpPr>
          <p:nvPr/>
        </p:nvSpPr>
        <p:spPr bwMode="auto">
          <a:xfrm>
            <a:off x="634525" y="1540440"/>
            <a:ext cx="7772400" cy="5187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Local Temporaries and Nested Declarations:</a:t>
            </a: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936625" marR="0" lvl="1" indent="-414338" algn="l" defTabSz="914400" rtl="0" eaLnBrk="1" fontAlgn="base" latinLnBrk="0" hangingPunct="1">
              <a:lnSpc>
                <a:spcPct val="9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Two more complications to the basic stack-based runtime environment</a:t>
            </a:r>
          </a:p>
          <a:p>
            <a:pPr marL="936625" marR="0" lvl="1" indent="-414338"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(1) Local temporaries are partial results of computations that must be saved across procedure calls, for example:</a:t>
            </a:r>
          </a:p>
          <a:p>
            <a:pPr marL="936625" marR="0" lvl="1" indent="-414338"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x[i] = (i + j) *(i/k + f(j))</a:t>
            </a:r>
          </a:p>
          <a:p>
            <a:pPr marL="342900" marR="0" lvl="0" indent="-342900" algn="l" defTabSz="914400" rtl="0" eaLnBrk="1" fontAlgn="base" latinLnBrk="0" hangingPunct="1">
              <a:lnSpc>
                <a:spcPct val="90000"/>
              </a:lnSpc>
              <a:spcBef>
                <a:spcPct val="20000"/>
              </a:spcBef>
              <a:spcAft>
                <a:spcPct val="0"/>
              </a:spcAft>
              <a:buClrTx/>
              <a:buSzTx/>
              <a:buFontTx/>
              <a:buChar char="•"/>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The three partial results need to be saved across the call to f:</a:t>
            </a:r>
          </a:p>
          <a:p>
            <a:pPr marL="936625" marR="0" lvl="1" indent="-414338"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The address x[i];</a:t>
            </a:r>
          </a:p>
          <a:p>
            <a:pPr marL="936625" marR="0" lvl="1" indent="-414338"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The sum i+j;</a:t>
            </a:r>
          </a:p>
          <a:p>
            <a:pPr marL="936625" marR="0" lvl="1" indent="-414338"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The quotient i/k;</a:t>
            </a:r>
            <a:endParaRPr kumimoji="0" lang="zh-CN" altLang="en-US" sz="24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29439472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4" name="Object 4"/>
          <p:cNvGraphicFramePr>
            <a:graphicFrameLocks noChangeAspect="1"/>
          </p:cNvGraphicFramePr>
          <p:nvPr>
            <p:extLst>
              <p:ext uri="{D42A27DB-BD31-4B8C-83A1-F6EECF244321}">
                <p14:modId xmlns:p14="http://schemas.microsoft.com/office/powerpoint/2010/main" val="3313181093"/>
              </p:ext>
            </p:extLst>
          </p:nvPr>
        </p:nvGraphicFramePr>
        <p:xfrm>
          <a:off x="109909" y="1458676"/>
          <a:ext cx="8717897" cy="4796846"/>
        </p:xfrm>
        <a:graphic>
          <a:graphicData uri="http://schemas.openxmlformats.org/presentationml/2006/ole">
            <mc:AlternateContent xmlns:mc="http://schemas.openxmlformats.org/markup-compatibility/2006">
              <mc:Choice xmlns:v="urn:schemas-microsoft-com:vml" Requires="v">
                <p:oleObj spid="_x0000_s14364" name="Document" r:id="rId3" imgW="5599387" imgH="3065863" progId="Word.Document.8">
                  <p:embed/>
                </p:oleObj>
              </mc:Choice>
              <mc:Fallback>
                <p:oleObj name="Document" r:id="rId3" imgW="5599387" imgH="3065863" progId="Word.Document.8">
                  <p:embed/>
                  <p:pic>
                    <p:nvPicPr>
                      <p:cNvPr id="0" name=""/>
                      <p:cNvPicPr>
                        <a:picLocks noChangeAspect="1" noChangeArrowheads="1"/>
                      </p:cNvPicPr>
                      <p:nvPr/>
                    </p:nvPicPr>
                    <p:blipFill>
                      <a:blip r:embed="rId4"/>
                      <a:srcRect/>
                      <a:stretch>
                        <a:fillRect/>
                      </a:stretch>
                    </p:blipFill>
                    <p:spPr bwMode="auto">
                      <a:xfrm>
                        <a:off x="109909" y="1458676"/>
                        <a:ext cx="8717897" cy="4796846"/>
                      </a:xfrm>
                      <a:prstGeom prst="rect">
                        <a:avLst/>
                      </a:prstGeom>
                      <a:noFill/>
                      <a:ln>
                        <a:noFill/>
                      </a:ln>
                      <a:effectLst/>
                      <a:extLst/>
                    </p:spPr>
                  </p:pic>
                </p:oleObj>
              </mc:Fallback>
            </mc:AlternateContent>
          </a:graphicData>
        </a:graphic>
      </p:graphicFrame>
      <p:sp>
        <p:nvSpPr>
          <p:cNvPr id="7" name="Line 7"/>
          <p:cNvSpPr>
            <a:spLocks noChangeShapeType="1"/>
          </p:cNvSpPr>
          <p:nvPr/>
        </p:nvSpPr>
        <p:spPr bwMode="auto">
          <a:xfrm flipH="1">
            <a:off x="2332245" y="2904977"/>
            <a:ext cx="136842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 name="Line 8"/>
          <p:cNvSpPr>
            <a:spLocks noChangeShapeType="1"/>
          </p:cNvSpPr>
          <p:nvPr/>
        </p:nvSpPr>
        <p:spPr bwMode="auto">
          <a:xfrm flipV="1">
            <a:off x="2340791" y="2039790"/>
            <a:ext cx="0" cy="865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Tree>
    <p:extLst>
      <p:ext uri="{BB962C8B-B14F-4D97-AF65-F5344CB8AC3E}">
        <p14:creationId xmlns:p14="http://schemas.microsoft.com/office/powerpoint/2010/main" val="897939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sp>
        <p:nvSpPr>
          <p:cNvPr id="4" name="Rectangle 3"/>
          <p:cNvSpPr txBox="1">
            <a:spLocks noChangeArrowheads="1"/>
          </p:cNvSpPr>
          <p:nvPr/>
        </p:nvSpPr>
        <p:spPr bwMode="auto">
          <a:xfrm>
            <a:off x="1110953" y="1267939"/>
            <a:ext cx="7415613" cy="5590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Nested declarations present a similar problem. Consider the C code</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void p( </a:t>
            </a:r>
            <a:r>
              <a:rPr kumimoji="0" lang="en-US" altLang="zh-CN" sz="1600" b="1" i="0" u="none" strike="noStrike" kern="1200" cap="none" spc="0" normalizeH="0" baseline="0" noProof="0" dirty="0" err="1" smtClean="0">
                <a:ln>
                  <a:noFill/>
                </a:ln>
                <a:solidFill>
                  <a:srgbClr val="000000"/>
                </a:solidFill>
                <a:effectLst/>
                <a:uLnTx/>
                <a:uFillTx/>
                <a:latin typeface="Times New Roman"/>
                <a:ea typeface="宋体"/>
                <a:cs typeface="+mn-cs"/>
              </a:rPr>
              <a:t>int</a:t>
            </a: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x, double y)</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 char a;</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600" b="1" i="0" u="none" strike="noStrike" kern="1200" cap="none" spc="0" normalizeH="0" baseline="0" noProof="0" dirty="0" err="1" smtClean="0">
                <a:ln>
                  <a:noFill/>
                </a:ln>
                <a:solidFill>
                  <a:srgbClr val="000000"/>
                </a:solidFill>
                <a:effectLst/>
                <a:uLnTx/>
                <a:uFillTx/>
                <a:latin typeface="Times New Roman"/>
                <a:ea typeface="宋体"/>
                <a:cs typeface="+mn-cs"/>
              </a:rPr>
              <a:t>int</a:t>
            </a: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I;</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600" b="1" i="0" u="none" strike="noStrike" kern="1200" cap="none" spc="0" normalizeH="0" baseline="0" noProof="0" dirty="0" smtClean="0">
                <a:ln>
                  <a:noFill/>
                </a:ln>
                <a:solidFill>
                  <a:srgbClr val="000000"/>
                </a:solidFill>
                <a:effectLst/>
                <a:uLnTx/>
                <a:uFillTx/>
                <a:latin typeface="Arial" panose="020B0604020202020204" pitchFamily="34" charset="0"/>
                <a:ea typeface="宋体"/>
                <a:cs typeface="+mn-cs"/>
              </a:rPr>
              <a:t>…</a:t>
            </a:r>
            <a:endPar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A:{double x;</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600" b="1" i="0" u="none" strike="noStrike" kern="1200" cap="none" spc="0" normalizeH="0" baseline="0" noProof="0" dirty="0" err="1" smtClean="0">
                <a:ln>
                  <a:noFill/>
                </a:ln>
                <a:solidFill>
                  <a:srgbClr val="000000"/>
                </a:solidFill>
                <a:effectLst/>
                <a:uLnTx/>
                <a:uFillTx/>
                <a:latin typeface="Times New Roman"/>
                <a:ea typeface="宋体"/>
                <a:cs typeface="+mn-cs"/>
              </a:rPr>
              <a:t>Int</a:t>
            </a: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j;</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600" b="1" i="0" u="none" strike="noStrike" kern="1200" cap="none" spc="0" normalizeH="0" baseline="0" noProof="0" dirty="0" smtClean="0">
                <a:ln>
                  <a:noFill/>
                </a:ln>
                <a:solidFill>
                  <a:srgbClr val="000000"/>
                </a:solidFill>
                <a:effectLst/>
                <a:uLnTx/>
                <a:uFillTx/>
                <a:latin typeface="Arial" panose="020B0604020202020204" pitchFamily="34" charset="0"/>
                <a:ea typeface="宋体"/>
                <a:cs typeface="+mn-cs"/>
              </a:rPr>
              <a:t>…</a:t>
            </a:r>
            <a:endPar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600" b="1" i="0" u="none" strike="noStrike" kern="1200" cap="none" spc="0" normalizeH="0" baseline="0" noProof="0" dirty="0" smtClean="0">
                <a:ln>
                  <a:noFill/>
                </a:ln>
                <a:solidFill>
                  <a:srgbClr val="000000"/>
                </a:solidFill>
                <a:effectLst/>
                <a:uLnTx/>
                <a:uFillTx/>
                <a:latin typeface="Arial" panose="020B0604020202020204" pitchFamily="34" charset="0"/>
                <a:ea typeface="宋体"/>
                <a:cs typeface="+mn-cs"/>
              </a:rPr>
              <a:t>…</a:t>
            </a:r>
            <a:endPar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B:{char *a;</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600" b="1" i="0" u="none" strike="noStrike" kern="1200" cap="none" spc="0" normalizeH="0" baseline="0" noProof="0" dirty="0" err="1" smtClean="0">
                <a:ln>
                  <a:noFill/>
                </a:ln>
                <a:solidFill>
                  <a:srgbClr val="000000"/>
                </a:solidFill>
                <a:effectLst/>
                <a:uLnTx/>
                <a:uFillTx/>
                <a:latin typeface="Times New Roman"/>
                <a:ea typeface="宋体"/>
                <a:cs typeface="+mn-cs"/>
              </a:rPr>
              <a:t>Int</a:t>
            </a: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k;</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600" b="1" i="0" u="none" strike="noStrike" kern="1200" cap="none" spc="0" normalizeH="0" baseline="0" noProof="0" dirty="0" smtClean="0">
                <a:ln>
                  <a:noFill/>
                </a:ln>
                <a:solidFill>
                  <a:srgbClr val="000000"/>
                </a:solidFill>
                <a:effectLst/>
                <a:uLnTx/>
                <a:uFillTx/>
                <a:latin typeface="Arial" panose="020B0604020202020204" pitchFamily="34" charset="0"/>
                <a:ea typeface="宋体"/>
                <a:cs typeface="+mn-cs"/>
              </a:rPr>
              <a:t>…</a:t>
            </a:r>
            <a:endPar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600" b="1" i="0" u="none" strike="noStrike" kern="1200" cap="none" spc="0" normalizeH="0" baseline="0" noProof="0" dirty="0" smtClean="0">
                <a:ln>
                  <a:noFill/>
                </a:ln>
                <a:solidFill>
                  <a:srgbClr val="000000"/>
                </a:solidFill>
                <a:effectLst/>
                <a:uLnTx/>
                <a:uFillTx/>
                <a:latin typeface="Arial" panose="020B0604020202020204" pitchFamily="34" charset="0"/>
                <a:ea typeface="宋体"/>
                <a:cs typeface="+mn-cs"/>
              </a:rPr>
              <a:t>…</a:t>
            </a:r>
            <a:endPar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rPr>
              <a:t>		}</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endParaRPr kumimoji="0" lang="en-US" altLang="zh-CN" sz="1600" b="1"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There are two block (also called compound statement), labeled A and B nested inside the body of procedure p.</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The nested local declaration does not need to be allocated until entered;</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Both A and B do not need to be allocated simultaneously.</a:t>
            </a:r>
            <a:endParaRPr kumimoji="0" lang="zh-CN" altLang="en-US" sz="16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42298456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4" name="Object 4"/>
          <p:cNvGraphicFramePr>
            <a:graphicFrameLocks noChangeAspect="1"/>
          </p:cNvGraphicFramePr>
          <p:nvPr>
            <p:extLst>
              <p:ext uri="{D42A27DB-BD31-4B8C-83A1-F6EECF244321}">
                <p14:modId xmlns:p14="http://schemas.microsoft.com/office/powerpoint/2010/main" val="3728255074"/>
              </p:ext>
            </p:extLst>
          </p:nvPr>
        </p:nvGraphicFramePr>
        <p:xfrm>
          <a:off x="162370" y="1612068"/>
          <a:ext cx="8469313" cy="5335588"/>
        </p:xfrm>
        <a:graphic>
          <a:graphicData uri="http://schemas.openxmlformats.org/presentationml/2006/ole">
            <mc:AlternateContent xmlns:mc="http://schemas.openxmlformats.org/markup-compatibility/2006">
              <mc:Choice xmlns:v="urn:schemas-microsoft-com:vml" Requires="v">
                <p:oleObj spid="_x0000_s15387" name="文档" r:id="rId3" imgW="5571315" imgH="3494551" progId="Word.Document.8">
                  <p:embed/>
                </p:oleObj>
              </mc:Choice>
              <mc:Fallback>
                <p:oleObj name="文档" r:id="rId3" imgW="5571315" imgH="3494551"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62370" y="1612068"/>
                        <a:ext cx="8469313" cy="53355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5" name="Line 5"/>
          <p:cNvSpPr>
            <a:spLocks noChangeShapeType="1"/>
          </p:cNvSpPr>
          <p:nvPr/>
        </p:nvSpPr>
        <p:spPr bwMode="auto">
          <a:xfrm>
            <a:off x="1676845" y="5647493"/>
            <a:ext cx="865188"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 name="Line 6"/>
          <p:cNvSpPr>
            <a:spLocks noChangeShapeType="1"/>
          </p:cNvSpPr>
          <p:nvPr/>
        </p:nvSpPr>
        <p:spPr bwMode="auto">
          <a:xfrm>
            <a:off x="1605408" y="4063168"/>
            <a:ext cx="863600"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 name="Line 7"/>
          <p:cNvSpPr>
            <a:spLocks noChangeShapeType="1"/>
          </p:cNvSpPr>
          <p:nvPr/>
        </p:nvSpPr>
        <p:spPr bwMode="auto">
          <a:xfrm flipH="1">
            <a:off x="1965770" y="3918706"/>
            <a:ext cx="1008063"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 name="Line 8"/>
          <p:cNvSpPr>
            <a:spLocks noChangeShapeType="1"/>
          </p:cNvSpPr>
          <p:nvPr/>
        </p:nvSpPr>
        <p:spPr bwMode="auto">
          <a:xfrm flipV="1">
            <a:off x="1965770" y="2910643"/>
            <a:ext cx="0" cy="10080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Tree>
    <p:extLst>
      <p:ext uri="{BB962C8B-B14F-4D97-AF65-F5344CB8AC3E}">
        <p14:creationId xmlns:p14="http://schemas.microsoft.com/office/powerpoint/2010/main" val="30996201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Environments-Without Local Procedures</a:t>
            </a:r>
            <a:endParaRPr lang="zh-CN" altLang="en-US" dirty="0"/>
          </a:p>
        </p:txBody>
      </p:sp>
      <p:graphicFrame>
        <p:nvGraphicFramePr>
          <p:cNvPr id="4" name="Object 75"/>
          <p:cNvGraphicFramePr>
            <a:graphicFrameLocks noChangeAspect="1"/>
          </p:cNvGraphicFramePr>
          <p:nvPr>
            <p:extLst>
              <p:ext uri="{D42A27DB-BD31-4B8C-83A1-F6EECF244321}">
                <p14:modId xmlns:p14="http://schemas.microsoft.com/office/powerpoint/2010/main" val="2391863066"/>
              </p:ext>
            </p:extLst>
          </p:nvPr>
        </p:nvGraphicFramePr>
        <p:xfrm>
          <a:off x="326966" y="1599428"/>
          <a:ext cx="8559800" cy="5172075"/>
        </p:xfrm>
        <a:graphic>
          <a:graphicData uri="http://schemas.openxmlformats.org/presentationml/2006/ole">
            <mc:AlternateContent xmlns:mc="http://schemas.openxmlformats.org/markup-compatibility/2006">
              <mc:Choice xmlns:v="urn:schemas-microsoft-com:vml" Requires="v">
                <p:oleObj spid="_x0000_s16411" name="文档" r:id="rId3" imgW="5431735" imgH="3286669" progId="Word.Document.8">
                  <p:embed/>
                </p:oleObj>
              </mc:Choice>
              <mc:Fallback>
                <p:oleObj name="文档" r:id="rId3" imgW="5431735" imgH="3286669"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6966" y="1599428"/>
                        <a:ext cx="8559800" cy="51720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5" name="Line 76"/>
          <p:cNvSpPr>
            <a:spLocks noChangeShapeType="1"/>
          </p:cNvSpPr>
          <p:nvPr/>
        </p:nvSpPr>
        <p:spPr bwMode="auto">
          <a:xfrm>
            <a:off x="2057341" y="5425303"/>
            <a:ext cx="720725"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 name="Line 77"/>
          <p:cNvSpPr>
            <a:spLocks noChangeShapeType="1"/>
          </p:cNvSpPr>
          <p:nvPr/>
        </p:nvSpPr>
        <p:spPr bwMode="auto">
          <a:xfrm>
            <a:off x="1841441" y="3840978"/>
            <a:ext cx="865188" cy="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 name="Line 78"/>
          <p:cNvSpPr>
            <a:spLocks noChangeShapeType="1"/>
          </p:cNvSpPr>
          <p:nvPr/>
        </p:nvSpPr>
        <p:spPr bwMode="auto">
          <a:xfrm flipH="1">
            <a:off x="2417704" y="3625078"/>
            <a:ext cx="72072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8" name="Line 79"/>
          <p:cNvSpPr>
            <a:spLocks noChangeShapeType="1"/>
          </p:cNvSpPr>
          <p:nvPr/>
        </p:nvSpPr>
        <p:spPr bwMode="auto">
          <a:xfrm flipV="1">
            <a:off x="2417704" y="2543991"/>
            <a:ext cx="0" cy="10810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Tree>
    <p:extLst>
      <p:ext uri="{BB962C8B-B14F-4D97-AF65-F5344CB8AC3E}">
        <p14:creationId xmlns:p14="http://schemas.microsoft.com/office/powerpoint/2010/main" val="23184538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a:t>
            </a:r>
            <a:r>
              <a:rPr lang="en-US" altLang="zh-CN" dirty="0" smtClean="0"/>
              <a:t>Environments-With </a:t>
            </a:r>
            <a:r>
              <a:rPr lang="en-US" altLang="zh-CN" dirty="0"/>
              <a:t>Local Procedures</a:t>
            </a:r>
            <a:endParaRPr lang="zh-CN" altLang="en-US" dirty="0"/>
          </a:p>
        </p:txBody>
      </p:sp>
      <p:sp>
        <p:nvSpPr>
          <p:cNvPr id="4" name="Rectangle 3"/>
          <p:cNvSpPr txBox="1">
            <a:spLocks noChangeArrowheads="1"/>
          </p:cNvSpPr>
          <p:nvPr/>
        </p:nvSpPr>
        <p:spPr bwMode="auto">
          <a:xfrm>
            <a:off x="1010540" y="1339376"/>
            <a:ext cx="7772400" cy="5454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Consider the non-local and non-global references</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Example: Pascal program showing nonlocal, </a:t>
            </a:r>
            <a:r>
              <a:rPr kumimoji="0" lang="en-US" altLang="zh-CN" sz="2200" b="0" i="0" u="none" strike="noStrike" kern="1200" cap="none" spc="0" normalizeH="0" baseline="0" noProof="0" dirty="0" err="1" smtClean="0">
                <a:ln>
                  <a:noFill/>
                </a:ln>
                <a:solidFill>
                  <a:srgbClr val="000000"/>
                </a:solidFill>
                <a:effectLst/>
                <a:uLnTx/>
                <a:uFillTx/>
                <a:latin typeface="Times New Roman"/>
                <a:ea typeface="宋体"/>
                <a:cs typeface="+mn-cs"/>
              </a:rPr>
              <a:t>nonglobal</a:t>
            </a: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 reference</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800" b="0"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Program </a:t>
            </a:r>
            <a:r>
              <a:rPr kumimoji="0" lang="en-US" altLang="zh-CN" sz="1600" b="0" i="0" u="none" strike="noStrike" kern="1200" cap="none" spc="0" normalizeH="0" baseline="0" noProof="0" dirty="0" err="1" smtClean="0">
                <a:ln>
                  <a:noFill/>
                </a:ln>
                <a:solidFill>
                  <a:srgbClr val="000000"/>
                </a:solidFill>
                <a:effectLst/>
                <a:uLnTx/>
                <a:uFillTx/>
                <a:latin typeface="Times New Roman"/>
                <a:ea typeface="宋体"/>
                <a:cs typeface="+mn-cs"/>
              </a:rPr>
              <a:t>nonlocalRef</a:t>
            </a: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Procedure P;</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600" b="0" i="0" u="none" strike="noStrike" kern="1200" cap="none" spc="0" normalizeH="0" baseline="0" noProof="0" dirty="0" err="1" smtClean="0">
                <a:ln>
                  <a:noFill/>
                </a:ln>
                <a:solidFill>
                  <a:srgbClr val="000000"/>
                </a:solidFill>
                <a:effectLst/>
                <a:uLnTx/>
                <a:uFillTx/>
                <a:latin typeface="Times New Roman"/>
                <a:ea typeface="宋体"/>
                <a:cs typeface="+mn-cs"/>
              </a:rPr>
              <a:t>Var</a:t>
            </a: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N: integer;</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Procedure Q;</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Begin</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 a reference to N is now non-local </a:t>
            </a:r>
            <a:r>
              <a:rPr kumimoji="0" lang="en-US" altLang="zh-CN" sz="1600" b="0" i="0" u="none" strike="noStrike" kern="1200" cap="none" spc="0" normalizeH="0" baseline="0" noProof="0" dirty="0" err="1" smtClean="0">
                <a:ln>
                  <a:noFill/>
                </a:ln>
                <a:solidFill>
                  <a:srgbClr val="000000"/>
                </a:solidFill>
                <a:effectLst/>
                <a:uLnTx/>
                <a:uFillTx/>
                <a:latin typeface="Times New Roman"/>
                <a:ea typeface="宋体"/>
                <a:cs typeface="+mn-cs"/>
              </a:rPr>
              <a:t>andnon</a:t>
            </a: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-global *)</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end; (* q*)</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Procedure R(N: integer);</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Begin</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Q;</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End;(*r *)</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Begin(*p*)</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N:=1;</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R(2);</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End ;(*p*)</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Begin (* main*)</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P;</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600" b="0" i="0" u="none" strike="noStrike" kern="1200" cap="none" spc="0" normalizeH="0" baseline="0" noProof="0" dirty="0" smtClean="0">
                <a:ln>
                  <a:noFill/>
                </a:ln>
                <a:solidFill>
                  <a:srgbClr val="000000"/>
                </a:solidFill>
                <a:effectLst/>
                <a:uLnTx/>
                <a:uFillTx/>
                <a:latin typeface="Times New Roman"/>
                <a:ea typeface="宋体"/>
                <a:cs typeface="+mn-cs"/>
              </a:rPr>
              <a:t>	End.</a:t>
            </a:r>
            <a:endParaRPr kumimoji="0" lang="zh-CN" altLang="en-US" sz="16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9888610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a:t>
            </a:r>
            <a:r>
              <a:rPr lang="en-US" altLang="zh-CN" dirty="0" smtClean="0"/>
              <a:t>Environments-With </a:t>
            </a:r>
            <a:r>
              <a:rPr lang="en-US" altLang="zh-CN" dirty="0"/>
              <a:t>Local Procedures</a:t>
            </a:r>
            <a:endParaRPr lang="zh-CN" altLang="en-US" dirty="0"/>
          </a:p>
        </p:txBody>
      </p:sp>
      <p:graphicFrame>
        <p:nvGraphicFramePr>
          <p:cNvPr id="4" name="Object 4"/>
          <p:cNvGraphicFramePr>
            <a:graphicFrameLocks noChangeAspect="1"/>
          </p:cNvGraphicFramePr>
          <p:nvPr>
            <p:extLst>
              <p:ext uri="{D42A27DB-BD31-4B8C-83A1-F6EECF244321}">
                <p14:modId xmlns:p14="http://schemas.microsoft.com/office/powerpoint/2010/main" val="1292680662"/>
              </p:ext>
            </p:extLst>
          </p:nvPr>
        </p:nvGraphicFramePr>
        <p:xfrm>
          <a:off x="390525" y="1526893"/>
          <a:ext cx="8453438" cy="4872037"/>
        </p:xfrm>
        <a:graphic>
          <a:graphicData uri="http://schemas.openxmlformats.org/presentationml/2006/ole">
            <mc:AlternateContent xmlns:mc="http://schemas.openxmlformats.org/markup-compatibility/2006">
              <mc:Choice xmlns:v="urn:schemas-microsoft-com:vml" Requires="v">
                <p:oleObj spid="_x0000_s17431" name="文档" r:id="rId3" imgW="5206864" imgH="3009810" progId="Word.Document.8">
                  <p:embed/>
                </p:oleObj>
              </mc:Choice>
              <mc:Fallback>
                <p:oleObj name="文档" r:id="rId3" imgW="5206864" imgH="3009810"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0525" y="1526893"/>
                        <a:ext cx="8453438" cy="48720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5" name="Line 5"/>
          <p:cNvSpPr>
            <a:spLocks noChangeShapeType="1"/>
          </p:cNvSpPr>
          <p:nvPr/>
        </p:nvSpPr>
        <p:spPr bwMode="auto">
          <a:xfrm>
            <a:off x="1187450" y="5395630"/>
            <a:ext cx="792163" cy="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6" name="Line 6"/>
          <p:cNvSpPr>
            <a:spLocks noChangeShapeType="1"/>
          </p:cNvSpPr>
          <p:nvPr/>
        </p:nvSpPr>
        <p:spPr bwMode="auto">
          <a:xfrm>
            <a:off x="1116013" y="5035268"/>
            <a:ext cx="863600" cy="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7" name="Line 7"/>
          <p:cNvSpPr>
            <a:spLocks noChangeShapeType="1"/>
          </p:cNvSpPr>
          <p:nvPr/>
        </p:nvSpPr>
        <p:spPr bwMode="auto">
          <a:xfrm flipH="1">
            <a:off x="1403350" y="4890805"/>
            <a:ext cx="936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8" name="Line 8"/>
          <p:cNvSpPr>
            <a:spLocks noChangeShapeType="1"/>
          </p:cNvSpPr>
          <p:nvPr/>
        </p:nvSpPr>
        <p:spPr bwMode="auto">
          <a:xfrm flipV="1">
            <a:off x="1403350" y="4532030"/>
            <a:ext cx="0" cy="358775"/>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9" name="Line 9"/>
          <p:cNvSpPr>
            <a:spLocks noChangeShapeType="1"/>
          </p:cNvSpPr>
          <p:nvPr/>
        </p:nvSpPr>
        <p:spPr bwMode="auto">
          <a:xfrm>
            <a:off x="1403350" y="4532030"/>
            <a:ext cx="720725" cy="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0" name="Line 10"/>
          <p:cNvSpPr>
            <a:spLocks noChangeShapeType="1"/>
          </p:cNvSpPr>
          <p:nvPr/>
        </p:nvSpPr>
        <p:spPr bwMode="auto">
          <a:xfrm flipH="1">
            <a:off x="1476375" y="4243105"/>
            <a:ext cx="18002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1" name="Line 12"/>
          <p:cNvSpPr>
            <a:spLocks noChangeShapeType="1"/>
          </p:cNvSpPr>
          <p:nvPr/>
        </p:nvSpPr>
        <p:spPr bwMode="auto">
          <a:xfrm flipV="1">
            <a:off x="1476375" y="3379505"/>
            <a:ext cx="0" cy="86360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2" name="Line 13"/>
          <p:cNvSpPr>
            <a:spLocks noChangeShapeType="1"/>
          </p:cNvSpPr>
          <p:nvPr/>
        </p:nvSpPr>
        <p:spPr bwMode="auto">
          <a:xfrm>
            <a:off x="1476375" y="3379505"/>
            <a:ext cx="647700" cy="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3" name="Line 14"/>
          <p:cNvSpPr>
            <a:spLocks noChangeShapeType="1"/>
          </p:cNvSpPr>
          <p:nvPr/>
        </p:nvSpPr>
        <p:spPr bwMode="auto">
          <a:xfrm flipH="1">
            <a:off x="1403350" y="3019143"/>
            <a:ext cx="15843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4" name="Line 15"/>
          <p:cNvSpPr>
            <a:spLocks noChangeShapeType="1"/>
          </p:cNvSpPr>
          <p:nvPr/>
        </p:nvSpPr>
        <p:spPr bwMode="auto">
          <a:xfrm flipV="1">
            <a:off x="1403350" y="2442880"/>
            <a:ext cx="0" cy="576263"/>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Tree>
    <p:extLst>
      <p:ext uri="{BB962C8B-B14F-4D97-AF65-F5344CB8AC3E}">
        <p14:creationId xmlns:p14="http://schemas.microsoft.com/office/powerpoint/2010/main" val="14288315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a:t>
            </a:r>
            <a:r>
              <a:rPr lang="en-US" altLang="zh-CN" dirty="0" smtClean="0"/>
              <a:t>Environments-With </a:t>
            </a:r>
            <a:r>
              <a:rPr lang="en-US" altLang="zh-CN" dirty="0"/>
              <a:t>Local Procedures</a:t>
            </a:r>
            <a:endParaRPr lang="zh-CN" altLang="en-US" dirty="0"/>
          </a:p>
        </p:txBody>
      </p:sp>
      <p:sp>
        <p:nvSpPr>
          <p:cNvPr id="4" name="Rectangle 3"/>
          <p:cNvSpPr txBox="1">
            <a:spLocks noChangeArrowheads="1"/>
          </p:cNvSpPr>
          <p:nvPr/>
        </p:nvSpPr>
        <p:spPr bwMode="auto">
          <a:xfrm>
            <a:off x="685800" y="1583168"/>
            <a:ext cx="7772400" cy="5187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N cannot be found using any of the bookkeeping</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information that is kept in the runtime environment up to now</a:t>
            </a:r>
          </a:p>
          <a:p>
            <a:pPr marL="342900" marR="0" lvl="0" indent="-342900" algn="l" defTabSz="914400" rtl="0" eaLnBrk="1" fontAlgn="base" latinLnBrk="0" hangingPunct="1">
              <a:lnSpc>
                <a:spcPct val="90000"/>
              </a:lnSpc>
              <a:spcBef>
                <a:spcPct val="20000"/>
              </a:spcBef>
              <a:spcAft>
                <a:spcPct val="0"/>
              </a:spcAft>
              <a:buClrTx/>
              <a:buSzTx/>
              <a:buFontTx/>
              <a:buChar char="•"/>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To solve the above problem about variable access, we add an extra piece of bookkeeping information called the </a:t>
            </a:r>
            <a:r>
              <a:rPr kumimoji="0" lang="en-US" altLang="zh-CN" sz="2800" b="1" i="1" u="none" strike="noStrike" kern="1200" cap="none" spc="0" normalizeH="0" baseline="0" noProof="0" smtClean="0">
                <a:ln>
                  <a:noFill/>
                </a:ln>
                <a:solidFill>
                  <a:srgbClr val="000000"/>
                </a:solidFill>
                <a:effectLst/>
                <a:uLnTx/>
                <a:uFillTx/>
                <a:latin typeface="Times New Roman"/>
                <a:ea typeface="宋体"/>
                <a:cs typeface="+mn-cs"/>
              </a:rPr>
              <a:t>access link</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to each activation record</a:t>
            </a:r>
          </a:p>
          <a:p>
            <a:pPr marL="342900" marR="0" lvl="0" indent="-342900" algn="l" defTabSz="914400" rtl="0" eaLnBrk="1" fontAlgn="base" latinLnBrk="0" hangingPunct="1">
              <a:lnSpc>
                <a:spcPct val="90000"/>
              </a:lnSpc>
              <a:spcBef>
                <a:spcPct val="20000"/>
              </a:spcBef>
              <a:spcAft>
                <a:spcPct val="0"/>
              </a:spcAft>
              <a:buClrTx/>
              <a:buSzTx/>
              <a:buFontTx/>
              <a:buChar char="•"/>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Access link</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represents the </a:t>
            </a:r>
            <a:r>
              <a:rPr kumimoji="0" lang="en-US" altLang="zh-CN" sz="2800" b="0" i="0" u="none" strike="noStrike" kern="1200" cap="none" spc="0" normalizeH="0" baseline="0" noProof="0" smtClean="0">
                <a:ln>
                  <a:noFill/>
                </a:ln>
                <a:solidFill>
                  <a:srgbClr val="FF3300"/>
                </a:solidFill>
                <a:effectLst/>
                <a:uLnTx/>
                <a:uFillTx/>
                <a:latin typeface="Times New Roman"/>
                <a:ea typeface="宋体"/>
                <a:cs typeface="+mn-cs"/>
              </a:rPr>
              <a:t>defining environment</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of the procedure;</a:t>
            </a: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Control link</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represents the </a:t>
            </a:r>
            <a:r>
              <a:rPr kumimoji="0" lang="en-US" altLang="zh-CN" sz="2800" b="0" i="0" u="none" strike="noStrike" kern="1200" cap="none" spc="0" normalizeH="0" baseline="0" noProof="0" smtClean="0">
                <a:ln>
                  <a:noFill/>
                </a:ln>
                <a:solidFill>
                  <a:srgbClr val="FF3300"/>
                </a:solidFill>
                <a:effectLst/>
                <a:uLnTx/>
                <a:uFillTx/>
                <a:latin typeface="Times New Roman"/>
                <a:ea typeface="宋体"/>
                <a:cs typeface="+mn-cs"/>
              </a:rPr>
              <a:t>calling environment</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of the procedure.</a:t>
            </a:r>
            <a:endParaRPr kumimoji="0" lang="zh-CN" altLang="en-US" sz="28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29441805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a:t>
            </a:r>
            <a:r>
              <a:rPr lang="en-US" altLang="zh-CN" dirty="0" smtClean="0"/>
              <a:t>Environments-With </a:t>
            </a:r>
            <a:r>
              <a:rPr lang="en-US" altLang="zh-CN" dirty="0"/>
              <a:t>Local Procedures</a:t>
            </a:r>
            <a:endParaRPr lang="zh-CN" alt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416914114"/>
              </p:ext>
            </p:extLst>
          </p:nvPr>
        </p:nvGraphicFramePr>
        <p:xfrm>
          <a:off x="591025" y="1678136"/>
          <a:ext cx="8208963" cy="5686425"/>
        </p:xfrm>
        <a:graphic>
          <a:graphicData uri="http://schemas.openxmlformats.org/presentationml/2006/ole">
            <mc:AlternateContent xmlns:mc="http://schemas.openxmlformats.org/markup-compatibility/2006">
              <mc:Choice xmlns:v="urn:schemas-microsoft-com:vml" Requires="v">
                <p:oleObj spid="_x0000_s18454" name="文档" r:id="rId3" imgW="5206864" imgH="3614292" progId="Word.Document.8">
                  <p:embed/>
                </p:oleObj>
              </mc:Choice>
              <mc:Fallback>
                <p:oleObj name="文档" r:id="rId3" imgW="5206864" imgH="3614292"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1025" y="1678136"/>
                        <a:ext cx="8208963" cy="56864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6" name="Line 5"/>
          <p:cNvSpPr>
            <a:spLocks noChangeShapeType="1"/>
          </p:cNvSpPr>
          <p:nvPr/>
        </p:nvSpPr>
        <p:spPr bwMode="auto">
          <a:xfrm>
            <a:off x="4839175" y="4702323"/>
            <a:ext cx="1223963"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7" name="Line 6"/>
          <p:cNvSpPr>
            <a:spLocks noChangeShapeType="1"/>
          </p:cNvSpPr>
          <p:nvPr/>
        </p:nvSpPr>
        <p:spPr bwMode="auto">
          <a:xfrm flipV="1">
            <a:off x="6063138" y="3694261"/>
            <a:ext cx="0" cy="100806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8" name="Line 7"/>
          <p:cNvSpPr>
            <a:spLocks noChangeShapeType="1"/>
          </p:cNvSpPr>
          <p:nvPr/>
        </p:nvSpPr>
        <p:spPr bwMode="auto">
          <a:xfrm flipH="1">
            <a:off x="5918675" y="3694261"/>
            <a:ext cx="144463" cy="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9" name="Line 8"/>
          <p:cNvSpPr>
            <a:spLocks noChangeShapeType="1"/>
          </p:cNvSpPr>
          <p:nvPr/>
        </p:nvSpPr>
        <p:spPr bwMode="auto">
          <a:xfrm>
            <a:off x="4839175" y="5638948"/>
            <a:ext cx="13684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0" name="Line 9"/>
          <p:cNvSpPr>
            <a:spLocks noChangeShapeType="1"/>
          </p:cNvSpPr>
          <p:nvPr/>
        </p:nvSpPr>
        <p:spPr bwMode="auto">
          <a:xfrm flipV="1">
            <a:off x="6207600" y="3694261"/>
            <a:ext cx="0" cy="1944687"/>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1" name="Line 10"/>
          <p:cNvSpPr>
            <a:spLocks noChangeShapeType="1"/>
          </p:cNvSpPr>
          <p:nvPr/>
        </p:nvSpPr>
        <p:spPr bwMode="auto">
          <a:xfrm flipH="1">
            <a:off x="6136163" y="3694261"/>
            <a:ext cx="71437" cy="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2" name="Line 11"/>
          <p:cNvSpPr>
            <a:spLocks noChangeShapeType="1"/>
          </p:cNvSpPr>
          <p:nvPr/>
        </p:nvSpPr>
        <p:spPr bwMode="auto">
          <a:xfrm>
            <a:off x="1383188" y="6358086"/>
            <a:ext cx="719137" cy="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3" name="Line 12"/>
          <p:cNvSpPr>
            <a:spLocks noChangeShapeType="1"/>
          </p:cNvSpPr>
          <p:nvPr/>
        </p:nvSpPr>
        <p:spPr bwMode="auto">
          <a:xfrm>
            <a:off x="1383188" y="5997723"/>
            <a:ext cx="647700" cy="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4" name="Line 13"/>
          <p:cNvSpPr>
            <a:spLocks noChangeShapeType="1"/>
          </p:cNvSpPr>
          <p:nvPr/>
        </p:nvSpPr>
        <p:spPr bwMode="auto">
          <a:xfrm flipH="1">
            <a:off x="2030888" y="5926286"/>
            <a:ext cx="129698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5" name="Line 14"/>
          <p:cNvSpPr>
            <a:spLocks noChangeShapeType="1"/>
          </p:cNvSpPr>
          <p:nvPr/>
        </p:nvSpPr>
        <p:spPr bwMode="auto">
          <a:xfrm flipV="1">
            <a:off x="2030888" y="5134123"/>
            <a:ext cx="0" cy="792163"/>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6" name="Line 15"/>
          <p:cNvSpPr>
            <a:spLocks noChangeShapeType="1"/>
          </p:cNvSpPr>
          <p:nvPr/>
        </p:nvSpPr>
        <p:spPr bwMode="auto">
          <a:xfrm>
            <a:off x="2030888" y="5134123"/>
            <a:ext cx="215900" cy="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7" name="Line 16"/>
          <p:cNvSpPr>
            <a:spLocks noChangeShapeType="1"/>
          </p:cNvSpPr>
          <p:nvPr/>
        </p:nvSpPr>
        <p:spPr bwMode="auto">
          <a:xfrm flipH="1">
            <a:off x="1959450" y="4989661"/>
            <a:ext cx="1439863"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8" name="Line 17"/>
          <p:cNvSpPr>
            <a:spLocks noChangeShapeType="1"/>
          </p:cNvSpPr>
          <p:nvPr/>
        </p:nvSpPr>
        <p:spPr bwMode="auto">
          <a:xfrm flipV="1">
            <a:off x="1959450" y="3694261"/>
            <a:ext cx="0" cy="129540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19" name="Line 18"/>
          <p:cNvSpPr>
            <a:spLocks noChangeShapeType="1"/>
          </p:cNvSpPr>
          <p:nvPr/>
        </p:nvSpPr>
        <p:spPr bwMode="auto">
          <a:xfrm>
            <a:off x="1959450" y="3694261"/>
            <a:ext cx="287338" cy="0"/>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20" name="Line 19"/>
          <p:cNvSpPr>
            <a:spLocks noChangeShapeType="1"/>
          </p:cNvSpPr>
          <p:nvPr/>
        </p:nvSpPr>
        <p:spPr bwMode="auto">
          <a:xfrm flipH="1">
            <a:off x="1959450" y="3406923"/>
            <a:ext cx="1439863"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
        <p:nvSpPr>
          <p:cNvPr id="21" name="Line 20"/>
          <p:cNvSpPr>
            <a:spLocks noChangeShapeType="1"/>
          </p:cNvSpPr>
          <p:nvPr/>
        </p:nvSpPr>
        <p:spPr bwMode="auto">
          <a:xfrm flipV="1">
            <a:off x="1959450" y="2686198"/>
            <a:ext cx="0" cy="720725"/>
          </a:xfrm>
          <a:prstGeom prst="line">
            <a:avLst/>
          </a:prstGeom>
          <a:noFill/>
          <a:ln w="9525">
            <a:solidFill>
              <a:srgbClr val="000000"/>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zh-CN" altLang="en-US" sz="2400" b="0" i="0" u="none" strike="noStrike" kern="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endParaRPr>
          </a:p>
        </p:txBody>
      </p:sp>
    </p:spTree>
    <p:extLst>
      <p:ext uri="{BB962C8B-B14F-4D97-AF65-F5344CB8AC3E}">
        <p14:creationId xmlns:p14="http://schemas.microsoft.com/office/powerpoint/2010/main" val="12306924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8.5 Stack-Based Runtime </a:t>
            </a:r>
            <a:r>
              <a:rPr lang="en-US" altLang="zh-CN" dirty="0" smtClean="0"/>
              <a:t>Environments-With </a:t>
            </a:r>
            <a:r>
              <a:rPr lang="en-US" altLang="zh-CN" dirty="0"/>
              <a:t>Local Procedures</a:t>
            </a:r>
            <a:endParaRPr lang="zh-CN" altLang="en-US" dirty="0"/>
          </a:p>
        </p:txBody>
      </p:sp>
      <p:sp>
        <p:nvSpPr>
          <p:cNvPr id="22" name="Rectangle 3"/>
          <p:cNvSpPr txBox="1">
            <a:spLocks noChangeArrowheads="1"/>
          </p:cNvSpPr>
          <p:nvPr/>
        </p:nvSpPr>
        <p:spPr bwMode="auto">
          <a:xfrm>
            <a:off x="611188" y="1628775"/>
            <a:ext cx="7772400" cy="3960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3200" b="1" i="0" u="none" strike="noStrike" kern="1200" cap="none" spc="0" normalizeH="0" baseline="0" noProof="0" dirty="0" smtClean="0">
                <a:ln>
                  <a:noFill/>
                </a:ln>
                <a:solidFill>
                  <a:srgbClr val="000000"/>
                </a:solidFill>
                <a:effectLst/>
                <a:uLnTx/>
                <a:uFillTx/>
                <a:latin typeface="Times New Roman"/>
                <a:ea typeface="宋体"/>
                <a:cs typeface="+mn-cs"/>
              </a:rPr>
              <a:t>Note: </a:t>
            </a:r>
            <a:endParaRPr kumimoji="0" lang="en-US" altLang="zh-CN" sz="3200" b="0" i="0" u="none" strike="noStrike" kern="1200" cap="none" spc="0" normalizeH="0" baseline="0" noProof="0" dirty="0" smtClean="0">
              <a:ln>
                <a:noFill/>
              </a:ln>
              <a:solidFill>
                <a:srgbClr val="000000"/>
              </a:solidFill>
              <a:effectLst/>
              <a:uLnTx/>
              <a:uFillTx/>
              <a:latin typeface="Times New Roman"/>
              <a:ea typeface="宋体"/>
              <a:cs typeface="+mn-cs"/>
            </a:endParaRPr>
          </a:p>
          <a:p>
            <a:pPr marL="742950" marR="0" lvl="1" indent="-285750" algn="l" defTabSz="914400" rtl="0" eaLnBrk="1" fontAlgn="base" latinLnBrk="0" hangingPunct="1">
              <a:lnSpc>
                <a:spcPct val="90000"/>
              </a:lnSpc>
              <a:spcBef>
                <a:spcPct val="20000"/>
              </a:spcBef>
              <a:spcAft>
                <a:spcPct val="0"/>
              </a:spcAft>
              <a:buClrTx/>
              <a:buSzTx/>
              <a:buFontTx/>
              <a:buChar char="–"/>
              <a:tabLst/>
              <a:defRPr/>
            </a:pPr>
            <a:r>
              <a:rPr kumimoji="0" lang="en-US" altLang="zh-CN" sz="2800" b="0" i="0" u="none" strike="noStrike" kern="1200" cap="none" spc="0" normalizeH="0" baseline="0" noProof="0" dirty="0" smtClean="0">
                <a:ln>
                  <a:noFill/>
                </a:ln>
                <a:solidFill>
                  <a:srgbClr val="000000"/>
                </a:solidFill>
                <a:effectLst/>
                <a:uLnTx/>
                <a:uFillTx/>
                <a:latin typeface="Times New Roman"/>
                <a:ea typeface="宋体"/>
                <a:cs typeface="+mn-cs"/>
              </a:rPr>
              <a:t>The activation record of procedure p itself contains no access link, as any nonlocal reference with p must be a global reference and is accessed via the global reference mechanism</a:t>
            </a:r>
          </a:p>
          <a:p>
            <a:pPr marL="742950" marR="0" lvl="1" indent="-285750" algn="l" defTabSz="914400" rtl="0" eaLnBrk="1" fontAlgn="base" latinLnBrk="0" hangingPunct="1">
              <a:lnSpc>
                <a:spcPct val="90000"/>
              </a:lnSpc>
              <a:spcBef>
                <a:spcPct val="20000"/>
              </a:spcBef>
              <a:spcAft>
                <a:spcPct val="0"/>
              </a:spcAft>
              <a:buClrTx/>
              <a:buSzTx/>
              <a:buFontTx/>
              <a:buNone/>
              <a:tabLst/>
              <a:defRPr/>
            </a:pPr>
            <a:endParaRPr kumimoji="0" lang="en-US" altLang="zh-CN" sz="2800" b="0" i="0" u="none" strike="noStrike" kern="1200" cap="none" spc="0" normalizeH="0" baseline="0" noProof="0" dirty="0" smtClean="0">
              <a:ln>
                <a:noFill/>
              </a:ln>
              <a:solidFill>
                <a:srgbClr val="000000"/>
              </a:solidFill>
              <a:effectLst/>
              <a:uLnTx/>
              <a:uFillTx/>
              <a:latin typeface="Times New Roman"/>
              <a:ea typeface="宋体"/>
              <a:cs typeface="+mn-cs"/>
            </a:endParaRPr>
          </a:p>
          <a:p>
            <a:pPr marL="742950" marR="0" lvl="1" indent="-285750" algn="l" defTabSz="914400" rtl="0" eaLnBrk="1" fontAlgn="base" latinLnBrk="0" hangingPunct="1">
              <a:lnSpc>
                <a:spcPct val="90000"/>
              </a:lnSpc>
              <a:spcBef>
                <a:spcPct val="20000"/>
              </a:spcBef>
              <a:spcAft>
                <a:spcPct val="0"/>
              </a:spcAft>
              <a:buClrTx/>
              <a:buSzTx/>
              <a:buFontTx/>
              <a:buChar char="–"/>
              <a:tabLst/>
              <a:defRPr/>
            </a:pPr>
            <a:r>
              <a:rPr kumimoji="0" lang="en-US" altLang="zh-CN" sz="2800" b="0" i="0" u="none" strike="noStrike" kern="1200" cap="none" spc="0" normalizeH="0" baseline="0" noProof="0" dirty="0" smtClean="0">
                <a:ln>
                  <a:noFill/>
                </a:ln>
                <a:solidFill>
                  <a:srgbClr val="000000"/>
                </a:solidFill>
                <a:effectLst/>
                <a:uLnTx/>
                <a:uFillTx/>
                <a:latin typeface="Times New Roman"/>
                <a:ea typeface="宋体"/>
                <a:cs typeface="+mn-cs"/>
              </a:rPr>
              <a:t>This is the simplest situation, where the nonlocal reference is to a declaration </a:t>
            </a:r>
            <a:r>
              <a:rPr kumimoji="0" lang="en-US" altLang="zh-CN" sz="2800" b="1" i="0" u="none" strike="noStrike" kern="1200" cap="none" spc="0" normalizeH="0" baseline="0" noProof="0" dirty="0" smtClean="0">
                <a:ln>
                  <a:noFill/>
                </a:ln>
                <a:solidFill>
                  <a:srgbClr val="000000"/>
                </a:solidFill>
                <a:effectLst/>
                <a:uLnTx/>
                <a:uFillTx/>
                <a:latin typeface="Times New Roman"/>
                <a:ea typeface="宋体"/>
                <a:cs typeface="+mn-cs"/>
              </a:rPr>
              <a:t>in the next outermost scope.</a:t>
            </a:r>
            <a:endParaRPr kumimoji="0" lang="zh-CN" altLang="en-US" sz="2800" b="1"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8367725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txBox="1">
            <a:spLocks/>
          </p:cNvSpPr>
          <p:nvPr/>
        </p:nvSpPr>
        <p:spPr>
          <a:xfrm>
            <a:off x="972529" y="117504"/>
            <a:ext cx="7485512" cy="1096962"/>
          </a:xfrm>
          <a:prstGeom prst="rect">
            <a:avLst/>
          </a:prstGeom>
        </p:spPr>
        <p:txBody>
          <a:bodyPr vert="horz" lIns="0" tIns="45720" rIns="0" bIns="45720" rtlCol="0" anchor="b">
            <a:normAutofit/>
          </a:bodyPr>
          <a:lstStyle>
            <a:lvl1pPr algn="l" defTabSz="685800" rtl="0" eaLnBrk="1" latinLnBrk="0" hangingPunct="1">
              <a:lnSpc>
                <a:spcPct val="90000"/>
              </a:lnSpc>
              <a:spcBef>
                <a:spcPct val="0"/>
              </a:spcBef>
              <a:buNone/>
              <a:defRPr sz="2100" kern="1200">
                <a:solidFill>
                  <a:schemeClr val="tx1"/>
                </a:solidFill>
                <a:latin typeface="微软雅黑" panose="020B0503020204020204" pitchFamily="34" charset="-122"/>
                <a:ea typeface="微软雅黑" panose="020B0503020204020204" pitchFamily="34" charset="-122"/>
                <a:cs typeface="+mj-cs"/>
              </a:defRPr>
            </a:lvl1pPr>
          </a:lstStyle>
          <a:p>
            <a:r>
              <a:rPr lang="en-US" altLang="zh-CN" dirty="0" smtClean="0"/>
              <a:t>8.5 Stack-Based Runtime Environments-With Local Procedures</a:t>
            </a:r>
            <a:endParaRPr lang="zh-CN" altLang="en-US" dirty="0"/>
          </a:p>
        </p:txBody>
      </p:sp>
      <p:sp>
        <p:nvSpPr>
          <p:cNvPr id="5" name="Rectangle 3"/>
          <p:cNvSpPr txBox="1">
            <a:spLocks noChangeArrowheads="1"/>
          </p:cNvSpPr>
          <p:nvPr/>
        </p:nvSpPr>
        <p:spPr bwMode="auto">
          <a:xfrm>
            <a:off x="1001994" y="1382713"/>
            <a:ext cx="7772400" cy="5475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Example: Pascal code demonstrating access chaining</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400" b="1" i="0" u="none" strike="noStrike" kern="1200" cap="none" spc="0" normalizeH="0" baseline="0" noProof="0" dirty="0" smtClean="0">
                <a:ln>
                  <a:noFill/>
                </a:ln>
                <a:solidFill>
                  <a:srgbClr val="000000"/>
                </a:solidFill>
                <a:effectLst/>
                <a:uLnTx/>
                <a:uFillTx/>
                <a:latin typeface="Times New Roman"/>
                <a:ea typeface="宋体"/>
                <a:cs typeface="+mn-cs"/>
              </a:rPr>
              <a:t>Program chain</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		Procedure p;</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400" b="0" i="0" u="none" strike="noStrike" kern="1200" cap="none" spc="0" normalizeH="0" baseline="0" noProof="0" dirty="0" err="1" smtClean="0">
                <a:ln>
                  <a:noFill/>
                </a:ln>
                <a:solidFill>
                  <a:srgbClr val="000000"/>
                </a:solidFill>
                <a:effectLst/>
                <a:uLnTx/>
                <a:uFillTx/>
                <a:latin typeface="Times New Roman"/>
                <a:ea typeface="宋体"/>
                <a:cs typeface="+mn-cs"/>
              </a:rPr>
              <a:t>var</a:t>
            </a: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x: integer;</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			Procedure q;</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				Procedure r;</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				Begin</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x:=</a:t>
            </a: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2;</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1400" b="0" i="0" u="none" strike="noStrike" kern="1200" cap="none" spc="0" normalizeH="0" baseline="0" noProof="0" dirty="0" smtClean="0">
                <a:ln>
                  <a:noFill/>
                </a:ln>
                <a:solidFill>
                  <a:srgbClr val="000000"/>
                </a:solidFill>
                <a:effectLst/>
                <a:uLnTx/>
                <a:uFillTx/>
                <a:latin typeface="Arial" panose="020B0604020202020204" pitchFamily="34" charset="0"/>
                <a:ea typeface="宋体"/>
                <a:cs typeface="+mn-cs"/>
              </a:rPr>
              <a:t>…</a:t>
            </a:r>
            <a:endPar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					if </a:t>
            </a:r>
            <a:r>
              <a:rPr kumimoji="0" lang="en-US" altLang="zh-CN" sz="1400" b="0" i="0" u="none" strike="noStrike" kern="1200" cap="none" spc="0" normalizeH="0" baseline="0" noProof="0" dirty="0" smtClean="0">
                <a:ln>
                  <a:noFill/>
                </a:ln>
                <a:solidFill>
                  <a:srgbClr val="000000"/>
                </a:solidFill>
                <a:effectLst/>
                <a:uLnTx/>
                <a:uFillTx/>
                <a:latin typeface="Arial" panose="020B0604020202020204" pitchFamily="34" charset="0"/>
                <a:ea typeface="宋体"/>
                <a:cs typeface="+mn-cs"/>
              </a:rPr>
              <a:t>…</a:t>
            </a: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then p;</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				end;(*r*)</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			begin</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				r;</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			end;(*q*)</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		begin</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			q;</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		end;(*p</a:t>
            </a:r>
            <a:r>
              <a:rPr kumimoji="0" lang="en-US" altLang="zh-CN" sz="1400" b="0" i="0" u="none" strike="noStrike" kern="1200" cap="none" spc="0" normalizeH="0" baseline="0" noProof="0" dirty="0" smtClean="0">
                <a:ln>
                  <a:noFill/>
                </a:ln>
                <a:solidFill>
                  <a:srgbClr val="000000"/>
                </a:solidFill>
                <a:effectLst/>
                <a:uLnTx/>
                <a:uFillTx/>
                <a:latin typeface="Times New Roman"/>
                <a:ea typeface="宋体"/>
                <a:cs typeface="+mn-cs"/>
              </a:rPr>
              <a:t>*)</a:t>
            </a:r>
          </a:p>
          <a:p>
            <a:pPr marL="342900" marR="0" lvl="0" indent="-342900" algn="l" defTabSz="914400" rtl="0" eaLnBrk="1" fontAlgn="base" latinLnBrk="0" hangingPunct="1">
              <a:lnSpc>
                <a:spcPct val="80000"/>
              </a:lnSpc>
              <a:spcBef>
                <a:spcPct val="20000"/>
              </a:spcBef>
              <a:spcAft>
                <a:spcPct val="0"/>
              </a:spcAft>
              <a:buClrTx/>
              <a:buSzTx/>
              <a:buFontTx/>
              <a:buNone/>
              <a:tabLst/>
              <a:defRPr/>
            </a:pPr>
            <a:endParaRPr lang="en-US" altLang="zh-CN" sz="1400" dirty="0">
              <a:solidFill>
                <a:srgbClr val="000000"/>
              </a:solidFill>
              <a:latin typeface="Times New Roman"/>
              <a:ea typeface="宋体"/>
            </a:endParaRPr>
          </a:p>
          <a:p>
            <a:pPr lvl="0" eaLnBrk="1" hangingPunct="1">
              <a:buNone/>
              <a:defRPr/>
            </a:pPr>
            <a:r>
              <a:rPr lang="en-US" altLang="zh-CN" sz="1400" dirty="0" smtClean="0">
                <a:solidFill>
                  <a:srgbClr val="000000"/>
                </a:solidFill>
                <a:latin typeface="Times New Roman"/>
                <a:ea typeface="宋体"/>
              </a:rPr>
              <a:t>                    begin</a:t>
            </a:r>
            <a:r>
              <a:rPr lang="en-US" altLang="zh-CN" sz="1400" dirty="0">
                <a:solidFill>
                  <a:srgbClr val="000000"/>
                </a:solidFill>
                <a:latin typeface="Times New Roman"/>
                <a:ea typeface="宋体"/>
              </a:rPr>
              <a:t>(* main *)</a:t>
            </a:r>
          </a:p>
          <a:p>
            <a:pPr lvl="0" eaLnBrk="1" hangingPunct="1">
              <a:buNone/>
              <a:defRPr/>
            </a:pPr>
            <a:r>
              <a:rPr lang="en-US" altLang="zh-CN" sz="1400" dirty="0">
                <a:solidFill>
                  <a:srgbClr val="000000"/>
                </a:solidFill>
                <a:latin typeface="Times New Roman"/>
                <a:ea typeface="宋体"/>
              </a:rPr>
              <a:t>	</a:t>
            </a:r>
            <a:r>
              <a:rPr lang="en-US" altLang="zh-CN" sz="1400" dirty="0" smtClean="0">
                <a:solidFill>
                  <a:srgbClr val="000000"/>
                </a:solidFill>
                <a:latin typeface="Times New Roman"/>
                <a:ea typeface="宋体"/>
              </a:rPr>
              <a:t>                    p</a:t>
            </a:r>
            <a:r>
              <a:rPr lang="en-US" altLang="zh-CN" sz="1400" dirty="0">
                <a:solidFill>
                  <a:srgbClr val="000000"/>
                </a:solidFill>
                <a:latin typeface="Times New Roman"/>
                <a:ea typeface="宋体"/>
              </a:rPr>
              <a:t>;</a:t>
            </a:r>
          </a:p>
          <a:p>
            <a:pPr lvl="0" eaLnBrk="1" hangingPunct="1">
              <a:buNone/>
              <a:defRPr/>
            </a:pPr>
            <a:r>
              <a:rPr lang="en-US" altLang="zh-CN" sz="1400" dirty="0">
                <a:solidFill>
                  <a:srgbClr val="000000"/>
                </a:solidFill>
                <a:latin typeface="Times New Roman"/>
                <a:ea typeface="宋体"/>
              </a:rPr>
              <a:t>		end.</a:t>
            </a:r>
          </a:p>
          <a:p>
            <a:pPr marL="342900" marR="0" lvl="0" indent="-342900" algn="l" defTabSz="914400" rtl="0" eaLnBrk="1" fontAlgn="base" latinLnBrk="0" hangingPunct="1">
              <a:lnSpc>
                <a:spcPct val="80000"/>
              </a:lnSpc>
              <a:spcBef>
                <a:spcPct val="20000"/>
              </a:spcBef>
              <a:spcAft>
                <a:spcPct val="0"/>
              </a:spcAft>
              <a:buClrTx/>
              <a:buSzTx/>
              <a:buFontTx/>
              <a:buNone/>
              <a:tabLst/>
              <a:defRPr/>
            </a:pPr>
            <a:endParaRPr kumimoji="0" lang="zh-CN" altLang="en-US" sz="1400" b="1" i="0" u="sng"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276583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8.5 Stack-Based Runtime </a:t>
            </a:r>
            <a:r>
              <a:rPr lang="en-US" altLang="zh-CN" dirty="0" smtClean="0"/>
              <a:t>Environments-With </a:t>
            </a:r>
            <a:r>
              <a:rPr lang="en-US" altLang="zh-CN" dirty="0"/>
              <a:t>Local Procedures</a:t>
            </a:r>
            <a:endParaRPr lang="zh-CN" altLang="en-US" dirty="0"/>
          </a:p>
        </p:txBody>
      </p:sp>
      <p:sp>
        <p:nvSpPr>
          <p:cNvPr id="5" name="Rectangle 2"/>
          <p:cNvSpPr txBox="1">
            <a:spLocks noChangeArrowheads="1"/>
          </p:cNvSpPr>
          <p:nvPr/>
        </p:nvSpPr>
        <p:spPr bwMode="auto">
          <a:xfrm>
            <a:off x="651616" y="1261648"/>
            <a:ext cx="7772400" cy="5475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Tx/>
              <a:buNone/>
              <a:tabLst/>
              <a:defRPr/>
            </a:pPr>
            <a:r>
              <a:rPr kumimoji="0" lang="en-US" altLang="zh-CN" sz="3200" b="0" i="0" u="none" strike="noStrike" kern="1200" cap="none" spc="0" normalizeH="0" baseline="0" noProof="0" dirty="0" smtClean="0">
                <a:ln>
                  <a:noFill/>
                </a:ln>
                <a:solidFill>
                  <a:srgbClr val="000000"/>
                </a:solidFill>
                <a:effectLst/>
                <a:uLnTx/>
                <a:uFillTx/>
                <a:latin typeface="Times New Roman"/>
                <a:ea typeface="宋体"/>
                <a:cs typeface="+mn-cs"/>
              </a:rPr>
              <a:t>		</a:t>
            </a:r>
            <a:endParaRPr kumimoji="0" lang="en-US" altLang="zh-CN" sz="2800" b="0"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100000"/>
              </a:lnSpc>
              <a:spcBef>
                <a:spcPct val="20000"/>
              </a:spcBef>
              <a:spcAft>
                <a:spcPct val="0"/>
              </a:spcAft>
              <a:buClrTx/>
              <a:buSzTx/>
              <a:buFontTx/>
              <a:buChar char="•"/>
              <a:tabLst/>
              <a:defRPr/>
            </a:pPr>
            <a:r>
              <a:rPr kumimoji="0" lang="en-US" altLang="zh-CN" sz="2800" b="0" i="0" u="none" strike="noStrike" kern="1200" cap="none" spc="0" normalizeH="0" baseline="0" noProof="0" dirty="0" smtClean="0">
                <a:ln>
                  <a:noFill/>
                </a:ln>
                <a:solidFill>
                  <a:srgbClr val="000000"/>
                </a:solidFill>
                <a:effectLst/>
                <a:uLnTx/>
                <a:uFillTx/>
                <a:latin typeface="Times New Roman"/>
                <a:ea typeface="宋体"/>
                <a:cs typeface="+mn-cs"/>
              </a:rPr>
              <a:t>In this code, the assignment to x inside r, which refers to the x of p, must </a:t>
            </a:r>
            <a:r>
              <a:rPr kumimoji="0" lang="en-US" altLang="zh-CN" sz="2800" b="1" i="0" u="none" strike="noStrike" kern="1200" cap="none" spc="0" normalizeH="0" baseline="0" noProof="0" dirty="0" smtClean="0">
                <a:ln>
                  <a:noFill/>
                </a:ln>
                <a:solidFill>
                  <a:srgbClr val="000000"/>
                </a:solidFill>
                <a:effectLst/>
                <a:uLnTx/>
                <a:uFillTx/>
                <a:latin typeface="Times New Roman"/>
                <a:ea typeface="宋体"/>
                <a:cs typeface="+mn-cs"/>
              </a:rPr>
              <a:t>traverse two scope levels</a:t>
            </a:r>
            <a:r>
              <a:rPr kumimoji="0" lang="en-US" altLang="zh-CN" sz="2800" b="0" i="0" u="none" strike="noStrike" kern="1200" cap="none" spc="0" normalizeH="0" baseline="0" noProof="0" dirty="0" smtClean="0">
                <a:ln>
                  <a:noFill/>
                </a:ln>
                <a:solidFill>
                  <a:srgbClr val="000000"/>
                </a:solidFill>
                <a:effectLst/>
                <a:uLnTx/>
                <a:uFillTx/>
                <a:latin typeface="Times New Roman"/>
                <a:ea typeface="宋体"/>
                <a:cs typeface="+mn-cs"/>
              </a:rPr>
              <a:t> to find x</a:t>
            </a:r>
          </a:p>
          <a:p>
            <a:pPr marL="342900" marR="0" lvl="0" indent="-342900" algn="l" defTabSz="914400" rtl="0" eaLnBrk="1" fontAlgn="base" latinLnBrk="0" hangingPunct="1">
              <a:lnSpc>
                <a:spcPct val="100000"/>
              </a:lnSpc>
              <a:spcBef>
                <a:spcPct val="20000"/>
              </a:spcBef>
              <a:spcAft>
                <a:spcPct val="0"/>
              </a:spcAft>
              <a:buClrTx/>
              <a:buSzTx/>
              <a:buFontTx/>
              <a:buNone/>
              <a:tabLst/>
              <a:defRPr/>
            </a:pPr>
            <a:endParaRPr kumimoji="0" lang="en-US" altLang="zh-CN" sz="2800" b="0"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100000"/>
              </a:lnSpc>
              <a:spcBef>
                <a:spcPct val="20000"/>
              </a:spcBef>
              <a:spcAft>
                <a:spcPct val="0"/>
              </a:spcAft>
              <a:buClrTx/>
              <a:buSzTx/>
              <a:buFontTx/>
              <a:buChar char="•"/>
              <a:tabLst/>
              <a:defRPr/>
            </a:pPr>
            <a:r>
              <a:rPr kumimoji="0" lang="en-US" altLang="zh-CN" sz="2800" b="0" i="0" u="none" strike="noStrike" kern="1200" cap="none" spc="0" normalizeH="0" baseline="0" noProof="0" dirty="0" smtClean="0">
                <a:ln>
                  <a:noFill/>
                </a:ln>
                <a:solidFill>
                  <a:srgbClr val="000000"/>
                </a:solidFill>
                <a:effectLst/>
                <a:uLnTx/>
                <a:uFillTx/>
                <a:latin typeface="Times New Roman"/>
                <a:ea typeface="宋体"/>
                <a:cs typeface="+mn-cs"/>
              </a:rPr>
              <a:t>In this environment, x must be reached by following tow access links, a process that is called </a:t>
            </a:r>
            <a:r>
              <a:rPr kumimoji="0" lang="en-US" altLang="zh-CN" sz="2800" b="1" i="0" u="none" strike="noStrike" kern="1200" cap="none" spc="0" normalizeH="0" baseline="0" noProof="0" dirty="0" smtClean="0">
                <a:ln>
                  <a:noFill/>
                </a:ln>
                <a:solidFill>
                  <a:srgbClr val="000000"/>
                </a:solidFill>
                <a:effectLst/>
                <a:uLnTx/>
                <a:uFillTx/>
                <a:latin typeface="Times New Roman"/>
                <a:ea typeface="宋体"/>
                <a:cs typeface="+mn-cs"/>
              </a:rPr>
              <a:t>access chaining</a:t>
            </a:r>
            <a:endParaRPr kumimoji="0" lang="zh-CN" altLang="en-US" sz="2800" b="1"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34015532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8.5 Stack-Based Runtime </a:t>
            </a:r>
            <a:r>
              <a:rPr lang="en-US" altLang="zh-CN" dirty="0" smtClean="0"/>
              <a:t>Environments-With </a:t>
            </a:r>
            <a:r>
              <a:rPr lang="en-US" altLang="zh-CN" dirty="0"/>
              <a:t>Local Procedures</a:t>
            </a:r>
            <a:endParaRPr lang="zh-CN" alt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1646425396"/>
              </p:ext>
            </p:extLst>
          </p:nvPr>
        </p:nvGraphicFramePr>
        <p:xfrm>
          <a:off x="553148" y="1289109"/>
          <a:ext cx="8004175" cy="5332413"/>
        </p:xfrm>
        <a:graphic>
          <a:graphicData uri="http://schemas.openxmlformats.org/presentationml/2006/ole">
            <mc:AlternateContent xmlns:mc="http://schemas.openxmlformats.org/markup-compatibility/2006">
              <mc:Choice xmlns:v="urn:schemas-microsoft-com:vml" Requires="v">
                <p:oleObj spid="_x0000_s19477" name="Document" r:id="rId3" imgW="5134401" imgH="3406074" progId="Word.Document.8">
                  <p:embed/>
                </p:oleObj>
              </mc:Choice>
              <mc:Fallback>
                <p:oleObj name="Document" r:id="rId3" imgW="5134401" imgH="3406074" progId="Word.Document.8">
                  <p:embed/>
                  <p:pic>
                    <p:nvPicPr>
                      <p:cNvPr id="0" name=""/>
                      <p:cNvPicPr>
                        <a:picLocks noChangeAspect="1" noChangeArrowheads="1"/>
                      </p:cNvPicPr>
                      <p:nvPr/>
                    </p:nvPicPr>
                    <p:blipFill>
                      <a:blip r:embed="rId4"/>
                      <a:srcRect/>
                      <a:stretch>
                        <a:fillRect/>
                      </a:stretch>
                    </p:blipFill>
                    <p:spPr bwMode="auto">
                      <a:xfrm>
                        <a:off x="553148" y="1289109"/>
                        <a:ext cx="8004175" cy="5332413"/>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21839591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8.5 Stack-Based Runtime </a:t>
            </a:r>
            <a:r>
              <a:rPr lang="en-US" altLang="zh-CN" dirty="0" smtClean="0"/>
              <a:t>Environments-With </a:t>
            </a:r>
            <a:r>
              <a:rPr lang="en-US" altLang="zh-CN" dirty="0"/>
              <a:t>Local Procedures</a:t>
            </a:r>
            <a:endParaRPr lang="zh-CN" altLang="en-US" dirty="0"/>
          </a:p>
        </p:txBody>
      </p:sp>
      <p:sp>
        <p:nvSpPr>
          <p:cNvPr id="5" name="Rectangle 3"/>
          <p:cNvSpPr txBox="1">
            <a:spLocks noChangeArrowheads="1"/>
          </p:cNvSpPr>
          <p:nvPr/>
        </p:nvSpPr>
        <p:spPr bwMode="auto">
          <a:xfrm>
            <a:off x="506338" y="1457384"/>
            <a:ext cx="7772400" cy="5330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Note:</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The </a:t>
            </a: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amount of chaining</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a:t>
            </a: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determined by</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comparing the nesting level at the point of access with one of the declaration of the name</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In the above situation, the assignment to x is at nesting level 3, and x is declared at the nesting level 1, so two access links must be followed</a:t>
            </a:r>
          </a:p>
          <a:p>
            <a:pPr marL="742950" marR="0" lvl="1" indent="-285750" algn="l" defTabSz="914400" rtl="0" eaLnBrk="1" fontAlgn="base" latinLnBrk="0" hangingPunct="1">
              <a:lnSpc>
                <a:spcPct val="80000"/>
              </a:lnSpc>
              <a:spcBef>
                <a:spcPct val="20000"/>
              </a:spcBef>
              <a:spcAft>
                <a:spcPct val="0"/>
              </a:spcAft>
              <a:buClrTx/>
              <a:buSzTx/>
              <a:buFontTx/>
              <a:buNone/>
              <a:tabLst/>
              <a:defRPr/>
            </a:pPr>
            <a:endPar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endParaRP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However, the access chaining is an inefficient method for variable access, for each nonlocal reference with a large nesting difference, a lengthy sequence of instruction must be executed.</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There is a method of implementing </a:t>
            </a: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access links in a lookup table indexed by nesting level</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called </a:t>
            </a: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display</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to avoid the execution overhead of chaining.</a:t>
            </a:r>
            <a:endParaRPr kumimoji="0" lang="zh-CN" altLang="en-US" sz="24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65611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8.5 Stack-Based Runtime </a:t>
            </a:r>
            <a:r>
              <a:rPr lang="en-US" altLang="zh-CN" dirty="0" smtClean="0"/>
              <a:t>Environments-With </a:t>
            </a:r>
            <a:r>
              <a:rPr lang="en-US" altLang="zh-CN" dirty="0"/>
              <a:t>Local Procedures</a:t>
            </a:r>
            <a:endParaRPr lang="zh-CN" altLang="en-US" dirty="0"/>
          </a:p>
        </p:txBody>
      </p:sp>
      <p:sp>
        <p:nvSpPr>
          <p:cNvPr id="6" name="Rectangle 3"/>
          <p:cNvSpPr txBox="1">
            <a:spLocks noChangeArrowheads="1"/>
          </p:cNvSpPr>
          <p:nvPr/>
        </p:nvSpPr>
        <p:spPr bwMode="auto">
          <a:xfrm>
            <a:off x="608888" y="1382713"/>
            <a:ext cx="7772400" cy="5475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The calling sequence</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The </a:t>
            </a:r>
            <a:r>
              <a:rPr kumimoji="0" lang="en-US" altLang="zh-CN" sz="2800" b="0" i="0" u="none" strike="noStrike" kern="1200" cap="none" spc="0" normalizeH="0" baseline="0" noProof="0" smtClean="0">
                <a:ln>
                  <a:noFill/>
                </a:ln>
                <a:solidFill>
                  <a:srgbClr val="FF3300"/>
                </a:solidFill>
                <a:effectLst/>
                <a:uLnTx/>
                <a:uFillTx/>
                <a:latin typeface="Times New Roman"/>
                <a:ea typeface="宋体"/>
                <a:cs typeface="+mn-cs"/>
              </a:rPr>
              <a:t>changes needed</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to implement access links:</a:t>
            </a:r>
          </a:p>
          <a:p>
            <a:pPr marL="966788" marR="0" lvl="1" indent="-509588"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(1) The access link must be pushed onto the runtime stack just before the fp during a call</a:t>
            </a:r>
          </a:p>
          <a:p>
            <a:pPr marL="966788" marR="0" lvl="1" indent="-509588"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(2) The sp must be adjusted by an extra amount to remove the access link after an exit</a:t>
            </a:r>
          </a:p>
          <a:p>
            <a:pPr marL="342900" marR="0" lvl="0" indent="-342900" algn="l" defTabSz="914400" rtl="0" eaLnBrk="1" fontAlgn="base" latinLnBrk="0" hangingPunct="1">
              <a:lnSpc>
                <a:spcPct val="80000"/>
              </a:lnSpc>
              <a:spcBef>
                <a:spcPct val="20000"/>
              </a:spcBef>
              <a:spcAft>
                <a:spcPct val="0"/>
              </a:spcAft>
              <a:buClrTx/>
              <a:buSzTx/>
              <a:buFontTx/>
              <a:buNone/>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How to find the access link of a procedure during a call?</a:t>
            </a:r>
          </a:p>
          <a:p>
            <a:pPr marL="966788" marR="0" lvl="1" indent="-509588"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Using the (compile-time) nesting level information attached to the declaration of the procedure</a:t>
            </a:r>
          </a:p>
          <a:p>
            <a:pPr marL="966788" marR="0" lvl="1" indent="-509588"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Generate an access chain as if to access a variable at the same nesting level</a:t>
            </a:r>
          </a:p>
          <a:p>
            <a:pPr marL="966788" marR="0" lvl="1" indent="-509588" algn="l" defTabSz="914400" rtl="0" eaLnBrk="1" fontAlgn="base" latinLnBrk="0" hangingPunct="1">
              <a:lnSpc>
                <a:spcPct val="80000"/>
              </a:lnSpc>
              <a:spcBef>
                <a:spcPct val="20000"/>
              </a:spcBef>
              <a:spcAft>
                <a:spcPct val="0"/>
              </a:spcAft>
              <a:buClrTx/>
              <a:buSzTx/>
              <a:buFontTx/>
              <a:buChar char="–"/>
              <a:tabLst/>
              <a:defRPr/>
            </a:pP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The access link and the control link are the same, if the procedure is local</a:t>
            </a:r>
            <a:endParaRPr kumimoji="0" lang="zh-CN" altLang="en-US" sz="2400" b="1"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2795042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smtClean="0"/>
              <a:t>8.6 </a:t>
            </a:r>
            <a:r>
              <a:rPr lang="en-US" altLang="zh-CN" dirty="0"/>
              <a:t>Fully Dynamic Runtime Environments</a:t>
            </a:r>
            <a:endParaRPr lang="zh-CN" altLang="en-US" dirty="0"/>
          </a:p>
        </p:txBody>
      </p:sp>
      <p:sp>
        <p:nvSpPr>
          <p:cNvPr id="7" name="Rectangle 3"/>
          <p:cNvSpPr txBox="1">
            <a:spLocks noChangeArrowheads="1"/>
          </p:cNvSpPr>
          <p:nvPr/>
        </p:nvSpPr>
        <p:spPr bwMode="auto">
          <a:xfrm>
            <a:off x="737075" y="1754231"/>
            <a:ext cx="7772400" cy="4133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A stack-based environment will result in a </a:t>
            </a:r>
            <a:r>
              <a:rPr kumimoji="0" lang="en-US" altLang="zh-CN" sz="2000" b="1" i="0" u="none" strike="noStrike" kern="1200" cap="none" spc="0" normalizeH="0" baseline="0" noProof="0" dirty="0" smtClean="0">
                <a:ln>
                  <a:noFill/>
                </a:ln>
                <a:solidFill>
                  <a:srgbClr val="FF3300"/>
                </a:solidFill>
                <a:effectLst/>
                <a:uLnTx/>
                <a:uFillTx/>
                <a:latin typeface="Times New Roman"/>
                <a:ea typeface="宋体"/>
                <a:cs typeface="+mn-cs"/>
              </a:rPr>
              <a:t>dangling reference</a:t>
            </a: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 when the procedure is exited if a local variable in a procedure can be returned to the caller</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endPar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	The simplest example:</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2000" b="1" i="0" u="none" strike="noStrike" kern="1200" cap="none" spc="0" normalizeH="0" baseline="0" noProof="0" dirty="0" err="1" smtClean="0">
                <a:ln>
                  <a:noFill/>
                </a:ln>
                <a:solidFill>
                  <a:srgbClr val="000000"/>
                </a:solidFill>
                <a:effectLst/>
                <a:uLnTx/>
                <a:uFillTx/>
                <a:latin typeface="Times New Roman"/>
                <a:ea typeface="宋体"/>
                <a:cs typeface="+mn-cs"/>
              </a:rPr>
              <a:t>Int</a:t>
            </a: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 * dangle(void)</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		{ </a:t>
            </a:r>
            <a:r>
              <a:rPr kumimoji="0" lang="en-US" altLang="zh-CN" sz="2000" b="1" i="0" u="none" strike="noStrike" kern="1200" cap="none" spc="0" normalizeH="0" baseline="0" noProof="0" dirty="0" err="1" smtClean="0">
                <a:ln>
                  <a:noFill/>
                </a:ln>
                <a:solidFill>
                  <a:srgbClr val="000000"/>
                </a:solidFill>
                <a:effectLst/>
                <a:uLnTx/>
                <a:uFillTx/>
                <a:latin typeface="Times New Roman"/>
                <a:ea typeface="宋体"/>
                <a:cs typeface="+mn-cs"/>
              </a:rPr>
              <a:t>int</a:t>
            </a: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 x;</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		 return &amp;x;}</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	     Where, the address of a local variable is returned.</a:t>
            </a:r>
          </a:p>
          <a:p>
            <a:pPr marL="342900" marR="0" lvl="0" indent="-342900" algn="l" defTabSz="914400" rtl="0" eaLnBrk="1" fontAlgn="base" latinLnBrk="0" hangingPunct="1">
              <a:lnSpc>
                <a:spcPct val="80000"/>
              </a:lnSpc>
              <a:spcBef>
                <a:spcPct val="20000"/>
              </a:spcBef>
              <a:spcAft>
                <a:spcPct val="0"/>
              </a:spcAft>
              <a:buClrTx/>
              <a:buSzTx/>
              <a:buFontTx/>
              <a:buNone/>
              <a:tabLst/>
              <a:defRPr/>
            </a:pPr>
            <a:endPar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An assignment </a:t>
            </a:r>
            <a:r>
              <a:rPr kumimoji="0" lang="en-US" altLang="zh-CN" sz="2000" b="1" i="0" u="none" strike="noStrike" kern="1200" cap="none" spc="0" normalizeH="0" baseline="0" noProof="0" dirty="0" err="1" smtClean="0">
                <a:ln>
                  <a:noFill/>
                </a:ln>
                <a:solidFill>
                  <a:srgbClr val="000000"/>
                </a:solidFill>
                <a:effectLst/>
                <a:uLnTx/>
                <a:uFillTx/>
                <a:latin typeface="Times New Roman"/>
                <a:ea typeface="宋体"/>
                <a:cs typeface="+mn-cs"/>
              </a:rPr>
              <a:t>addr</a:t>
            </a: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 = dangle( ) now cause </a:t>
            </a:r>
            <a:r>
              <a:rPr kumimoji="0" lang="en-US" altLang="zh-CN" sz="2000" b="1" i="0" u="none" strike="noStrike" kern="1200" cap="none" spc="0" normalizeH="0" baseline="0" noProof="0" dirty="0" err="1" smtClean="0">
                <a:ln>
                  <a:noFill/>
                </a:ln>
                <a:solidFill>
                  <a:srgbClr val="000000"/>
                </a:solidFill>
                <a:effectLst/>
                <a:uLnTx/>
                <a:uFillTx/>
                <a:latin typeface="Times New Roman"/>
                <a:ea typeface="宋体"/>
                <a:cs typeface="+mn-cs"/>
              </a:rPr>
              <a:t>addr</a:t>
            </a:r>
            <a:r>
              <a:rPr kumimoji="0" lang="en-US" altLang="zh-CN" sz="2000" b="1" i="0" u="none" strike="noStrike" kern="1200" cap="none" spc="0" normalizeH="0" baseline="0" noProof="0" dirty="0" smtClean="0">
                <a:ln>
                  <a:noFill/>
                </a:ln>
                <a:solidFill>
                  <a:srgbClr val="000000"/>
                </a:solidFill>
                <a:effectLst/>
                <a:uLnTx/>
                <a:uFillTx/>
                <a:latin typeface="Times New Roman"/>
                <a:ea typeface="宋体"/>
                <a:cs typeface="+mn-cs"/>
              </a:rPr>
              <a:t> to </a:t>
            </a:r>
            <a:r>
              <a:rPr kumimoji="0" lang="en-US" altLang="zh-CN" sz="2000" b="1" i="0" u="none" strike="noStrike" kern="1200" cap="none" spc="0" normalizeH="0" baseline="0" noProof="0" dirty="0" smtClean="0">
                <a:ln>
                  <a:noFill/>
                </a:ln>
                <a:solidFill>
                  <a:srgbClr val="FF3300"/>
                </a:solidFill>
                <a:effectLst/>
                <a:uLnTx/>
                <a:uFillTx/>
                <a:latin typeface="Times New Roman"/>
                <a:ea typeface="宋体"/>
                <a:cs typeface="+mn-cs"/>
              </a:rPr>
              <a:t>point to an unsafe location in the activation stack</a:t>
            </a:r>
            <a:endParaRPr kumimoji="0" lang="zh-CN" altLang="en-US" sz="2000" b="1"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33991451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smtClean="0"/>
              <a:t>8.6 </a:t>
            </a:r>
            <a:r>
              <a:rPr lang="en-US" altLang="zh-CN" dirty="0"/>
              <a:t>Fully Dynamic Runtime Environments</a:t>
            </a:r>
            <a:endParaRPr lang="zh-CN" altLang="en-US" dirty="0"/>
          </a:p>
        </p:txBody>
      </p:sp>
      <p:sp>
        <p:nvSpPr>
          <p:cNvPr id="3" name="Rectangle 3"/>
          <p:cNvSpPr txBox="1">
            <a:spLocks noChangeArrowheads="1"/>
          </p:cNvSpPr>
          <p:nvPr/>
        </p:nvSpPr>
        <p:spPr bwMode="auto">
          <a:xfrm>
            <a:off x="617434" y="1450473"/>
            <a:ext cx="7772400" cy="53177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400" b="1" i="0" u="none" strike="noStrike" kern="1200" cap="none" spc="0" normalizeH="0" baseline="0" noProof="0" dirty="0" smtClean="0">
                <a:ln>
                  <a:noFill/>
                </a:ln>
                <a:solidFill>
                  <a:srgbClr val="000000"/>
                </a:solidFill>
                <a:effectLst/>
                <a:uLnTx/>
                <a:uFillTx/>
                <a:latin typeface="Times New Roman"/>
                <a:ea typeface="宋体"/>
                <a:cs typeface="+mn-cs"/>
              </a:rPr>
              <a:t>A somewhat more complex instance of </a:t>
            </a:r>
            <a:r>
              <a:rPr kumimoji="0" lang="en-US" altLang="zh-CN" sz="2400" b="1" i="0" u="none" strike="noStrike" kern="1200" cap="none" spc="0" normalizeH="0" baseline="0" noProof="0" dirty="0" smtClean="0">
                <a:ln>
                  <a:noFill/>
                </a:ln>
                <a:solidFill>
                  <a:srgbClr val="FF3300"/>
                </a:solidFill>
                <a:effectLst/>
                <a:uLnTx/>
                <a:uFillTx/>
                <a:latin typeface="Times New Roman"/>
                <a:ea typeface="宋体"/>
                <a:cs typeface="+mn-cs"/>
              </a:rPr>
              <a:t>a dangling reference</a:t>
            </a:r>
            <a:r>
              <a:rPr kumimoji="0" lang="en-US" altLang="zh-CN" sz="2400" b="1" i="0" u="none" strike="noStrike" kern="1200" cap="none" spc="0" normalizeH="0" baseline="0" noProof="0" dirty="0" smtClean="0">
                <a:ln>
                  <a:noFill/>
                </a:ln>
                <a:solidFill>
                  <a:srgbClr val="000000"/>
                </a:solidFill>
                <a:effectLst/>
                <a:uLnTx/>
                <a:uFillTx/>
                <a:latin typeface="Times New Roman"/>
                <a:ea typeface="宋体"/>
                <a:cs typeface="+mn-cs"/>
              </a:rPr>
              <a:t> occurs if a local function can be returned by a call</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2400" b="0" i="0" u="none" strike="noStrike" kern="1200" cap="none" spc="0" normalizeH="0" baseline="0" noProof="0" dirty="0" err="1" smtClean="0">
                <a:ln>
                  <a:noFill/>
                </a:ln>
                <a:solidFill>
                  <a:srgbClr val="000000"/>
                </a:solidFill>
                <a:effectLst/>
                <a:uLnTx/>
                <a:uFillTx/>
                <a:latin typeface="Times New Roman"/>
                <a:ea typeface="宋体"/>
                <a:cs typeface="+mn-cs"/>
              </a:rPr>
              <a:t>Typedef</a:t>
            </a: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2400" b="0" i="0" u="none" strike="noStrike" kern="1200" cap="none" spc="0" normalizeH="0" baseline="0" noProof="0" dirty="0" err="1" smtClean="0">
                <a:ln>
                  <a:noFill/>
                </a:ln>
                <a:solidFill>
                  <a:srgbClr val="000000"/>
                </a:solidFill>
                <a:effectLst/>
                <a:uLnTx/>
                <a:uFillTx/>
                <a:latin typeface="Times New Roman"/>
                <a:ea typeface="宋体"/>
                <a:cs typeface="+mn-cs"/>
              </a:rPr>
              <a:t>int</a:t>
            </a: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proc)(void);</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Proc g(</a:t>
            </a:r>
            <a:r>
              <a:rPr kumimoji="0" lang="en-US" altLang="zh-CN" sz="2400" b="0" i="0" u="none" strike="noStrike" kern="1200" cap="none" spc="0" normalizeH="0" baseline="0" noProof="0" dirty="0" err="1" smtClean="0">
                <a:ln>
                  <a:noFill/>
                </a:ln>
                <a:solidFill>
                  <a:srgbClr val="000000"/>
                </a:solidFill>
                <a:effectLst/>
                <a:uLnTx/>
                <a:uFillTx/>
                <a:latin typeface="Times New Roman"/>
                <a:ea typeface="宋体"/>
                <a:cs typeface="+mn-cs"/>
              </a:rPr>
              <a:t>int</a:t>
            </a: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x)</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          </a:t>
            </a:r>
            <a:r>
              <a:rPr kumimoji="0" lang="en-US" altLang="zh-CN" sz="2400" b="0" i="0" u="none" strike="noStrike" kern="1200" cap="none" spc="0" normalizeH="0" baseline="0" noProof="0" dirty="0" err="1" smtClean="0">
                <a:ln>
                  <a:noFill/>
                </a:ln>
                <a:solidFill>
                  <a:srgbClr val="000000"/>
                </a:solidFill>
                <a:effectLst/>
                <a:uLnTx/>
                <a:uFillTx/>
                <a:latin typeface="Times New Roman"/>
                <a:ea typeface="宋体"/>
                <a:cs typeface="+mn-cs"/>
              </a:rPr>
              <a:t>int</a:t>
            </a: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f(void) /*illegal local function*/</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{return x;}</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return f;</a:t>
            </a:r>
            <a:r>
              <a:rPr kumimoji="0" lang="en-US" altLang="zh-CN" sz="2400" b="0" i="0" u="none" strike="noStrike" kern="1200" cap="none" spc="0" normalizeH="0" noProof="0" dirty="0" smtClean="0">
                <a:ln>
                  <a:noFill/>
                </a:ln>
                <a:solidFill>
                  <a:srgbClr val="000000"/>
                </a:solidFill>
                <a:effectLst/>
                <a:uLnTx/>
                <a:uFillTx/>
                <a:latin typeface="Times New Roman"/>
                <a:ea typeface="宋体"/>
                <a:cs typeface="+mn-cs"/>
              </a:rPr>
              <a:t> </a:t>
            </a: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main()</a:t>
            </a:r>
            <a:r>
              <a:rPr kumimoji="0" lang="en-US" altLang="zh-CN" sz="2400" b="0" i="0" u="none" strike="noStrike" kern="1200" cap="none" spc="0" normalizeH="0" noProof="0" dirty="0" smtClean="0">
                <a:ln>
                  <a:noFill/>
                </a:ln>
                <a:solidFill>
                  <a:srgbClr val="000000"/>
                </a:solidFill>
                <a:effectLst/>
                <a:uLnTx/>
                <a:uFillTx/>
                <a:latin typeface="Times New Roman"/>
                <a:ea typeface="宋体"/>
                <a:cs typeface="+mn-cs"/>
              </a:rPr>
              <a:t> </a:t>
            </a: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proc c;</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c= g(2);</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2400" b="0" i="0" u="none" strike="noStrike" kern="1200" cap="none" spc="0" normalizeH="0" baseline="0" noProof="0" dirty="0" err="1" smtClean="0">
                <a:ln>
                  <a:noFill/>
                </a:ln>
                <a:solidFill>
                  <a:srgbClr val="000000"/>
                </a:solidFill>
                <a:effectLst/>
                <a:uLnTx/>
                <a:uFillTx/>
                <a:latin typeface="Times New Roman"/>
                <a:ea typeface="宋体"/>
                <a:cs typeface="+mn-cs"/>
              </a:rPr>
              <a:t>printf</a:t>
            </a: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a:t>
            </a:r>
            <a:r>
              <a:rPr kumimoji="0" lang="en-US" altLang="zh-CN" sz="2400" b="0" i="0" u="none" strike="noStrike" kern="1200" cap="none" spc="0" normalizeH="0" baseline="0" noProof="0" dirty="0" smtClean="0">
                <a:ln>
                  <a:noFill/>
                </a:ln>
                <a:solidFill>
                  <a:srgbClr val="000000"/>
                </a:solidFill>
                <a:effectLst/>
                <a:uLnTx/>
                <a:uFillTx/>
                <a:latin typeface="Arial" panose="020B0604020202020204" pitchFamily="34" charset="0"/>
                <a:ea typeface="宋体"/>
                <a:cs typeface="+mn-cs"/>
              </a:rPr>
              <a:t>“</a:t>
            </a: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%d\</a:t>
            </a:r>
            <a:r>
              <a:rPr kumimoji="0" lang="en-US" altLang="zh-CN" sz="2400" b="0" i="0" u="none" strike="noStrike" kern="1200" cap="none" spc="0" normalizeH="0" baseline="0" noProof="0" dirty="0" err="1" smtClean="0">
                <a:ln>
                  <a:noFill/>
                </a:ln>
                <a:solidFill>
                  <a:srgbClr val="000000"/>
                </a:solidFill>
                <a:effectLst/>
                <a:uLnTx/>
                <a:uFillTx/>
                <a:latin typeface="Times New Roman"/>
                <a:ea typeface="宋体"/>
                <a:cs typeface="+mn-cs"/>
              </a:rPr>
              <a:t>n</a:t>
            </a:r>
            <a:r>
              <a:rPr kumimoji="0" lang="en-US" altLang="zh-CN" sz="2400" b="0" i="0" u="none" strike="noStrike" kern="1200" cap="none" spc="0" normalizeH="0" baseline="0" noProof="0" dirty="0" err="1" smtClean="0">
                <a:ln>
                  <a:noFill/>
                </a:ln>
                <a:solidFill>
                  <a:srgbClr val="000000"/>
                </a:solidFill>
                <a:effectLst/>
                <a:uLnTx/>
                <a:uFillTx/>
                <a:latin typeface="Arial" panose="020B0604020202020204" pitchFamily="34" charset="0"/>
                <a:ea typeface="宋体"/>
                <a:cs typeface="+mn-cs"/>
              </a:rPr>
              <a:t>”</a:t>
            </a:r>
            <a:r>
              <a:rPr kumimoji="0" lang="en-US" altLang="zh-CN" sz="2400" b="0" i="0" u="none" strike="noStrike" kern="1200" cap="none" spc="0" normalizeH="0" baseline="0" noProof="0" dirty="0" err="1" smtClean="0">
                <a:ln>
                  <a:noFill/>
                </a:ln>
                <a:solidFill>
                  <a:srgbClr val="000000"/>
                </a:solidFill>
                <a:effectLst/>
                <a:uLnTx/>
                <a:uFillTx/>
                <a:latin typeface="Times New Roman"/>
                <a:ea typeface="宋体"/>
                <a:cs typeface="+mn-cs"/>
              </a:rPr>
              <a:t>,c</a:t>
            </a: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should print 2*/</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return 0;</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a:t>
            </a:r>
            <a:endParaRPr kumimoji="0" lang="zh-CN" altLang="en-US" sz="24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3329332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smtClean="0"/>
              <a:t>8.6 </a:t>
            </a:r>
            <a:r>
              <a:rPr lang="en-US" altLang="zh-CN" dirty="0"/>
              <a:t>Fully Dynamic Runtime Environments</a:t>
            </a:r>
            <a:endParaRPr lang="zh-CN" altLang="en-US" dirty="0"/>
          </a:p>
        </p:txBody>
      </p:sp>
      <p:sp>
        <p:nvSpPr>
          <p:cNvPr id="5" name="Rectangle 3"/>
          <p:cNvSpPr txBox="1">
            <a:spLocks noChangeArrowheads="1"/>
          </p:cNvSpPr>
          <p:nvPr/>
        </p:nvSpPr>
        <p:spPr bwMode="auto">
          <a:xfrm>
            <a:off x="608888" y="1527175"/>
            <a:ext cx="7772400" cy="5330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Of course, </a:t>
            </a:r>
            <a:r>
              <a:rPr kumimoji="0" lang="en-US" altLang="zh-CN" sz="2800" b="0" i="0" u="none" strike="noStrike" kern="1200" cap="none" spc="0" normalizeH="0" baseline="0" noProof="0" smtClean="0">
                <a:ln>
                  <a:noFill/>
                </a:ln>
                <a:solidFill>
                  <a:srgbClr val="FF3300"/>
                </a:solidFill>
                <a:effectLst/>
                <a:uLnTx/>
                <a:uFillTx/>
                <a:latin typeface="Times New Roman"/>
                <a:ea typeface="宋体"/>
                <a:cs typeface="+mn-cs"/>
              </a:rPr>
              <a:t>C language</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avoids the above problem by prohibiting local procedure </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Other languages, like </a:t>
            </a:r>
            <a:r>
              <a:rPr kumimoji="0" lang="en-US" altLang="zh-CN" sz="2800" b="0" i="0" u="none" strike="noStrike" kern="1200" cap="none" spc="0" normalizeH="0" baseline="0" noProof="0" smtClean="0">
                <a:ln>
                  <a:noFill/>
                </a:ln>
                <a:solidFill>
                  <a:srgbClr val="FF3300"/>
                </a:solidFill>
                <a:effectLst/>
                <a:uLnTx/>
                <a:uFillTx/>
                <a:latin typeface="Times New Roman"/>
                <a:ea typeface="宋体"/>
                <a:cs typeface="+mn-cs"/>
              </a:rPr>
              <a:t>Mudula-2</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which have local procedures as well as procedure variables, parameters, and returned values,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must state a special rule that makes such program erroneous</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In the </a:t>
            </a:r>
            <a:r>
              <a:rPr kumimoji="0" lang="en-US" altLang="zh-CN" sz="2800" b="1" i="0" u="none" strike="noStrike" kern="1200" cap="none" spc="0" normalizeH="0" baseline="0" noProof="0" smtClean="0">
                <a:ln>
                  <a:noFill/>
                </a:ln>
                <a:solidFill>
                  <a:srgbClr val="FF3300"/>
                </a:solidFill>
                <a:effectLst/>
                <a:uLnTx/>
                <a:uFillTx/>
                <a:latin typeface="Times New Roman"/>
                <a:ea typeface="宋体"/>
                <a:cs typeface="+mn-cs"/>
              </a:rPr>
              <a:t>functional programming languages</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such as </a:t>
            </a:r>
            <a:r>
              <a:rPr kumimoji="0" lang="en-US" altLang="zh-CN" sz="2800" b="0" i="0" u="none" strike="noStrike" kern="1200" cap="none" spc="0" normalizeH="0" baseline="0" noProof="0" smtClean="0">
                <a:ln>
                  <a:noFill/>
                </a:ln>
                <a:solidFill>
                  <a:srgbClr val="FF3300"/>
                </a:solidFill>
                <a:effectLst/>
                <a:uLnTx/>
                <a:uFillTx/>
                <a:latin typeface="Times New Roman"/>
                <a:ea typeface="宋体"/>
                <a:cs typeface="+mn-cs"/>
              </a:rPr>
              <a:t>LISP and ML</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the functions must be able to be locally defined, passed as parameters, and returned as results.</a:t>
            </a:r>
            <a:endParaRPr kumimoji="0" lang="zh-CN" altLang="en-US" sz="2800" b="1"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2370557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smtClean="0"/>
              <a:t>8.6 </a:t>
            </a:r>
            <a:r>
              <a:rPr lang="en-US" altLang="zh-CN" dirty="0"/>
              <a:t>Fully Dynamic Runtime Environments</a:t>
            </a:r>
            <a:endParaRPr lang="zh-CN" altLang="en-US" dirty="0"/>
          </a:p>
        </p:txBody>
      </p:sp>
      <p:sp>
        <p:nvSpPr>
          <p:cNvPr id="7" name="Rectangle 3"/>
          <p:cNvSpPr txBox="1">
            <a:spLocks noChangeArrowheads="1"/>
          </p:cNvSpPr>
          <p:nvPr/>
        </p:nvSpPr>
        <p:spPr bwMode="auto">
          <a:xfrm>
            <a:off x="625979" y="1395309"/>
            <a:ext cx="7772400" cy="5546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Thus, a stack-based runtime environment is </a:t>
            </a:r>
            <a:r>
              <a:rPr kumimoji="0" lang="en-US" altLang="zh-CN" sz="2800" b="0" i="0" u="none" strike="noStrike" kern="1200" cap="none" spc="0" normalizeH="0" baseline="0" noProof="0" smtClean="0">
                <a:ln>
                  <a:noFill/>
                </a:ln>
                <a:solidFill>
                  <a:srgbClr val="FF3300"/>
                </a:solidFill>
                <a:effectLst/>
                <a:uLnTx/>
                <a:uFillTx/>
                <a:latin typeface="Times New Roman"/>
                <a:ea typeface="宋体"/>
                <a:cs typeface="+mn-cs"/>
              </a:rPr>
              <a:t>inadequate</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and a more general form of environment is required, called </a:t>
            </a:r>
            <a:r>
              <a:rPr kumimoji="0" lang="en-US" altLang="zh-CN" sz="2800" b="0" i="0" u="none" strike="noStrike" kern="1200" cap="none" spc="0" normalizeH="0" baseline="0" noProof="0" smtClean="0">
                <a:ln>
                  <a:noFill/>
                </a:ln>
                <a:solidFill>
                  <a:srgbClr val="FF3300"/>
                </a:solidFill>
                <a:effectLst/>
                <a:uLnTx/>
                <a:uFillTx/>
                <a:latin typeface="Times New Roman"/>
                <a:ea typeface="宋体"/>
                <a:cs typeface="+mn-cs"/>
              </a:rPr>
              <a:t>Fully Dynamic Environment</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endParaRPr kumimoji="0" lang="en-US" altLang="zh-CN" sz="2800" b="0" i="0" u="none" strike="noStrike" kern="1200" cap="none" spc="0" normalizeH="0" baseline="0" noProof="0" smtClean="0">
              <a:ln>
                <a:noFill/>
              </a:ln>
              <a:solidFill>
                <a:srgbClr val="FF33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In fully dynamic environment, the basic structure of </a:t>
            </a:r>
            <a:r>
              <a:rPr kumimoji="0" lang="en-US" altLang="zh-CN" sz="2800" b="0" i="0" u="none" strike="noStrike" kern="1200" cap="none" spc="0" normalizeH="0" baseline="0" noProof="0" smtClean="0">
                <a:ln>
                  <a:noFill/>
                </a:ln>
                <a:solidFill>
                  <a:srgbClr val="FF3300"/>
                </a:solidFill>
                <a:effectLst/>
                <a:uLnTx/>
                <a:uFillTx/>
                <a:latin typeface="Times New Roman"/>
                <a:ea typeface="宋体"/>
                <a:cs typeface="+mn-cs"/>
              </a:rPr>
              <a:t>activation record remains the same</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a:t>
            </a:r>
          </a:p>
          <a:p>
            <a:pPr marL="742950" marR="0" lvl="1" indent="-28575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The space must be allocated for parameters and local variables, and there is still a need for control and access links</a:t>
            </a:r>
          </a:p>
          <a:p>
            <a:pPr marL="342900" marR="0" lvl="0" indent="-342900" algn="l" defTabSz="914400" rtl="0" eaLnBrk="1" fontAlgn="base" latinLnBrk="0" hangingPunct="1">
              <a:lnSpc>
                <a:spcPct val="80000"/>
              </a:lnSpc>
              <a:spcBef>
                <a:spcPct val="20000"/>
              </a:spcBef>
              <a:spcAft>
                <a:spcPct val="0"/>
              </a:spcAft>
              <a:buClrTx/>
              <a:buSzTx/>
              <a:buFontTx/>
              <a:buNone/>
              <a:tabLst/>
              <a:defRPr/>
            </a:pPr>
            <a:endPar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When control is returned to the caller, the </a:t>
            </a:r>
            <a:r>
              <a:rPr kumimoji="0" lang="en-US" altLang="zh-CN" sz="2800" b="1" i="0" u="none" strike="noStrike" kern="1200" cap="none" spc="0" normalizeH="0" baseline="0" noProof="0" smtClean="0">
                <a:ln>
                  <a:noFill/>
                </a:ln>
                <a:solidFill>
                  <a:srgbClr val="FF3300"/>
                </a:solidFill>
                <a:effectLst/>
                <a:uLnTx/>
                <a:uFillTx/>
                <a:latin typeface="Times New Roman"/>
                <a:ea typeface="宋体"/>
                <a:cs typeface="+mn-cs"/>
              </a:rPr>
              <a:t>exited activation record remains in memory</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 to be de-allocated at some later time</a:t>
            </a:r>
            <a:endParaRPr kumimoji="0" lang="zh-CN" altLang="en-US" sz="2800" b="1"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9547685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8.7 Dynamic Memory in Object-Oriented Languages</a:t>
            </a:r>
            <a:endParaRPr lang="zh-CN" altLang="en-US" dirty="0"/>
          </a:p>
        </p:txBody>
      </p:sp>
      <p:sp>
        <p:nvSpPr>
          <p:cNvPr id="5" name="Rectangle 3"/>
          <p:cNvSpPr txBox="1">
            <a:spLocks noChangeArrowheads="1"/>
          </p:cNvSpPr>
          <p:nvPr/>
        </p:nvSpPr>
        <p:spPr bwMode="auto">
          <a:xfrm>
            <a:off x="651617" y="1454150"/>
            <a:ext cx="7772400" cy="5403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OO language requires </a:t>
            </a:r>
            <a:r>
              <a:rPr kumimoji="0" lang="en-US" altLang="zh-CN" sz="2800" b="0" i="0" u="none" strike="noStrike" kern="1200" cap="none" spc="0" normalizeH="0" baseline="0" noProof="0" smtClean="0">
                <a:ln>
                  <a:noFill/>
                </a:ln>
                <a:solidFill>
                  <a:srgbClr val="FF3300"/>
                </a:solidFill>
                <a:effectLst/>
                <a:uLnTx/>
                <a:uFillTx/>
                <a:latin typeface="Times New Roman"/>
                <a:ea typeface="宋体"/>
                <a:cs typeface="+mn-cs"/>
              </a:rPr>
              <a:t>special mechanisms</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in the runtime environment to implement their added features: </a:t>
            </a:r>
          </a:p>
          <a:p>
            <a:pPr marL="742950" marR="0" lvl="1" indent="-285750" algn="l" defTabSz="914400" rtl="0" eaLnBrk="1" fontAlgn="base" latinLnBrk="0" hangingPunct="1">
              <a:lnSpc>
                <a:spcPct val="9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Objects, methods, inheritance, and dynamic binding</a:t>
            </a:r>
          </a:p>
          <a:p>
            <a:pPr marL="342900" marR="0" lvl="0" indent="-342900" algn="l" defTabSz="914400" rtl="0" eaLnBrk="1" fontAlgn="base" latinLnBrk="0" hangingPunct="1">
              <a:lnSpc>
                <a:spcPct val="90000"/>
              </a:lnSpc>
              <a:spcBef>
                <a:spcPct val="20000"/>
              </a:spcBef>
              <a:spcAft>
                <a:spcPct val="0"/>
              </a:spcAft>
              <a:buClrTx/>
              <a:buSzTx/>
              <a:buFontTx/>
              <a:buNone/>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OO languages </a:t>
            </a:r>
            <a:r>
              <a:rPr kumimoji="0" lang="en-US" altLang="zh-CN" sz="2800" b="0" i="0" u="none" strike="noStrike" kern="1200" cap="none" spc="0" normalizeH="0" baseline="0" noProof="0" smtClean="0">
                <a:ln>
                  <a:noFill/>
                </a:ln>
                <a:solidFill>
                  <a:srgbClr val="FF3300"/>
                </a:solidFill>
                <a:effectLst/>
                <a:uLnTx/>
                <a:uFillTx/>
                <a:latin typeface="Times New Roman"/>
                <a:ea typeface="宋体"/>
                <a:cs typeface="+mn-cs"/>
              </a:rPr>
              <a:t>vary greatly</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in their requirements for the runtime environment.</a:t>
            </a:r>
          </a:p>
          <a:p>
            <a:pPr marL="342900" marR="0" lvl="0" indent="-342900" algn="l" defTabSz="914400" rtl="0" eaLnBrk="1" fontAlgn="base" latinLnBrk="0" hangingPunct="1">
              <a:lnSpc>
                <a:spcPct val="90000"/>
              </a:lnSpc>
              <a:spcBef>
                <a:spcPct val="20000"/>
              </a:spcBef>
              <a:spcAft>
                <a:spcPct val="0"/>
              </a:spcAft>
              <a:buClrTx/>
              <a:buSzTx/>
              <a:buFontTx/>
              <a:buNone/>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Two good representatives of the extreme:</a:t>
            </a:r>
          </a:p>
          <a:p>
            <a:pPr marL="742950" marR="0" lvl="1" indent="-285750" algn="l" defTabSz="914400" rtl="0" eaLnBrk="1" fontAlgn="base" latinLnBrk="0" hangingPunct="1">
              <a:lnSpc>
                <a:spcPct val="9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Smalltake requires fully dynamic environment;</a:t>
            </a:r>
          </a:p>
          <a:p>
            <a:pPr marL="742950" marR="0" lvl="1" indent="-285750" algn="l" defTabSz="914400" rtl="0" eaLnBrk="1" fontAlgn="base" latinLnBrk="0" hangingPunct="1">
              <a:lnSpc>
                <a:spcPct val="9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C++ retains the stack-based environment of C in much of its design efforts.</a:t>
            </a:r>
            <a:endParaRPr kumimoji="0" lang="zh-CN" altLang="en-US" sz="24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8339789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8.7 Dynamic Memory in Object-Oriented Languages</a:t>
            </a:r>
            <a:endParaRPr lang="zh-CN" altLang="en-US" dirty="0"/>
          </a:p>
        </p:txBody>
      </p:sp>
      <p:sp>
        <p:nvSpPr>
          <p:cNvPr id="3" name="Rectangle 3"/>
          <p:cNvSpPr txBox="1">
            <a:spLocks noChangeArrowheads="1"/>
          </p:cNvSpPr>
          <p:nvPr/>
        </p:nvSpPr>
        <p:spPr bwMode="auto">
          <a:xfrm>
            <a:off x="694345" y="1346289"/>
            <a:ext cx="7772400" cy="5330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Object in memory</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can be viewed as a </a:t>
            </a:r>
            <a:r>
              <a:rPr kumimoji="0" lang="en-US" altLang="zh-CN" sz="2400" b="0" i="0" u="none" strike="noStrike" kern="1200" cap="none" spc="0" normalizeH="0" baseline="0" noProof="0" smtClean="0">
                <a:ln>
                  <a:noFill/>
                </a:ln>
                <a:solidFill>
                  <a:srgbClr val="FF3300"/>
                </a:solidFill>
                <a:effectLst/>
                <a:uLnTx/>
                <a:uFillTx/>
                <a:latin typeface="Times New Roman"/>
                <a:ea typeface="宋体"/>
                <a:cs typeface="+mn-cs"/>
              </a:rPr>
              <a:t>cross between </a:t>
            </a:r>
            <a:r>
              <a:rPr kumimoji="0" lang="en-US" altLang="zh-CN" sz="2400" b="0" i="1" u="none" strike="noStrike" kern="1200" cap="none" spc="0" normalizeH="0" baseline="0" noProof="0" smtClean="0">
                <a:ln>
                  <a:noFill/>
                </a:ln>
                <a:solidFill>
                  <a:srgbClr val="FF3300"/>
                </a:solidFill>
                <a:effectLst/>
                <a:uLnTx/>
                <a:uFillTx/>
                <a:latin typeface="Times New Roman"/>
                <a:ea typeface="宋体"/>
                <a:cs typeface="+mn-cs"/>
              </a:rPr>
              <a:t>a traditional record</a:t>
            </a:r>
            <a:r>
              <a:rPr kumimoji="0" lang="en-US" altLang="zh-CN" sz="2400" b="0" i="0" u="none" strike="noStrike" kern="1200" cap="none" spc="0" normalizeH="0" baseline="0" noProof="0" smtClean="0">
                <a:ln>
                  <a:noFill/>
                </a:ln>
                <a:solidFill>
                  <a:srgbClr val="FF3300"/>
                </a:solidFill>
                <a:effectLst/>
                <a:uLnTx/>
                <a:uFillTx/>
                <a:latin typeface="Times New Roman"/>
                <a:ea typeface="宋体"/>
                <a:cs typeface="+mn-cs"/>
              </a:rPr>
              <a:t> structure and </a:t>
            </a:r>
            <a:r>
              <a:rPr kumimoji="0" lang="en-US" altLang="zh-CN" sz="2400" b="0" i="1" u="none" strike="noStrike" kern="1200" cap="none" spc="0" normalizeH="0" baseline="0" noProof="0" smtClean="0">
                <a:ln>
                  <a:noFill/>
                </a:ln>
                <a:solidFill>
                  <a:srgbClr val="FF3300"/>
                </a:solidFill>
                <a:effectLst/>
                <a:uLnTx/>
                <a:uFillTx/>
                <a:latin typeface="Times New Roman"/>
                <a:ea typeface="宋体"/>
                <a:cs typeface="+mn-cs"/>
              </a:rPr>
              <a:t>an activation record</a:t>
            </a:r>
          </a:p>
          <a:p>
            <a:pPr marL="342900" marR="0" lvl="0" indent="-342900" algn="l" defTabSz="914400" rtl="0" eaLnBrk="1" fontAlgn="base" latinLnBrk="0" hangingPunct="1">
              <a:lnSpc>
                <a:spcPct val="90000"/>
              </a:lnSpc>
              <a:spcBef>
                <a:spcPct val="20000"/>
              </a:spcBef>
              <a:spcAft>
                <a:spcPct val="0"/>
              </a:spcAft>
              <a:buClrTx/>
              <a:buSzTx/>
              <a:buFontTx/>
              <a:buChar char="•"/>
              <a:tabLst/>
              <a:defRPr/>
            </a:pPr>
            <a:endParaRPr kumimoji="0" lang="en-US" altLang="zh-CN" sz="2400" b="0" i="1"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FF3300"/>
                </a:solidFill>
                <a:effectLst/>
                <a:uLnTx/>
                <a:uFillTx/>
                <a:latin typeface="Times New Roman"/>
                <a:ea typeface="宋体"/>
                <a:cs typeface="+mn-cs"/>
              </a:rPr>
              <a:t>One mechanism</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would be for initialization code to copy all the currently inherited features (and methods) </a:t>
            </a: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directly into the record structure</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(with methods as code pointer);</a:t>
            </a: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FF3300"/>
                </a:solidFill>
                <a:effectLst/>
                <a:uLnTx/>
                <a:uFillTx/>
                <a:latin typeface="Times New Roman"/>
                <a:ea typeface="宋体"/>
                <a:cs typeface="+mn-cs"/>
              </a:rPr>
              <a:t>An alternative</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is to keep a complete description of the class structure in memory at each point during execution, with inheritance maintained </a:t>
            </a: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by superclass pointers</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and all method pointers kept as field in the class structure (</a:t>
            </a: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Inheritance graph</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a:t>
            </a: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400" b="0" i="0" u="none" strike="noStrike" kern="1200" cap="none" spc="0" normalizeH="0" baseline="0" noProof="0" smtClean="0">
                <a:ln>
                  <a:noFill/>
                </a:ln>
                <a:solidFill>
                  <a:srgbClr val="FF3300"/>
                </a:solidFill>
                <a:effectLst/>
                <a:uLnTx/>
                <a:uFillTx/>
                <a:latin typeface="Times New Roman"/>
                <a:ea typeface="宋体"/>
                <a:cs typeface="+mn-cs"/>
              </a:rPr>
              <a:t>Another alternative</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is to compute </a:t>
            </a: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the list of code pointers</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for available methods of each class, and store this in (static) memory as a </a:t>
            </a:r>
            <a:r>
              <a:rPr kumimoji="0" lang="en-US" altLang="zh-CN" sz="2400" b="1" i="0" u="none" strike="noStrike" kern="1200" cap="none" spc="0" normalizeH="0" baseline="0" noProof="0" smtClean="0">
                <a:ln>
                  <a:noFill/>
                </a:ln>
                <a:solidFill>
                  <a:srgbClr val="000000"/>
                </a:solidFill>
                <a:effectLst/>
                <a:uLnTx/>
                <a:uFillTx/>
                <a:latin typeface="Times New Roman"/>
                <a:ea typeface="宋体"/>
                <a:cs typeface="+mn-cs"/>
              </a:rPr>
              <a:t>virtual function table</a:t>
            </a: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It is the method of choice in C++.</a:t>
            </a:r>
            <a:endParaRPr kumimoji="0" lang="zh-CN" altLang="en-US" sz="24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31225023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8.7 Dynamic Memory in Object-Oriented Languages</a:t>
            </a:r>
            <a:endParaRPr lang="zh-CN" altLang="en-US" dirty="0"/>
          </a:p>
        </p:txBody>
      </p:sp>
      <p:sp>
        <p:nvSpPr>
          <p:cNvPr id="3" name="Rectangle 3"/>
          <p:cNvSpPr txBox="1">
            <a:spLocks noChangeArrowheads="1"/>
          </p:cNvSpPr>
          <p:nvPr/>
        </p:nvSpPr>
        <p:spPr bwMode="auto">
          <a:xfrm>
            <a:off x="426400" y="1427088"/>
            <a:ext cx="8496300" cy="5366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90000"/>
              </a:lnSpc>
              <a:spcBef>
                <a:spcPct val="20000"/>
              </a:spcBef>
              <a:spcAft>
                <a:spcPct val="0"/>
              </a:spcAft>
              <a:buClrTx/>
              <a:buSzTx/>
              <a:buFontTx/>
              <a:buNone/>
              <a:tabLst/>
              <a:defRPr/>
            </a:pPr>
            <a:r>
              <a:rPr kumimoji="0" lang="en-US" altLang="zh-CN" sz="2800" b="0" i="0" u="none" strike="noStrike" kern="1200" cap="none" spc="0" normalizeH="0" baseline="0" noProof="0" dirty="0" smtClean="0">
                <a:ln>
                  <a:noFill/>
                </a:ln>
                <a:solidFill>
                  <a:srgbClr val="000000"/>
                </a:solidFill>
                <a:effectLst/>
                <a:uLnTx/>
                <a:uFillTx/>
                <a:latin typeface="Times New Roman"/>
                <a:ea typeface="宋体"/>
                <a:cs typeface="+mn-cs"/>
              </a:rPr>
              <a:t>Example: Consider the following C++ class declarations:</a:t>
            </a:r>
          </a:p>
          <a:p>
            <a:pPr marL="1143000" marR="0" lvl="2" indent="-228600"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Class A</a:t>
            </a:r>
          </a:p>
          <a:p>
            <a:pPr marL="1143000" marR="0" lvl="2" indent="-228600"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public:</a:t>
            </a:r>
          </a:p>
          <a:p>
            <a:pPr marL="1143000" marR="0" lvl="2" indent="-228600"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double x, y;</a:t>
            </a:r>
          </a:p>
          <a:p>
            <a:pPr marL="1143000" marR="0" lvl="2" indent="-228600"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void f();</a:t>
            </a:r>
          </a:p>
          <a:p>
            <a:pPr marL="1143000" marR="0" lvl="2" indent="-228600"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virtual void g();</a:t>
            </a:r>
          </a:p>
          <a:p>
            <a:pPr marL="1143000" marR="0" lvl="2" indent="-228600"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a:t>
            </a:r>
          </a:p>
          <a:p>
            <a:pPr marL="1143000" marR="0" lvl="2" indent="-228600"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class B : public A</a:t>
            </a:r>
          </a:p>
          <a:p>
            <a:pPr marL="1143000" marR="0" lvl="2" indent="-228600"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public:</a:t>
            </a:r>
          </a:p>
          <a:p>
            <a:pPr marL="1143000" marR="0" lvl="2" indent="-228600"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double z;</a:t>
            </a:r>
          </a:p>
          <a:p>
            <a:pPr marL="1143000" marR="0" lvl="2" indent="-228600"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void f();</a:t>
            </a:r>
          </a:p>
          <a:p>
            <a:pPr marL="1143000" marR="0" lvl="2" indent="-228600"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virtual void h();</a:t>
            </a:r>
          </a:p>
          <a:p>
            <a:pPr marL="1143000" marR="0" lvl="2" indent="-228600" algn="l" defTabSz="914400" rtl="0" eaLnBrk="1" fontAlgn="base" latinLnBrk="0" hangingPunct="1">
              <a:lnSpc>
                <a:spcPct val="9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a:t>
            </a:r>
            <a:endParaRPr kumimoji="0" lang="zh-CN" altLang="en-US" sz="24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7760663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a:t>8.7 Dynamic Memory in Object-Oriented Languages</a:t>
            </a:r>
            <a:endParaRPr lang="zh-CN" alt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1311836242"/>
              </p:ext>
            </p:extLst>
          </p:nvPr>
        </p:nvGraphicFramePr>
        <p:xfrm>
          <a:off x="1249868" y="1525945"/>
          <a:ext cx="6432802" cy="4859328"/>
        </p:xfrm>
        <a:graphic>
          <a:graphicData uri="http://schemas.openxmlformats.org/presentationml/2006/ole">
            <mc:AlternateContent xmlns:mc="http://schemas.openxmlformats.org/markup-compatibility/2006">
              <mc:Choice xmlns:v="urn:schemas-microsoft-com:vml" Requires="v">
                <p:oleObj spid="_x0000_s20488" name="文档" r:id="rId3" imgW="5574563" imgH="4211363" progId="Word.Document.8">
                  <p:embed/>
                </p:oleObj>
              </mc:Choice>
              <mc:Fallback>
                <p:oleObj name="文档" r:id="rId3" imgW="5574563" imgH="4211363"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49868" y="1525945"/>
                        <a:ext cx="6432802" cy="4859328"/>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40156187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smtClean="0"/>
              <a:t>8.8 Heap Management</a:t>
            </a:r>
            <a:endParaRPr lang="zh-CN" altLang="en-US" dirty="0"/>
          </a:p>
        </p:txBody>
      </p:sp>
      <p:sp>
        <p:nvSpPr>
          <p:cNvPr id="3" name="Rectangle 3"/>
          <p:cNvSpPr txBox="1">
            <a:spLocks noChangeArrowheads="1"/>
          </p:cNvSpPr>
          <p:nvPr/>
        </p:nvSpPr>
        <p:spPr bwMode="auto">
          <a:xfrm>
            <a:off x="719983" y="1574622"/>
            <a:ext cx="7772400" cy="5187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dirty="0" smtClean="0">
                <a:ln>
                  <a:noFill/>
                </a:ln>
                <a:solidFill>
                  <a:srgbClr val="000000"/>
                </a:solidFill>
                <a:effectLst/>
                <a:uLnTx/>
                <a:uFillTx/>
                <a:latin typeface="Times New Roman"/>
                <a:ea typeface="宋体"/>
                <a:cs typeface="+mn-cs"/>
              </a:rPr>
              <a:t>In most language, even a stack-based environment needs some dynamic capabilities in order to handle </a:t>
            </a:r>
            <a:r>
              <a:rPr kumimoji="0" lang="en-US" altLang="zh-CN" sz="2800" b="0" i="0" u="none" strike="noStrike" kern="1200" cap="none" spc="0" normalizeH="0" baseline="0" noProof="0" dirty="0" smtClean="0">
                <a:ln>
                  <a:noFill/>
                </a:ln>
                <a:solidFill>
                  <a:srgbClr val="FF3300"/>
                </a:solidFill>
                <a:effectLst/>
                <a:uLnTx/>
                <a:uFillTx/>
                <a:latin typeface="Times New Roman"/>
                <a:ea typeface="宋体"/>
                <a:cs typeface="+mn-cs"/>
              </a:rPr>
              <a:t>pointer allocation and de-allocation</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endParaRPr kumimoji="0" lang="en-US" altLang="zh-CN" sz="2800" b="0"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1" i="0" u="none" strike="noStrike" kern="1200" cap="none" spc="0" normalizeH="0" baseline="0" noProof="0" dirty="0" smtClean="0">
                <a:ln>
                  <a:noFill/>
                </a:ln>
                <a:solidFill>
                  <a:srgbClr val="000000"/>
                </a:solidFill>
                <a:effectLst/>
                <a:uLnTx/>
                <a:uFillTx/>
                <a:latin typeface="Times New Roman"/>
                <a:ea typeface="宋体"/>
                <a:cs typeface="+mn-cs"/>
              </a:rPr>
              <a:t>HEAP, the data structure to handle such allocation.</a:t>
            </a:r>
            <a:r>
              <a:rPr kumimoji="0" lang="en-US" altLang="zh-CN" sz="2800" b="0" i="0" u="none" strike="noStrike" kern="1200" cap="none" spc="0" normalizeH="0" baseline="0" noProof="0" dirty="0" smtClean="0">
                <a:ln>
                  <a:noFill/>
                </a:ln>
                <a:solidFill>
                  <a:srgbClr val="000000"/>
                </a:solidFill>
                <a:effectLst/>
                <a:uLnTx/>
                <a:uFillTx/>
                <a:latin typeface="Times New Roman"/>
                <a:ea typeface="宋体"/>
                <a:cs typeface="+mn-cs"/>
              </a:rPr>
              <a:t> </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endParaRPr kumimoji="0" lang="en-US" altLang="zh-CN" sz="2800" b="0"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dirty="0" smtClean="0">
                <a:ln>
                  <a:noFill/>
                </a:ln>
                <a:solidFill>
                  <a:srgbClr val="000000"/>
                </a:solidFill>
                <a:effectLst/>
                <a:uLnTx/>
                <a:uFillTx/>
                <a:latin typeface="Times New Roman"/>
                <a:ea typeface="宋体"/>
                <a:cs typeface="+mn-cs"/>
              </a:rPr>
              <a:t>Allocated as a linear block of memory, which provides two operations:</a:t>
            </a:r>
          </a:p>
          <a:p>
            <a:pPr marL="898525" marR="0" lvl="1" indent="-376238"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(1) </a:t>
            </a:r>
            <a:r>
              <a:rPr kumimoji="0" lang="en-US" altLang="zh-CN" sz="2400" b="0" i="0" u="none" strike="noStrike" kern="1200" cap="none" spc="0" normalizeH="0" baseline="0" noProof="0" dirty="0" smtClean="0">
                <a:ln>
                  <a:noFill/>
                </a:ln>
                <a:solidFill>
                  <a:srgbClr val="FF3300"/>
                </a:solidFill>
                <a:effectLst/>
                <a:uLnTx/>
                <a:uFillTx/>
                <a:latin typeface="Times New Roman"/>
                <a:ea typeface="宋体"/>
                <a:cs typeface="+mn-cs"/>
              </a:rPr>
              <a:t>Allocate</a:t>
            </a: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which takes a size parameter and returns a pointer to a block of memory of the correct size, or a null pointer if none exists.</a:t>
            </a:r>
          </a:p>
          <a:p>
            <a:pPr marL="898525" marR="0" lvl="1" indent="-376238"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(2) </a:t>
            </a:r>
            <a:r>
              <a:rPr kumimoji="0" lang="en-US" altLang="zh-CN" sz="2400" b="0" i="0" u="none" strike="noStrike" kern="1200" cap="none" spc="0" normalizeH="0" baseline="0" noProof="0" dirty="0" smtClean="0">
                <a:ln>
                  <a:noFill/>
                </a:ln>
                <a:solidFill>
                  <a:srgbClr val="FF3300"/>
                </a:solidFill>
                <a:effectLst/>
                <a:uLnTx/>
                <a:uFillTx/>
                <a:latin typeface="Times New Roman"/>
                <a:ea typeface="宋体"/>
                <a:cs typeface="+mn-cs"/>
              </a:rPr>
              <a:t>Free</a:t>
            </a: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which takes a pointer to an allocated block of memory and marks it as being free again</a:t>
            </a:r>
            <a:endParaRPr kumimoji="0" lang="zh-CN" altLang="en-US" sz="24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7765910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smtClean="0"/>
              <a:t>8.8 Heap Management</a:t>
            </a:r>
            <a:endParaRPr lang="zh-CN" altLang="en-US" dirty="0"/>
          </a:p>
        </p:txBody>
      </p:sp>
      <p:sp>
        <p:nvSpPr>
          <p:cNvPr id="6" name="Rectangle 3"/>
          <p:cNvSpPr txBox="1">
            <a:spLocks noChangeArrowheads="1"/>
          </p:cNvSpPr>
          <p:nvPr/>
        </p:nvSpPr>
        <p:spPr bwMode="auto">
          <a:xfrm>
            <a:off x="651617" y="1382713"/>
            <a:ext cx="7772400" cy="5475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dirty="0" smtClean="0">
                <a:ln>
                  <a:noFill/>
                </a:ln>
                <a:solidFill>
                  <a:srgbClr val="000000"/>
                </a:solidFill>
                <a:effectLst/>
                <a:uLnTx/>
                <a:uFillTx/>
                <a:latin typeface="Times New Roman"/>
                <a:ea typeface="宋体"/>
                <a:cs typeface="+mn-cs"/>
              </a:rPr>
              <a:t>These two operations exist under different names in many languages:</a:t>
            </a:r>
          </a:p>
          <a:p>
            <a:pPr marL="963613" marR="0" lvl="1" indent="-506413"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New and dispose in Pascal;</a:t>
            </a:r>
          </a:p>
          <a:p>
            <a:pPr marL="963613" marR="0" lvl="1" indent="-506413"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New and delete in C++;</a:t>
            </a:r>
          </a:p>
          <a:p>
            <a:pPr marL="963613" marR="0" lvl="1" indent="-506413"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2400" b="0" i="0" u="none" strike="noStrike" kern="1200" cap="none" spc="0" normalizeH="0" baseline="0" noProof="0" dirty="0" err="1" smtClean="0">
                <a:ln>
                  <a:noFill/>
                </a:ln>
                <a:solidFill>
                  <a:srgbClr val="000000"/>
                </a:solidFill>
                <a:effectLst/>
                <a:uLnTx/>
                <a:uFillTx/>
                <a:latin typeface="Times New Roman"/>
                <a:ea typeface="宋体"/>
                <a:cs typeface="+mn-cs"/>
              </a:rPr>
              <a:t>Malloc</a:t>
            </a: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and free in the C language.</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dirty="0" smtClean="0">
                <a:ln>
                  <a:noFill/>
                </a:ln>
                <a:solidFill>
                  <a:srgbClr val="000000"/>
                </a:solidFill>
                <a:effectLst/>
                <a:uLnTx/>
                <a:uFillTx/>
                <a:latin typeface="Times New Roman"/>
                <a:ea typeface="宋体"/>
                <a:cs typeface="+mn-cs"/>
              </a:rPr>
              <a:t>A standard method for maintaining the heap and implementing these functions:</a:t>
            </a:r>
          </a:p>
          <a:p>
            <a:pPr marL="963613" marR="0" lvl="1" indent="-506413"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(1) A circular linked list of free blocks;</a:t>
            </a:r>
          </a:p>
          <a:p>
            <a:pPr marL="963613" marR="0" lvl="1" indent="-506413"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(2) Memory is taken by </a:t>
            </a:r>
            <a:r>
              <a:rPr kumimoji="0" lang="en-US" altLang="zh-CN" sz="2400" b="0" i="0" u="none" strike="noStrike" kern="1200" cap="none" spc="0" normalizeH="0" baseline="0" noProof="0" dirty="0" err="1" smtClean="0">
                <a:ln>
                  <a:noFill/>
                </a:ln>
                <a:solidFill>
                  <a:srgbClr val="000000"/>
                </a:solidFill>
                <a:effectLst/>
                <a:uLnTx/>
                <a:uFillTx/>
                <a:latin typeface="Times New Roman"/>
                <a:ea typeface="宋体"/>
                <a:cs typeface="+mn-cs"/>
              </a:rPr>
              <a:t>malloc</a:t>
            </a: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a:t>
            </a:r>
          </a:p>
          <a:p>
            <a:pPr marL="963613" marR="0" lvl="1" indent="-506413"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(3) Memory is return by free.</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800" b="0" i="0" u="none" strike="noStrike" kern="1200" cap="none" spc="0" normalizeH="0" baseline="0" noProof="0" dirty="0" smtClean="0">
                <a:ln>
                  <a:noFill/>
                </a:ln>
                <a:solidFill>
                  <a:srgbClr val="000000"/>
                </a:solidFill>
                <a:effectLst/>
                <a:uLnTx/>
                <a:uFillTx/>
                <a:latin typeface="Times New Roman"/>
                <a:ea typeface="宋体"/>
                <a:cs typeface="+mn-cs"/>
              </a:rPr>
              <a:t>The drawbacks:</a:t>
            </a:r>
          </a:p>
          <a:p>
            <a:pPr marL="963613" marR="0" lvl="1" indent="-506413"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(1) The free operation can not tell if the pointer </a:t>
            </a:r>
            <a:r>
              <a:rPr kumimoji="0" lang="en-US" altLang="zh-CN" sz="2400" b="0" i="0" u="none" strike="noStrike" kern="1200" cap="none" spc="0" normalizeH="0" baseline="0" noProof="0" dirty="0" smtClean="0">
                <a:ln>
                  <a:noFill/>
                </a:ln>
                <a:solidFill>
                  <a:srgbClr val="FF3300"/>
                </a:solidFill>
                <a:effectLst/>
                <a:uLnTx/>
                <a:uFillTx/>
                <a:latin typeface="Times New Roman"/>
                <a:ea typeface="宋体"/>
                <a:cs typeface="+mn-cs"/>
              </a:rPr>
              <a:t>is legal or   not</a:t>
            </a: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a:t>
            </a:r>
          </a:p>
          <a:p>
            <a:pPr marL="963613" marR="0" lvl="1" indent="-506413" algn="l" defTabSz="914400" rtl="0" eaLnBrk="1" fontAlgn="base" latinLnBrk="0" hangingPunct="1">
              <a:lnSpc>
                <a:spcPct val="80000"/>
              </a:lnSpc>
              <a:spcBef>
                <a:spcPct val="20000"/>
              </a:spcBef>
              <a:spcAft>
                <a:spcPct val="0"/>
              </a:spcAft>
              <a:buClrTx/>
              <a:buSzTx/>
              <a:buFontTx/>
              <a:buNone/>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(2) Care must be taken to </a:t>
            </a:r>
            <a:r>
              <a:rPr kumimoji="0" lang="en-US" altLang="zh-CN" sz="2400" b="0" i="0" u="none" strike="noStrike" kern="1200" cap="none" spc="0" normalizeH="0" baseline="0" noProof="0" dirty="0" smtClean="0">
                <a:ln>
                  <a:noFill/>
                </a:ln>
                <a:solidFill>
                  <a:srgbClr val="FF3300"/>
                </a:solidFill>
                <a:effectLst/>
                <a:uLnTx/>
                <a:uFillTx/>
                <a:latin typeface="Times New Roman"/>
                <a:ea typeface="宋体"/>
                <a:cs typeface="+mn-cs"/>
              </a:rPr>
              <a:t>coalesce blocks</a:t>
            </a: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otherwise, the heap can quickly become fragmented.</a:t>
            </a:r>
            <a:endParaRPr kumimoji="0" lang="zh-CN" altLang="en-US" sz="24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9229508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smtClean="0"/>
              <a:t>8.8 Heap Management</a:t>
            </a:r>
            <a:endParaRPr lang="zh-CN" altLang="en-US" dirty="0"/>
          </a:p>
        </p:txBody>
      </p:sp>
      <p:sp>
        <p:nvSpPr>
          <p:cNvPr id="5" name="Rectangle 3"/>
          <p:cNvSpPr txBox="1">
            <a:spLocks noChangeArrowheads="1"/>
          </p:cNvSpPr>
          <p:nvPr/>
        </p:nvSpPr>
        <p:spPr bwMode="auto">
          <a:xfrm>
            <a:off x="694346" y="1313738"/>
            <a:ext cx="7772400" cy="5386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A different implementation of </a:t>
            </a:r>
            <a:r>
              <a:rPr kumimoji="0" lang="en-US" altLang="zh-CN" sz="2400" b="0" i="0" u="none" strike="noStrike" kern="1200" cap="none" spc="0" normalizeH="0" baseline="0" noProof="0" dirty="0" err="1" smtClean="0">
                <a:ln>
                  <a:noFill/>
                </a:ln>
                <a:solidFill>
                  <a:srgbClr val="000000"/>
                </a:solidFill>
                <a:effectLst/>
                <a:uLnTx/>
                <a:uFillTx/>
                <a:latin typeface="Times New Roman"/>
                <a:ea typeface="宋体"/>
                <a:cs typeface="+mn-cs"/>
              </a:rPr>
              <a:t>malloc</a:t>
            </a: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and free, using a circular linked list data structure that keep track of both allocated and free block. </a:t>
            </a:r>
          </a:p>
          <a:p>
            <a:pPr marL="342900" marR="0" lvl="0" indent="-342900" algn="l" defTabSz="914400" rtl="0" eaLnBrk="1" fontAlgn="base" latinLnBrk="0" hangingPunct="1">
              <a:lnSpc>
                <a:spcPct val="80000"/>
              </a:lnSpc>
              <a:spcBef>
                <a:spcPct val="20000"/>
              </a:spcBef>
              <a:spcAft>
                <a:spcPct val="0"/>
              </a:spcAft>
              <a:buClrTx/>
              <a:buSzTx/>
              <a:buFontTx/>
              <a:buChar char="•"/>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The code is given in the following figures:</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#define NULL 0</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	#define MEMSIZE 8096 /* change for different sizes */</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2200" b="0" i="0" u="none" strike="noStrike" kern="1200" cap="none" spc="0" normalizeH="0" baseline="0" noProof="0" dirty="0" err="1" smtClean="0">
                <a:ln>
                  <a:noFill/>
                </a:ln>
                <a:solidFill>
                  <a:srgbClr val="000000"/>
                </a:solidFill>
                <a:effectLst/>
                <a:uLnTx/>
                <a:uFillTx/>
                <a:latin typeface="Times New Roman"/>
                <a:ea typeface="宋体"/>
                <a:cs typeface="+mn-cs"/>
              </a:rPr>
              <a:t>typedef</a:t>
            </a: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 double align;</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2200" b="0" i="0" u="none" strike="noStrike" kern="1200" cap="none" spc="0" normalizeH="0" baseline="0" noProof="0" dirty="0" err="1" smtClean="0">
                <a:ln>
                  <a:noFill/>
                </a:ln>
                <a:solidFill>
                  <a:srgbClr val="000000"/>
                </a:solidFill>
                <a:effectLst/>
                <a:uLnTx/>
                <a:uFillTx/>
                <a:latin typeface="Times New Roman"/>
                <a:ea typeface="宋体"/>
                <a:cs typeface="+mn-cs"/>
              </a:rPr>
              <a:t>typedef</a:t>
            </a: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 union header</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2200" b="0" i="0" u="none" strike="noStrike" kern="1200" cap="none" spc="0" normalizeH="0" baseline="0" noProof="0" dirty="0" err="1" smtClean="0">
                <a:ln>
                  <a:noFill/>
                </a:ln>
                <a:solidFill>
                  <a:srgbClr val="000000"/>
                </a:solidFill>
                <a:effectLst/>
                <a:uLnTx/>
                <a:uFillTx/>
                <a:latin typeface="Times New Roman"/>
                <a:ea typeface="宋体"/>
                <a:cs typeface="+mn-cs"/>
              </a:rPr>
              <a:t>struct</a:t>
            </a: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 { union header *next;</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			  unsigned </a:t>
            </a:r>
            <a:r>
              <a:rPr kumimoji="0" lang="en-US" altLang="zh-CN" sz="2200" b="0" i="0" u="none" strike="noStrike" kern="1200" cap="none" spc="0" normalizeH="0" baseline="0" noProof="0" dirty="0" err="1" smtClean="0">
                <a:ln>
                  <a:noFill/>
                </a:ln>
                <a:solidFill>
                  <a:srgbClr val="000000"/>
                </a:solidFill>
                <a:effectLst/>
                <a:uLnTx/>
                <a:uFillTx/>
                <a:latin typeface="Times New Roman"/>
                <a:ea typeface="宋体"/>
                <a:cs typeface="+mn-cs"/>
              </a:rPr>
              <a:t>usedsize</a:t>
            </a: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			  unsigned </a:t>
            </a:r>
            <a:r>
              <a:rPr kumimoji="0" lang="en-US" altLang="zh-CN" sz="2200" b="0" i="0" u="none" strike="noStrike" kern="1200" cap="none" spc="0" normalizeH="0" baseline="0" noProof="0" dirty="0" err="1" smtClean="0">
                <a:ln>
                  <a:noFill/>
                </a:ln>
                <a:solidFill>
                  <a:srgbClr val="000000"/>
                </a:solidFill>
                <a:effectLst/>
                <a:uLnTx/>
                <a:uFillTx/>
                <a:latin typeface="Times New Roman"/>
                <a:ea typeface="宋体"/>
                <a:cs typeface="+mn-cs"/>
              </a:rPr>
              <a:t>freesize</a:t>
            </a: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			  } s;</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		 align a;</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		} header;</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	static header men[MEMSIZE];</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	static header *</a:t>
            </a:r>
            <a:r>
              <a:rPr kumimoji="0" lang="en-US" altLang="zh-CN" sz="2200" b="0" i="0" u="none" strike="noStrike" kern="1200" cap="none" spc="0" normalizeH="0" baseline="0" noProof="0" dirty="0" err="1" smtClean="0">
                <a:ln>
                  <a:noFill/>
                </a:ln>
                <a:solidFill>
                  <a:srgbClr val="000000"/>
                </a:solidFill>
                <a:effectLst/>
                <a:uLnTx/>
                <a:uFillTx/>
                <a:latin typeface="Times New Roman"/>
                <a:ea typeface="宋体"/>
                <a:cs typeface="+mn-cs"/>
              </a:rPr>
              <a:t>memptr</a:t>
            </a:r>
            <a:r>
              <a:rPr kumimoji="0" lang="en-US" altLang="zh-CN" sz="2200" b="0" i="0" u="none" strike="noStrike" kern="1200" cap="none" spc="0" normalizeH="0" baseline="0" noProof="0" dirty="0" smtClean="0">
                <a:ln>
                  <a:noFill/>
                </a:ln>
                <a:solidFill>
                  <a:srgbClr val="000000"/>
                </a:solidFill>
                <a:effectLst/>
                <a:uLnTx/>
                <a:uFillTx/>
                <a:latin typeface="Times New Roman"/>
                <a:ea typeface="宋体"/>
                <a:cs typeface="+mn-cs"/>
              </a:rPr>
              <a:t>=NULL;</a:t>
            </a:r>
            <a:endParaRPr kumimoji="0" lang="zh-CN" altLang="en-US" sz="22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6137492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smtClean="0"/>
              <a:t>8.8 Heap Management</a:t>
            </a:r>
            <a:endParaRPr lang="zh-CN" altLang="en-US" dirty="0"/>
          </a:p>
        </p:txBody>
      </p:sp>
      <p:sp>
        <p:nvSpPr>
          <p:cNvPr id="7" name="Rectangle 3"/>
          <p:cNvSpPr txBox="1">
            <a:spLocks noChangeArrowheads="1"/>
          </p:cNvSpPr>
          <p:nvPr/>
        </p:nvSpPr>
        <p:spPr>
          <a:xfrm>
            <a:off x="745620" y="1469150"/>
            <a:ext cx="7772400" cy="5688012"/>
          </a:xfrm>
          <a:prstGeom prst="rect">
            <a:avLst/>
          </a:prstGeom>
        </p:spPr>
        <p:txBody>
          <a:bodyPr vert="horz" lIns="0" tIns="45720" rIns="0" bIns="45720" rtlCol="0">
            <a:normAutofit fontScale="92500" lnSpcReduction="20000"/>
          </a:bodyPr>
          <a:lstStyle>
            <a:lvl1pPr marL="171450" indent="-171450" algn="l" defTabSz="685800" rtl="0" eaLnBrk="1" latinLnBrk="0" hangingPunct="1">
              <a:lnSpc>
                <a:spcPct val="90000"/>
              </a:lnSpc>
              <a:spcBef>
                <a:spcPts val="1350"/>
              </a:spcBef>
              <a:buFont typeface="Wingdings" panose="05000000000000000000" pitchFamily="2" charset="2"/>
              <a:buChar char="§"/>
              <a:defRPr sz="1500" kern="1200">
                <a:solidFill>
                  <a:schemeClr val="tx1"/>
                </a:solidFill>
                <a:latin typeface="微软雅黑" panose="020B0503020204020204" pitchFamily="34" charset="-122"/>
                <a:ea typeface="微软雅黑" panose="020B0503020204020204" pitchFamily="34" charset="-122"/>
                <a:cs typeface="+mn-cs"/>
              </a:defRPr>
            </a:lvl1pPr>
            <a:lvl2pPr marL="514350" indent="-171450" algn="l" defTabSz="685800" rtl="0" eaLnBrk="1" latinLnBrk="0" hangingPunct="1">
              <a:lnSpc>
                <a:spcPct val="90000"/>
              </a:lnSpc>
              <a:spcBef>
                <a:spcPts val="450"/>
              </a:spcBef>
              <a:buFont typeface="Wingdings" panose="05000000000000000000" pitchFamily="2" charset="2"/>
              <a:buChar char="§"/>
              <a:defRPr sz="1200" kern="1200">
                <a:solidFill>
                  <a:schemeClr val="tx1"/>
                </a:solidFill>
                <a:latin typeface="微软雅黑" panose="020B0503020204020204" pitchFamily="34" charset="-122"/>
                <a:ea typeface="微软雅黑" panose="020B0503020204020204" pitchFamily="34" charset="-122"/>
                <a:cs typeface="+mn-cs"/>
              </a:defRPr>
            </a:lvl2pPr>
            <a:lvl3pPr marL="8572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3pPr>
            <a:lvl4pPr marL="12001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4pPr>
            <a:lvl5pPr marL="1543050" indent="-171450" algn="l" defTabSz="685800" rtl="0" eaLnBrk="1" latinLnBrk="0" hangingPunct="1">
              <a:lnSpc>
                <a:spcPct val="90000"/>
              </a:lnSpc>
              <a:spcBef>
                <a:spcPts val="450"/>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5pPr>
            <a:lvl6pPr marL="18859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6pPr>
            <a:lvl7pPr marL="22288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7pPr>
            <a:lvl8pPr marL="25717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8pPr>
            <a:lvl9pPr marL="2914650" indent="-171450" algn="l" defTabSz="685800" rtl="0" eaLnBrk="1" latinLnBrk="0" hangingPunct="1">
              <a:lnSpc>
                <a:spcPct val="90000"/>
              </a:lnSpc>
              <a:spcBef>
                <a:spcPts val="375"/>
              </a:spcBef>
              <a:buFont typeface="Wingdings" panose="05000000000000000000" pitchFamily="2" charset="2"/>
              <a:buChar char="§"/>
              <a:defRPr sz="1050" kern="1200">
                <a:solidFill>
                  <a:schemeClr val="tx1"/>
                </a:solidFill>
                <a:latin typeface="微软雅黑" panose="020B0503020204020204" pitchFamily="34" charset="-122"/>
                <a:ea typeface="微软雅黑" panose="020B0503020204020204" pitchFamily="34" charset="-122"/>
                <a:cs typeface="+mn-cs"/>
              </a:defRPr>
            </a:lvl9pPr>
          </a:lstStyle>
          <a:p>
            <a:pPr>
              <a:lnSpc>
                <a:spcPct val="80000"/>
              </a:lnSpc>
              <a:buFontTx/>
              <a:buNone/>
            </a:pPr>
            <a:r>
              <a:rPr lang="en-US" altLang="zh-CN" sz="2400" smtClean="0"/>
              <a:t>void *malloc(unsigned nbytes)</a:t>
            </a:r>
          </a:p>
          <a:p>
            <a:pPr>
              <a:lnSpc>
                <a:spcPct val="80000"/>
              </a:lnSpc>
              <a:buFontTx/>
              <a:buNone/>
            </a:pPr>
            <a:r>
              <a:rPr lang="en-US" altLang="zh-CN" sz="2400" smtClean="0"/>
              <a:t>{header *p, *newp;</a:t>
            </a:r>
          </a:p>
          <a:p>
            <a:pPr>
              <a:lnSpc>
                <a:spcPct val="80000"/>
              </a:lnSpc>
              <a:buFontTx/>
              <a:buNone/>
            </a:pPr>
            <a:r>
              <a:rPr lang="en-US" altLang="zh-CN" sz="2400" smtClean="0"/>
              <a:t>	unsigned nunits;</a:t>
            </a:r>
          </a:p>
          <a:p>
            <a:pPr>
              <a:lnSpc>
                <a:spcPct val="80000"/>
              </a:lnSpc>
              <a:buFontTx/>
              <a:buNone/>
            </a:pPr>
            <a:r>
              <a:rPr lang="en-US" altLang="zh-CN" sz="2400" smtClean="0"/>
              <a:t>	nunits = (nbytes+sizeof(header)-1)/sizeof(header)+1;</a:t>
            </a:r>
          </a:p>
          <a:p>
            <a:pPr>
              <a:lnSpc>
                <a:spcPct val="80000"/>
              </a:lnSpc>
              <a:buFontTx/>
              <a:buNone/>
            </a:pPr>
            <a:r>
              <a:rPr lang="en-US" altLang="zh-CN" sz="2400" smtClean="0"/>
              <a:t>	</a:t>
            </a:r>
          </a:p>
          <a:p>
            <a:pPr>
              <a:lnSpc>
                <a:spcPct val="80000"/>
              </a:lnSpc>
              <a:buFontTx/>
              <a:buNone/>
            </a:pPr>
            <a:r>
              <a:rPr lang="en-US" altLang="zh-CN" sz="2400" smtClean="0"/>
              <a:t>   if (memptr == NULL)</a:t>
            </a:r>
          </a:p>
          <a:p>
            <a:pPr>
              <a:lnSpc>
                <a:spcPct val="80000"/>
              </a:lnSpc>
              <a:buFontTx/>
              <a:buNone/>
            </a:pPr>
            <a:r>
              <a:rPr lang="en-US" altLang="zh-CN" sz="2400" smtClean="0"/>
              <a:t>	{ memptr-&gt;s.next = memptr = mem;</a:t>
            </a:r>
          </a:p>
          <a:p>
            <a:pPr>
              <a:lnSpc>
                <a:spcPct val="80000"/>
              </a:lnSpc>
              <a:buFontTx/>
              <a:buNone/>
            </a:pPr>
            <a:r>
              <a:rPr lang="en-US" altLang="zh-CN" sz="2400" smtClean="0"/>
              <a:t>	 memptr-&gt;s.usedsize = 1;</a:t>
            </a:r>
          </a:p>
          <a:p>
            <a:pPr>
              <a:lnSpc>
                <a:spcPct val="80000"/>
              </a:lnSpc>
              <a:buFontTx/>
              <a:buNone/>
            </a:pPr>
            <a:r>
              <a:rPr lang="en-US" altLang="zh-CN" sz="2400" smtClean="0"/>
              <a:t>	 memptr-&gt;s.freesize = MEMSIZE-1;</a:t>
            </a:r>
          </a:p>
          <a:p>
            <a:pPr>
              <a:lnSpc>
                <a:spcPct val="80000"/>
              </a:lnSpc>
              <a:buFontTx/>
              <a:buNone/>
            </a:pPr>
            <a:r>
              <a:rPr lang="en-US" altLang="zh-CN" sz="2400" smtClean="0"/>
              <a:t>	}</a:t>
            </a:r>
          </a:p>
          <a:p>
            <a:pPr>
              <a:lnSpc>
                <a:spcPct val="80000"/>
              </a:lnSpc>
              <a:buFontTx/>
              <a:buNone/>
            </a:pPr>
            <a:r>
              <a:rPr lang="en-US" altLang="zh-CN" sz="2400" smtClean="0"/>
              <a:t>	</a:t>
            </a:r>
          </a:p>
          <a:p>
            <a:pPr>
              <a:lnSpc>
                <a:spcPct val="80000"/>
              </a:lnSpc>
              <a:buFontTx/>
              <a:buNone/>
            </a:pPr>
            <a:r>
              <a:rPr lang="en-US" altLang="zh-CN" sz="2400" smtClean="0"/>
              <a:t>   for(p=memptr;</a:t>
            </a:r>
          </a:p>
          <a:p>
            <a:pPr>
              <a:lnSpc>
                <a:spcPct val="80000"/>
              </a:lnSpc>
              <a:buFontTx/>
              <a:buNone/>
            </a:pPr>
            <a:r>
              <a:rPr lang="en-US" altLang="zh-CN" sz="2400" smtClean="0"/>
              <a:t>	(p-&gt;s.next!=memptr) &amp;&amp; (p-&gt;s.freesize &lt;nunits);</a:t>
            </a:r>
          </a:p>
          <a:p>
            <a:pPr>
              <a:lnSpc>
                <a:spcPct val="80000"/>
              </a:lnSpc>
              <a:buFontTx/>
              <a:buNone/>
            </a:pPr>
            <a:r>
              <a:rPr lang="en-US" altLang="zh-CN" sz="2400" smtClean="0"/>
              <a:t>		p=p-&gt;s.next);</a:t>
            </a:r>
          </a:p>
          <a:p>
            <a:pPr>
              <a:lnSpc>
                <a:spcPct val="80000"/>
              </a:lnSpc>
              <a:buFontTx/>
              <a:buNone/>
            </a:pPr>
            <a:r>
              <a:rPr lang="en-US" altLang="zh-CN" sz="2400" smtClean="0"/>
              <a:t>	</a:t>
            </a:r>
            <a:endParaRPr lang="zh-CN" altLang="en-US" sz="2400" dirty="0" smtClean="0"/>
          </a:p>
        </p:txBody>
      </p:sp>
    </p:spTree>
    <p:extLst>
      <p:ext uri="{BB962C8B-B14F-4D97-AF65-F5344CB8AC3E}">
        <p14:creationId xmlns:p14="http://schemas.microsoft.com/office/powerpoint/2010/main" val="11713545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smtClean="0"/>
              <a:t>8.8 Heap Management</a:t>
            </a:r>
            <a:endParaRPr lang="zh-CN" altLang="en-US" dirty="0"/>
          </a:p>
        </p:txBody>
      </p:sp>
      <p:sp>
        <p:nvSpPr>
          <p:cNvPr id="5" name="Rectangle 2"/>
          <p:cNvSpPr txBox="1">
            <a:spLocks noChangeArrowheads="1"/>
          </p:cNvSpPr>
          <p:nvPr/>
        </p:nvSpPr>
        <p:spPr bwMode="auto">
          <a:xfrm>
            <a:off x="668708" y="1232939"/>
            <a:ext cx="7772400" cy="5688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100000"/>
              </a:lnSpc>
              <a:spcBef>
                <a:spcPct val="20000"/>
              </a:spcBef>
              <a:spcAft>
                <a:spcPct val="0"/>
              </a:spcAft>
              <a:buClrTx/>
              <a:buSzTx/>
              <a:buFontTx/>
              <a:buNone/>
              <a:tabLst/>
              <a:defRPr/>
            </a:pPr>
            <a:r>
              <a:rPr kumimoji="0" lang="en-US" altLang="zh-CN" sz="2400" b="0" i="0" u="none" strike="noStrike" kern="1200" cap="none" spc="0" normalizeH="0" baseline="0" noProof="0" smtClean="0">
                <a:ln>
                  <a:noFill/>
                </a:ln>
                <a:solidFill>
                  <a:srgbClr val="000000"/>
                </a:solidFill>
                <a:effectLst/>
                <a:uLnTx/>
                <a:uFillTx/>
                <a:latin typeface="Times New Roman"/>
                <a:ea typeface="宋体"/>
                <a:cs typeface="+mn-cs"/>
              </a:rPr>
              <a:t>	</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if (p-&gt;s.freesize &lt; nunits) return NULL;</a:t>
            </a:r>
          </a:p>
          <a:p>
            <a:pPr marL="342900" marR="0" lvl="0" indent="-342900" algn="l" defTabSz="914400" rtl="0" eaLnBrk="1" fontAlgn="base" latinLnBrk="0" hangingPunct="1">
              <a:lnSpc>
                <a:spcPct val="10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 no block big enough */</a:t>
            </a:r>
          </a:p>
          <a:p>
            <a:pPr marL="342900" marR="0" lvl="0" indent="-342900" algn="l" defTabSz="914400" rtl="0" eaLnBrk="1" fontAlgn="base" latinLnBrk="0" hangingPunct="1">
              <a:lnSpc>
                <a:spcPct val="10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newp =p +p-&gt;s.usedsize;</a:t>
            </a:r>
          </a:p>
          <a:p>
            <a:pPr marL="342900" marR="0" lvl="0" indent="-342900" algn="l" defTabSz="914400" rtl="0" eaLnBrk="1" fontAlgn="base" latinLnBrk="0" hangingPunct="1">
              <a:lnSpc>
                <a:spcPct val="10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newp-&gt;s.usedsize = nunits;</a:t>
            </a:r>
          </a:p>
          <a:p>
            <a:pPr marL="342900" marR="0" lvl="0" indent="-342900" algn="l" defTabSz="914400" rtl="0" eaLnBrk="1" fontAlgn="base" latinLnBrk="0" hangingPunct="1">
              <a:lnSpc>
                <a:spcPct val="10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newp-&gt;s.freesize =p-&gt;s.freesize </a:t>
            </a:r>
            <a:r>
              <a:rPr kumimoji="0" lang="en-US" altLang="zh-CN" sz="2800" b="0" i="0" u="none" strike="noStrike" kern="1200" cap="none" spc="0" normalizeH="0" baseline="0" noProof="0" smtClean="0">
                <a:ln>
                  <a:noFill/>
                </a:ln>
                <a:solidFill>
                  <a:srgbClr val="000000"/>
                </a:solidFill>
                <a:effectLst/>
                <a:uLnTx/>
                <a:uFillTx/>
                <a:latin typeface="Arial" panose="020B0604020202020204" pitchFamily="34" charset="0"/>
                <a:ea typeface="宋体"/>
                <a:cs typeface="+mn-cs"/>
              </a:rPr>
              <a:t>–</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nunits;</a:t>
            </a:r>
          </a:p>
          <a:p>
            <a:pPr marL="342900" marR="0" lvl="0" indent="-342900" algn="l" defTabSz="914400" rtl="0" eaLnBrk="1" fontAlgn="base" latinLnBrk="0" hangingPunct="1">
              <a:lnSpc>
                <a:spcPct val="10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newp-&gt;s.next = p-&gt;s.next;</a:t>
            </a:r>
          </a:p>
          <a:p>
            <a:pPr marL="342900" marR="0" lvl="0" indent="-342900" algn="l" defTabSz="914400" rtl="0" eaLnBrk="1" fontAlgn="base" latinLnBrk="0" hangingPunct="1">
              <a:lnSpc>
                <a:spcPct val="10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p-&gt;s.freesize=0;</a:t>
            </a:r>
          </a:p>
          <a:p>
            <a:pPr marL="342900" marR="0" lvl="0" indent="-342900" algn="l" defTabSz="914400" rtl="0" eaLnBrk="1" fontAlgn="base" latinLnBrk="0" hangingPunct="1">
              <a:lnSpc>
                <a:spcPct val="10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p-&gt;s.next = newp;</a:t>
            </a:r>
          </a:p>
          <a:p>
            <a:pPr marL="342900" marR="0" lvl="0" indent="-342900" algn="l" defTabSz="914400" rtl="0" eaLnBrk="1" fontAlgn="base" latinLnBrk="0" hangingPunct="1">
              <a:lnSpc>
                <a:spcPct val="10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memptr = newp;</a:t>
            </a:r>
          </a:p>
          <a:p>
            <a:pPr marL="342900" marR="0" lvl="0" indent="-342900" algn="l" defTabSz="914400" rtl="0" eaLnBrk="1" fontAlgn="base" latinLnBrk="0" hangingPunct="1">
              <a:lnSpc>
                <a:spcPct val="10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return (void *) (newp+1);</a:t>
            </a:r>
          </a:p>
          <a:p>
            <a:pPr marL="342900" marR="0" lvl="0" indent="-342900" algn="l" defTabSz="914400" rtl="0" eaLnBrk="1" fontAlgn="base" latinLnBrk="0" hangingPunct="1">
              <a:lnSpc>
                <a:spcPct val="10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a:t>
            </a:r>
            <a:endParaRPr kumimoji="0" lang="zh-CN" altLang="en-US" sz="28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8453951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smtClean="0"/>
              <a:t>8.8 Heap Management</a:t>
            </a:r>
            <a:endParaRPr lang="zh-CN" altLang="en-US" dirty="0"/>
          </a:p>
        </p:txBody>
      </p:sp>
      <p:sp>
        <p:nvSpPr>
          <p:cNvPr id="6" name="Rectangle 3"/>
          <p:cNvSpPr txBox="1">
            <a:spLocks noChangeArrowheads="1"/>
          </p:cNvSpPr>
          <p:nvPr/>
        </p:nvSpPr>
        <p:spPr bwMode="auto">
          <a:xfrm>
            <a:off x="628280" y="1586388"/>
            <a:ext cx="8207375" cy="5475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void free(void *ap)</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header *bp, *p, *prev;</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bp = (header *)ap </a:t>
            </a:r>
            <a:r>
              <a:rPr kumimoji="0" lang="en-US" altLang="zh-CN" sz="2800" b="0" i="0" u="none" strike="noStrike" kern="1200" cap="none" spc="0" normalizeH="0" baseline="0" noProof="0" smtClean="0">
                <a:ln>
                  <a:noFill/>
                </a:ln>
                <a:solidFill>
                  <a:srgbClr val="000000"/>
                </a:solidFill>
                <a:effectLst/>
                <a:uLnTx/>
                <a:uFillTx/>
                <a:latin typeface="Arial" panose="020B0604020202020204" pitchFamily="34" charset="0"/>
                <a:ea typeface="宋体"/>
                <a:cs typeface="+mn-cs"/>
              </a:rPr>
              <a:t>–</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1;</a:t>
            </a:r>
          </a:p>
          <a:p>
            <a:pPr marL="342900" marR="0" lvl="0" indent="-342900" algn="l" defTabSz="914400" rtl="0" eaLnBrk="1" fontAlgn="base" latinLnBrk="0" hangingPunct="1">
              <a:lnSpc>
                <a:spcPct val="80000"/>
              </a:lnSpc>
              <a:spcBef>
                <a:spcPct val="20000"/>
              </a:spcBef>
              <a:spcAft>
                <a:spcPct val="0"/>
              </a:spcAft>
              <a:buClrTx/>
              <a:buSzTx/>
              <a:buFontTx/>
              <a:buNone/>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for (prev=memptr, p=memptr-&gt;s.next;</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(p!=bp) &amp;&amp; (p!=memptr);</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prev=p, p=p-&gt;s.next);</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if (p!=bp) return;</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 corrupted list, do nothing */</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prev-&gt;s.freesize +=p-&gt;s.usedsize + p-&gt;s.freesize;</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prev-&gt;s.next = p-&gt;s.next;</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memptr = prev;</a:t>
            </a:r>
          </a:p>
          <a:p>
            <a:pPr marL="342900" marR="0" lvl="0" indent="-342900" algn="l" defTabSz="914400" rtl="0" eaLnBrk="1" fontAlgn="base" latinLnBrk="0" hangingPunct="1">
              <a:lnSpc>
                <a:spcPct val="80000"/>
              </a:lnSpc>
              <a:spcBef>
                <a:spcPct val="20000"/>
              </a:spcBef>
              <a:spcAft>
                <a:spcPct val="0"/>
              </a:spcAft>
              <a:buClrTx/>
              <a:buSzTx/>
              <a:buFontTx/>
              <a:buNone/>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a:t>
            </a:r>
            <a:endParaRPr kumimoji="0" lang="zh-CN" altLang="en-US" sz="28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297090828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smtClean="0"/>
              <a:t>8.8 Heap Management</a:t>
            </a:r>
            <a:endParaRPr lang="zh-CN" alt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1395237981"/>
              </p:ext>
            </p:extLst>
          </p:nvPr>
        </p:nvGraphicFramePr>
        <p:xfrm>
          <a:off x="1124959" y="1675976"/>
          <a:ext cx="6446615" cy="4643758"/>
        </p:xfrm>
        <a:graphic>
          <a:graphicData uri="http://schemas.openxmlformats.org/presentationml/2006/ole">
            <mc:AlternateContent xmlns:mc="http://schemas.openxmlformats.org/markup-compatibility/2006">
              <mc:Choice xmlns:v="urn:schemas-microsoft-com:vml" Requires="v">
                <p:oleObj spid="_x0000_s21510" name="文档" r:id="rId3" imgW="4171957" imgH="3009810" progId="Word.Document.8">
                  <p:embed/>
                </p:oleObj>
              </mc:Choice>
              <mc:Fallback>
                <p:oleObj name="文档" r:id="rId3" imgW="4171957" imgH="3009810"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24959" y="1675976"/>
                        <a:ext cx="6446615" cy="4643758"/>
                      </a:xfrm>
                      <a:prstGeom prst="rect">
                        <a:avLst/>
                      </a:prstGeom>
                      <a:noFill/>
                      <a:ln>
                        <a:noFill/>
                      </a:ln>
                      <a:effectLst/>
                      <a:extLst/>
                    </p:spPr>
                  </p:pic>
                </p:oleObj>
              </mc:Fallback>
            </mc:AlternateContent>
          </a:graphicData>
        </a:graphic>
      </p:graphicFrame>
    </p:spTree>
    <p:extLst>
      <p:ext uri="{BB962C8B-B14F-4D97-AF65-F5344CB8AC3E}">
        <p14:creationId xmlns:p14="http://schemas.microsoft.com/office/powerpoint/2010/main" val="33103407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smtClean="0"/>
              <a:t>8.8 Heap Management</a:t>
            </a:r>
            <a:endParaRPr lang="zh-CN" altLang="en-US" dirty="0"/>
          </a:p>
        </p:txBody>
      </p:sp>
      <p:graphicFrame>
        <p:nvGraphicFramePr>
          <p:cNvPr id="6" name="Object 4"/>
          <p:cNvGraphicFramePr>
            <a:graphicFrameLocks noChangeAspect="1"/>
          </p:cNvGraphicFramePr>
          <p:nvPr>
            <p:extLst>
              <p:ext uri="{D42A27DB-BD31-4B8C-83A1-F6EECF244321}">
                <p14:modId xmlns:p14="http://schemas.microsoft.com/office/powerpoint/2010/main" val="197353814"/>
              </p:ext>
            </p:extLst>
          </p:nvPr>
        </p:nvGraphicFramePr>
        <p:xfrm>
          <a:off x="230662" y="1839112"/>
          <a:ext cx="8496300" cy="4354512"/>
        </p:xfrm>
        <a:graphic>
          <a:graphicData uri="http://schemas.openxmlformats.org/presentationml/2006/ole">
            <mc:AlternateContent xmlns:mc="http://schemas.openxmlformats.org/markup-compatibility/2006">
              <mc:Choice xmlns:v="urn:schemas-microsoft-com:vml" Requires="v">
                <p:oleObj spid="_x0000_s22534" name="文档" r:id="rId3" imgW="4358391" imgH="2206594" progId="Word.Document.8">
                  <p:embed/>
                </p:oleObj>
              </mc:Choice>
              <mc:Fallback>
                <p:oleObj name="文档" r:id="rId3" imgW="4358391" imgH="2206594" progId="Word.Document.8">
                  <p:embed/>
                  <p:pic>
                    <p:nvPicPr>
                      <p:cNvPr id="0" nam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30662" y="1839112"/>
                        <a:ext cx="8496300" cy="435451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extLst>
      <p:ext uri="{BB962C8B-B14F-4D97-AF65-F5344CB8AC3E}">
        <p14:creationId xmlns:p14="http://schemas.microsoft.com/office/powerpoint/2010/main" val="718382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smtClean="0"/>
              <a:t>8.8 Heap Management</a:t>
            </a:r>
            <a:endParaRPr lang="zh-CN" alt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753886208"/>
              </p:ext>
            </p:extLst>
          </p:nvPr>
        </p:nvGraphicFramePr>
        <p:xfrm>
          <a:off x="361149" y="1762496"/>
          <a:ext cx="8589963" cy="4795837"/>
        </p:xfrm>
        <a:graphic>
          <a:graphicData uri="http://schemas.openxmlformats.org/presentationml/2006/ole">
            <mc:AlternateContent xmlns:mc="http://schemas.openxmlformats.org/markup-compatibility/2006">
              <mc:Choice xmlns:v="urn:schemas-microsoft-com:vml" Requires="v">
                <p:oleObj spid="_x0000_s23558" name="Document" r:id="rId3" imgW="4212758" imgH="2613687" progId="Word.Document.8">
                  <p:embed/>
                </p:oleObj>
              </mc:Choice>
              <mc:Fallback>
                <p:oleObj name="Document" r:id="rId3" imgW="4212758" imgH="2613687" progId="Word.Document.8">
                  <p:embed/>
                  <p:pic>
                    <p:nvPicPr>
                      <p:cNvPr id="0" name=""/>
                      <p:cNvPicPr>
                        <a:picLocks noChangeAspect="1" noChangeArrowheads="1"/>
                      </p:cNvPicPr>
                      <p:nvPr/>
                    </p:nvPicPr>
                    <p:blipFill>
                      <a:blip r:embed="rId4"/>
                      <a:srcRect/>
                      <a:stretch>
                        <a:fillRect/>
                      </a:stretch>
                    </p:blipFill>
                    <p:spPr bwMode="auto">
                      <a:xfrm>
                        <a:off x="361149" y="1762496"/>
                        <a:ext cx="8589963" cy="47958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extLst>
      <p:ext uri="{BB962C8B-B14F-4D97-AF65-F5344CB8AC3E}">
        <p14:creationId xmlns:p14="http://schemas.microsoft.com/office/powerpoint/2010/main" val="3787828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smtClean="0"/>
              <a:t>8.8 Heap Management</a:t>
            </a:r>
            <a:endParaRPr lang="zh-CN" altLang="en-US" dirty="0"/>
          </a:p>
        </p:txBody>
      </p:sp>
      <p:graphicFrame>
        <p:nvGraphicFramePr>
          <p:cNvPr id="5" name="Object 4"/>
          <p:cNvGraphicFramePr>
            <a:graphicFrameLocks noChangeAspect="1"/>
          </p:cNvGraphicFramePr>
          <p:nvPr>
            <p:extLst>
              <p:ext uri="{D42A27DB-BD31-4B8C-83A1-F6EECF244321}">
                <p14:modId xmlns:p14="http://schemas.microsoft.com/office/powerpoint/2010/main" val="1197778819"/>
              </p:ext>
            </p:extLst>
          </p:nvPr>
        </p:nvGraphicFramePr>
        <p:xfrm>
          <a:off x="472200" y="1840402"/>
          <a:ext cx="8280400" cy="4827588"/>
        </p:xfrm>
        <a:graphic>
          <a:graphicData uri="http://schemas.openxmlformats.org/presentationml/2006/ole">
            <mc:AlternateContent xmlns:mc="http://schemas.openxmlformats.org/markup-compatibility/2006">
              <mc:Choice xmlns:v="urn:schemas-microsoft-com:vml" Requires="v">
                <p:oleObj spid="_x0000_s24582" name="Document" r:id="rId3" imgW="4396001" imgH="2811694" progId="Word.Document.8">
                  <p:embed/>
                </p:oleObj>
              </mc:Choice>
              <mc:Fallback>
                <p:oleObj name="Document" r:id="rId3" imgW="4396001" imgH="2811694" progId="Word.Document.8">
                  <p:embed/>
                  <p:pic>
                    <p:nvPicPr>
                      <p:cNvPr id="0" name=""/>
                      <p:cNvPicPr>
                        <a:picLocks noChangeAspect="1" noChangeArrowheads="1"/>
                      </p:cNvPicPr>
                      <p:nvPr/>
                    </p:nvPicPr>
                    <p:blipFill>
                      <a:blip r:embed="rId4"/>
                      <a:srcRect/>
                      <a:stretch>
                        <a:fillRect/>
                      </a:stretch>
                    </p:blipFill>
                    <p:spPr bwMode="auto">
                      <a:xfrm>
                        <a:off x="472200" y="1840402"/>
                        <a:ext cx="8280400" cy="48275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extLst>
      <p:ext uri="{BB962C8B-B14F-4D97-AF65-F5344CB8AC3E}">
        <p14:creationId xmlns:p14="http://schemas.microsoft.com/office/powerpoint/2010/main" val="39724701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smtClean="0"/>
              <a:t>8.8 Heap Management</a:t>
            </a:r>
            <a:endParaRPr lang="zh-CN" altLang="en-US" dirty="0"/>
          </a:p>
        </p:txBody>
      </p:sp>
      <p:sp>
        <p:nvSpPr>
          <p:cNvPr id="6" name="Rectangle 3"/>
          <p:cNvSpPr txBox="1">
            <a:spLocks noChangeArrowheads="1"/>
          </p:cNvSpPr>
          <p:nvPr/>
        </p:nvSpPr>
        <p:spPr bwMode="auto">
          <a:xfrm>
            <a:off x="519588" y="1495603"/>
            <a:ext cx="8280400" cy="53623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The use of </a:t>
            </a:r>
            <a:r>
              <a:rPr kumimoji="0" lang="en-US" altLang="zh-CN" sz="2000" b="0" i="0" u="none" strike="noStrike" kern="1200" cap="none" spc="0" normalizeH="0" baseline="0" noProof="0" dirty="0" err="1" smtClean="0">
                <a:ln>
                  <a:noFill/>
                </a:ln>
                <a:solidFill>
                  <a:srgbClr val="000000"/>
                </a:solidFill>
                <a:effectLst/>
                <a:uLnTx/>
                <a:uFillTx/>
                <a:latin typeface="Times New Roman"/>
                <a:ea typeface="宋体"/>
                <a:cs typeface="+mn-cs"/>
              </a:rPr>
              <a:t>malloc</a:t>
            </a: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 and free to perform dynamic allocation and de-allocation of pointer is called </a:t>
            </a:r>
            <a:r>
              <a:rPr kumimoji="0" lang="en-US" altLang="zh-CN" sz="2000" b="0" i="0" u="none" strike="noStrike" kern="1200" cap="none" spc="0" normalizeH="0" baseline="0" noProof="0" dirty="0" smtClean="0">
                <a:ln>
                  <a:noFill/>
                </a:ln>
                <a:solidFill>
                  <a:srgbClr val="FF3300"/>
                </a:solidFill>
                <a:effectLst/>
                <a:uLnTx/>
                <a:uFillTx/>
                <a:latin typeface="Times New Roman"/>
                <a:ea typeface="宋体"/>
                <a:cs typeface="+mn-cs"/>
              </a:rPr>
              <a:t>manual method</a:t>
            </a: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a:t>
            </a: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By contrast, the runtime stack is managed automatically by the calling sequence.</a:t>
            </a:r>
          </a:p>
          <a:p>
            <a:pPr marL="342900" marR="0" lvl="0" indent="-342900" algn="l" defTabSz="914400" rtl="0" eaLnBrk="1" fontAlgn="base" latinLnBrk="0" hangingPunct="1">
              <a:lnSpc>
                <a:spcPct val="90000"/>
              </a:lnSpc>
              <a:spcBef>
                <a:spcPct val="20000"/>
              </a:spcBef>
              <a:spcAft>
                <a:spcPct val="0"/>
              </a:spcAft>
              <a:buClrTx/>
              <a:buSzTx/>
              <a:buFontTx/>
              <a:buNone/>
              <a:tabLst/>
              <a:defRPr/>
            </a:pPr>
            <a:endPar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000" b="0" i="0" u="none" strike="noStrike" kern="1200" cap="none" spc="0" normalizeH="0" baseline="0" noProof="0" dirty="0" err="1" smtClean="0">
                <a:ln>
                  <a:noFill/>
                </a:ln>
                <a:solidFill>
                  <a:srgbClr val="FF3300"/>
                </a:solidFill>
                <a:effectLst/>
                <a:uLnTx/>
                <a:uFillTx/>
                <a:latin typeface="Times New Roman"/>
                <a:ea typeface="宋体"/>
                <a:cs typeface="+mn-cs"/>
              </a:rPr>
              <a:t>Garbarge</a:t>
            </a:r>
            <a:r>
              <a:rPr kumimoji="0" lang="en-US" altLang="zh-CN" sz="2000" b="0" i="0" u="none" strike="noStrike" kern="1200" cap="none" spc="0" normalizeH="0" baseline="0" noProof="0" dirty="0" smtClean="0">
                <a:ln>
                  <a:noFill/>
                </a:ln>
                <a:solidFill>
                  <a:srgbClr val="FF3300"/>
                </a:solidFill>
                <a:effectLst/>
                <a:uLnTx/>
                <a:uFillTx/>
                <a:latin typeface="Times New Roman"/>
                <a:ea typeface="宋体"/>
                <a:cs typeface="+mn-cs"/>
              </a:rPr>
              <a:t> collection</a:t>
            </a: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 the process of reclamation of allocated but no longer used storage without an explicit call to free.</a:t>
            </a: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The standard technique is to </a:t>
            </a:r>
            <a:r>
              <a:rPr kumimoji="0" lang="en-US" altLang="zh-CN" sz="2000" b="0" i="0" u="none" strike="noStrike" kern="1200" cap="none" spc="0" normalizeH="0" baseline="0" noProof="0" dirty="0" smtClean="0">
                <a:ln>
                  <a:noFill/>
                </a:ln>
                <a:solidFill>
                  <a:srgbClr val="FF3300"/>
                </a:solidFill>
                <a:effectLst/>
                <a:uLnTx/>
                <a:uFillTx/>
                <a:latin typeface="Times New Roman"/>
                <a:ea typeface="宋体"/>
                <a:cs typeface="+mn-cs"/>
              </a:rPr>
              <a:t>perform mark and sweep garbage collection</a:t>
            </a: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a:t>
            </a: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 In this method no memory is freed until a call to </a:t>
            </a:r>
            <a:r>
              <a:rPr kumimoji="0" lang="en-US" altLang="zh-CN" sz="2000" b="0" i="0" u="none" strike="noStrike" kern="1200" cap="none" spc="0" normalizeH="0" baseline="0" noProof="0" dirty="0" err="1" smtClean="0">
                <a:ln>
                  <a:noFill/>
                </a:ln>
                <a:solidFill>
                  <a:srgbClr val="000000"/>
                </a:solidFill>
                <a:effectLst/>
                <a:uLnTx/>
                <a:uFillTx/>
                <a:latin typeface="Times New Roman"/>
                <a:ea typeface="宋体"/>
                <a:cs typeface="+mn-cs"/>
              </a:rPr>
              <a:t>malloc</a:t>
            </a: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 fails, which does this in two passes.</a:t>
            </a:r>
          </a:p>
          <a:p>
            <a:pPr marL="742950" marR="0" lvl="1" indent="-285750" algn="l" defTabSz="914400" rtl="0" eaLnBrk="1" fontAlgn="base" latinLnBrk="0" hangingPunct="1">
              <a:lnSpc>
                <a:spcPct val="90000"/>
              </a:lnSpc>
              <a:spcBef>
                <a:spcPct val="20000"/>
              </a:spcBef>
              <a:spcAft>
                <a:spcPct val="0"/>
              </a:spcAft>
              <a:buClrTx/>
              <a:buSzTx/>
              <a:buFontTx/>
              <a:buChar char="–"/>
              <a:tabLst/>
              <a:defRPr/>
            </a:pP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Follows all pointers recursively, </a:t>
            </a:r>
            <a:r>
              <a:rPr kumimoji="0" lang="en-US" altLang="zh-CN" sz="2000" b="0" i="0" u="none" strike="noStrike" kern="1200" cap="none" spc="0" normalizeH="0" baseline="0" noProof="0" dirty="0" smtClean="0">
                <a:ln>
                  <a:noFill/>
                </a:ln>
                <a:solidFill>
                  <a:srgbClr val="FF3300"/>
                </a:solidFill>
                <a:effectLst/>
                <a:uLnTx/>
                <a:uFillTx/>
                <a:latin typeface="Times New Roman"/>
                <a:ea typeface="宋体"/>
                <a:cs typeface="+mn-cs"/>
              </a:rPr>
              <a:t>starting with all currently accessible pointer values and marks each block of storage reached</a:t>
            </a: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 an extra bit for the marking.</a:t>
            </a:r>
          </a:p>
          <a:p>
            <a:pPr marL="742950" marR="0" lvl="1" indent="-285750" algn="l" defTabSz="914400" rtl="0" eaLnBrk="1" fontAlgn="base" latinLnBrk="0" hangingPunct="1">
              <a:lnSpc>
                <a:spcPct val="90000"/>
              </a:lnSpc>
              <a:spcBef>
                <a:spcPct val="20000"/>
              </a:spcBef>
              <a:spcAft>
                <a:spcPct val="0"/>
              </a:spcAft>
              <a:buClrTx/>
              <a:buSzTx/>
              <a:buFontTx/>
              <a:buChar char="–"/>
              <a:tabLst/>
              <a:defRPr/>
            </a:pP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Sweeps linearly through memory, </a:t>
            </a:r>
            <a:r>
              <a:rPr kumimoji="0" lang="en-US" altLang="zh-CN" sz="2000" b="0" i="0" u="none" strike="noStrike" kern="1200" cap="none" spc="0" normalizeH="0" baseline="0" noProof="0" dirty="0" smtClean="0">
                <a:ln>
                  <a:noFill/>
                </a:ln>
                <a:solidFill>
                  <a:srgbClr val="FF3300"/>
                </a:solidFill>
                <a:effectLst/>
                <a:uLnTx/>
                <a:uFillTx/>
                <a:latin typeface="Times New Roman"/>
                <a:ea typeface="宋体"/>
                <a:cs typeface="+mn-cs"/>
              </a:rPr>
              <a:t>returning unmarked blocks to free memory</a:t>
            </a: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 </a:t>
            </a:r>
          </a:p>
          <a:p>
            <a:pPr marL="742950" marR="0" lvl="1" indent="-285750" algn="l" defTabSz="914400" rtl="0" eaLnBrk="1" fontAlgn="base" latinLnBrk="0" hangingPunct="1">
              <a:lnSpc>
                <a:spcPct val="90000"/>
              </a:lnSpc>
              <a:spcBef>
                <a:spcPct val="20000"/>
              </a:spcBef>
              <a:spcAft>
                <a:spcPct val="0"/>
              </a:spcAft>
              <a:buClrTx/>
              <a:buSzTx/>
              <a:buFontTx/>
              <a:buChar char="–"/>
              <a:tabLst/>
              <a:defRPr/>
            </a:pP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Also perform memory compaction to leave only one large block of </a:t>
            </a:r>
            <a:r>
              <a:rPr kumimoji="0" lang="en-US" altLang="zh-CN" sz="2000" b="0" i="0" u="none" strike="noStrike" kern="1200" cap="none" spc="0" normalizeH="0" baseline="0" noProof="0" dirty="0" smtClean="0">
                <a:ln>
                  <a:noFill/>
                </a:ln>
                <a:solidFill>
                  <a:srgbClr val="FF3300"/>
                </a:solidFill>
                <a:effectLst/>
                <a:uLnTx/>
                <a:uFillTx/>
                <a:latin typeface="Times New Roman"/>
                <a:ea typeface="宋体"/>
                <a:cs typeface="+mn-cs"/>
              </a:rPr>
              <a:t>contiguous free space</a:t>
            </a: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 at the other end.</a:t>
            </a:r>
            <a:endParaRPr kumimoji="0" lang="zh-CN" altLang="en-US" sz="20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1909461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smtClean="0"/>
              <a:t>8.8 Heap Management</a:t>
            </a:r>
            <a:endParaRPr lang="zh-CN" altLang="en-US" dirty="0"/>
          </a:p>
        </p:txBody>
      </p:sp>
      <p:sp>
        <p:nvSpPr>
          <p:cNvPr id="5" name="Rectangle 3"/>
          <p:cNvSpPr txBox="1">
            <a:spLocks noChangeArrowheads="1"/>
          </p:cNvSpPr>
          <p:nvPr/>
        </p:nvSpPr>
        <p:spPr bwMode="auto">
          <a:xfrm>
            <a:off x="570862" y="1382105"/>
            <a:ext cx="8207375" cy="54758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The Mark and Sweep garbage collection has several drawbacks:</a:t>
            </a:r>
          </a:p>
          <a:p>
            <a:pPr marL="742950" marR="0" lvl="1" indent="-285750" algn="l" defTabSz="914400" rtl="0" eaLnBrk="1" fontAlgn="base" latinLnBrk="0" hangingPunct="1">
              <a:lnSpc>
                <a:spcPct val="90000"/>
              </a:lnSpc>
              <a:spcBef>
                <a:spcPct val="20000"/>
              </a:spcBef>
              <a:spcAft>
                <a:spcPct val="0"/>
              </a:spcAft>
              <a:buClrTx/>
              <a:buSzTx/>
              <a:buFontTx/>
              <a:buChar char="–"/>
              <a:tabLst/>
              <a:defRPr/>
            </a:pP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Requires extra storage;</a:t>
            </a:r>
          </a:p>
          <a:p>
            <a:pPr marL="742950" marR="0" lvl="1" indent="-285750" algn="l" defTabSz="914400" rtl="0" eaLnBrk="1" fontAlgn="base" latinLnBrk="0" hangingPunct="1">
              <a:lnSpc>
                <a:spcPct val="90000"/>
              </a:lnSpc>
              <a:spcBef>
                <a:spcPct val="20000"/>
              </a:spcBef>
              <a:spcAft>
                <a:spcPct val="0"/>
              </a:spcAft>
              <a:buClrTx/>
              <a:buSzTx/>
              <a:buFontTx/>
              <a:buChar char="–"/>
              <a:tabLst/>
              <a:defRPr/>
            </a:pP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The double pass through memory cause a significant delay in processing</a:t>
            </a:r>
          </a:p>
          <a:p>
            <a:pPr marL="742950" marR="0" lvl="1" indent="-285750" algn="l" defTabSz="914400" rtl="0" eaLnBrk="1" fontAlgn="base" latinLnBrk="0" hangingPunct="1">
              <a:lnSpc>
                <a:spcPct val="90000"/>
              </a:lnSpc>
              <a:spcBef>
                <a:spcPct val="20000"/>
              </a:spcBef>
              <a:spcAft>
                <a:spcPct val="0"/>
              </a:spcAft>
              <a:buClrTx/>
              <a:buSzTx/>
              <a:buFontTx/>
              <a:buChar char="–"/>
              <a:tabLst/>
              <a:defRPr/>
            </a:pPr>
            <a:endPar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A bookkeeping improvement can be made to this process by splitting available memory into two halves and allocating storage only from one half at a time.</a:t>
            </a:r>
          </a:p>
          <a:p>
            <a:pPr marL="342900" marR="0" lvl="0" indent="-342900" algn="l" defTabSz="914400" rtl="0" eaLnBrk="1" fontAlgn="base" latinLnBrk="0" hangingPunct="1">
              <a:lnSpc>
                <a:spcPct val="90000"/>
              </a:lnSpc>
              <a:spcBef>
                <a:spcPct val="20000"/>
              </a:spcBef>
              <a:spcAft>
                <a:spcPct val="0"/>
              </a:spcAft>
              <a:buClrTx/>
              <a:buSzTx/>
              <a:buFontTx/>
              <a:buChar char="•"/>
              <a:tabLst/>
              <a:defRPr/>
            </a:pPr>
            <a:endPar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 </a:t>
            </a:r>
            <a:r>
              <a:rPr kumimoji="0" lang="en-US" altLang="zh-CN" sz="2400" b="1" i="0" u="none" strike="noStrike" kern="1200" cap="none" spc="0" normalizeH="0" baseline="0" noProof="0" dirty="0" smtClean="0">
                <a:ln>
                  <a:noFill/>
                </a:ln>
                <a:solidFill>
                  <a:srgbClr val="000000"/>
                </a:solidFill>
                <a:effectLst/>
                <a:uLnTx/>
                <a:uFillTx/>
                <a:latin typeface="Times New Roman"/>
                <a:ea typeface="宋体"/>
                <a:cs typeface="+mn-cs"/>
              </a:rPr>
              <a:t>Called stop-and-copy or two-space garbage collection</a:t>
            </a:r>
            <a:r>
              <a:rPr kumimoji="0" lang="en-US" altLang="zh-CN" sz="2400" b="0" i="0" u="none" strike="noStrike" kern="1200" cap="none" spc="0" normalizeH="0" baseline="0" noProof="0" dirty="0" smtClean="0">
                <a:ln>
                  <a:noFill/>
                </a:ln>
                <a:solidFill>
                  <a:srgbClr val="000000"/>
                </a:solidFill>
                <a:effectLst/>
                <a:uLnTx/>
                <a:uFillTx/>
                <a:latin typeface="Times New Roman"/>
                <a:ea typeface="宋体"/>
                <a:cs typeface="+mn-cs"/>
              </a:rPr>
              <a:t>.</a:t>
            </a:r>
          </a:p>
          <a:p>
            <a:pPr marL="742950" marR="0" lvl="1" indent="-285750" algn="l" defTabSz="914400" rtl="0" eaLnBrk="1" fontAlgn="base" latinLnBrk="0" hangingPunct="1">
              <a:lnSpc>
                <a:spcPct val="90000"/>
              </a:lnSpc>
              <a:spcBef>
                <a:spcPct val="20000"/>
              </a:spcBef>
              <a:spcAft>
                <a:spcPct val="0"/>
              </a:spcAft>
              <a:buClrTx/>
              <a:buSzTx/>
              <a:buFontTx/>
              <a:buChar char="–"/>
              <a:tabLst/>
              <a:defRPr/>
            </a:pP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All reached blocks are immediately copied to the second half of storage not in use;</a:t>
            </a:r>
          </a:p>
          <a:p>
            <a:pPr marL="742950" marR="0" lvl="1" indent="-285750" algn="l" defTabSz="914400" rtl="0" eaLnBrk="1" fontAlgn="base" latinLnBrk="0" hangingPunct="1">
              <a:lnSpc>
                <a:spcPct val="90000"/>
              </a:lnSpc>
              <a:spcBef>
                <a:spcPct val="20000"/>
              </a:spcBef>
              <a:spcAft>
                <a:spcPct val="0"/>
              </a:spcAft>
              <a:buClrTx/>
              <a:buSzTx/>
              <a:buFontTx/>
              <a:buChar char="–"/>
              <a:tabLst/>
              <a:defRPr/>
            </a:pP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No extra mark bit is required and only one pass is required;</a:t>
            </a:r>
          </a:p>
          <a:p>
            <a:pPr marL="742950" marR="0" lvl="1" indent="-285750" algn="l" defTabSz="914400" rtl="0" eaLnBrk="1" fontAlgn="base" latinLnBrk="0" hangingPunct="1">
              <a:lnSpc>
                <a:spcPct val="90000"/>
              </a:lnSpc>
              <a:spcBef>
                <a:spcPct val="20000"/>
              </a:spcBef>
              <a:spcAft>
                <a:spcPct val="0"/>
              </a:spcAft>
              <a:buClrTx/>
              <a:buSzTx/>
              <a:buFontTx/>
              <a:buChar char="–"/>
              <a:tabLst/>
              <a:defRPr/>
            </a:pP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It also performs compaction automatically;</a:t>
            </a:r>
          </a:p>
          <a:p>
            <a:pPr marL="742950" marR="0" lvl="1" indent="-285750" algn="l" defTabSz="914400" rtl="0" eaLnBrk="1" fontAlgn="base" latinLnBrk="0" hangingPunct="1">
              <a:lnSpc>
                <a:spcPct val="90000"/>
              </a:lnSpc>
              <a:spcBef>
                <a:spcPct val="20000"/>
              </a:spcBef>
              <a:spcAft>
                <a:spcPct val="0"/>
              </a:spcAft>
              <a:buClrTx/>
              <a:buSzTx/>
              <a:buFontTx/>
              <a:buChar char="–"/>
              <a:tabLst/>
              <a:defRPr/>
            </a:pPr>
            <a:r>
              <a:rPr kumimoji="0" lang="en-US" altLang="zh-CN" sz="2000" b="0" i="0" u="none" strike="noStrike" kern="1200" cap="none" spc="0" normalizeH="0" baseline="0" noProof="0" dirty="0" smtClean="0">
                <a:ln>
                  <a:noFill/>
                </a:ln>
                <a:solidFill>
                  <a:srgbClr val="000000"/>
                </a:solidFill>
                <a:effectLst/>
                <a:uLnTx/>
                <a:uFillTx/>
                <a:latin typeface="Times New Roman"/>
                <a:ea typeface="宋体"/>
                <a:cs typeface="+mn-cs"/>
              </a:rPr>
              <a:t>It does little to improve processing delays during storage reclamation.</a:t>
            </a:r>
            <a:endParaRPr kumimoji="0" lang="zh-CN" altLang="en-US" sz="20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37503481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1"/>
          <p:cNvSpPr>
            <a:spLocks noGrp="1"/>
          </p:cNvSpPr>
          <p:nvPr>
            <p:ph type="title"/>
          </p:nvPr>
        </p:nvSpPr>
        <p:spPr>
          <a:xfrm>
            <a:off x="828675" y="76200"/>
            <a:ext cx="7485512" cy="1096962"/>
          </a:xfrm>
        </p:spPr>
        <p:txBody>
          <a:bodyPr/>
          <a:lstStyle/>
          <a:p>
            <a:r>
              <a:rPr lang="en-US" altLang="zh-CN" dirty="0" smtClean="0"/>
              <a:t>8.8 Heap Management</a:t>
            </a:r>
            <a:endParaRPr lang="zh-CN" altLang="en-US" dirty="0"/>
          </a:p>
        </p:txBody>
      </p:sp>
      <p:sp>
        <p:nvSpPr>
          <p:cNvPr id="6" name="Rectangle 3"/>
          <p:cNvSpPr txBox="1">
            <a:spLocks noChangeArrowheads="1"/>
          </p:cNvSpPr>
          <p:nvPr/>
        </p:nvSpPr>
        <p:spPr bwMode="auto">
          <a:xfrm>
            <a:off x="711437" y="1460456"/>
            <a:ext cx="7772400" cy="5259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Generational garbage collection</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which adds a permanent storage area to the reclamation scheme of the previous paragraph</a:t>
            </a:r>
          </a:p>
          <a:p>
            <a:pPr marL="342900" marR="0" lvl="0" indent="-342900" algn="l" defTabSz="914400" rtl="0" eaLnBrk="1" fontAlgn="base" latinLnBrk="0" hangingPunct="1">
              <a:lnSpc>
                <a:spcPct val="90000"/>
              </a:lnSpc>
              <a:spcBef>
                <a:spcPct val="20000"/>
              </a:spcBef>
              <a:spcAft>
                <a:spcPct val="0"/>
              </a:spcAft>
              <a:buClrTx/>
              <a:buSzTx/>
              <a:buFontTx/>
              <a:buChar char="•"/>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Allocated objects that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survive long enough</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are simply copied into permanent space and are never deallocated during subsequent storage reclamations.</a:t>
            </a:r>
          </a:p>
          <a:p>
            <a:pPr marL="342900" marR="0" lvl="0" indent="-342900" algn="l" defTabSz="914400" rtl="0" eaLnBrk="1" fontAlgn="base" latinLnBrk="0" hangingPunct="1">
              <a:lnSpc>
                <a:spcPct val="90000"/>
              </a:lnSpc>
              <a:spcBef>
                <a:spcPct val="20000"/>
              </a:spcBef>
              <a:spcAft>
                <a:spcPct val="0"/>
              </a:spcAft>
              <a:buClrTx/>
              <a:buSzTx/>
              <a:buFontTx/>
              <a:buChar char="•"/>
              <a:tabLst/>
              <a:defRPr/>
            </a:pPr>
            <a:endPar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endParaRPr>
          </a:p>
          <a:p>
            <a:pPr marL="342900" marR="0" lvl="0" indent="-342900" algn="l" defTabSz="914400" rtl="0" eaLnBrk="1" fontAlgn="base" latinLnBrk="0" hangingPunct="1">
              <a:lnSpc>
                <a:spcPct val="90000"/>
              </a:lnSpc>
              <a:spcBef>
                <a:spcPct val="20000"/>
              </a:spcBef>
              <a:spcAft>
                <a:spcPct val="0"/>
              </a:spcAft>
              <a:buClrTx/>
              <a:buSzTx/>
              <a:buFontTx/>
              <a:buChar char="•"/>
              <a:tabLst/>
              <a:defRPr/>
            </a:pP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Search only a </a:t>
            </a:r>
            <a:r>
              <a:rPr kumimoji="0" lang="en-US" altLang="zh-CN" sz="2800" b="1" i="0" u="none" strike="noStrike" kern="1200" cap="none" spc="0" normalizeH="0" baseline="0" noProof="0" smtClean="0">
                <a:ln>
                  <a:noFill/>
                </a:ln>
                <a:solidFill>
                  <a:srgbClr val="000000"/>
                </a:solidFill>
                <a:effectLst/>
                <a:uLnTx/>
                <a:uFillTx/>
                <a:latin typeface="Times New Roman"/>
                <a:ea typeface="宋体"/>
                <a:cs typeface="+mn-cs"/>
              </a:rPr>
              <a:t>very small section of memory for newer storage allocations</a:t>
            </a:r>
            <a:r>
              <a:rPr kumimoji="0" lang="en-US" altLang="zh-CN" sz="2800" b="0" i="0" u="none" strike="noStrike" kern="1200" cap="none" spc="0" normalizeH="0" baseline="0" noProof="0" smtClean="0">
                <a:ln>
                  <a:noFill/>
                </a:ln>
                <a:solidFill>
                  <a:srgbClr val="000000"/>
                </a:solidFill>
                <a:effectLst/>
                <a:uLnTx/>
                <a:uFillTx/>
                <a:latin typeface="Times New Roman"/>
                <a:ea typeface="宋体"/>
                <a:cs typeface="+mn-cs"/>
              </a:rPr>
              <a:t>, and the time for such a search is reduced to a fraction of a second.</a:t>
            </a:r>
            <a:endParaRPr kumimoji="0" lang="zh-CN" altLang="en-US" sz="2800" b="0" i="0" u="none" strike="noStrike" kern="1200" cap="none" spc="0" normalizeH="0" baseline="0" noProof="0" dirty="0" smtClean="0">
              <a:ln>
                <a:noFill/>
              </a:ln>
              <a:solidFill>
                <a:srgbClr val="000000"/>
              </a:solidFill>
              <a:effectLst/>
              <a:uLnTx/>
              <a:uFillTx/>
              <a:latin typeface="Times New Roman"/>
              <a:ea typeface="宋体"/>
              <a:cs typeface="+mn-cs"/>
            </a:endParaRPr>
          </a:p>
        </p:txBody>
      </p:sp>
    </p:spTree>
    <p:extLst>
      <p:ext uri="{BB962C8B-B14F-4D97-AF65-F5344CB8AC3E}">
        <p14:creationId xmlns:p14="http://schemas.microsoft.com/office/powerpoint/2010/main" val="23401525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学术文献 16x9">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_9411639_TF03431380_TF03431380" id="{9AE2BD50-F2AD-48C6-8A81-F7D7390F9E40}" vid="{822244C9-F44A-41EE-AAAB-DAE7A533DA64}"/>
    </a:ext>
  </a:extLst>
</a:theme>
</file>

<file path=ppt/theme/theme2.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Academic Literature">
      <a:dk1>
        <a:srgbClr val="514843"/>
      </a:dk1>
      <a:lt1>
        <a:srgbClr val="FFFFFF"/>
      </a:lt1>
      <a:dk2>
        <a:srgbClr val="000000"/>
      </a:dk2>
      <a:lt2>
        <a:srgbClr val="FFFFF3"/>
      </a:lt2>
      <a:accent1>
        <a:srgbClr val="514843"/>
      </a:accent1>
      <a:accent2>
        <a:srgbClr val="6D7D66"/>
      </a:accent2>
      <a:accent3>
        <a:srgbClr val="525A6A"/>
      </a:accent3>
      <a:accent4>
        <a:srgbClr val="827266"/>
      </a:accent4>
      <a:accent5>
        <a:srgbClr val="AE9A7E"/>
      </a:accent5>
      <a:accent6>
        <a:srgbClr val="A8A39E"/>
      </a:accent6>
      <a:hlink>
        <a:srgbClr val="59704F"/>
      </a:hlink>
      <a:folHlink>
        <a:srgbClr val="A8A39E"/>
      </a:folHlink>
    </a:clrScheme>
    <a:fontScheme name="Plantagenet Cherokee-Euphemia">
      <a:majorFont>
        <a:latin typeface="Plantagenet Cherokee"/>
        <a:ea typeface=""/>
        <a:cs typeface=""/>
      </a:majorFont>
      <a:minorFont>
        <a:latin typeface="Euphemia"/>
        <a:ea typeface=""/>
        <a:cs typeface=""/>
      </a:minorFont>
    </a:fontScheme>
    <a:fmtScheme name="AcademicLiterature">
      <a:fillStyleLst>
        <a:solidFill>
          <a:schemeClr val="phClr"/>
        </a:solidFill>
        <a:gradFill rotWithShape="1">
          <a:gsLst>
            <a:gs pos="0">
              <a:schemeClr val="phClr">
                <a:tint val="58000"/>
                <a:satMod val="300000"/>
              </a:schemeClr>
            </a:gs>
            <a:gs pos="100000">
              <a:schemeClr val="phClr">
                <a:tint val="68000"/>
                <a:satMod val="300000"/>
              </a:schemeClr>
            </a:gs>
          </a:gsLst>
          <a:path path="rect">
            <a:fillToRect l="50000" t="50000" r="50000" b="50000"/>
          </a:path>
        </a:gradFill>
        <a:gradFill rotWithShape="1">
          <a:gsLst>
            <a:gs pos="0">
              <a:schemeClr val="phClr">
                <a:shade val="100000"/>
                <a:satMod val="137000"/>
              </a:schemeClr>
            </a:gs>
            <a:gs pos="71000">
              <a:schemeClr val="phClr">
                <a:shade val="98000"/>
                <a:satMod val="137000"/>
              </a:schemeClr>
            </a:gs>
            <a:gs pos="100000">
              <a:schemeClr val="phClr">
                <a:shade val="75000"/>
                <a:satMod val="137000"/>
              </a:schemeClr>
            </a:gs>
          </a:gsLst>
          <a:path path="rect">
            <a:fillToRect l="50000" t="50000" r="50000" b="50000"/>
          </a:path>
        </a:gradFill>
      </a:fillStyleLst>
      <a:lnStyleLst>
        <a:ln w="6350" cap="rnd" cmpd="sng" algn="ctr">
          <a:solidFill>
            <a:schemeClr val="phClr">
              <a:shade val="95000"/>
              <a:satMod val="105000"/>
            </a:schemeClr>
          </a:solidFill>
          <a:prstDash val="solid"/>
        </a:ln>
        <a:ln w="48000" cap="flat" cmpd="thickThin" algn="ctr">
          <a:solidFill>
            <a:schemeClr val="phClr"/>
          </a:solidFill>
          <a:prstDash val="solid"/>
        </a:ln>
        <a:ln w="48500" cap="flat" cmpd="thickThin" algn="ctr">
          <a:solidFill>
            <a:schemeClr val="phClr"/>
          </a:solidFill>
          <a:prstDash val="solid"/>
        </a:ln>
      </a:lnStyleLst>
      <a:effectStyleLst>
        <a:effectStyle>
          <a:effectLst>
            <a:outerShdw blurRad="45000" dist="25000" dir="5400000" rotWithShape="0">
              <a:srgbClr val="000000">
                <a:alpha val="38000"/>
              </a:srgbClr>
            </a:outerShdw>
          </a:effectLst>
        </a:effectStyle>
        <a:effectStyle>
          <a:effectLst>
            <a:outerShdw blurRad="39000" dist="25400" dir="5400000" rotWithShape="0">
              <a:srgbClr val="000000">
                <a:alpha val="38000"/>
              </a:srgbClr>
            </a:outerShdw>
          </a:effectLst>
        </a:effectStyle>
        <a:effectStyle>
          <a:effectLst>
            <a:outerShdw blurRad="39000" dist="25400" dir="5400000" rotWithShape="0">
              <a:srgbClr val="000000">
                <a:alpha val="38000"/>
              </a:srgbClr>
            </a:outerShdw>
          </a:effectLst>
          <a:scene3d>
            <a:camera prst="orthographicFront">
              <a:rot lat="0" lon="0" rev="0"/>
            </a:camera>
            <a:lightRig rig="threePt" dir="t">
              <a:rot lat="0" lon="0" rev="1800000"/>
            </a:lightRig>
          </a:scene3d>
          <a:sp3d prstMaterial="matte">
            <a:bevelT h="20000"/>
          </a:sp3d>
        </a:effectStyle>
      </a:effectStyleLst>
      <a:bgFillStyleLst>
        <a:solidFill>
          <a:schemeClr val="phClr"/>
        </a:solidFill>
        <a:gradFill rotWithShape="1">
          <a:gsLst>
            <a:gs pos="0">
              <a:schemeClr val="phClr">
                <a:tint val="80000"/>
                <a:satMod val="300000"/>
              </a:schemeClr>
            </a:gs>
            <a:gs pos="100000">
              <a:schemeClr val="phClr">
                <a:shade val="90000"/>
                <a:alpha val="80000"/>
                <a:satMod val="200000"/>
              </a:schemeClr>
            </a:gs>
          </a:gsLst>
          <a:path path="rect">
            <a:fillToRect l="20000" t="20000" r="20000" b="20000"/>
          </a:path>
        </a:gradFill>
        <a:gradFill rotWithShape="1">
          <a:gsLst>
            <a:gs pos="0">
              <a:schemeClr val="phClr">
                <a:tint val="80000"/>
                <a:satMod val="300000"/>
              </a:schemeClr>
            </a:gs>
            <a:gs pos="100000">
              <a:schemeClr val="phClr">
                <a:shade val="90000"/>
                <a:alpha val="80000"/>
                <a:satMod val="200000"/>
              </a:schemeClr>
            </a:gs>
          </a:gsLst>
          <a:path path="rect">
            <a:fillToRect l="5000" t="5000" r="5000" b="5000"/>
          </a:path>
        </a:gradFill>
      </a:bgFillStyleLst>
    </a:fmtScheme>
  </a:themeElements>
  <a:objectDefaults>
    <a:lnDef>
      <a:spPr>
        <a:ln>
          <a:solidFill>
            <a:schemeClr val="accent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TemplateFile" ma:contentTypeID="0x0101006EDDDB5EE6D98C44930B742096920B300400F5B6D36B3EF94B4E9A635CDF2A18F5B8" ma:contentTypeVersion="72" ma:contentTypeDescription="Create a new document." ma:contentTypeScope="" ma:versionID="a23e56308344d904b51738559c3d67c9">
  <xsd:schema xmlns:xsd="http://www.w3.org/2001/XMLSchema" xmlns:xs="http://www.w3.org/2001/XMLSchema" xmlns:p="http://schemas.microsoft.com/office/2006/metadata/properties" xmlns:ns2="4873beb7-5857-4685-be1f-d57550cc96cc" targetNamespace="http://schemas.microsoft.com/office/2006/metadata/properties" ma:root="true" ma:fieldsID="cd0908cc4600e77bf5da051303e00c8d" ns2:_="">
    <xsd:import namespace="4873beb7-5857-4685-be1f-d57550cc96cc"/>
    <xsd:element name="properties">
      <xsd:complexType>
        <xsd:sequence>
          <xsd:element name="documentManagement">
            <xsd:complexType>
              <xsd:all>
                <xsd:element ref="ns2:AcquiredFrom" minOccurs="0"/>
                <xsd:element ref="ns2:UACurrentWords" minOccurs="0"/>
                <xsd:element ref="ns2:TPApplication" minOccurs="0"/>
                <xsd:element ref="ns2:ApprovalLog" minOccurs="0"/>
                <xsd:element ref="ns2:ApprovalStatus" minOccurs="0"/>
                <xsd:element ref="ns2:AssetStart" minOccurs="0"/>
                <xsd:element ref="ns2:AssetExpire" minOccurs="0"/>
                <xsd:element ref="ns2:AssetId" minOccurs="0"/>
                <xsd:element ref="ns2:IsSearchable" minOccurs="0"/>
                <xsd:element ref="ns2:AssetType" minOccurs="0"/>
                <xsd:element ref="ns2:APAuthor" minOccurs="0"/>
                <xsd:element ref="ns2:AverageRating" minOccurs="0"/>
                <xsd:element ref="ns2:BlockPublish" minOccurs="0"/>
                <xsd:element ref="ns2:BugNumber" minOccurs="0"/>
                <xsd:element ref="ns2:CampaignTagsTaxHTField0" minOccurs="0"/>
                <xsd:element ref="ns2:TPClientViewer" minOccurs="0"/>
                <xsd:element ref="ns2:ClipArtFilename" minOccurs="0"/>
                <xsd:element ref="ns2:TPCommandLine" minOccurs="0"/>
                <xsd:element ref="ns2:TPComponent" minOccurs="0"/>
                <xsd:element ref="ns2:ContentItem" minOccurs="0"/>
                <xsd:element ref="ns2:CrawlForDependencies" minOccurs="0"/>
                <xsd:element ref="ns2:CSXHash" minOccurs="0"/>
                <xsd:element ref="ns2:CSXSubmissionMarket" minOccurs="0"/>
                <xsd:element ref="ns2:CSXUpdate" minOccurs="0"/>
                <xsd:element ref="ns2:IntlLangReviewDate" minOccurs="0"/>
                <xsd:element ref="ns2:IsDeleted" minOccurs="0"/>
                <xsd:element ref="ns2:APDescription" minOccurs="0"/>
                <xsd:element ref="ns2:DirectSourceMarket" minOccurs="0"/>
                <xsd:element ref="ns2:Downloads" minOccurs="0"/>
                <xsd:element ref="ns2:DSATActionTaken" minOccurs="0"/>
                <xsd:element ref="ns2:APEditor" minOccurs="0"/>
                <xsd:element ref="ns2:EditorialStatus" minOccurs="0"/>
                <xsd:element ref="ns2:EditorialTags" minOccurs="0"/>
                <xsd:element ref="ns2:TPExecutable" minOccurs="0"/>
                <xsd:element ref="ns2:FeatureTagsTaxHTField0" minOccurs="0"/>
                <xsd:element ref="ns2:TPFriendlyName" minOccurs="0"/>
                <xsd:element ref="ns2:FriendlyTitle" minOccurs="0"/>
                <xsd:element ref="ns2:PrimaryImageGen" minOccurs="0"/>
                <xsd:element ref="ns2:HandoffToMSDN" minOccurs="0"/>
                <xsd:element ref="ns2:InProjectListLookup" minOccurs="0"/>
                <xsd:element ref="ns2:TPInstallLocation" minOccurs="0"/>
                <xsd:element ref="ns2:InternalTagsTaxHTField0" minOccurs="0"/>
                <xsd:element ref="ns2:IntlLangReview" minOccurs="0"/>
                <xsd:element ref="ns2:IntlLangReviewer" minOccurs="0"/>
                <xsd:element ref="ns2:MarketSpecific" minOccurs="0"/>
                <xsd:element ref="ns2:LastCompleteVersionLookup" minOccurs="0"/>
                <xsd:element ref="ns2:LastHandOff" minOccurs="0"/>
                <xsd:element ref="ns2:LastModifiedDateTime" minOccurs="0"/>
                <xsd:element ref="ns2:LastPreviewErrorLookup" minOccurs="0"/>
                <xsd:element ref="ns2:LastPreviewResultLookup" minOccurs="0"/>
                <xsd:element ref="ns2:LastPreviewAttemptDateLookup" minOccurs="0"/>
                <xsd:element ref="ns2:LastPreviewedByLookup" minOccurs="0"/>
                <xsd:element ref="ns2:LastPreviewTimeLookup" minOccurs="0"/>
                <xsd:element ref="ns2:LastPreviewVersionLookup" minOccurs="0"/>
                <xsd:element ref="ns2:LastPublishErrorLookup" minOccurs="0"/>
                <xsd:element ref="ns2:LastPublishResultLookup" minOccurs="0"/>
                <xsd:element ref="ns2:LastPublishAttemptDateLookup" minOccurs="0"/>
                <xsd:element ref="ns2:LastPublishedByLookup" minOccurs="0"/>
                <xsd:element ref="ns2:LastPublishTimeLookup" minOccurs="0"/>
                <xsd:element ref="ns2:LastPublishVersionLookup" minOccurs="0"/>
                <xsd:element ref="ns2:TPLaunchHelpLinkType" minOccurs="0"/>
                <xsd:element ref="ns2:LegacyData" minOccurs="0"/>
                <xsd:element ref="ns2:TPLaunchHelpLink" minOccurs="0"/>
                <xsd:element ref="ns2:LocComments" minOccurs="0"/>
                <xsd:element ref="ns2:LocLastLocAttemptVersionLookup" minOccurs="0"/>
                <xsd:element ref="ns2:LocLastLocAttemptVersionTypeLookup" minOccurs="0"/>
                <xsd:element ref="ns2:LocManualTestRequired" minOccurs="0"/>
                <xsd:element ref="ns2:LocMarketGroupTiers2" minOccurs="0"/>
                <xsd:element ref="ns2:LocNewPublishedVersionLookup" minOccurs="0"/>
                <xsd:element ref="ns2:LocOverallHandbackStatusLookup" minOccurs="0"/>
                <xsd:element ref="ns2:LocOverallLocStatusLookup" minOccurs="0"/>
                <xsd:element ref="ns2:LocOverallPreviewStatusLookup" minOccurs="0"/>
                <xsd:element ref="ns2:LocOverallPublishStatusLookup" minOccurs="0"/>
                <xsd:element ref="ns2:IntlLocPriority" minOccurs="0"/>
                <xsd:element ref="ns2:LocProcessedForHandoffsLookup" minOccurs="0"/>
                <xsd:element ref="ns2:LocProcessedForMarketsLookup" minOccurs="0"/>
                <xsd:element ref="ns2:LocPublishedDependentAssetsLookup" minOccurs="0"/>
                <xsd:element ref="ns2:LocPublishedLinkedAssetsLookup" minOccurs="0"/>
                <xsd:element ref="ns2:LocRecommendedHandoff" minOccurs="0"/>
                <xsd:element ref="ns2:LocalizationTagsTaxHTField0" minOccurs="0"/>
                <xsd:element ref="ns2:MachineTranslated" minOccurs="0"/>
                <xsd:element ref="ns2:Manager" minOccurs="0"/>
                <xsd:element ref="ns2:Markets" minOccurs="0"/>
                <xsd:element ref="ns2:Milestone" minOccurs="0"/>
                <xsd:element ref="ns2:TPNamespace" minOccurs="0"/>
                <xsd:element ref="ns2:NumericId" minOccurs="0"/>
                <xsd:element ref="ns2:NumOfRatingsLookup" minOccurs="0"/>
                <xsd:element ref="ns2:OOCacheId" minOccurs="0"/>
                <xsd:element ref="ns2:OpenTemplate" minOccurs="0"/>
                <xsd:element ref="ns2:OriginAsset" minOccurs="0"/>
                <xsd:element ref="ns2:OriginalRelease" minOccurs="0"/>
                <xsd:element ref="ns2:OriginalSourceMarket" minOccurs="0"/>
                <xsd:element ref="ns2:OutputCachingOn" minOccurs="0"/>
                <xsd:element ref="ns2:ParentAssetId" minOccurs="0"/>
                <xsd:element ref="ns2:PlannedPubDate" minOccurs="0"/>
                <xsd:element ref="ns2:PolicheckWords" minOccurs="0"/>
                <xsd:element ref="ns2:BusinessGroup" minOccurs="0"/>
                <xsd:element ref="ns2:UAProjectedTotalWords" minOccurs="0"/>
                <xsd:element ref="ns2:Provider" minOccurs="0"/>
                <xsd:element ref="ns2:Providers" minOccurs="0"/>
                <xsd:element ref="ns2:PublishStatusLookup" minOccurs="0"/>
                <xsd:element ref="ns2:PublishTargets" minOccurs="0"/>
                <xsd:element ref="ns2:RecommendationsModifier" minOccurs="0"/>
                <xsd:element ref="ns2:ArtSampleDocs" minOccurs="0"/>
                <xsd:element ref="ns2:ScenarioTagsTaxHTField0" minOccurs="0"/>
                <xsd:element ref="ns2:ShowIn" minOccurs="0"/>
                <xsd:element ref="ns2:SourceTitle" minOccurs="0"/>
                <xsd:element ref="ns2:CSXSubmissionDate" minOccurs="0"/>
                <xsd:element ref="ns2:SubmitterId" minOccurs="0"/>
                <xsd:element ref="ns2:TaxCatchAll" minOccurs="0"/>
                <xsd:element ref="ns2:TaxCatchAllLabel" minOccurs="0"/>
                <xsd:element ref="ns2:TemplateStatus" minOccurs="0"/>
                <xsd:element ref="ns2:TemplateTemplateType" minOccurs="0"/>
                <xsd:element ref="ns2:ThumbnailAssetId" minOccurs="0"/>
                <xsd:element ref="ns2:TimesCloned" minOccurs="0"/>
                <xsd:element ref="ns2:TrustLevel" minOccurs="0"/>
                <xsd:element ref="ns2:UALocComments" minOccurs="0"/>
                <xsd:element ref="ns2:UALocRecommendation" minOccurs="0"/>
                <xsd:element ref="ns2:UANotes" minOccurs="0"/>
                <xsd:element ref="ns2:TPAppVersion" minOccurs="0"/>
                <xsd:element ref="ns2:VoteCount"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873beb7-5857-4685-be1f-d57550cc96cc" elementFormDefault="qualified">
    <xsd:import namespace="http://schemas.microsoft.com/office/2006/documentManagement/types"/>
    <xsd:import namespace="http://schemas.microsoft.com/office/infopath/2007/PartnerControls"/>
    <xsd:element name="AcquiredFrom" ma:index="1" nillable="true" ma:displayName="Acquired From" ma:default="Internal MS" ma:internalName="AcquiredFrom" ma:readOnly="false">
      <xsd:simpleType>
        <xsd:restriction base="dms:Choice">
          <xsd:enumeration value="Internal MS"/>
          <xsd:enumeration value="Community"/>
          <xsd:enumeration value="MVP"/>
          <xsd:enumeration value="Publisher"/>
          <xsd:enumeration value="Partner"/>
          <xsd:enumeration value="None"/>
        </xsd:restriction>
      </xsd:simpleType>
    </xsd:element>
    <xsd:element name="UACurrentWords" ma:index="2" nillable="true" ma:displayName="Actual Word Count" ma:default="" ma:internalName="UACurrentWords" ma:readOnly="false">
      <xsd:simpleType>
        <xsd:restriction base="dms:Unknown"/>
      </xsd:simpleType>
    </xsd:element>
    <xsd:element name="TPApplication" ma:index="3" nillable="true" ma:displayName="Application to Open Template With" ma:default="" ma:internalName="TPApplication">
      <xsd:simpleType>
        <xsd:restriction base="dms:Text"/>
      </xsd:simpleType>
    </xsd:element>
    <xsd:element name="ApprovalLog" ma:index="4" nillable="true" ma:displayName="Approval Log" ma:default="" ma:hidden="true" ma:internalName="ApprovalLog" ma:readOnly="false">
      <xsd:simpleType>
        <xsd:restriction base="dms:Note"/>
      </xsd:simpleType>
    </xsd:element>
    <xsd:element name="ApprovalStatus" ma:index="5" nillable="true" ma:displayName="Approval Status" ma:default="InProgress" ma:internalName="ApprovalStatus" ma:readOnly="false">
      <xsd:simpleType>
        <xsd:restriction base="dms:Choice">
          <xsd:enumeration value="InProgress"/>
          <xsd:enumeration value="Rejected"/>
          <xsd:enumeration value="Questionable"/>
          <xsd:enumeration value="ApprovedAutomatic"/>
          <xsd:enumeration value="ApprovedManual"/>
          <xsd:enumeration value="On Hold"/>
          <xsd:enumeration value="Needs Review"/>
          <xsd:enumeration value="A Violation"/>
          <xsd:enumeration value="Unpublished Violation"/>
        </xsd:restriction>
      </xsd:simpleType>
    </xsd:element>
    <xsd:element name="AssetStart" ma:index="6" nillable="true" ma:displayName="Asset Begin Date" ma:default="[Today]" ma:internalName="AssetStart" ma:readOnly="false">
      <xsd:simpleType>
        <xsd:restriction base="dms:DateTime"/>
      </xsd:simpleType>
    </xsd:element>
    <xsd:element name="AssetExpire" ma:index="7" nillable="true" ma:displayName="Asset End Date" ma:default="2029-01-01T08:00:00Z" ma:format="DateTime" ma:internalName="AssetExpire" ma:readOnly="false">
      <xsd:simpleType>
        <xsd:restriction base="dms:DateTime"/>
      </xsd:simpleType>
    </xsd:element>
    <xsd:element name="AssetId" ma:index="8" nillable="true" ma:displayName="Asset ID" ma:default="" ma:indexed="true" ma:internalName="AssetId" ma:readOnly="false">
      <xsd:simpleType>
        <xsd:restriction base="dms:Text">
          <xsd:maxLength value="255"/>
        </xsd:restriction>
      </xsd:simpleType>
    </xsd:element>
    <xsd:element name="IsSearchable" ma:index="9" nillable="true" ma:displayName="Asset Searchable?" ma:default="true" ma:internalName="IsSearchable" ma:readOnly="false">
      <xsd:simpleType>
        <xsd:restriction base="dms:Boolean"/>
      </xsd:simpleType>
    </xsd:element>
    <xsd:element name="AssetType" ma:index="10" nillable="true" ma:displayName="Asset Type" ma:default="" ma:internalName="AssetType" ma:readOnly="false">
      <xsd:simpleType>
        <xsd:restriction base="dms:Unknown"/>
      </xsd:simpleType>
    </xsd:element>
    <xsd:element name="APAuthor" ma:index="11" nillable="true" ma:displayName="Author" ma:default="" ma:list="UserInfo" ma:internalName="APAuth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AverageRating" ma:index="12" nillable="true" ma:displayName="Average Rating" ma:internalName="AverageRating" ma:readOnly="false">
      <xsd:simpleType>
        <xsd:restriction base="dms:Text"/>
      </xsd:simpleType>
    </xsd:element>
    <xsd:element name="BlockPublish" ma:index="13" nillable="true" ma:displayName="Block from Publishing?" ma:default="" ma:internalName="BlockPublish" ma:readOnly="false">
      <xsd:simpleType>
        <xsd:restriction base="dms:Boolean"/>
      </xsd:simpleType>
    </xsd:element>
    <xsd:element name="BugNumber" ma:index="14" nillable="true" ma:displayName="Bug Number" ma:default="" ma:internalName="BugNumber" ma:readOnly="false">
      <xsd:simpleType>
        <xsd:restriction base="dms:Text"/>
      </xsd:simpleType>
    </xsd:element>
    <xsd:element name="CampaignTagsTaxHTField0" ma:index="16" nillable="true" ma:taxonomy="true" ma:internalName="CampaignTagsTaxHTField0" ma:taxonomyFieldName="CampaignTags" ma:displayName="Campaigns" ma:readOnly="false" ma:default="" ma:fieldId="{1df42cc3-2301-4f11-a52a-6ead923c29ed}" ma:taxonomyMulti="true" ma:sspId="8f79753a-75d3-41f5-8ca3-40b843941b4f" ma:termSetId="ca0e50d4-faa1-44ce-961e-bb1441c60e66" ma:anchorId="00000000-0000-0000-0000-000000000000" ma:open="false" ma:isKeyword="false">
      <xsd:complexType>
        <xsd:sequence>
          <xsd:element ref="pc:Terms" minOccurs="0" maxOccurs="1"/>
        </xsd:sequence>
      </xsd:complexType>
    </xsd:element>
    <xsd:element name="TPClientViewer" ma:index="17" nillable="true" ma:displayName="Client Viewer" ma:default="" ma:internalName="TPClientViewer">
      <xsd:simpleType>
        <xsd:restriction base="dms:Text"/>
      </xsd:simpleType>
    </xsd:element>
    <xsd:element name="ClipArtFilename" ma:index="18" nillable="true" ma:displayName="Clip Art Name" ma:default="" ma:internalName="ClipArtFilename" ma:readOnly="false">
      <xsd:simpleType>
        <xsd:restriction base="dms:Text"/>
      </xsd:simpleType>
    </xsd:element>
    <xsd:element name="TPCommandLine" ma:index="19" nillable="true" ma:displayName="Command Line" ma:default="" ma:internalName="TPCommandLine">
      <xsd:simpleType>
        <xsd:restriction base="dms:Text"/>
      </xsd:simpleType>
    </xsd:element>
    <xsd:element name="TPComponent" ma:index="20" nillable="true" ma:displayName="Component" ma:default="" ma:internalName="TPComponent">
      <xsd:simpleType>
        <xsd:restriction base="dms:Text"/>
      </xsd:simpleType>
    </xsd:element>
    <xsd:element name="ContentItem" ma:index="21" nillable="true" ma:displayName="Content Item" ma:default="" ma:hidden="true" ma:internalName="ContentItem" ma:readOnly="false">
      <xsd:simpleType>
        <xsd:restriction base="dms:Unknown"/>
      </xsd:simpleType>
    </xsd:element>
    <xsd:element name="CrawlForDependencies" ma:index="23" nillable="true" ma:displayName="Crawl for Dependencies?" ma:default="true" ma:internalName="CrawlForDependencies" ma:readOnly="false">
      <xsd:simpleType>
        <xsd:restriction base="dms:Boolean"/>
      </xsd:simpleType>
    </xsd:element>
    <xsd:element name="CSXHash" ma:index="26" nillable="true" ma:displayName="CSX Hash" ma:default="" ma:indexed="true" ma:internalName="CSXHash" ma:readOnly="false">
      <xsd:simpleType>
        <xsd:restriction base="dms:Text"/>
      </xsd:simpleType>
    </xsd:element>
    <xsd:element name="CSXSubmissionMarket" ma:index="27" nillable="true" ma:displayName="CSX Submission Market" ma:default="" ma:list="{2FBD1B11-2ACE-4FDC-B5A3-635D4ADF6F1B}" ma:internalName="CSXSubmissionMarket" ma:readOnly="false" ma:showField="MarketName" ma:web="4873beb7-5857-4685-be1f-d57550cc96cc">
      <xsd:simpleType>
        <xsd:restriction base="dms:Lookup"/>
      </xsd:simpleType>
    </xsd:element>
    <xsd:element name="CSXUpdate" ma:index="28" nillable="true" ma:displayName="CSX Updated?" ma:default="false" ma:internalName="CSXUpdate" ma:readOnly="false">
      <xsd:simpleType>
        <xsd:restriction base="dms:Boolean"/>
      </xsd:simpleType>
    </xsd:element>
    <xsd:element name="IntlLangReviewDate" ma:index="29" nillable="true" ma:displayName="Date to Complete Intl QA" ma:default="" ma:internalName="IntlLangReviewDate" ma:readOnly="false">
      <xsd:simpleType>
        <xsd:restriction base="dms:DateTime"/>
      </xsd:simpleType>
    </xsd:element>
    <xsd:element name="IsDeleted" ma:index="30" nillable="true" ma:displayName="Deleted?" ma:default="" ma:internalName="IsDeleted" ma:readOnly="false">
      <xsd:simpleType>
        <xsd:restriction base="dms:Boolean"/>
      </xsd:simpleType>
    </xsd:element>
    <xsd:element name="APDescription" ma:index="31" nillable="true" ma:displayName="Description" ma:default="" ma:internalName="APDescription" ma:readOnly="false">
      <xsd:simpleType>
        <xsd:restriction base="dms:Note"/>
      </xsd:simpleType>
    </xsd:element>
    <xsd:element name="DirectSourceMarket" ma:index="32" nillable="true" ma:displayName="Direct Source Market Group" ma:default="" ma:internalName="DirectSourceMarket" ma:readOnly="false">
      <xsd:simpleType>
        <xsd:restriction base="dms:Text"/>
      </xsd:simpleType>
    </xsd:element>
    <xsd:element name="Downloads" ma:index="33" nillable="true" ma:displayName="Downloads" ma:default="0" ma:hidden="true" ma:internalName="Downloads" ma:readOnly="false">
      <xsd:simpleType>
        <xsd:restriction base="dms:Unknown"/>
      </xsd:simpleType>
    </xsd:element>
    <xsd:element name="DSATActionTaken" ma:index="34" nillable="true" ma:displayName="DSAT Action Taken" ma:default="" ma:internalName="DSATActionTaken" ma:readOnly="false">
      <xsd:simpleType>
        <xsd:restriction base="dms:Choice">
          <xsd:enumeration value="Best Bets"/>
          <xsd:enumeration value="Expire"/>
          <xsd:enumeration value="Hide"/>
          <xsd:enumeration value="None"/>
        </xsd:restriction>
      </xsd:simpleType>
    </xsd:element>
    <xsd:element name="APEditor" ma:index="35" nillable="true" ma:displayName="Editor" ma:default="" ma:list="UserInfo" ma:internalName="APEdito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EditorialStatus" ma:index="36" nillable="true" ma:displayName="Editorial Status" ma:default="" ma:internalName="EditorialStatus" ma:readOnly="false">
      <xsd:simpleType>
        <xsd:restriction base="dms:Unknown"/>
      </xsd:simpleType>
    </xsd:element>
    <xsd:element name="EditorialTags" ma:index="37" nillable="true" ma:displayName="Editorial Tags" ma:default="" ma:internalName="EditorialTags">
      <xsd:simpleType>
        <xsd:restriction base="dms:Unknown"/>
      </xsd:simpleType>
    </xsd:element>
    <xsd:element name="TPExecutable" ma:index="38" nillable="true" ma:displayName="Executable" ma:default="" ma:internalName="TPExecutable">
      <xsd:simpleType>
        <xsd:restriction base="dms:Text"/>
      </xsd:simpleType>
    </xsd:element>
    <xsd:element name="FeatureTagsTaxHTField0" ma:index="40" nillable="true" ma:taxonomy="true" ma:internalName="FeatureTagsTaxHTField0" ma:taxonomyFieldName="FeatureTags" ma:displayName="Features" ma:readOnly="false" ma:default="" ma:fieldId="{7fc0d542-15c6-4882-a8e3-13bca44403fb}" ma:taxonomyMulti="true" ma:sspId="8f79753a-75d3-41f5-8ca3-40b843941b4f" ma:termSetId="f1ab6845-967d-4854-a0ba-4ec07f0f8113" ma:anchorId="00000000-0000-0000-0000-000000000000" ma:open="false" ma:isKeyword="false">
      <xsd:complexType>
        <xsd:sequence>
          <xsd:element ref="pc:Terms" minOccurs="0" maxOccurs="1"/>
        </xsd:sequence>
      </xsd:complexType>
    </xsd:element>
    <xsd:element name="TPFriendlyName" ma:index="41" nillable="true" ma:displayName="Friendly Name" ma:default="" ma:internalName="TPFriendlyName">
      <xsd:simpleType>
        <xsd:restriction base="dms:Text"/>
      </xsd:simpleType>
    </xsd:element>
    <xsd:element name="FriendlyTitle" ma:index="42" nillable="true" ma:displayName="Friendly Title" ma:default="" ma:description="Shorter title to be used when displaying search results" ma:internalName="FriendlyTitle" ma:readOnly="false">
      <xsd:simpleType>
        <xsd:restriction base="dms:Text"/>
      </xsd:simpleType>
    </xsd:element>
    <xsd:element name="PrimaryImageGen" ma:index="43" nillable="true" ma:displayName="Generate Images?" ma:default="true" ma:internalName="PrimaryImageGen">
      <xsd:simpleType>
        <xsd:restriction base="dms:Boolean"/>
      </xsd:simpleType>
    </xsd:element>
    <xsd:element name="HandoffToMSDN" ma:index="44" nillable="true" ma:displayName="Handoff To MSDN Date" ma:default="" ma:internalName="HandoffToMSDN" ma:readOnly="false">
      <xsd:simpleType>
        <xsd:restriction base="dms:DateTime"/>
      </xsd:simpleType>
    </xsd:element>
    <xsd:element name="InProjectListLookup" ma:index="45" nillable="true" ma:displayName="InProjectListLookup" ma:list="{9E343742-310B-4684-A24C-1D137CB4B230}" ma:internalName="InProjectListLookup" ma:readOnly="true" ma:showField="InProjectLis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InstallLocation" ma:index="46" nillable="true" ma:displayName="Install Location" ma:default="" ma:internalName="TPInstallLocation">
      <xsd:simpleType>
        <xsd:restriction base="dms:Text"/>
      </xsd:simpleType>
    </xsd:element>
    <xsd:element name="InternalTagsTaxHTField0" ma:index="48" nillable="true" ma:taxonomy="true" ma:internalName="InternalTagsTaxHTField0" ma:taxonomyFieldName="InternalTags" ma:displayName="Internal Tags" ma:readOnly="false" ma:default="" ma:fieldId="{1490b8a4-2706-41ec-b5e3-73176dccf34e}" ma:taxonomyMulti="true" ma:sspId="8f79753a-75d3-41f5-8ca3-40b843941b4f" ma:termSetId="82b6639e-f7fc-4c18-ad2d-003a6e707765" ma:anchorId="00000000-0000-0000-0000-000000000000" ma:open="false" ma:isKeyword="false">
      <xsd:complexType>
        <xsd:sequence>
          <xsd:element ref="pc:Terms" minOccurs="0" maxOccurs="1"/>
        </xsd:sequence>
      </xsd:complexType>
    </xsd:element>
    <xsd:element name="IntlLangReview" ma:index="49" nillable="true" ma:displayName="Intl Lang QA Review Required?" ma:default="" ma:internalName="IntlLangReview" ma:readOnly="false">
      <xsd:simpleType>
        <xsd:restriction base="dms:Boolean"/>
      </xsd:simpleType>
    </xsd:element>
    <xsd:element name="IntlLangReviewer" ma:index="50" nillable="true" ma:displayName="Intl Lang QA Reviewer" ma:default="" ma:internalName="IntlLangReviewer" ma:readOnly="false">
      <xsd:simpleType>
        <xsd:restriction base="dms:Text"/>
      </xsd:simpleType>
    </xsd:element>
    <xsd:element name="MarketSpecific" ma:index="51" nillable="true" ma:displayName="Is Market Specific?" ma:default="" ma:internalName="MarketSpecific" ma:readOnly="false">
      <xsd:simpleType>
        <xsd:restriction base="dms:Boolean"/>
      </xsd:simpleType>
    </xsd:element>
    <xsd:element name="LastCompleteVersionLookup" ma:index="52" nillable="true" ma:displayName="Last Complete Version Lookup" ma:default="" ma:list="{9E343742-310B-4684-A24C-1D137CB4B230}" ma:internalName="LastCompleteVersionLookup" ma:readOnly="true" ma:showField="LastComplete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HandOff" ma:index="53" nillable="true" ma:displayName="Last Hand-off" ma:default="" ma:internalName="LastHandOff" ma:readOnly="false">
      <xsd:simpleType>
        <xsd:restriction base="dms:DateTime"/>
      </xsd:simpleType>
    </xsd:element>
    <xsd:element name="LastModifiedDateTime" ma:index="54" nillable="true" ma:displayName="Last Modified Date" ma:default="" ma:internalName="LastModifiedDateTime" ma:readOnly="false">
      <xsd:simpleType>
        <xsd:restriction base="dms:DateTime"/>
      </xsd:simpleType>
    </xsd:element>
    <xsd:element name="LastPreviewErrorLookup" ma:index="55" nillable="true" ma:displayName="Last Preview Attempt Error" ma:default="" ma:list="{9E343742-310B-4684-A24C-1D137CB4B230}" ma:internalName="LastPreviewErrorLookup" ma:readOnly="true" ma:showField="LastPreview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ResultLookup" ma:index="56" nillable="true" ma:displayName="Last Preview Attempt Result" ma:default="" ma:list="{9E343742-310B-4684-A24C-1D137CB4B230}" ma:internalName="LastPreviewResultLookup" ma:readOnly="true" ma:showField="LastPreview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AttemptDateLookup" ma:index="57" nillable="true" ma:displayName="Last Preview Attempted On" ma:default="" ma:list="{9E343742-310B-4684-A24C-1D137CB4B230}" ma:internalName="LastPreviewAttemptDateLookup" ma:readOnly="true" ma:showField="LastPreview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edByLookup" ma:index="58" nillable="true" ma:displayName="Last Previewed By" ma:default="" ma:list="{9E343742-310B-4684-A24C-1D137CB4B230}" ma:internalName="LastPreviewedByLookup" ma:readOnly="true" ma:showField="LastPreview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TimeLookup" ma:index="59" nillable="true" ma:displayName="Last Previewed Date" ma:default="" ma:list="{9E343742-310B-4684-A24C-1D137CB4B230}" ma:internalName="LastPreviewTimeLookup" ma:readOnly="true" ma:showField="LastPreview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reviewVersionLookup" ma:index="60" nillable="true" ma:displayName="Last Previewed Version" ma:default="" ma:list="{9E343742-310B-4684-A24C-1D137CB4B230}" ma:internalName="LastPreviewVersionLookup" ma:readOnly="true" ma:showField="LastPreview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rrorLookup" ma:index="61" nillable="true" ma:displayName="Last Publish Attempt Error" ma:default="" ma:list="{9E343742-310B-4684-A24C-1D137CB4B230}" ma:internalName="LastPublishErrorLookup" ma:readOnly="true" ma:showField="LastPublishError"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ResultLookup" ma:index="62" nillable="true" ma:displayName="Last Publish Attempt Result" ma:default="" ma:list="{9E343742-310B-4684-A24C-1D137CB4B230}" ma:internalName="LastPublishResultLookup" ma:readOnly="true" ma:showField="LastPublishResult"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AttemptDateLookup" ma:index="63" nillable="true" ma:displayName="Last Publish Attempted On" ma:default="" ma:list="{9E343742-310B-4684-A24C-1D137CB4B230}" ma:internalName="LastPublishAttemptDateLookup" ma:readOnly="true" ma:showField="LastPublishAttemptDat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edByLookup" ma:index="64" nillable="true" ma:displayName="Last Published By" ma:default="" ma:list="{9E343742-310B-4684-A24C-1D137CB4B230}" ma:internalName="LastPublishedByLookup" ma:readOnly="true" ma:showField="LastPublishedBy"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TimeLookup" ma:index="65" nillable="true" ma:displayName="Last Published Date" ma:default="" ma:list="{9E343742-310B-4684-A24C-1D137CB4B230}" ma:internalName="LastPublishTimeLookup" ma:readOnly="true" ma:showField="LastPublishTi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LastPublishVersionLookup" ma:index="66" nillable="true" ma:displayName="Last Published Version" ma:default="" ma:list="{9E343742-310B-4684-A24C-1D137CB4B230}" ma:internalName="LastPublishVersionLookup" ma:readOnly="true" ma:showField="LastPublishVersion"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PLaunchHelpLinkType" ma:index="67" nillable="true" ma:displayName="Launch Help Link Type" ma:default="Template" ma:internalName="TPLaunchHelpLinkType">
      <xsd:simpleType>
        <xsd:restriction base="dms:Choice">
          <xsd:enumeration value="Template"/>
          <xsd:enumeration value="Training"/>
          <xsd:enumeration value="URL"/>
          <xsd:enumeration value="None"/>
        </xsd:restriction>
      </xsd:simpleType>
    </xsd:element>
    <xsd:element name="LegacyData" ma:index="68" nillable="true" ma:displayName="Legacy Data" ma:default="" ma:internalName="LegacyData" ma:readOnly="false">
      <xsd:simpleType>
        <xsd:restriction base="dms:Note"/>
      </xsd:simpleType>
    </xsd:element>
    <xsd:element name="TPLaunchHelpLink" ma:index="69" nillable="true" ma:displayName="Link to Launch Help Topic" ma:default="" ma:internalName="TPLaunchHelpLink">
      <xsd:simpleType>
        <xsd:restriction base="dms:Text"/>
      </xsd:simpleType>
    </xsd:element>
    <xsd:element name="LocComments" ma:index="70" nillable="true" ma:displayName="Loc Approval Comments" ma:default="" ma:internalName="LocComments" ma:readOnly="false">
      <xsd:simpleType>
        <xsd:restriction base="dms:Note"/>
      </xsd:simpleType>
    </xsd:element>
    <xsd:element name="LocLastLocAttemptVersionLookup" ma:index="71" nillable="true" ma:displayName="Loc Last Loc Attempt Version" ma:default="" ma:list="{7DD1DCEC-E449-43D3-891F-7DC62F62AD21}" ma:internalName="LocLastLocAttemptVersionLookup" ma:readOnly="false" ma:showField="LastLocAttemptVersion" ma:web="4873beb7-5857-4685-be1f-d57550cc96cc">
      <xsd:simpleType>
        <xsd:restriction base="dms:Lookup"/>
      </xsd:simpleType>
    </xsd:element>
    <xsd:element name="LocLastLocAttemptVersionTypeLookup" ma:index="72" nillable="true" ma:displayName="Loc Last Loc Attempt Version Type" ma:default="" ma:list="{7DD1DCEC-E449-43D3-891F-7DC62F62AD21}" ma:internalName="LocLastLocAttemptVersionTypeLookup" ma:readOnly="true" ma:showField="LastLocAttemptVersionType" ma:web="4873beb7-5857-4685-be1f-d57550cc96cc">
      <xsd:simpleType>
        <xsd:restriction base="dms:Lookup"/>
      </xsd:simpleType>
    </xsd:element>
    <xsd:element name="LocManualTestRequired" ma:index="73" nillable="true" ma:displayName="Loc Manual Test Required" ma:default="" ma:internalName="LocManualTestRequired" ma:readOnly="false">
      <xsd:simpleType>
        <xsd:restriction base="dms:Boolean"/>
      </xsd:simpleType>
    </xsd:element>
    <xsd:element name="LocMarketGroupTiers2" ma:index="74" nillable="true" ma:displayName="Loc Market Group Tiers" ma:internalName="LocMarketGroupTiers2" ma:readOnly="false">
      <xsd:simpleType>
        <xsd:restriction base="dms:Unknown"/>
      </xsd:simpleType>
    </xsd:element>
    <xsd:element name="LocNewPublishedVersionLookup" ma:index="75" nillable="true" ma:displayName="Loc New Published Version Lookup" ma:default="" ma:list="{7DD1DCEC-E449-43D3-891F-7DC62F62AD21}" ma:internalName="LocNewPublishedVersionLookup" ma:readOnly="true" ma:showField="NewPublishedVersion" ma:web="4873beb7-5857-4685-be1f-d57550cc96cc">
      <xsd:simpleType>
        <xsd:restriction base="dms:Lookup"/>
      </xsd:simpleType>
    </xsd:element>
    <xsd:element name="LocOverallHandbackStatusLookup" ma:index="76" nillable="true" ma:displayName="Loc Overall Handback Status" ma:default="" ma:list="{7DD1DCEC-E449-43D3-891F-7DC62F62AD21}" ma:internalName="LocOverallHandbackStatusLookup" ma:readOnly="true" ma:showField="OverallHandbackStatus" ma:web="4873beb7-5857-4685-be1f-d57550cc96cc">
      <xsd:simpleType>
        <xsd:restriction base="dms:Lookup"/>
      </xsd:simpleType>
    </xsd:element>
    <xsd:element name="LocOverallLocStatusLookup" ma:index="77" nillable="true" ma:displayName="Loc Overall Localize Status" ma:default="" ma:list="{7DD1DCEC-E449-43D3-891F-7DC62F62AD21}" ma:internalName="LocOverallLocStatusLookup" ma:readOnly="true" ma:showField="OverallLocStatus" ma:web="4873beb7-5857-4685-be1f-d57550cc96cc">
      <xsd:simpleType>
        <xsd:restriction base="dms:Lookup"/>
      </xsd:simpleType>
    </xsd:element>
    <xsd:element name="LocOverallPreviewStatusLookup" ma:index="78" nillable="true" ma:displayName="Loc Overall Preview Status" ma:default="" ma:list="{7DD1DCEC-E449-43D3-891F-7DC62F62AD21}" ma:internalName="LocOverallPreviewStatusLookup" ma:readOnly="true" ma:showField="OverallPreviewStatus" ma:web="4873beb7-5857-4685-be1f-d57550cc96cc">
      <xsd:simpleType>
        <xsd:restriction base="dms:Lookup"/>
      </xsd:simpleType>
    </xsd:element>
    <xsd:element name="LocOverallPublishStatusLookup" ma:index="79" nillable="true" ma:displayName="Loc Overall Publish Status" ma:default="" ma:list="{7DD1DCEC-E449-43D3-891F-7DC62F62AD21}" ma:internalName="LocOverallPublishStatusLookup" ma:readOnly="true" ma:showField="OverallPublishStatus" ma:web="4873beb7-5857-4685-be1f-d57550cc96cc">
      <xsd:simpleType>
        <xsd:restriction base="dms:Lookup"/>
      </xsd:simpleType>
    </xsd:element>
    <xsd:element name="IntlLocPriority" ma:index="80" nillable="true" ma:displayName="Loc Priority" ma:default="" ma:internalName="IntlLocPriority" ma:readOnly="false">
      <xsd:simpleType>
        <xsd:restriction base="dms:Unknown"/>
      </xsd:simpleType>
    </xsd:element>
    <xsd:element name="LocProcessedForHandoffsLookup" ma:index="81" nillable="true" ma:displayName="Loc Processed For Handoffs" ma:default="" ma:list="{7DD1DCEC-E449-43D3-891F-7DC62F62AD21}" ma:internalName="LocProcessedForHandoffsLookup" ma:readOnly="true" ma:showField="ProcessedForHandoffs" ma:web="4873beb7-5857-4685-be1f-d57550cc96cc">
      <xsd:simpleType>
        <xsd:restriction base="dms:Lookup"/>
      </xsd:simpleType>
    </xsd:element>
    <xsd:element name="LocProcessedForMarketsLookup" ma:index="82" nillable="true" ma:displayName="Loc Processed For Markets" ma:default="" ma:list="{7DD1DCEC-E449-43D3-891F-7DC62F62AD21}" ma:internalName="LocProcessedForMarketsLookup" ma:readOnly="true" ma:showField="ProcessedForMarkets" ma:web="4873beb7-5857-4685-be1f-d57550cc96cc">
      <xsd:simpleType>
        <xsd:restriction base="dms:Lookup"/>
      </xsd:simpleType>
    </xsd:element>
    <xsd:element name="LocPublishedDependentAssetsLookup" ma:index="83" nillable="true" ma:displayName="Loc Published Dependent Assets" ma:default="" ma:list="{7DD1DCEC-E449-43D3-891F-7DC62F62AD21}" ma:internalName="LocPublishedDependentAssetsLookup" ma:readOnly="true" ma:showField="PublishedDependentAssets" ma:web="4873beb7-5857-4685-be1f-d57550cc96cc">
      <xsd:simpleType>
        <xsd:restriction base="dms:Lookup"/>
      </xsd:simpleType>
    </xsd:element>
    <xsd:element name="LocPublishedLinkedAssetsLookup" ma:index="84" nillable="true" ma:displayName="Loc Published Linked Assets" ma:default="" ma:list="{7DD1DCEC-E449-43D3-891F-7DC62F62AD21}" ma:internalName="LocPublishedLinkedAssetsLookup" ma:readOnly="true" ma:showField="PublishedLinkedAssets" ma:web="4873beb7-5857-4685-be1f-d57550cc96cc">
      <xsd:simpleType>
        <xsd:restriction base="dms:Lookup"/>
      </xsd:simpleType>
    </xsd:element>
    <xsd:element name="LocRecommendedHandoff" ma:index="85" nillable="true" ma:displayName="Loc Recommended Handoff" ma:default="" ma:indexed="true" ma:internalName="LocRecommendedHandoff" ma:readOnly="false">
      <xsd:simpleType>
        <xsd:restriction base="dms:Text"/>
      </xsd:simpleType>
    </xsd:element>
    <xsd:element name="LocalizationTagsTaxHTField0" ma:index="87" nillable="true" ma:taxonomy="true" ma:internalName="LocalizationTagsTaxHTField0" ma:taxonomyFieldName="LocalizationTags" ma:displayName="Localization Tags" ma:readOnly="false" ma:default="" ma:fieldId="{00f02cb3-2c7c-424a-9c61-10e9b6878429}" ma:taxonomyMulti="true" ma:sspId="8f79753a-75d3-41f5-8ca3-40b843941b4f" ma:termSetId="5b7703a5-8e8b-4b58-8b31-1cea35331da3" ma:anchorId="00000000-0000-0000-0000-000000000000" ma:open="false" ma:isKeyword="false">
      <xsd:complexType>
        <xsd:sequence>
          <xsd:element ref="pc:Terms" minOccurs="0" maxOccurs="1"/>
        </xsd:sequence>
      </xsd:complexType>
    </xsd:element>
    <xsd:element name="MachineTranslated" ma:index="88" nillable="true" ma:displayName="Machine Translated" ma:default="" ma:internalName="MachineTranslated" ma:readOnly="false">
      <xsd:simpleType>
        <xsd:restriction base="dms:Boolean"/>
      </xsd:simpleType>
    </xsd:element>
    <xsd:element name="Manager" ma:index="89" nillable="true" ma:displayName="Manager" ma:hidden="true" ma:internalName="Manager" ma:readOnly="false">
      <xsd:simpleType>
        <xsd:restriction base="dms:Text"/>
      </xsd:simpleType>
    </xsd:element>
    <xsd:element name="Markets" ma:index="90" nillable="true" ma:displayName="Markets" ma:default="" ma:description="Leave blank to show in all markets" ma:list="{2FBD1B11-2ACE-4FDC-B5A3-635D4ADF6F1B}" ma:internalName="Markets" ma:readOnly="false" ma:showField="MarketName"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Milestone" ma:index="91" nillable="true" ma:displayName="Milestone" ma:default="" ma:internalName="Milestone" ma:readOnly="false">
      <xsd:simpleType>
        <xsd:restriction base="dms:Unknown"/>
      </xsd:simpleType>
    </xsd:element>
    <xsd:element name="TPNamespace" ma:index="94" nillable="true" ma:displayName="Namespace" ma:default="" ma:internalName="TPNamespace">
      <xsd:simpleType>
        <xsd:restriction base="dms:Text"/>
      </xsd:simpleType>
    </xsd:element>
    <xsd:element name="NumericId" ma:index="95" nillable="true" ma:displayName="Numeric ID" ma:default="" ma:indexed="true" ma:internalName="NumericId" ma:readOnly="false">
      <xsd:simpleType>
        <xsd:restriction base="dms:Number"/>
      </xsd:simpleType>
    </xsd:element>
    <xsd:element name="NumOfRatingsLookup" ma:index="96" nillable="true" ma:displayName="NumOfRatings" ma:default="" ma:list="{9E343742-310B-4684-A24C-1D137CB4B230}" ma:internalName="NumOfRatingsLookup" ma:readOnly="true" ma:showField="NumOfRating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OOCacheId" ma:index="97" nillable="true" ma:displayName="OOCacheId" ma:internalName="OOCacheId" ma:readOnly="false">
      <xsd:simpleType>
        <xsd:restriction base="dms:Text"/>
      </xsd:simpleType>
    </xsd:element>
    <xsd:element name="OpenTemplate" ma:index="98" nillable="true" ma:displayName="Open Template" ma:default="true" ma:internalName="OpenTemplate">
      <xsd:simpleType>
        <xsd:restriction base="dms:Boolean"/>
      </xsd:simpleType>
    </xsd:element>
    <xsd:element name="OriginAsset" ma:index="99" nillable="true" ma:displayName="Origin Asset" ma:default="" ma:internalName="OriginAsset" ma:readOnly="false">
      <xsd:simpleType>
        <xsd:restriction base="dms:Text"/>
      </xsd:simpleType>
    </xsd:element>
    <xsd:element name="OriginalRelease" ma:index="100" nillable="true" ma:displayName="Original Release" ma:default="15" ma:internalName="OriginalRelease" ma:readOnly="false">
      <xsd:simpleType>
        <xsd:restriction base="dms:Choice">
          <xsd:enumeration value="14"/>
          <xsd:enumeration value="15"/>
          <xsd:enumeration value="16"/>
        </xsd:restriction>
      </xsd:simpleType>
    </xsd:element>
    <xsd:element name="OriginalSourceMarket" ma:index="101" nillable="true" ma:displayName="Original Source Market Group" ma:default="" ma:internalName="OriginalSourceMarket" ma:readOnly="false">
      <xsd:simpleType>
        <xsd:restriction base="dms:Text"/>
      </xsd:simpleType>
    </xsd:element>
    <xsd:element name="OutputCachingOn" ma:index="102" nillable="true" ma:displayName="Output Caching" ma:default="true" ma:hidden="true" ma:internalName="OutputCachingOn" ma:readOnly="false">
      <xsd:simpleType>
        <xsd:restriction base="dms:Boolean"/>
      </xsd:simpleType>
    </xsd:element>
    <xsd:element name="ParentAssetId" ma:index="103" nillable="true" ma:displayName="Parent Asset Id" ma:default="" ma:internalName="ParentAssetId" ma:readOnly="false">
      <xsd:simpleType>
        <xsd:restriction base="dms:Text"/>
      </xsd:simpleType>
    </xsd:element>
    <xsd:element name="PlannedPubDate" ma:index="104" nillable="true" ma:displayName="Planned Publish Date" ma:default="" ma:indexed="true" ma:internalName="PlannedPubDate" ma:readOnly="false">
      <xsd:simpleType>
        <xsd:restriction base="dms:DateTime"/>
      </xsd:simpleType>
    </xsd:element>
    <xsd:element name="PolicheckWords" ma:index="105" nillable="true" ma:displayName="Policheck Words" ma:default="" ma:internalName="PolicheckWords" ma:readOnly="false">
      <xsd:simpleType>
        <xsd:restriction base="dms:Text"/>
      </xsd:simpleType>
    </xsd:element>
    <xsd:element name="BusinessGroup" ma:index="106" nillable="true" ma:displayName="Product Division Owner" ma:default="" ma:internalName="BusinessGroup" ma:readOnly="false">
      <xsd:simpleType>
        <xsd:restriction base="dms:Unknown"/>
      </xsd:simpleType>
    </xsd:element>
    <xsd:element name="UAProjectedTotalWords" ma:index="107" nillable="true" ma:displayName="Projected Word Count" ma:default="" ma:internalName="UAProjectedTotalWords" ma:readOnly="false">
      <xsd:simpleType>
        <xsd:restriction base="dms:Unknown"/>
      </xsd:simpleType>
    </xsd:element>
    <xsd:element name="Provider" ma:index="108" nillable="true" ma:displayName="Provider" ma:default="" ma:internalName="Provider" ma:readOnly="false">
      <xsd:simpleType>
        <xsd:restriction base="dms:Unknown"/>
      </xsd:simpleType>
    </xsd:element>
    <xsd:element name="Providers" ma:index="109" nillable="true" ma:displayName="Providers" ma:default="" ma:internalName="Providers">
      <xsd:simpleType>
        <xsd:restriction base="dms:Unknown"/>
      </xsd:simpleType>
    </xsd:element>
    <xsd:element name="PublishStatusLookup" ma:index="110" nillable="true" ma:displayName="Publish Status" ma:default="" ma:list="{9E343742-310B-4684-A24C-1D137CB4B230}" ma:internalName="PublishStatusLookup" ma:readOnly="false" ma:showField="PublishStatus"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PublishTargets" ma:index="111" nillable="true" ma:displayName="Publish Target" ma:default="OfficeOnlineVNext" ma:internalName="PublishTargets" ma:readOnly="false">
      <xsd:simpleType>
        <xsd:restriction base="dms:Unknown"/>
      </xsd:simpleType>
    </xsd:element>
    <xsd:element name="RecommendationsModifier" ma:index="112" nillable="true" ma:displayName="Recommendations Modifier" ma:default="" ma:internalName="RecommendationsModifier" ma:readOnly="false">
      <xsd:simpleType>
        <xsd:restriction base="dms:Number"/>
      </xsd:simpleType>
    </xsd:element>
    <xsd:element name="ArtSampleDocs" ma:index="113" nillable="true" ma:displayName="Sample Docs" ma:default="" ma:hidden="true" ma:internalName="ArtSampleDocs" ma:readOnly="false">
      <xsd:simpleType>
        <xsd:restriction base="dms:Text"/>
      </xsd:simpleType>
    </xsd:element>
    <xsd:element name="ScenarioTagsTaxHTField0" ma:index="115" nillable="true" ma:taxonomy="true" ma:internalName="ScenarioTagsTaxHTField0" ma:taxonomyFieldName="ScenarioTags" ma:displayName="Scenarios" ma:readOnly="false" ma:default="" ma:fieldId="{93aef74d-6c78-4815-8310-51477dceeccc}" ma:taxonomyMulti="true" ma:sspId="8f79753a-75d3-41f5-8ca3-40b843941b4f" ma:termSetId="4b7d5f16-e2f2-4fc0-bab3-6e8b931e57d6" ma:anchorId="00000000-0000-0000-0000-000000000000" ma:open="false" ma:isKeyword="false">
      <xsd:complexType>
        <xsd:sequence>
          <xsd:element ref="pc:Terms" minOccurs="0" maxOccurs="1"/>
        </xsd:sequence>
      </xsd:complexType>
    </xsd:element>
    <xsd:element name="ShowIn" ma:index="117" nillable="true" ma:displayName="Show In" ma:default="Show everywhere" ma:internalName="ShowIn" ma:readOnly="false">
      <xsd:simpleType>
        <xsd:restriction base="dms:Choice">
          <xsd:enumeration value="Hide on web"/>
          <xsd:enumeration value="On Web no search"/>
          <xsd:enumeration value="Show everywhere"/>
          <xsd:enumeration value="Special use only"/>
        </xsd:restriction>
      </xsd:simpleType>
    </xsd:element>
    <xsd:element name="SourceTitle" ma:index="118" nillable="true" ma:displayName="Source Title" ma:default="" ma:indexed="true" ma:internalName="SourceTitle" ma:readOnly="false">
      <xsd:simpleType>
        <xsd:restriction base="dms:Text"/>
      </xsd:simpleType>
    </xsd:element>
    <xsd:element name="CSXSubmissionDate" ma:index="119" nillable="true" ma:displayName="Submission Date" ma:default="" ma:internalName="CSXSubmissionDate" ma:readOnly="false">
      <xsd:simpleType>
        <xsd:restriction base="dms:DateTime"/>
      </xsd:simpleType>
    </xsd:element>
    <xsd:element name="SubmitterId" ma:index="120" nillable="true" ma:displayName="Submitter ID" ma:default="" ma:internalName="SubmitterId" ma:readOnly="false">
      <xsd:simpleType>
        <xsd:restriction base="dms:Text"/>
      </xsd:simpleType>
    </xsd:element>
    <xsd:element name="TaxCatchAll" ma:index="121" nillable="true" ma:displayName="Taxonomy Catch All Column" ma:hidden="true" ma:list="{530f955b-6704-4601-bd83-f81d87f1e440}" ma:internalName="TaxCatchAll" ma:showField="CatchAllData"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axCatchAllLabel" ma:index="122" nillable="true" ma:displayName="Taxonomy Catch All Column1" ma:hidden="true" ma:list="{530f955b-6704-4601-bd83-f81d87f1e440}" ma:internalName="TaxCatchAllLabel" ma:readOnly="true" ma:showField="CatchAllDataLabel" ma:web="4873beb7-5857-4685-be1f-d57550cc96cc">
      <xsd:complexType>
        <xsd:complexContent>
          <xsd:extension base="dms:MultiChoiceLookup">
            <xsd:sequence>
              <xsd:element name="Value" type="dms:Lookup" maxOccurs="unbounded" minOccurs="0" nillable="true"/>
            </xsd:sequence>
          </xsd:extension>
        </xsd:complexContent>
      </xsd:complexType>
    </xsd:element>
    <xsd:element name="TemplateStatus" ma:index="123" nillable="true" ma:displayName="Template Status" ma:default="" ma:internalName="TemplateStatus">
      <xsd:simpleType>
        <xsd:restriction base="dms:Unknown"/>
      </xsd:simpleType>
    </xsd:element>
    <xsd:element name="TemplateTemplateType" ma:index="124" nillable="true" ma:displayName="Template Type" ma:default="" ma:internalName="TemplateTemplateType">
      <xsd:simpleType>
        <xsd:restriction base="dms:Unknown"/>
      </xsd:simpleType>
    </xsd:element>
    <xsd:element name="ThumbnailAssetId" ma:index="125" nillable="true" ma:displayName="Thumbnail Image Asset" ma:default="" ma:internalName="ThumbnailAssetId" ma:readOnly="false">
      <xsd:simpleType>
        <xsd:restriction base="dms:Text"/>
      </xsd:simpleType>
    </xsd:element>
    <xsd:element name="TimesCloned" ma:index="126" nillable="true" ma:displayName="Times Cloned" ma:default="" ma:internalName="TimesCloned" ma:readOnly="false">
      <xsd:simpleType>
        <xsd:restriction base="dms:Number"/>
      </xsd:simpleType>
    </xsd:element>
    <xsd:element name="TrustLevel" ma:index="128" nillable="true" ma:displayName="Trust Level" ma:default="1 Microsoft Managed Content" ma:internalName="TrustLevel" ma:readOnly="false">
      <xsd:simpleType>
        <xsd:restriction base="dms:Unknown"/>
      </xsd:simpleType>
    </xsd:element>
    <xsd:element name="UALocComments" ma:index="129" nillable="true" ma:displayName="UA Loc Comments" ma:default="" ma:internalName="UALocComments" ma:readOnly="false">
      <xsd:simpleType>
        <xsd:restriction base="dms:Note"/>
      </xsd:simpleType>
    </xsd:element>
    <xsd:element name="UALocRecommendation" ma:index="130" nillable="true" ma:displayName="UA Loc Recommendation" ma:default="Localize" ma:internalName="UALocRecommendation" ma:readOnly="false">
      <xsd:simpleType>
        <xsd:restriction base="dms:Choice">
          <xsd:enumeration value="Localize"/>
          <xsd:enumeration value="Never Localize"/>
          <xsd:enumeration value="Priority Localize"/>
        </xsd:restriction>
      </xsd:simpleType>
    </xsd:element>
    <xsd:element name="UANotes" ma:index="131" nillable="true" ma:displayName="UA Notes" ma:default="" ma:internalName="UANotes" ma:readOnly="false">
      <xsd:simpleType>
        <xsd:restriction base="dms:Note"/>
      </xsd:simpleType>
    </xsd:element>
    <xsd:element name="TPAppVersion" ma:index="132" nillable="true" ma:displayName="Version" ma:default="" ma:internalName="TPAppVersion">
      <xsd:simpleType>
        <xsd:restriction base="dms:Text"/>
      </xsd:simpleType>
    </xsd:element>
    <xsd:element name="VoteCount" ma:index="133" nillable="true" ma:displayName="Vote Count" ma:default="" ma:internalName="VoteCount" ma:readOnly="fals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22" ma:displayName="Content Type"/>
        <xsd:element ref="dc:title" minOccurs="0" maxOccurs="1" ma:index="12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APDescription xmlns="4873beb7-5857-4685-be1f-d57550cc96cc" xsi:nil="true"/>
    <AssetExpire xmlns="4873beb7-5857-4685-be1f-d57550cc96cc">2029-01-01T08:00:00+00:00</AssetExpire>
    <CampaignTagsTaxHTField0 xmlns="4873beb7-5857-4685-be1f-d57550cc96cc">
      <Terms xmlns="http://schemas.microsoft.com/office/infopath/2007/PartnerControls"/>
    </CampaignTagsTaxHTField0>
    <IntlLangReviewDate xmlns="4873beb7-5857-4685-be1f-d57550cc96cc" xsi:nil="true"/>
    <TPFriendlyName xmlns="4873beb7-5857-4685-be1f-d57550cc96cc" xsi:nil="true"/>
    <IntlLangReview xmlns="4873beb7-5857-4685-be1f-d57550cc96cc">false</IntlLangReview>
    <LocLastLocAttemptVersionLookup xmlns="4873beb7-5857-4685-be1f-d57550cc96cc">855024</LocLastLocAttemptVersionLookup>
    <PolicheckWords xmlns="4873beb7-5857-4685-be1f-d57550cc96cc" xsi:nil="true"/>
    <SubmitterId xmlns="4873beb7-5857-4685-be1f-d57550cc96cc" xsi:nil="true"/>
    <AcquiredFrom xmlns="4873beb7-5857-4685-be1f-d57550cc96cc">Internal MS</AcquiredFrom>
    <EditorialStatus xmlns="4873beb7-5857-4685-be1f-d57550cc96cc">Complete</EditorialStatus>
    <Markets xmlns="4873beb7-5857-4685-be1f-d57550cc96cc"/>
    <OriginAsset xmlns="4873beb7-5857-4685-be1f-d57550cc96cc" xsi:nil="true"/>
    <AssetStart xmlns="4873beb7-5857-4685-be1f-d57550cc96cc">2012-08-31T08:50:00+00:00</AssetStart>
    <FriendlyTitle xmlns="4873beb7-5857-4685-be1f-d57550cc96cc" xsi:nil="true"/>
    <MarketSpecific xmlns="4873beb7-5857-4685-be1f-d57550cc96cc">false</MarketSpecific>
    <TPNamespace xmlns="4873beb7-5857-4685-be1f-d57550cc96cc" xsi:nil="true"/>
    <PublishStatusLookup xmlns="4873beb7-5857-4685-be1f-d57550cc96cc">
      <Value>1616423</Value>
    </PublishStatusLookup>
    <APAuthor xmlns="4873beb7-5857-4685-be1f-d57550cc96cc">
      <UserInfo>
        <DisplayName>REDMOND\kristaa</DisplayName>
        <AccountId>136</AccountId>
        <AccountType/>
      </UserInfo>
    </APAuthor>
    <TPCommandLine xmlns="4873beb7-5857-4685-be1f-d57550cc96cc" xsi:nil="true"/>
    <IntlLangReviewer xmlns="4873beb7-5857-4685-be1f-d57550cc96cc" xsi:nil="true"/>
    <OpenTemplate xmlns="4873beb7-5857-4685-be1f-d57550cc96cc">true</OpenTemplate>
    <CSXSubmissionDate xmlns="4873beb7-5857-4685-be1f-d57550cc96cc" xsi:nil="true"/>
    <TaxCatchAll xmlns="4873beb7-5857-4685-be1f-d57550cc96cc"/>
    <Manager xmlns="4873beb7-5857-4685-be1f-d57550cc96cc" xsi:nil="true"/>
    <NumericId xmlns="4873beb7-5857-4685-be1f-d57550cc96cc" xsi:nil="true"/>
    <ParentAssetId xmlns="4873beb7-5857-4685-be1f-d57550cc96cc" xsi:nil="true"/>
    <OriginalSourceMarket xmlns="4873beb7-5857-4685-be1f-d57550cc96cc" xsi:nil="true"/>
    <ApprovalStatus xmlns="4873beb7-5857-4685-be1f-d57550cc96cc">InProgress</ApprovalStatus>
    <TPComponent xmlns="4873beb7-5857-4685-be1f-d57550cc96cc" xsi:nil="true"/>
    <EditorialTags xmlns="4873beb7-5857-4685-be1f-d57550cc96cc" xsi:nil="true"/>
    <TPExecutable xmlns="4873beb7-5857-4685-be1f-d57550cc96cc" xsi:nil="true"/>
    <TPLaunchHelpLink xmlns="4873beb7-5857-4685-be1f-d57550cc96cc" xsi:nil="true"/>
    <LocComments xmlns="4873beb7-5857-4685-be1f-d57550cc96cc" xsi:nil="true"/>
    <LocRecommendedHandoff xmlns="4873beb7-5857-4685-be1f-d57550cc96cc" xsi:nil="true"/>
    <SourceTitle xmlns="4873beb7-5857-4685-be1f-d57550cc96cc" xsi:nil="true"/>
    <CSXUpdate xmlns="4873beb7-5857-4685-be1f-d57550cc96cc">false</CSXUpdate>
    <IntlLocPriority xmlns="4873beb7-5857-4685-be1f-d57550cc96cc" xsi:nil="true"/>
    <UAProjectedTotalWords xmlns="4873beb7-5857-4685-be1f-d57550cc96cc" xsi:nil="true"/>
    <AssetType xmlns="4873beb7-5857-4685-be1f-d57550cc96cc">TP</AssetType>
    <MachineTranslated xmlns="4873beb7-5857-4685-be1f-d57550cc96cc">false</MachineTranslated>
    <OutputCachingOn xmlns="4873beb7-5857-4685-be1f-d57550cc96cc">false</OutputCachingOn>
    <TemplateStatus xmlns="4873beb7-5857-4685-be1f-d57550cc96cc">Complete</TemplateStatus>
    <IsSearchable xmlns="4873beb7-5857-4685-be1f-d57550cc96cc">true</IsSearchable>
    <ContentItem xmlns="4873beb7-5857-4685-be1f-d57550cc96cc" xsi:nil="true"/>
    <HandoffToMSDN xmlns="4873beb7-5857-4685-be1f-d57550cc96cc" xsi:nil="true"/>
    <ShowIn xmlns="4873beb7-5857-4685-be1f-d57550cc96cc">Show everywhere</ShowIn>
    <ThumbnailAssetId xmlns="4873beb7-5857-4685-be1f-d57550cc96cc" xsi:nil="true"/>
    <UALocComments xmlns="4873beb7-5857-4685-be1f-d57550cc96cc" xsi:nil="true"/>
    <UALocRecommendation xmlns="4873beb7-5857-4685-be1f-d57550cc96cc">Localize</UALocRecommendation>
    <LastModifiedDateTime xmlns="4873beb7-5857-4685-be1f-d57550cc96cc" xsi:nil="true"/>
    <LegacyData xmlns="4873beb7-5857-4685-be1f-d57550cc96cc" xsi:nil="true"/>
    <LocManualTestRequired xmlns="4873beb7-5857-4685-be1f-d57550cc96cc">false</LocManualTestRequired>
    <LocMarketGroupTiers2 xmlns="4873beb7-5857-4685-be1f-d57550cc96cc" xsi:nil="true"/>
    <ClipArtFilename xmlns="4873beb7-5857-4685-be1f-d57550cc96cc" xsi:nil="true"/>
    <TPApplication xmlns="4873beb7-5857-4685-be1f-d57550cc96cc" xsi:nil="true"/>
    <CSXHash xmlns="4873beb7-5857-4685-be1f-d57550cc96cc" xsi:nil="true"/>
    <DirectSourceMarket xmlns="4873beb7-5857-4685-be1f-d57550cc96cc" xsi:nil="true"/>
    <PrimaryImageGen xmlns="4873beb7-5857-4685-be1f-d57550cc96cc">true</PrimaryImageGen>
    <PlannedPubDate xmlns="4873beb7-5857-4685-be1f-d57550cc96cc" xsi:nil="true"/>
    <CSXSubmissionMarket xmlns="4873beb7-5857-4685-be1f-d57550cc96cc" xsi:nil="true"/>
    <Downloads xmlns="4873beb7-5857-4685-be1f-d57550cc96cc">0</Downloads>
    <ArtSampleDocs xmlns="4873beb7-5857-4685-be1f-d57550cc96cc" xsi:nil="true"/>
    <TrustLevel xmlns="4873beb7-5857-4685-be1f-d57550cc96cc">1 Microsoft Managed Content</TrustLevel>
    <BlockPublish xmlns="4873beb7-5857-4685-be1f-d57550cc96cc">false</BlockPublish>
    <TPLaunchHelpLinkType xmlns="4873beb7-5857-4685-be1f-d57550cc96cc">Template</TPLaunchHelpLinkType>
    <LocalizationTagsTaxHTField0 xmlns="4873beb7-5857-4685-be1f-d57550cc96cc">
      <Terms xmlns="http://schemas.microsoft.com/office/infopath/2007/PartnerControls"/>
    </LocalizationTagsTaxHTField0>
    <BusinessGroup xmlns="4873beb7-5857-4685-be1f-d57550cc96cc" xsi:nil="true"/>
    <Providers xmlns="4873beb7-5857-4685-be1f-d57550cc96cc" xsi:nil="true"/>
    <TemplateTemplateType xmlns="4873beb7-5857-4685-be1f-d57550cc96cc">PowerPoint Presentation Template</TemplateTemplateType>
    <TimesCloned xmlns="4873beb7-5857-4685-be1f-d57550cc96cc" xsi:nil="true"/>
    <TPAppVersion xmlns="4873beb7-5857-4685-be1f-d57550cc96cc" xsi:nil="true"/>
    <VoteCount xmlns="4873beb7-5857-4685-be1f-d57550cc96cc" xsi:nil="true"/>
    <AverageRating xmlns="4873beb7-5857-4685-be1f-d57550cc96cc" xsi:nil="true"/>
    <FeatureTagsTaxHTField0 xmlns="4873beb7-5857-4685-be1f-d57550cc96cc">
      <Terms xmlns="http://schemas.microsoft.com/office/infopath/2007/PartnerControls"/>
    </FeatureTagsTaxHTField0>
    <Provider xmlns="4873beb7-5857-4685-be1f-d57550cc96cc" xsi:nil="true"/>
    <UACurrentWords xmlns="4873beb7-5857-4685-be1f-d57550cc96cc" xsi:nil="true"/>
    <AssetId xmlns="4873beb7-5857-4685-be1f-d57550cc96cc">TP103431361</AssetId>
    <TPClientViewer xmlns="4873beb7-5857-4685-be1f-d57550cc96cc" xsi:nil="true"/>
    <DSATActionTaken xmlns="4873beb7-5857-4685-be1f-d57550cc96cc" xsi:nil="true"/>
    <APEditor xmlns="4873beb7-5857-4685-be1f-d57550cc96cc">
      <UserInfo>
        <DisplayName/>
        <AccountId xsi:nil="true"/>
        <AccountType/>
      </UserInfo>
    </APEditor>
    <TPInstallLocation xmlns="4873beb7-5857-4685-be1f-d57550cc96cc" xsi:nil="true"/>
    <OOCacheId xmlns="4873beb7-5857-4685-be1f-d57550cc96cc" xsi:nil="true"/>
    <IsDeleted xmlns="4873beb7-5857-4685-be1f-d57550cc96cc">false</IsDeleted>
    <PublishTargets xmlns="4873beb7-5857-4685-be1f-d57550cc96cc">OfficeOnlineVNext</PublishTargets>
    <ApprovalLog xmlns="4873beb7-5857-4685-be1f-d57550cc96cc" xsi:nil="true"/>
    <BugNumber xmlns="4873beb7-5857-4685-be1f-d57550cc96cc" xsi:nil="true"/>
    <CrawlForDependencies xmlns="4873beb7-5857-4685-be1f-d57550cc96cc">false</CrawlForDependencies>
    <InternalTagsTaxHTField0 xmlns="4873beb7-5857-4685-be1f-d57550cc96cc">
      <Terms xmlns="http://schemas.microsoft.com/office/infopath/2007/PartnerControls"/>
    </InternalTagsTaxHTField0>
    <LastHandOff xmlns="4873beb7-5857-4685-be1f-d57550cc96cc" xsi:nil="true"/>
    <Milestone xmlns="4873beb7-5857-4685-be1f-d57550cc96cc" xsi:nil="true"/>
    <OriginalRelease xmlns="4873beb7-5857-4685-be1f-d57550cc96cc">15</OriginalRelease>
    <RecommendationsModifier xmlns="4873beb7-5857-4685-be1f-d57550cc96cc" xsi:nil="true"/>
    <ScenarioTagsTaxHTField0 xmlns="4873beb7-5857-4685-be1f-d57550cc96cc">
      <Terms xmlns="http://schemas.microsoft.com/office/infopath/2007/PartnerControls"/>
    </ScenarioTagsTaxHTField0>
    <UANotes xmlns="4873beb7-5857-4685-be1f-d57550cc96cc" xsi:nil="true"/>
  </documentManagement>
</p:properties>
</file>

<file path=customXml/item3.xml><?xml version="1.0" encoding="utf-8"?>
<?mso-contentType ?>
<FormTemplates xmlns="http://schemas.microsoft.com/sharepoint/v3/contenttype/forms">
  <Display>DocumentLibraryForm</Display>
  <Edit>AssetEditForm</Edit>
  <New>DocumentLibraryForm</New>
</FormTemplates>
</file>

<file path=customXml/itemProps1.xml><?xml version="1.0" encoding="utf-8"?>
<ds:datastoreItem xmlns:ds="http://schemas.openxmlformats.org/officeDocument/2006/customXml" ds:itemID="{28C8B9CA-0273-4370-889A-FC05DA5C2FA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873beb7-5857-4685-be1f-d57550cc96c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CDDBB83-77C1-4099-A0AA-289882E745E2}">
  <ds:schemaRefs>
    <ds:schemaRef ds:uri="http://purl.org/dc/terms/"/>
    <ds:schemaRef ds:uri="http://purl.org/dc/dcmitype/"/>
    <ds:schemaRef ds:uri="http://www.w3.org/XML/1998/namespace"/>
    <ds:schemaRef ds:uri="http://purl.org/dc/elements/1.1/"/>
    <ds:schemaRef ds:uri="http://schemas.microsoft.com/office/infopath/2007/PartnerControls"/>
    <ds:schemaRef ds:uri="http://schemas.microsoft.com/office/2006/documentManagement/types"/>
    <ds:schemaRef ds:uri="http://schemas.openxmlformats.org/package/2006/metadata/core-properties"/>
    <ds:schemaRef ds:uri="4873beb7-5857-4685-be1f-d57550cc96cc"/>
    <ds:schemaRef ds:uri="http://schemas.microsoft.com/office/2006/metadata/properties"/>
  </ds:schemaRefs>
</ds:datastoreItem>
</file>

<file path=customXml/itemProps3.xml><?xml version="1.0" encoding="utf-8"?>
<ds:datastoreItem xmlns:ds="http://schemas.openxmlformats.org/officeDocument/2006/customXml" ds:itemID="{561E720F-F05D-4536-9C34-0CFCED65D3B7}">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3612</Words>
  <Application>Microsoft Office PowerPoint</Application>
  <PresentationFormat>全屏显示(4:3)</PresentationFormat>
  <Paragraphs>584</Paragraphs>
  <Slides>82</Slides>
  <Notes>1</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3</vt:i4>
      </vt:variant>
      <vt:variant>
        <vt:lpstr>幻灯片标题</vt:lpstr>
      </vt:variant>
      <vt:variant>
        <vt:i4>82</vt:i4>
      </vt:variant>
    </vt:vector>
  </HeadingPairs>
  <TitlesOfParts>
    <vt:vector size="92" baseType="lpstr">
      <vt:lpstr>Euphemia</vt:lpstr>
      <vt:lpstr>宋体</vt:lpstr>
      <vt:lpstr>微软雅黑</vt:lpstr>
      <vt:lpstr>Arial</vt:lpstr>
      <vt:lpstr>Times New Roman</vt:lpstr>
      <vt:lpstr>Wingdings</vt:lpstr>
      <vt:lpstr>学术文献 16x9</vt:lpstr>
      <vt:lpstr>文档</vt:lpstr>
      <vt:lpstr>Document</vt:lpstr>
      <vt:lpstr>Microsoft Word 97 - 2003 文档</vt:lpstr>
      <vt:lpstr>Compilers</vt:lpstr>
      <vt:lpstr>RUN-TIME Environments</vt:lpstr>
      <vt:lpstr>Outlines</vt:lpstr>
      <vt:lpstr>8.1 Symbol Table</vt:lpstr>
      <vt:lpstr>8.1 Symbol Table-Structure</vt:lpstr>
      <vt:lpstr>8.1 Symbol Table Per Scope</vt:lpstr>
      <vt:lpstr>8.1 Symbol Table Per Scope</vt:lpstr>
      <vt:lpstr>8.1 Symbol Table Per Scope-Implementation</vt:lpstr>
      <vt:lpstr>8.2 Storage Organization</vt:lpstr>
      <vt:lpstr>8.2 Storage Organization</vt:lpstr>
      <vt:lpstr>8.2 Storage Organization</vt:lpstr>
      <vt:lpstr>8.2 Storage Organization</vt:lpstr>
      <vt:lpstr>8.2 Storage Organization</vt:lpstr>
      <vt:lpstr>8.2 Storage Organization</vt:lpstr>
      <vt:lpstr>8.3 Stack Allocation of Space-Activation Trees</vt:lpstr>
      <vt:lpstr>8.3 Stack Allocation of Space-Activation Record</vt:lpstr>
      <vt:lpstr>8.3 Stack Allocation of Space-Activation Record</vt:lpstr>
      <vt:lpstr>8.3 Stack Allocation of Space-Activation Record</vt:lpstr>
      <vt:lpstr>8.3 Stack Allocation of Space-Calling Sequence</vt:lpstr>
      <vt:lpstr>8.3 Stack Allocation of Space-Calling Sequence</vt:lpstr>
      <vt:lpstr>8.3 Stack Allocation of Space-Calling Sequence</vt:lpstr>
      <vt:lpstr>8.3 Stack Allocation of Space-Calling Sequence</vt:lpstr>
      <vt:lpstr>8.4 Fully Static Runtime Environments</vt:lpstr>
      <vt:lpstr>8.4 Fully Static Runtime Environments</vt:lpstr>
      <vt:lpstr>8.4 Fully Static Runtime Environments</vt:lpstr>
      <vt:lpstr>8.4 Fully Static Runtime Environments</vt:lpstr>
      <vt:lpstr>8.5 Stack-Based Runtime Environments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Environments-Without Local Procedures</vt:lpstr>
      <vt:lpstr>8.5 Stack-Based Runtime Environments-With Local Procedures</vt:lpstr>
      <vt:lpstr>8.5 Stack-Based Runtime Environments-With Local Procedures</vt:lpstr>
      <vt:lpstr>8.5 Stack-Based Runtime Environments-With Local Procedures</vt:lpstr>
      <vt:lpstr>8.5 Stack-Based Runtime Environments-With Local Procedures</vt:lpstr>
      <vt:lpstr>8.5 Stack-Based Runtime Environments-With Local Procedures</vt:lpstr>
      <vt:lpstr>PowerPoint 演示文稿</vt:lpstr>
      <vt:lpstr>8.5 Stack-Based Runtime Environments-With Local Procedures</vt:lpstr>
      <vt:lpstr>8.5 Stack-Based Runtime Environments-With Local Procedures</vt:lpstr>
      <vt:lpstr>8.5 Stack-Based Runtime Environments-With Local Procedures</vt:lpstr>
      <vt:lpstr>8.5 Stack-Based Runtime Environments-With Local Procedures</vt:lpstr>
      <vt:lpstr>8.6 Fully Dynamic Runtime Environments</vt:lpstr>
      <vt:lpstr>8.6 Fully Dynamic Runtime Environments</vt:lpstr>
      <vt:lpstr>8.6 Fully Dynamic Runtime Environments</vt:lpstr>
      <vt:lpstr>8.6 Fully Dynamic Runtime Environments</vt:lpstr>
      <vt:lpstr>8.7 Dynamic Memory in Object-Oriented Languages</vt:lpstr>
      <vt:lpstr>8.7 Dynamic Memory in Object-Oriented Languages</vt:lpstr>
      <vt:lpstr>8.7 Dynamic Memory in Object-Oriented Languages</vt:lpstr>
      <vt:lpstr>8.7 Dynamic Memory in Object-Oriented Languages</vt:lpstr>
      <vt:lpstr>8.8 Heap Management</vt:lpstr>
      <vt:lpstr>8.8 Heap Management</vt:lpstr>
      <vt:lpstr>8.8 Heap Management</vt:lpstr>
      <vt:lpstr>8.8 Heap Management</vt:lpstr>
      <vt:lpstr>8.8 Heap Management</vt:lpstr>
      <vt:lpstr>8.8 Heap Management</vt:lpstr>
      <vt:lpstr>8.8 Heap Management</vt:lpstr>
      <vt:lpstr>8.8 Heap Management</vt:lpstr>
      <vt:lpstr>8.8 Heap Management</vt:lpstr>
      <vt:lpstr>8.8 Heap Management</vt:lpstr>
      <vt:lpstr>8.8 Heap Management</vt:lpstr>
      <vt:lpstr>8.8 Heap Management</vt:lpstr>
      <vt:lpstr>8.8 Heap Management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2017-04-09T02:54:44Z</dcterms:created>
  <dcterms:modified xsi:type="dcterms:W3CDTF">2020-05-26T05:14:46Z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0x0101006EDDDB5EE6D98C44930B742096920B300400F5B6D36B3EF94B4E9A635CDF2A18F5B8</vt:lpwstr>
  </property>
  <property fmtid="{D5CDD505-2E9C-101B-9397-08002B2CF9AE}" pid="3" name="InternalTags">
    <vt:lpwstr/>
  </property>
  <property fmtid="{D5CDD505-2E9C-101B-9397-08002B2CF9AE}" pid="4" name="FeatureTags">
    <vt:lpwstr/>
  </property>
  <property fmtid="{D5CDD505-2E9C-101B-9397-08002B2CF9AE}" pid="5" name="LocalizationTags">
    <vt:lpwstr/>
  </property>
  <property fmtid="{D5CDD505-2E9C-101B-9397-08002B2CF9AE}" pid="6" name="ScenarioTags">
    <vt:lpwstr/>
  </property>
  <property fmtid="{D5CDD505-2E9C-101B-9397-08002B2CF9AE}" pid="7" name="CampaignTags">
    <vt:lpwstr/>
  </property>
</Properties>
</file>