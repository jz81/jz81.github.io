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wdp" ContentType="image/vnd.ms-photo"/>
  <Default Extension="vml" ContentType="application/vnd.openxmlformats-officedocument.vmlDrawin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4"/>
  </p:sldMasterIdLst>
  <p:notesMasterIdLst>
    <p:notesMasterId r:id="rId48"/>
  </p:notesMasterIdLst>
  <p:handoutMasterIdLst>
    <p:handoutMasterId r:id="rId49"/>
  </p:handoutMasterIdLst>
  <p:sldIdLst>
    <p:sldId id="256" r:id="rId5"/>
    <p:sldId id="261" r:id="rId6"/>
    <p:sldId id="278" r:id="rId7"/>
    <p:sldId id="299" r:id="rId8"/>
    <p:sldId id="341" r:id="rId9"/>
    <p:sldId id="342" r:id="rId10"/>
    <p:sldId id="343" r:id="rId11"/>
    <p:sldId id="344" r:id="rId12"/>
    <p:sldId id="345" r:id="rId13"/>
    <p:sldId id="346" r:id="rId14"/>
    <p:sldId id="347" r:id="rId15"/>
    <p:sldId id="348" r:id="rId16"/>
    <p:sldId id="349" r:id="rId17"/>
    <p:sldId id="350" r:id="rId18"/>
    <p:sldId id="351" r:id="rId19"/>
    <p:sldId id="352" r:id="rId20"/>
    <p:sldId id="353" r:id="rId21"/>
    <p:sldId id="354" r:id="rId22"/>
    <p:sldId id="355" r:id="rId23"/>
    <p:sldId id="356" r:id="rId24"/>
    <p:sldId id="357" r:id="rId25"/>
    <p:sldId id="358" r:id="rId26"/>
    <p:sldId id="359" r:id="rId27"/>
    <p:sldId id="360" r:id="rId28"/>
    <p:sldId id="361" r:id="rId29"/>
    <p:sldId id="362" r:id="rId30"/>
    <p:sldId id="363" r:id="rId31"/>
    <p:sldId id="364" r:id="rId32"/>
    <p:sldId id="365" r:id="rId33"/>
    <p:sldId id="366" r:id="rId34"/>
    <p:sldId id="367" r:id="rId35"/>
    <p:sldId id="369" r:id="rId36"/>
    <p:sldId id="370" r:id="rId37"/>
    <p:sldId id="371" r:id="rId38"/>
    <p:sldId id="372" r:id="rId39"/>
    <p:sldId id="373" r:id="rId40"/>
    <p:sldId id="374" r:id="rId41"/>
    <p:sldId id="375" r:id="rId42"/>
    <p:sldId id="376" r:id="rId43"/>
    <p:sldId id="377" r:id="rId44"/>
    <p:sldId id="378" r:id="rId45"/>
    <p:sldId id="379" r:id="rId46"/>
    <p:sldId id="380" r:id="rId47"/>
  </p:sldIdLst>
  <p:sldSz cx="9144000" cy="6858000" type="screen4x3"/>
  <p:notesSz cx="6858000" cy="9144000"/>
  <p:defaultTextStyle>
    <a:defPPr rtl="0">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showGuides="1">
      <p:cViewPr varScale="1">
        <p:scale>
          <a:sx n="52" d="100"/>
          <a:sy n="52" d="100"/>
        </p:scale>
        <p:origin x="600" y="72"/>
      </p:cViewPr>
      <p:guideLst>
        <p:guide orient="horz" pos="2160"/>
        <p:guide pos="2880"/>
      </p:guideLst>
    </p:cSldViewPr>
  </p:slideViewPr>
  <p:notesTextViewPr>
    <p:cViewPr>
      <p:scale>
        <a:sx n="1" d="1"/>
        <a:sy n="1" d="1"/>
      </p:scale>
      <p:origin x="0" y="0"/>
    </p:cViewPr>
  </p:notesTextViewPr>
  <p:notesViewPr>
    <p:cSldViewPr snapToGrid="0" showGuides="1">
      <p:cViewPr varScale="1">
        <p:scale>
          <a:sx n="99" d="100"/>
          <a:sy n="99" d="100"/>
        </p:scale>
        <p:origin x="35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handoutMaster" Target="handoutMasters/handout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54.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l" rtl="0">
              <a:defRPr sz="1200"/>
            </a:lvl1pPr>
          </a:lstStyle>
          <a:p>
            <a:pPr algn="r" rtl="0"/>
            <a:fld id="{91C0301E-2321-4F52-B85E-5901506D265C}" type="datetime1">
              <a:rPr lang="zh-CN" altLang="en-US" smtClean="0">
                <a:latin typeface="微软雅黑" panose="020B0503020204020204" pitchFamily="34" charset="-122"/>
                <a:ea typeface="微软雅黑" panose="020B0503020204020204" pitchFamily="34" charset="-122"/>
              </a:rPr>
              <a:pPr algn="r" rtl="0"/>
              <a:t>2020/5/4</a:t>
            </a:fld>
            <a:endParaRPr lang="zh-CN" altLang="en-US" dirty="0">
              <a:latin typeface="微软雅黑" panose="020B0503020204020204" pitchFamily="34" charset="-122"/>
              <a:ea typeface="微软雅黑" panose="020B0503020204020204" pitchFamily="34" charset="-122"/>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l" rtl="0">
              <a:defRPr sz="1200"/>
            </a:lvl1pPr>
          </a:lstStyle>
          <a:p>
            <a:pPr algn="r" rtl="0"/>
            <a:fld id="{06834459-7356-44BF-850D-8B30C4FB3B6B}" type="slidenum">
              <a:rPr lang="en-US" altLang="zh-CN" smtClean="0">
                <a:latin typeface="微软雅黑" panose="020B0503020204020204" pitchFamily="34" charset="-122"/>
                <a:ea typeface="微软雅黑" panose="020B0503020204020204" pitchFamily="34" charset="-122"/>
              </a:rPr>
              <a:pPr algn="r" rtl="0"/>
              <a:t>‹#›</a:t>
            </a:fld>
            <a:endParaRPr lang="en-US" altLang="zh-CN"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6901652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rtl="0">
              <a:defRPr sz="1200">
                <a:latin typeface="微软雅黑" panose="020B0503020204020204" pitchFamily="34" charset="-122"/>
                <a:ea typeface="微软雅黑" panose="020B0503020204020204" pitchFamily="34" charset="-122"/>
              </a:defRPr>
            </a:lvl1pPr>
          </a:lstStyle>
          <a:p>
            <a:fld id="{229B22C3-6CB1-491B-AD00-E0837F23A3F3}" type="datetime1">
              <a:rPr lang="zh-CN" altLang="en-US" smtClean="0"/>
              <a:pPr/>
              <a:t>2020/5/4</a:t>
            </a:fld>
            <a:endParaRPr lang="zh-CN" altLang="en-US" dirty="0"/>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pPr rtl="0"/>
            <a:endParaRPr lang="zh-CN" altLang="en-US" noProof="0"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rtl="0">
              <a:defRPr sz="1200">
                <a:latin typeface="微软雅黑" panose="020B0503020204020204" pitchFamily="34" charset="-122"/>
                <a:ea typeface="微软雅黑" panose="020B0503020204020204" pitchFamily="34" charset="-122"/>
              </a:defRPr>
            </a:lvl1pPr>
          </a:lstStyle>
          <a:p>
            <a:fld id="{0A3C37BE-C303-496D-B5CD-85F2937540FC}" type="slidenum">
              <a:rPr lang="en-US" altLang="zh-CN" smtClean="0"/>
              <a:pPr/>
              <a:t>‹#›</a:t>
            </a:fld>
            <a:endParaRPr lang="en-US" altLang="zh-CN" dirty="0"/>
          </a:p>
        </p:txBody>
      </p:sp>
    </p:spTree>
    <p:extLst>
      <p:ext uri="{BB962C8B-B14F-4D97-AF65-F5344CB8AC3E}">
        <p14:creationId xmlns:p14="http://schemas.microsoft.com/office/powerpoint/2010/main" val="33508422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2pPr>
    <a:lvl3pPr marL="9144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3pPr>
    <a:lvl4pPr marL="13716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4pPr>
    <a:lvl5pPr marL="18288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371600" y="1143000"/>
            <a:ext cx="4114800" cy="3086100"/>
          </a:xfrm>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0A3C37BE-C303-496D-B5CD-85F2937540FC}" type="slidenum">
              <a:rPr lang="en-US" altLang="zh-CN" smtClean="0"/>
              <a:pPr/>
              <a:t>1</a:t>
            </a:fld>
            <a:endParaRPr lang="en-US" altLang="zh-CN" dirty="0"/>
          </a:p>
        </p:txBody>
      </p:sp>
    </p:spTree>
    <p:extLst>
      <p:ext uri="{BB962C8B-B14F-4D97-AF65-F5344CB8AC3E}">
        <p14:creationId xmlns:p14="http://schemas.microsoft.com/office/powerpoint/2010/main" val="849057192"/>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2" name="标题 1"/>
          <p:cNvSpPr>
            <a:spLocks noGrp="1"/>
          </p:cNvSpPr>
          <p:nvPr>
            <p:ph type="ctrTitle"/>
          </p:nvPr>
        </p:nvSpPr>
        <p:spPr>
          <a:xfrm>
            <a:off x="828675" y="2292095"/>
            <a:ext cx="7572375" cy="2219691"/>
          </a:xfrm>
        </p:spPr>
        <p:txBody>
          <a:bodyPr rtlCol="0" anchor="ctr">
            <a:normAutofit/>
          </a:bodyPr>
          <a:lstStyle>
            <a:lvl1pPr algn="l" rtl="0">
              <a:defRPr sz="3300" cap="all" baseline="0"/>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4" y="4511785"/>
            <a:ext cx="7572376" cy="955565"/>
          </a:xfrm>
        </p:spPr>
        <p:txBody>
          <a:bodyPr rtlCol="0">
            <a:normAutofit/>
          </a:bodyPr>
          <a:lstStyle>
            <a:lvl1pPr marL="0" indent="0" algn="l" rtl="0">
              <a:spcBef>
                <a:spcPts val="0"/>
              </a:spcBef>
              <a:buNone/>
              <a:defRPr sz="1350"/>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sp>
        <p:nvSpPr>
          <p:cNvPr id="4" name="日期占位符 3"/>
          <p:cNvSpPr>
            <a:spLocks noGrp="1"/>
          </p:cNvSpPr>
          <p:nvPr>
            <p:ph type="dt" sz="half" idx="10"/>
          </p:nvPr>
        </p:nvSpPr>
        <p:spPr/>
        <p:txBody>
          <a:bodyPr rtlCol="0"/>
          <a:lstStyle>
            <a:lvl1pPr>
              <a:defRPr/>
            </a:lvl1pPr>
          </a:lstStyle>
          <a:p>
            <a:fld id="{A7392AAC-879E-4B39-8824-AF6B730A809E}" type="datetime1">
              <a:rPr lang="zh-CN" altLang="en-US" smtClean="0"/>
              <a:pPr/>
              <a:t>2020/5/4</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pic>
        <p:nvPicPr>
          <p:cNvPr id="11" name="图 10"/>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3334" y="0"/>
            <a:ext cx="1310643" cy="2292094"/>
          </a:xfrm>
          <a:prstGeom prst="rect">
            <a:avLst/>
          </a:prstGeom>
        </p:spPr>
      </p:pic>
    </p:spTree>
    <p:extLst>
      <p:ext uri="{BB962C8B-B14F-4D97-AF65-F5344CB8AC3E}">
        <p14:creationId xmlns:p14="http://schemas.microsoft.com/office/powerpoint/2010/main" val="16597565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9BA78444-6099-4C0A-A3A9-C6F3C5D7F289}" type="datetime1">
              <a:rPr lang="zh-CN" altLang="en-US" smtClean="0"/>
              <a:pPr/>
              <a:t>2020/5/4</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786876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包含图片的标题幻灯片">
    <p:spTree>
      <p:nvGrpSpPr>
        <p:cNvPr id="1" name=""/>
        <p:cNvGrpSpPr/>
        <p:nvPr/>
      </p:nvGrpSpPr>
      <p:grpSpPr>
        <a:xfrm>
          <a:off x="0" y="0"/>
          <a:ext cx="0" cy="0"/>
          <a:chOff x="0" y="0"/>
          <a:chExt cx="0" cy="0"/>
        </a:xfrm>
      </p:grpSpPr>
      <p:grpSp>
        <p:nvGrpSpPr>
          <p:cNvPr id="13" name="组 12"/>
          <p:cNvGrpSpPr/>
          <p:nvPr/>
        </p:nvGrpSpPr>
        <p:grpSpPr>
          <a:xfrm rot="10800000">
            <a:off x="0" y="5645511"/>
            <a:ext cx="9144000" cy="63125"/>
            <a:chOff x="507492" y="1501519"/>
            <a:chExt cx="8129016" cy="63125"/>
          </a:xfrm>
        </p:grpSpPr>
        <p:cxnSp>
          <p:nvCxnSpPr>
            <p:cNvPr id="17" name="直接连接符 16"/>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nvGrpSpPr>
          <p:cNvPr id="14" name="组 13"/>
          <p:cNvGrpSpPr/>
          <p:nvPr/>
        </p:nvGrpSpPr>
        <p:grpSpPr>
          <a:xfrm>
            <a:off x="0" y="1143001"/>
            <a:ext cx="9144000" cy="63125"/>
            <a:chOff x="507492" y="1501519"/>
            <a:chExt cx="8129016" cy="63125"/>
          </a:xfrm>
        </p:grpSpPr>
        <p:cxnSp>
          <p:nvCxnSpPr>
            <p:cNvPr id="15" name="直接连接符​ 14"/>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2" name="标题 1"/>
          <p:cNvSpPr>
            <a:spLocks noGrp="1"/>
          </p:cNvSpPr>
          <p:nvPr>
            <p:ph type="ctrTitle"/>
          </p:nvPr>
        </p:nvSpPr>
        <p:spPr>
          <a:xfrm>
            <a:off x="828675" y="2292095"/>
            <a:ext cx="4300538" cy="2219691"/>
          </a:xfrm>
        </p:spPr>
        <p:txBody>
          <a:bodyPr rtlCol="0" anchor="ctr">
            <a:normAutofit/>
          </a:bodyPr>
          <a:lstStyle>
            <a:lvl1pPr algn="l" rtl="0">
              <a:defRPr sz="3300" cap="all" baseline="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5" y="4511785"/>
            <a:ext cx="4300538" cy="955565"/>
          </a:xfrm>
        </p:spPr>
        <p:txBody>
          <a:bodyPr rtlCol="0">
            <a:normAutofit/>
          </a:bodyPr>
          <a:lstStyle>
            <a:lvl1pPr marL="0" indent="0" algn="l" rtl="0">
              <a:spcBef>
                <a:spcPts val="0"/>
              </a:spcBef>
              <a:buNone/>
              <a:defRPr sz="1350">
                <a:latin typeface="微软雅黑" panose="020B0503020204020204" pitchFamily="34" charset="-122"/>
                <a:ea typeface="微软雅黑" panose="020B0503020204020204" pitchFamily="34" charset="-122"/>
              </a:defRPr>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pic>
        <p:nvPicPr>
          <p:cNvPr id="10" name="图 9"/>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4410" y="0"/>
            <a:ext cx="1310643" cy="2292094"/>
          </a:xfrm>
          <a:prstGeom prst="rect">
            <a:avLst/>
          </a:prstGeom>
        </p:spPr>
      </p:pic>
      <p:sp>
        <p:nvSpPr>
          <p:cNvPr id="11" name="图片占位符 10"/>
          <p:cNvSpPr>
            <a:spLocks noGrp="1"/>
          </p:cNvSpPr>
          <p:nvPr>
            <p:ph type="pic" sz="quarter" idx="13"/>
          </p:nvPr>
        </p:nvSpPr>
        <p:spPr>
          <a:xfrm>
            <a:off x="5235798" y="1310656"/>
            <a:ext cx="3908203" cy="4208604"/>
          </a:xfrm>
          <a:solidFill>
            <a:schemeClr val="tx1">
              <a:lumMod val="20000"/>
              <a:lumOff val="80000"/>
            </a:schemeClr>
          </a:solidFill>
        </p:spPr>
        <p:txBody>
          <a:bodyPr tIns="1005840" rtlCol="0"/>
          <a:lstStyle>
            <a:lvl1pPr marL="0" indent="0" algn="ctr" rtl="0">
              <a:buNone/>
              <a:defRPr>
                <a:latin typeface="微软雅黑" panose="020B0503020204020204" pitchFamily="34" charset="-122"/>
                <a:ea typeface="微软雅黑" panose="020B0503020204020204" pitchFamily="34" charset="-122"/>
              </a:defRPr>
            </a:lvl1pPr>
          </a:lstStyle>
          <a:p>
            <a:pPr rtl="0"/>
            <a:r>
              <a:rPr lang="zh-CN" altLang="en-US" noProof="0"/>
              <a:t>单击图标添加图片</a:t>
            </a:r>
            <a:endParaRPr lang="zh-CN" altLang="en-US" noProof="0" dirty="0"/>
          </a:p>
        </p:txBody>
      </p:sp>
      <p:sp>
        <p:nvSpPr>
          <p:cNvPr id="19" name="说明文字"/>
          <p:cNvSpPr/>
          <p:nvPr/>
        </p:nvSpPr>
        <p:spPr>
          <a:xfrm>
            <a:off x="9258300" y="0"/>
            <a:ext cx="971550" cy="6858000"/>
          </a:xfrm>
          <a:prstGeom prst="roundRect">
            <a:avLst>
              <a:gd name="adj" fmla="val 9717"/>
            </a:avLst>
          </a:prstGeom>
          <a:solidFill>
            <a:srgbClr val="A6A6A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t" anchorCtr="0" forceAA="0" compatLnSpc="1">
            <a:prstTxWarp prst="textNoShape">
              <a:avLst/>
            </a:prstTxWarp>
            <a:noAutofit/>
          </a:bodyPr>
          <a:lstStyle/>
          <a:p>
            <a:pPr rtl="0"/>
            <a:r>
              <a:rPr lang="zh-CN" altLang="en-US" sz="900" b="1" i="1" noProof="0" dirty="0">
                <a:latin typeface="微软雅黑" panose="020B0503020204020204" pitchFamily="34" charset="-122"/>
                <a:ea typeface="微软雅黑" panose="020B0503020204020204" pitchFamily="34" charset="-122"/>
                <a:cs typeface="Arial" pitchFamily="34" charset="0"/>
              </a:rPr>
              <a:t>注意：</a:t>
            </a:r>
          </a:p>
          <a:p>
            <a:pPr rtl="0"/>
            <a:r>
              <a:rPr lang="zh-CN" altLang="en-US" sz="900" i="1" noProof="0" dirty="0">
                <a:latin typeface="微软雅黑" panose="020B0503020204020204" pitchFamily="34" charset="-122"/>
                <a:ea typeface="微软雅黑" panose="020B0503020204020204" pitchFamily="34" charset="-122"/>
                <a:cs typeface="Arial" pitchFamily="34" charset="0"/>
              </a:rPr>
              <a:t>若要更改此幻灯片上的图像，请选择该图片，并将其删除。然后单击占位符中的图片图标以插入自己的图像。</a:t>
            </a:r>
          </a:p>
        </p:txBody>
      </p:sp>
    </p:spTree>
    <p:extLst>
      <p:ext uri="{BB962C8B-B14F-4D97-AF65-F5344CB8AC3E}">
        <p14:creationId xmlns:p14="http://schemas.microsoft.com/office/powerpoint/2010/main" val="26739436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节标题">
    <p:spTree>
      <p:nvGrpSpPr>
        <p:cNvPr id="1" name=""/>
        <p:cNvGrpSpPr/>
        <p:nvPr/>
      </p:nvGrpSpPr>
      <p:grpSpPr>
        <a:xfrm>
          <a:off x="0" y="0"/>
          <a:ext cx="0" cy="0"/>
          <a:chOff x="0" y="0"/>
          <a:chExt cx="0" cy="0"/>
        </a:xfrm>
      </p:grpSpPr>
      <p:grpSp>
        <p:nvGrpSpPr>
          <p:cNvPr id="8" name="组 7"/>
          <p:cNvGrpSpPr/>
          <p:nvPr/>
        </p:nvGrpSpPr>
        <p:grpSpPr>
          <a:xfrm>
            <a:off x="0" y="2514601"/>
            <a:ext cx="9144000" cy="3194035"/>
            <a:chOff x="647402" y="2514600"/>
            <a:chExt cx="10838688" cy="3194035"/>
          </a:xfrm>
        </p:grpSpPr>
        <p:grpSp>
          <p:nvGrpSpPr>
            <p:cNvPr id="9" name="组 8"/>
            <p:cNvGrpSpPr/>
            <p:nvPr/>
          </p:nvGrpSpPr>
          <p:grpSpPr>
            <a:xfrm>
              <a:off x="647402" y="2514600"/>
              <a:ext cx="10838688" cy="63125"/>
              <a:chOff x="507492" y="1501519"/>
              <a:chExt cx="8129016" cy="63125"/>
            </a:xfrm>
          </p:grpSpPr>
          <p:cxnSp>
            <p:nvCxnSpPr>
              <p:cNvPr id="14" name="直接连接符 13"/>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10" name="矩形 9"/>
            <p:cNvSpPr/>
            <p:nvPr/>
          </p:nvSpPr>
          <p:spPr>
            <a:xfrm>
              <a:off x="647402" y="2640850"/>
              <a:ext cx="10838688" cy="294153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grpSp>
          <p:nvGrpSpPr>
            <p:cNvPr id="11" name="组 10"/>
            <p:cNvGrpSpPr/>
            <p:nvPr/>
          </p:nvGrpSpPr>
          <p:grpSpPr>
            <a:xfrm rot="10800000">
              <a:off x="647402" y="5645510"/>
              <a:ext cx="10838688" cy="63125"/>
              <a:chOff x="507492" y="1501519"/>
              <a:chExt cx="8129016" cy="63125"/>
            </a:xfrm>
          </p:grpSpPr>
          <p:cxnSp>
            <p:nvCxnSpPr>
              <p:cNvPr id="12" name="直接连接符​ 11"/>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sp>
        <p:nvSpPr>
          <p:cNvPr id="2" name="标题 1"/>
          <p:cNvSpPr>
            <a:spLocks noGrp="1"/>
          </p:cNvSpPr>
          <p:nvPr>
            <p:ph type="title"/>
          </p:nvPr>
        </p:nvSpPr>
        <p:spPr>
          <a:xfrm>
            <a:off x="828675" y="2971806"/>
            <a:ext cx="7553324" cy="1684150"/>
          </a:xfrm>
        </p:spPr>
        <p:txBody>
          <a:bodyPr rtlCol="0" anchor="ctr">
            <a:normAutofit/>
          </a:bodyPr>
          <a:lstStyle>
            <a:lvl1pPr algn="l" rtl="0">
              <a:defRPr sz="3300" cap="all" baseline="0">
                <a:solidFill>
                  <a:schemeClr val="bg1"/>
                </a:solidFill>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4655956"/>
            <a:ext cx="7553324" cy="509750"/>
          </a:xfrm>
        </p:spPr>
        <p:txBody>
          <a:bodyPr rtlCol="0">
            <a:normAutofit/>
          </a:bodyPr>
          <a:lstStyle>
            <a:lvl1pPr marL="0" indent="0" algn="l" rtl="0">
              <a:spcBef>
                <a:spcPts val="0"/>
              </a:spcBef>
              <a:buNone/>
              <a:defRPr sz="1200">
                <a:solidFill>
                  <a:schemeClr val="bg1"/>
                </a:solidFill>
                <a:latin typeface="微软雅黑" panose="020B0503020204020204" pitchFamily="34" charset="-122"/>
                <a:ea typeface="微软雅黑" panose="020B0503020204020204" pitchFamily="34" charset="-122"/>
              </a:defRPr>
            </a:lvl1pPr>
            <a:lvl2pPr marL="342900" indent="0" algn="l" rtl="0">
              <a:buNone/>
              <a:defRPr sz="1500">
                <a:solidFill>
                  <a:schemeClr val="tx1">
                    <a:tint val="75000"/>
                  </a:schemeClr>
                </a:solidFill>
              </a:defRPr>
            </a:lvl2pPr>
            <a:lvl3pPr marL="685800" indent="0" algn="l" rtl="0">
              <a:buNone/>
              <a:defRPr sz="1350">
                <a:solidFill>
                  <a:schemeClr val="tx1">
                    <a:tint val="75000"/>
                  </a:schemeClr>
                </a:solidFill>
              </a:defRPr>
            </a:lvl3pPr>
            <a:lvl4pPr marL="1028700" indent="0" algn="l" rtl="0">
              <a:buNone/>
              <a:defRPr sz="1200">
                <a:solidFill>
                  <a:schemeClr val="tx1">
                    <a:tint val="75000"/>
                  </a:schemeClr>
                </a:solidFill>
              </a:defRPr>
            </a:lvl4pPr>
            <a:lvl5pPr marL="1371600" indent="0" algn="l" rtl="0">
              <a:buNone/>
              <a:defRPr sz="1200">
                <a:solidFill>
                  <a:schemeClr val="tx1">
                    <a:tint val="75000"/>
                  </a:schemeClr>
                </a:solidFill>
              </a:defRPr>
            </a:lvl5pPr>
            <a:lvl6pPr marL="1714500" indent="0" algn="l" rtl="0">
              <a:buNone/>
              <a:defRPr sz="1200">
                <a:solidFill>
                  <a:schemeClr val="tx1">
                    <a:tint val="75000"/>
                  </a:schemeClr>
                </a:solidFill>
              </a:defRPr>
            </a:lvl6pPr>
            <a:lvl7pPr marL="2057400" indent="0" algn="l" rtl="0">
              <a:buNone/>
              <a:defRPr sz="1200">
                <a:solidFill>
                  <a:schemeClr val="tx1">
                    <a:tint val="75000"/>
                  </a:schemeClr>
                </a:solidFill>
              </a:defRPr>
            </a:lvl7pPr>
            <a:lvl8pPr marL="2400300" indent="0" algn="l" rtl="0">
              <a:buNone/>
              <a:defRPr sz="1200">
                <a:solidFill>
                  <a:schemeClr val="tx1">
                    <a:tint val="75000"/>
                  </a:schemeClr>
                </a:solidFill>
              </a:defRPr>
            </a:lvl8pPr>
            <a:lvl9pPr marL="2743200" indent="0" algn="l" rtl="0">
              <a:buNone/>
              <a:defRPr sz="1200">
                <a:solidFill>
                  <a:schemeClr val="tx1">
                    <a:tint val="75000"/>
                  </a:schemeClr>
                </a:solidFill>
              </a:defRPr>
            </a:lvl9pPr>
          </a:lstStyle>
          <a:p>
            <a:pPr lvl="0" rtl="0"/>
            <a:r>
              <a:rPr lang="zh-CN" altLang="en-US" noProof="0"/>
              <a:t>编辑母版文本样式</a:t>
            </a:r>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AF5F6A19-70BF-4380-9A40-68C9536408C6}" type="datetime1">
              <a:rPr lang="zh-CN" altLang="en-US" smtClean="0"/>
              <a:pPr/>
              <a:t>2020/5/4</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pic>
        <p:nvPicPr>
          <p:cNvPr id="7" name="图 6"/>
          <p:cNvPicPr>
            <a:picLocks noChangeAspect="1"/>
          </p:cNvPicPr>
          <p:nvPr/>
        </p:nvPicPr>
        <p:blipFill>
          <a:blip r:embed="rId2" cstate="print">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994410" y="0"/>
            <a:ext cx="1337391" cy="2971806"/>
          </a:xfrm>
          <a:prstGeom prst="rect">
            <a:avLst/>
          </a:prstGeom>
        </p:spPr>
      </p:pic>
    </p:spTree>
    <p:extLst>
      <p:ext uri="{BB962C8B-B14F-4D97-AF65-F5344CB8AC3E}">
        <p14:creationId xmlns:p14="http://schemas.microsoft.com/office/powerpoint/2010/main" val="3602678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sz="half" idx="1"/>
          </p:nvPr>
        </p:nvSpPr>
        <p:spPr>
          <a:xfrm>
            <a:off x="828675"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vl9pPr algn="l" rtl="0">
              <a:defRPr/>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内容占位符 3"/>
          <p:cNvSpPr>
            <a:spLocks noGrp="1"/>
          </p:cNvSpPr>
          <p:nvPr>
            <p:ph sz="half" idx="2"/>
          </p:nvPr>
        </p:nvSpPr>
        <p:spPr>
          <a:xfrm>
            <a:off x="4629150"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r>
              <a:rPr lang="zh-CN" altLang="en-US" dirty="0"/>
              <a:t>​</a:t>
            </a:r>
            <a:fld id="{6017EB90-196C-4C15-BD31-13E0E0436C73}" type="datetime1">
              <a:rPr lang="zh-CN" altLang="en-US" smtClean="0"/>
              <a:pPr/>
              <a:t>2020/5/4</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5277910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4" name="内容占位符 3"/>
          <p:cNvSpPr>
            <a:spLocks noGrp="1"/>
          </p:cNvSpPr>
          <p:nvPr>
            <p:ph sz="half" idx="2"/>
          </p:nvPr>
        </p:nvSpPr>
        <p:spPr>
          <a:xfrm>
            <a:off x="828675"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文本占位符 4"/>
          <p:cNvSpPr>
            <a:spLocks noGrp="1"/>
          </p:cNvSpPr>
          <p:nvPr>
            <p:ph type="body" sz="quarter" idx="3"/>
          </p:nvPr>
        </p:nvSpPr>
        <p:spPr>
          <a:xfrm>
            <a:off x="4624583"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6" name="内容占位符 5"/>
          <p:cNvSpPr>
            <a:spLocks noGrp="1"/>
          </p:cNvSpPr>
          <p:nvPr>
            <p:ph sz="quarter" idx="4"/>
          </p:nvPr>
        </p:nvSpPr>
        <p:spPr>
          <a:xfrm>
            <a:off x="4624583"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7" name="日期占位符 6"/>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C2EC0F41-B48F-4298-A7F6-618EB9D22195}" type="datetime1">
              <a:rPr lang="zh-CN" altLang="en-US" smtClean="0"/>
              <a:pPr/>
              <a:t>2020/5/4</a:t>
            </a:fld>
            <a:endParaRPr lang="zh-CN" altLang="en-US" dirty="0"/>
          </a:p>
        </p:txBody>
      </p:sp>
      <p:sp>
        <p:nvSpPr>
          <p:cNvPr id="8" name="页脚占位符 7"/>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9" name="灯片编号占位符 8"/>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9710161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日期占位符 2"/>
          <p:cNvSpPr>
            <a:spLocks noGrp="1"/>
          </p:cNvSpPr>
          <p:nvPr>
            <p:ph type="dt" sz="half" idx="10"/>
          </p:nvPr>
        </p:nvSpPr>
        <p:spPr/>
        <p:txBody>
          <a:bodyPr rtlCol="0"/>
          <a:lstStyle>
            <a:lvl1pPr>
              <a:defRPr/>
            </a:lvl1pPr>
          </a:lstStyle>
          <a:p>
            <a:fld id="{7DB2D836-56E8-4B15-857C-14B1A5B3B67B}" type="datetime1">
              <a:rPr lang="zh-CN" altLang="en-US" smtClean="0"/>
              <a:pPr/>
              <a:t>2020/5/4</a:t>
            </a:fld>
            <a:endParaRPr lang="zh-CN" altLang="en-US" dirty="0"/>
          </a:p>
        </p:txBody>
      </p:sp>
      <p:sp>
        <p:nvSpPr>
          <p:cNvPr id="4" name="页脚占位符 3"/>
          <p:cNvSpPr>
            <a:spLocks noGrp="1"/>
          </p:cNvSpPr>
          <p:nvPr>
            <p:ph type="ftr" sz="quarter" idx="11"/>
          </p:nvPr>
        </p:nvSpPr>
        <p:spPr/>
        <p:txBody>
          <a:bodyPr rtlCol="0"/>
          <a:lstStyle/>
          <a:p>
            <a:pPr rtl="0"/>
            <a:endParaRPr lang="zh-CN" altLang="en-US" noProof="0" dirty="0"/>
          </a:p>
        </p:txBody>
      </p:sp>
      <p:sp>
        <p:nvSpPr>
          <p:cNvPr id="5" name="灯片编号占位符 4"/>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17581115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rtlCol="0"/>
          <a:lstStyle>
            <a:lvl1pPr>
              <a:defRPr/>
            </a:lvl1pPr>
          </a:lstStyle>
          <a:p>
            <a:fld id="{038D929F-7D8C-4CC3-8AC7-BB9B8FE2DEBF}" type="datetime1">
              <a:rPr lang="zh-CN" altLang="en-US" smtClean="0"/>
              <a:pPr/>
              <a:t>2020/5/4</a:t>
            </a:fld>
            <a:endParaRPr lang="zh-CN" altLang="en-US" dirty="0"/>
          </a:p>
        </p:txBody>
      </p:sp>
      <p:sp>
        <p:nvSpPr>
          <p:cNvPr id="3" name="页脚占位符 2"/>
          <p:cNvSpPr>
            <a:spLocks noGrp="1"/>
          </p:cNvSpPr>
          <p:nvPr>
            <p:ph type="ftr" sz="quarter" idx="11"/>
          </p:nvPr>
        </p:nvSpPr>
        <p:spPr/>
        <p:txBody>
          <a:bodyPr rtlCol="0"/>
          <a:lstStyle/>
          <a:p>
            <a:pPr rtl="0"/>
            <a:endParaRPr lang="zh-CN" altLang="en-US" noProof="0" dirty="0"/>
          </a:p>
        </p:txBody>
      </p:sp>
      <p:sp>
        <p:nvSpPr>
          <p:cNvPr id="4" name="灯片编号占位符 3"/>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024169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带题注的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a:xfrm>
            <a:off x="4231386" y="1600200"/>
            <a:ext cx="4083939" cy="4572001"/>
          </a:xfrm>
        </p:spPr>
        <p:txBody>
          <a:bodyPr rtlCol="0">
            <a:normAutofit/>
          </a:bodyPr>
          <a:lstStyle>
            <a:lvl1pPr algn="l" rtl="0">
              <a:defRPr sz="1500"/>
            </a:lvl1pPr>
            <a:lvl2pPr algn="l" rtl="0">
              <a:defRPr sz="1200"/>
            </a:lvl2pPr>
            <a:lvl3pPr algn="l" rtl="0">
              <a:defRPr sz="1200"/>
            </a:lvl3pPr>
            <a:lvl4pPr algn="l" rtl="0">
              <a:defRPr sz="1050"/>
            </a:lvl4pPr>
            <a:lvl5pPr algn="l" rtl="0">
              <a:defRPr sz="1050"/>
            </a:lvl5pPr>
            <a:lvl6pPr algn="l" rtl="0">
              <a:defRPr sz="1050"/>
            </a:lvl6pPr>
            <a:lvl7pPr algn="l" rtl="0">
              <a:defRPr sz="1050"/>
            </a:lvl7pPr>
            <a:lvl8pPr algn="l" rtl="0">
              <a:defRPr sz="1050"/>
            </a:lvl8pPr>
            <a:lvl9pPr algn="l" rtl="0">
              <a:defRPr sz="1050"/>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文本占位符 3"/>
          <p:cNvSpPr>
            <a:spLocks noGrp="1"/>
          </p:cNvSpPr>
          <p:nvPr>
            <p:ph type="body" sz="half" idx="2"/>
          </p:nvPr>
        </p:nvSpPr>
        <p:spPr>
          <a:xfrm>
            <a:off x="828675" y="1600200"/>
            <a:ext cx="3288411" cy="4572000"/>
          </a:xfrm>
        </p:spPr>
        <p:txBody>
          <a:bodyPr rtlCol="0">
            <a:normAutofit/>
          </a:bodyPr>
          <a:lstStyle>
            <a:lvl1pPr marL="0" indent="0" algn="l" rtl="0">
              <a:spcBef>
                <a:spcPts val="900"/>
              </a:spcBef>
              <a:buNone/>
              <a:defRPr sz="1350"/>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vl1pPr>
          </a:lstStyle>
          <a:p>
            <a:fld id="{F7892ACC-8BC8-4C9E-9D2B-0669DA5038B6}" type="datetime1">
              <a:rPr lang="zh-CN" altLang="en-US" smtClean="0"/>
              <a:pPr/>
              <a:t>2020/5/4</a:t>
            </a:fld>
            <a:endParaRPr lang="zh-CN" altLang="en-US" dirty="0"/>
          </a:p>
        </p:txBody>
      </p:sp>
      <p:sp>
        <p:nvSpPr>
          <p:cNvPr id="6" name="页脚占位符 5"/>
          <p:cNvSpPr>
            <a:spLocks noGrp="1"/>
          </p:cNvSpPr>
          <p:nvPr>
            <p:ph type="ftr" sz="quarter" idx="11"/>
          </p:nvPr>
        </p:nvSpPr>
        <p:spPr/>
        <p:txBody>
          <a:bodyPr rtlCol="0"/>
          <a:lstStyle/>
          <a:p>
            <a:pPr rtl="0"/>
            <a:endParaRPr lang="zh-CN" altLang="en-US" noProof="0" dirty="0"/>
          </a:p>
        </p:txBody>
      </p:sp>
      <p:sp>
        <p:nvSpPr>
          <p:cNvPr id="7" name="灯片编号占位符 6"/>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769764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带题注的图片">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图片占位符 2"/>
          <p:cNvSpPr>
            <a:spLocks noGrp="1"/>
          </p:cNvSpPr>
          <p:nvPr>
            <p:ph type="pic" idx="1"/>
          </p:nvPr>
        </p:nvSpPr>
        <p:spPr>
          <a:xfrm>
            <a:off x="3491003" y="1600200"/>
            <a:ext cx="4823184" cy="4572001"/>
          </a:xfrm>
        </p:spPr>
        <p:txBody>
          <a:bodyPr tIns="1188720" rtlCol="0">
            <a:normAutofit/>
          </a:bodyPr>
          <a:lstStyle>
            <a:lvl1pPr marL="0" indent="0" algn="ctr" rtl="0">
              <a:buNone/>
              <a:defRPr sz="1500">
                <a:latin typeface="微软雅黑" panose="020B0503020204020204" pitchFamily="34" charset="-122"/>
                <a:ea typeface="微软雅黑" panose="020B0503020204020204" pitchFamily="34" charset="-122"/>
              </a:defRPr>
            </a:lvl1pPr>
            <a:lvl2pPr marL="342900" indent="0" algn="l" rtl="0">
              <a:buNone/>
              <a:defRPr sz="2100"/>
            </a:lvl2pPr>
            <a:lvl3pPr marL="685800" indent="0" algn="l" rtl="0">
              <a:buNone/>
              <a:defRPr sz="1800"/>
            </a:lvl3pPr>
            <a:lvl4pPr marL="1028700" indent="0" algn="l" rtl="0">
              <a:buNone/>
              <a:defRPr sz="1500"/>
            </a:lvl4pPr>
            <a:lvl5pPr marL="1371600" indent="0" algn="l" rtl="0">
              <a:buNone/>
              <a:defRPr sz="1500"/>
            </a:lvl5pPr>
            <a:lvl6pPr marL="1714500" indent="0" algn="l" rtl="0">
              <a:buNone/>
              <a:defRPr sz="1500"/>
            </a:lvl6pPr>
            <a:lvl7pPr marL="2057400" indent="0" algn="l" rtl="0">
              <a:buNone/>
              <a:defRPr sz="1500"/>
            </a:lvl7pPr>
            <a:lvl8pPr marL="2400300" indent="0" algn="l" rtl="0">
              <a:buNone/>
              <a:defRPr sz="1500"/>
            </a:lvl8pPr>
            <a:lvl9pPr marL="2743200" indent="0" algn="l" rtl="0">
              <a:buNone/>
              <a:defRPr sz="1500"/>
            </a:lvl9pPr>
          </a:lstStyle>
          <a:p>
            <a:pPr rtl="0"/>
            <a:r>
              <a:rPr lang="zh-CN" altLang="en-US" noProof="0"/>
              <a:t>单击图标添加图片</a:t>
            </a:r>
            <a:endParaRPr lang="zh-CN" altLang="en-US" noProof="0" dirty="0"/>
          </a:p>
        </p:txBody>
      </p:sp>
      <p:sp>
        <p:nvSpPr>
          <p:cNvPr id="4" name="文本占位符 3"/>
          <p:cNvSpPr>
            <a:spLocks noGrp="1"/>
          </p:cNvSpPr>
          <p:nvPr>
            <p:ph type="body" sz="half" idx="2"/>
          </p:nvPr>
        </p:nvSpPr>
        <p:spPr>
          <a:xfrm>
            <a:off x="828675" y="1600200"/>
            <a:ext cx="2547747" cy="4572000"/>
          </a:xfrm>
        </p:spPr>
        <p:txBody>
          <a:bodyPr rtlCol="0">
            <a:normAutofit/>
          </a:bodyPr>
          <a:lstStyle>
            <a:lvl1pPr marL="0" indent="0" algn="l" rtl="0">
              <a:spcBef>
                <a:spcPts val="900"/>
              </a:spcBef>
              <a:buNone/>
              <a:defRPr sz="1350">
                <a:latin typeface="微软雅黑" panose="020B0503020204020204" pitchFamily="34" charset="-122"/>
                <a:ea typeface="微软雅黑" panose="020B0503020204020204" pitchFamily="34" charset="-122"/>
              </a:defRPr>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7118C275-B304-48F5-8C4F-015CBCF4E7C1}" type="datetime1">
              <a:rPr lang="zh-CN" altLang="en-US" smtClean="0"/>
              <a:pPr/>
              <a:t>2020/5/4</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7696370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标题和竖排文本">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8791AA9-DDCB-4BA8-AD1D-963A3AA00622}" type="datetime1">
              <a:rPr lang="zh-CN" altLang="en-US" smtClean="0"/>
              <a:pPr/>
              <a:t>2020/5/4</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20120767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vertTitleAndTx" preserve="1">
  <p:cSld name="垂直排列标题与文本">
    <p:spTree>
      <p:nvGrpSpPr>
        <p:cNvPr id="1" name=""/>
        <p:cNvGrpSpPr/>
        <p:nvPr/>
      </p:nvGrpSpPr>
      <p:grpSpPr>
        <a:xfrm>
          <a:off x="0" y="0"/>
          <a:ext cx="0" cy="0"/>
          <a:chOff x="0" y="0"/>
          <a:chExt cx="0" cy="0"/>
        </a:xfrm>
      </p:grpSpPr>
      <p:sp>
        <p:nvSpPr>
          <p:cNvPr id="2" name="垂直标题 1"/>
          <p:cNvSpPr>
            <a:spLocks noGrp="1"/>
          </p:cNvSpPr>
          <p:nvPr>
            <p:ph type="title" orient="vert"/>
          </p:nvPr>
        </p:nvSpPr>
        <p:spPr>
          <a:xfrm>
            <a:off x="7029450" y="365125"/>
            <a:ext cx="1285875" cy="5811838"/>
          </a:xfrm>
        </p:spPr>
        <p:txBody>
          <a:bodyPr vert="eaVert"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a:xfrm>
            <a:off x="828675" y="365125"/>
            <a:ext cx="6074172" cy="5811838"/>
          </a:xfrm>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170426F-E661-472B-BE42-25E072CD46D9}" type="datetime1">
              <a:rPr lang="zh-CN" altLang="en-US" smtClean="0"/>
              <a:pPr/>
              <a:t>2020/5/4</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grpSp>
        <p:nvGrpSpPr>
          <p:cNvPr id="7" name="组 6"/>
          <p:cNvGrpSpPr/>
          <p:nvPr/>
        </p:nvGrpSpPr>
        <p:grpSpPr>
          <a:xfrm rot="5400000">
            <a:off x="4181447" y="3239394"/>
            <a:ext cx="5632704" cy="63302"/>
            <a:chOff x="1073150" y="1219201"/>
            <a:chExt cx="10058400" cy="63125"/>
          </a:xfrm>
        </p:grpSpPr>
        <p:cxnSp>
          <p:nvCxnSpPr>
            <p:cNvPr id="8" name="直接连接符 7"/>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459271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28675" y="76200"/>
            <a:ext cx="7485512" cy="1096962"/>
          </a:xfrm>
          <a:prstGeom prst="rect">
            <a:avLst/>
          </a:prstGeom>
        </p:spPr>
        <p:txBody>
          <a:bodyPr vert="horz" lIns="0" tIns="45720" rIns="0" bIns="45720" rtlCol="0" anchor="b">
            <a:normAutofit/>
          </a:bodyPr>
          <a:lstStyle/>
          <a:p>
            <a:pPr rtl="0"/>
            <a:r>
              <a:rPr lang="zh-CN" altLang="en-US" noProof="0" dirty="0"/>
              <a:t>单击此处编辑母版标题样式</a:t>
            </a:r>
          </a:p>
        </p:txBody>
      </p:sp>
      <p:sp>
        <p:nvSpPr>
          <p:cNvPr id="3" name="文本占位符 2"/>
          <p:cNvSpPr>
            <a:spLocks noGrp="1"/>
          </p:cNvSpPr>
          <p:nvPr>
            <p:ph type="body" idx="1"/>
          </p:nvPr>
        </p:nvSpPr>
        <p:spPr>
          <a:xfrm>
            <a:off x="828675" y="1600200"/>
            <a:ext cx="7486650" cy="4572000"/>
          </a:xfrm>
          <a:prstGeom prst="rect">
            <a:avLst/>
          </a:prstGeom>
        </p:spPr>
        <p:txBody>
          <a:bodyPr vert="horz" lIns="0" tIns="45720" rIns="0" bIns="45720" rtlCol="0">
            <a:normAutofit/>
          </a:bodyPr>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a:p>
            <a:pPr lvl="5" rtl="0"/>
            <a:r>
              <a:rPr lang="zh-CN" altLang="en-US" noProof="0" dirty="0"/>
              <a:t>第六级</a:t>
            </a:r>
          </a:p>
          <a:p>
            <a:pPr lvl="6" rtl="0"/>
            <a:r>
              <a:rPr lang="zh-CN" altLang="en-US" noProof="0" dirty="0"/>
              <a:t>第七级</a:t>
            </a:r>
          </a:p>
          <a:p>
            <a:pPr lvl="7" rtl="0"/>
            <a:r>
              <a:rPr lang="zh-CN" altLang="en-US" noProof="0" dirty="0"/>
              <a:t>第八级</a:t>
            </a:r>
          </a:p>
          <a:p>
            <a:pPr lvl="8" rtl="0"/>
            <a:r>
              <a:rPr lang="zh-CN" altLang="en-US" noProof="0" dirty="0"/>
              <a:t>第九级</a:t>
            </a:r>
          </a:p>
        </p:txBody>
      </p:sp>
      <p:sp>
        <p:nvSpPr>
          <p:cNvPr id="4" name="日期占位符 3"/>
          <p:cNvSpPr>
            <a:spLocks noGrp="1"/>
          </p:cNvSpPr>
          <p:nvPr>
            <p:ph type="dt" sz="half" idx="2"/>
          </p:nvPr>
        </p:nvSpPr>
        <p:spPr>
          <a:xfrm>
            <a:off x="828675" y="6356352"/>
            <a:ext cx="1372169"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r>
              <a:rPr lang="zh-CN" altLang="en-US" dirty="0"/>
              <a:t>​</a:t>
            </a:r>
            <a:fld id="{660B6A15-7713-4A08-BBFD-F297CCC2B976}" type="datetime1">
              <a:rPr lang="zh-CN" altLang="en-US" smtClean="0"/>
              <a:pPr/>
              <a:t>2020/5/4</a:t>
            </a:fld>
            <a:r>
              <a:rPr lang="zh-CN" altLang="en-US" dirty="0"/>
              <a:t>​</a:t>
            </a:r>
          </a:p>
        </p:txBody>
      </p:sp>
      <p:sp>
        <p:nvSpPr>
          <p:cNvPr id="5" name="页脚占位符 4"/>
          <p:cNvSpPr>
            <a:spLocks noGrp="1"/>
          </p:cNvSpPr>
          <p:nvPr>
            <p:ph type="ftr" sz="quarter" idx="3"/>
          </p:nvPr>
        </p:nvSpPr>
        <p:spPr>
          <a:xfrm>
            <a:off x="2200844" y="6356350"/>
            <a:ext cx="4742312" cy="365126"/>
          </a:xfrm>
          <a:prstGeom prst="rect">
            <a:avLst/>
          </a:prstGeom>
        </p:spPr>
        <p:txBody>
          <a:bodyPr vert="horz" lIns="0" tIns="45720" rIns="0" bIns="45720" rtlCol="0" anchor="ctr"/>
          <a:lstStyle>
            <a:lvl1pPr algn="ctr"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endParaRPr lang="zh-CN" altLang="en-US" noProof="0" dirty="0"/>
          </a:p>
        </p:txBody>
      </p:sp>
      <p:sp>
        <p:nvSpPr>
          <p:cNvPr id="6" name="幻灯片编号占位符 5"/>
          <p:cNvSpPr>
            <a:spLocks noGrp="1"/>
          </p:cNvSpPr>
          <p:nvPr>
            <p:ph type="sldNum" sz="quarter" idx="4"/>
          </p:nvPr>
        </p:nvSpPr>
        <p:spPr>
          <a:xfrm>
            <a:off x="6942587" y="6356352"/>
            <a:ext cx="1371600"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pPr algn="r"/>
            <a:fld id="{0FF54DE5-C571-48E8-A5BC-B369434E2F44}" type="slidenum">
              <a:rPr lang="en-US" altLang="zh-CN" noProof="0" smtClean="0"/>
              <a:pPr algn="r"/>
              <a:t>‹#›</a:t>
            </a:fld>
            <a:endParaRPr lang="zh-CN" altLang="en-US" noProof="0" dirty="0"/>
          </a:p>
        </p:txBody>
      </p:sp>
      <p:grpSp>
        <p:nvGrpSpPr>
          <p:cNvPr id="15" name="组 14"/>
          <p:cNvGrpSpPr/>
          <p:nvPr/>
        </p:nvGrpSpPr>
        <p:grpSpPr>
          <a:xfrm>
            <a:off x="827532" y="1219202"/>
            <a:ext cx="7488936" cy="84403"/>
            <a:chOff x="1073150" y="1219201"/>
            <a:chExt cx="10058400" cy="63125"/>
          </a:xfrm>
        </p:grpSpPr>
        <p:cxnSp>
          <p:nvCxnSpPr>
            <p:cNvPr id="13" name="直接连接符​​ 12"/>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462510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800" rtl="0" eaLnBrk="1" latinLnBrk="0" hangingPunct="1">
        <a:lnSpc>
          <a:spcPct val="90000"/>
        </a:lnSpc>
        <a:spcBef>
          <a:spcPct val="0"/>
        </a:spcBef>
        <a:buNone/>
        <a:defRPr sz="2100" kern="1200">
          <a:solidFill>
            <a:schemeClr val="tx1"/>
          </a:solidFill>
          <a:latin typeface="微软雅黑" panose="020B0503020204020204" pitchFamily="34" charset="-122"/>
          <a:ea typeface="微软雅黑" panose="020B0503020204020204" pitchFamily="34" charset="-122"/>
          <a:cs typeface="+mj-cs"/>
        </a:defRPr>
      </a:lvl1pPr>
    </p:titleStyle>
    <p:body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p:bodyStyle>
    <p:otherStyle>
      <a:defPPr>
        <a:defRP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522" userDrawn="1">
          <p15:clr>
            <a:srgbClr val="F26B43"/>
          </p15:clr>
        </p15:guide>
        <p15:guide id="2" pos="5238" userDrawn="1">
          <p15:clr>
            <a:srgbClr val="F26B43"/>
          </p15:clr>
        </p15:guide>
        <p15:guide id="3" orient="horz" pos="1008" userDrawn="1">
          <p15:clr>
            <a:srgbClr val="F26B43"/>
          </p15:clr>
        </p15:guide>
        <p15:guide id="4" orient="horz" pos="388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3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41.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vmlDrawing" Target="../drawings/vmlDrawing1.vml"/><Relationship Id="rId4" Type="http://schemas.openxmlformats.org/officeDocument/2006/relationships/image" Target="../media/image54.w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ctrTitle"/>
          </p:nvPr>
        </p:nvSpPr>
        <p:spPr>
          <a:xfrm>
            <a:off x="828675" y="2576321"/>
            <a:ext cx="4300538" cy="1664768"/>
          </a:xfrm>
        </p:spPr>
        <p:txBody>
          <a:bodyPr rtlCol="0" anchor="ctr"/>
          <a:lstStyle/>
          <a:p>
            <a:pPr rtl="0"/>
            <a:r>
              <a:rPr lang="en-US" altLang="zh-CN" dirty="0"/>
              <a:t>Compilers</a:t>
            </a:r>
            <a:endParaRPr lang="en-US" dirty="0">
              <a:latin typeface="微软雅黑" panose="020B0503020204020204" pitchFamily="34" charset="-122"/>
              <a:ea typeface="微软雅黑" panose="020B0503020204020204" pitchFamily="34" charset="-122"/>
            </a:endParaRPr>
          </a:p>
        </p:txBody>
      </p:sp>
      <p:sp>
        <p:nvSpPr>
          <p:cNvPr id="7" name="副标题 6"/>
          <p:cNvSpPr>
            <a:spLocks noGrp="1"/>
          </p:cNvSpPr>
          <p:nvPr>
            <p:ph type="subTitle" idx="1"/>
          </p:nvPr>
        </p:nvSpPr>
        <p:spPr>
          <a:xfrm>
            <a:off x="828675" y="3879543"/>
            <a:ext cx="4300538" cy="1473692"/>
          </a:xfrm>
        </p:spPr>
        <p:txBody>
          <a:bodyPr rtlCol="0">
            <a:normAutofit/>
          </a:bodyPr>
          <a:lstStyle/>
          <a:p>
            <a:pPr rtl="0"/>
            <a:r>
              <a:rPr lang="en-US" sz="2000" dirty="0"/>
              <a:t>Principles, Techniques, &amp; Tools</a:t>
            </a:r>
          </a:p>
          <a:p>
            <a:pPr rtl="0"/>
            <a:endParaRPr lang="en-US" sz="2000" dirty="0">
              <a:latin typeface="微软雅黑" panose="020B0503020204020204" pitchFamily="34" charset="-122"/>
              <a:ea typeface="微软雅黑" panose="020B0503020204020204" pitchFamily="34" charset="-122"/>
            </a:endParaRPr>
          </a:p>
          <a:p>
            <a:pPr rtl="0"/>
            <a:endParaRPr lang="en-US" sz="2000" dirty="0">
              <a:latin typeface="微软雅黑" panose="020B0503020204020204" pitchFamily="34" charset="-122"/>
              <a:ea typeface="微软雅黑" panose="020B0503020204020204" pitchFamily="34" charset="-122"/>
            </a:endParaRPr>
          </a:p>
          <a:p>
            <a:pPr rtl="0"/>
            <a:r>
              <a:rPr lang="en-US" sz="2000" dirty="0">
                <a:latin typeface="微软雅黑" panose="020B0503020204020204" pitchFamily="34" charset="-122"/>
                <a:ea typeface="微软雅黑" panose="020B0503020204020204" pitchFamily="34" charset="-122"/>
              </a:rPr>
              <a:t>Taught by Jing Zhang </a:t>
            </a:r>
          </a:p>
          <a:p>
            <a:pPr rtl="0"/>
            <a:r>
              <a:rPr lang="en-US" sz="2000" dirty="0">
                <a:latin typeface="微软雅黑" panose="020B0503020204020204" pitchFamily="34" charset="-122"/>
                <a:ea typeface="微软雅黑" panose="020B0503020204020204" pitchFamily="34" charset="-122"/>
              </a:rPr>
              <a:t>(jzhang@njust.edu.cn)</a:t>
            </a:r>
          </a:p>
        </p:txBody>
      </p:sp>
      <p:pic>
        <p:nvPicPr>
          <p:cNvPr id="4" name="图片占位符 3" descr="桌上一本打开的书，书架在背景中模糊显示" title="示例图片"/>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l="8805" r="8805"/>
          <a:stretch>
            <a:fillRect/>
          </a:stretch>
        </p:blipFill>
        <p:spPr/>
      </p:pic>
    </p:spTree>
    <p:extLst>
      <p:ext uri="{BB962C8B-B14F-4D97-AF65-F5344CB8AC3E}">
        <p14:creationId xmlns:p14="http://schemas.microsoft.com/office/powerpoint/2010/main" val="16521339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r>
              <a:rPr lang="en-US" altLang="zh-CN" dirty="0"/>
              <a:t>Syntax-Directed Translation</a:t>
            </a:r>
            <a:endParaRPr lang="en-US" dirty="0"/>
          </a:p>
        </p:txBody>
      </p:sp>
      <p:sp>
        <p:nvSpPr>
          <p:cNvPr id="3" name="文本占位符 2"/>
          <p:cNvSpPr>
            <a:spLocks noGrp="1"/>
          </p:cNvSpPr>
          <p:nvPr>
            <p:ph type="body" idx="1"/>
          </p:nvPr>
        </p:nvSpPr>
        <p:spPr/>
        <p:txBody>
          <a:bodyPr rtlCol="0"/>
          <a:lstStyle/>
          <a:p>
            <a:pPr rtl="0"/>
            <a:endParaRPr lang="en-US"/>
          </a:p>
        </p:txBody>
      </p:sp>
    </p:spTree>
    <p:extLst>
      <p:ext uri="{BB962C8B-B14F-4D97-AF65-F5344CB8AC3E}">
        <p14:creationId xmlns:p14="http://schemas.microsoft.com/office/powerpoint/2010/main" val="1328843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Outlines</a:t>
            </a:r>
            <a:endParaRPr lang="zh-CN" altLang="en-US" dirty="0"/>
          </a:p>
        </p:txBody>
      </p:sp>
      <p:sp>
        <p:nvSpPr>
          <p:cNvPr id="3" name="内容占位符 2"/>
          <p:cNvSpPr>
            <a:spLocks noGrp="1"/>
          </p:cNvSpPr>
          <p:nvPr>
            <p:ph idx="1"/>
          </p:nvPr>
        </p:nvSpPr>
        <p:spPr/>
        <p:txBody>
          <a:bodyPr/>
          <a:lstStyle/>
          <a:p>
            <a:r>
              <a:rPr lang="en-US" altLang="zh-CN" dirty="0"/>
              <a:t>Introduction</a:t>
            </a:r>
          </a:p>
          <a:p>
            <a:r>
              <a:rPr lang="en-US" altLang="zh-CN" dirty="0"/>
              <a:t>Syntax-Directed Definitions</a:t>
            </a:r>
          </a:p>
          <a:p>
            <a:r>
              <a:rPr lang="en-US" altLang="zh-CN" dirty="0"/>
              <a:t>Evaluation Orders for SDD 's</a:t>
            </a:r>
          </a:p>
          <a:p>
            <a:r>
              <a:rPr lang="en-US" altLang="zh-CN" dirty="0"/>
              <a:t>Applications of Syntax-Directed Translation</a:t>
            </a:r>
          </a:p>
          <a:p>
            <a:r>
              <a:rPr lang="en-US" altLang="zh-CN" dirty="0"/>
              <a:t>Syntax-Directed Translation Schemes</a:t>
            </a:r>
          </a:p>
          <a:p>
            <a:r>
              <a:rPr lang="en-US" altLang="zh-CN" dirty="0" smtClean="0"/>
              <a:t>Implementing </a:t>
            </a:r>
            <a:r>
              <a:rPr lang="en-US" altLang="zh-CN" dirty="0"/>
              <a:t>L-Attributed SDD 's</a:t>
            </a:r>
          </a:p>
          <a:p>
            <a:pPr marL="0" indent="0">
              <a:buNone/>
            </a:pPr>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p:txBody>
      </p:sp>
    </p:spTree>
    <p:extLst>
      <p:ext uri="{BB962C8B-B14F-4D97-AF65-F5344CB8AC3E}">
        <p14:creationId xmlns:p14="http://schemas.microsoft.com/office/powerpoint/2010/main" val="1955709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6.1 Introduction</a:t>
            </a:r>
            <a:endParaRPr lang="zh-CN" altLang="en-US" dirty="0"/>
          </a:p>
        </p:txBody>
      </p:sp>
      <p:sp>
        <p:nvSpPr>
          <p:cNvPr id="3" name="内容占位符 2"/>
          <p:cNvSpPr>
            <a:spLocks noGrp="1"/>
          </p:cNvSpPr>
          <p:nvPr>
            <p:ph idx="1"/>
          </p:nvPr>
        </p:nvSpPr>
        <p:spPr>
          <a:xfrm>
            <a:off x="828675" y="1600200"/>
            <a:ext cx="7486650" cy="2030767"/>
          </a:xfrm>
        </p:spPr>
        <p:txBody>
          <a:bodyPr>
            <a:normAutofit/>
          </a:bodyPr>
          <a:lstStyle/>
          <a:p>
            <a:pPr>
              <a:lnSpc>
                <a:spcPct val="100000"/>
              </a:lnSpc>
              <a:spcBef>
                <a:spcPts val="600"/>
              </a:spcBef>
            </a:pPr>
            <a:r>
              <a:rPr lang="en-US" altLang="zh-CN" sz="1800" dirty="0"/>
              <a:t>We associate information with a language construct by attaching attributes to the grammar symbol(s) representing the construct.</a:t>
            </a:r>
          </a:p>
          <a:p>
            <a:pPr>
              <a:lnSpc>
                <a:spcPct val="100000"/>
              </a:lnSpc>
              <a:spcBef>
                <a:spcPts val="600"/>
              </a:spcBef>
            </a:pPr>
            <a:endParaRPr lang="en-US" altLang="zh-CN" sz="1800" dirty="0"/>
          </a:p>
          <a:p>
            <a:pPr>
              <a:lnSpc>
                <a:spcPct val="100000"/>
              </a:lnSpc>
              <a:spcBef>
                <a:spcPts val="600"/>
              </a:spcBef>
            </a:pPr>
            <a:r>
              <a:rPr lang="en-US" altLang="zh-CN" sz="1800" dirty="0"/>
              <a:t>A </a:t>
            </a:r>
            <a:r>
              <a:rPr lang="en-US" altLang="zh-CN" sz="1800" dirty="0">
                <a:solidFill>
                  <a:srgbClr val="7030A0"/>
                </a:solidFill>
              </a:rPr>
              <a:t>syntax-directed definition </a:t>
            </a:r>
            <a:r>
              <a:rPr lang="en-US" altLang="zh-CN" sz="1800" dirty="0"/>
              <a:t>specifies the values of attributes by associating </a:t>
            </a:r>
            <a:r>
              <a:rPr lang="en-US" altLang="zh-CN" sz="1800" b="1" dirty="0"/>
              <a:t>semantic rules </a:t>
            </a:r>
            <a:r>
              <a:rPr lang="en-US" altLang="zh-CN" sz="1800" dirty="0"/>
              <a:t>with the grammar productions.</a:t>
            </a:r>
            <a:endParaRPr lang="zh-CN" altLang="en-US" sz="1800" dirty="0"/>
          </a:p>
        </p:txBody>
      </p:sp>
      <p:pic>
        <p:nvPicPr>
          <p:cNvPr id="6" name="图片 5">
            <a:extLst>
              <a:ext uri="{FF2B5EF4-FFF2-40B4-BE49-F238E27FC236}">
                <a16:creationId xmlns:a16="http://schemas.microsoft.com/office/drawing/2014/main" xmlns="" id="{7C82A730-939B-4182-B617-CE5367D1FA16}"/>
              </a:ext>
            </a:extLst>
          </p:cNvPr>
          <p:cNvPicPr>
            <a:picLocks noChangeAspect="1"/>
          </p:cNvPicPr>
          <p:nvPr/>
        </p:nvPicPr>
        <p:blipFill>
          <a:blip r:embed="rId2"/>
          <a:stretch>
            <a:fillRect/>
          </a:stretch>
        </p:blipFill>
        <p:spPr>
          <a:xfrm>
            <a:off x="1681374" y="3520919"/>
            <a:ext cx="5585944" cy="899238"/>
          </a:xfrm>
          <a:prstGeom prst="rect">
            <a:avLst/>
          </a:prstGeom>
        </p:spPr>
      </p:pic>
      <p:sp>
        <p:nvSpPr>
          <p:cNvPr id="7" name="矩形 6">
            <a:extLst>
              <a:ext uri="{FF2B5EF4-FFF2-40B4-BE49-F238E27FC236}">
                <a16:creationId xmlns:a16="http://schemas.microsoft.com/office/drawing/2014/main" xmlns="" id="{225F7DE6-80B3-4B12-AF4E-4BFB981B7694}"/>
              </a:ext>
            </a:extLst>
          </p:cNvPr>
          <p:cNvSpPr/>
          <p:nvPr/>
        </p:nvSpPr>
        <p:spPr>
          <a:xfrm>
            <a:off x="1566907" y="4690351"/>
            <a:ext cx="3281244" cy="369332"/>
          </a:xfrm>
          <a:prstGeom prst="rect">
            <a:avLst/>
          </a:prstGeom>
        </p:spPr>
        <p:txBody>
          <a:bodyPr wrap="square">
            <a:spAutoFit/>
          </a:bodyPr>
          <a:lstStyle/>
          <a:p>
            <a:r>
              <a:rPr lang="en-US" altLang="zh-CN" dirty="0"/>
              <a:t>An  infix-to-postfix translator</a:t>
            </a:r>
            <a:endParaRPr lang="zh-CN" altLang="en-US" dirty="0"/>
          </a:p>
        </p:txBody>
      </p:sp>
      <p:sp>
        <p:nvSpPr>
          <p:cNvPr id="8" name="矩形 7">
            <a:extLst>
              <a:ext uri="{FF2B5EF4-FFF2-40B4-BE49-F238E27FC236}">
                <a16:creationId xmlns:a16="http://schemas.microsoft.com/office/drawing/2014/main" xmlns="" id="{8CD4E63D-BCA8-466C-A68C-308C2F92ADBE}"/>
              </a:ext>
            </a:extLst>
          </p:cNvPr>
          <p:cNvSpPr/>
          <p:nvPr/>
        </p:nvSpPr>
        <p:spPr>
          <a:xfrm>
            <a:off x="4474346" y="4707443"/>
            <a:ext cx="4345620" cy="1200329"/>
          </a:xfrm>
          <a:prstGeom prst="rect">
            <a:avLst/>
          </a:prstGeom>
        </p:spPr>
        <p:txBody>
          <a:bodyPr wrap="square">
            <a:spAutoFit/>
          </a:bodyPr>
          <a:lstStyle/>
          <a:p>
            <a:r>
              <a:rPr lang="en-US" altLang="zh-CN" dirty="0"/>
              <a:t>S</a:t>
            </a:r>
            <a:r>
              <a:rPr lang="en-US" altLang="zh-CN" dirty="0" smtClean="0"/>
              <a:t>ubscript </a:t>
            </a:r>
            <a:r>
              <a:rPr lang="en-US" altLang="zh-CN" dirty="0"/>
              <a:t>in E</a:t>
            </a:r>
            <a:r>
              <a:rPr lang="en-US" altLang="zh-CN" baseline="-25000" dirty="0"/>
              <a:t>1</a:t>
            </a:r>
            <a:r>
              <a:rPr lang="en-US" altLang="zh-CN" dirty="0"/>
              <a:t> distinguishes the occurrence of E in the production body from the occurrence of E as the </a:t>
            </a:r>
            <a:r>
              <a:rPr lang="en-US" altLang="zh-CN" dirty="0" smtClean="0"/>
              <a:t>head.</a:t>
            </a:r>
            <a:endParaRPr lang="zh-CN" altLang="en-US" dirty="0"/>
          </a:p>
        </p:txBody>
      </p:sp>
      <p:cxnSp>
        <p:nvCxnSpPr>
          <p:cNvPr id="10" name="直接箭头连接符 9">
            <a:extLst>
              <a:ext uri="{FF2B5EF4-FFF2-40B4-BE49-F238E27FC236}">
                <a16:creationId xmlns:a16="http://schemas.microsoft.com/office/drawing/2014/main" xmlns="" id="{2A0BE18E-BFD3-485C-AB52-987C9F69FDA5}"/>
              </a:ext>
            </a:extLst>
          </p:cNvPr>
          <p:cNvCxnSpPr/>
          <p:nvPr/>
        </p:nvCxnSpPr>
        <p:spPr>
          <a:xfrm flipH="1" flipV="1">
            <a:off x="5211192" y="4252404"/>
            <a:ext cx="452761" cy="451411"/>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70107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24F4F8E7-4DA6-4043-A142-FFD00000D364}"/>
              </a:ext>
            </a:extLst>
          </p:cNvPr>
          <p:cNvSpPr>
            <a:spLocks noGrp="1"/>
          </p:cNvSpPr>
          <p:nvPr>
            <p:ph type="title"/>
          </p:nvPr>
        </p:nvSpPr>
        <p:spPr/>
        <p:txBody>
          <a:bodyPr/>
          <a:lstStyle/>
          <a:p>
            <a:r>
              <a:rPr lang="en-US" altLang="zh-CN" dirty="0"/>
              <a:t>6.1 Introduction</a:t>
            </a:r>
            <a:endParaRPr lang="zh-CN" altLang="en-US" dirty="0"/>
          </a:p>
        </p:txBody>
      </p:sp>
      <p:sp>
        <p:nvSpPr>
          <p:cNvPr id="3" name="内容占位符 2">
            <a:extLst>
              <a:ext uri="{FF2B5EF4-FFF2-40B4-BE49-F238E27FC236}">
                <a16:creationId xmlns:a16="http://schemas.microsoft.com/office/drawing/2014/main" xmlns="" id="{EDE2676F-59AB-4DD6-B234-479EC08E73DD}"/>
              </a:ext>
            </a:extLst>
          </p:cNvPr>
          <p:cNvSpPr>
            <a:spLocks noGrp="1"/>
          </p:cNvSpPr>
          <p:nvPr>
            <p:ph idx="1"/>
          </p:nvPr>
        </p:nvSpPr>
        <p:spPr>
          <a:xfrm>
            <a:off x="828675" y="1600200"/>
            <a:ext cx="7486650" cy="1080856"/>
          </a:xfrm>
        </p:spPr>
        <p:txBody>
          <a:bodyPr>
            <a:normAutofit/>
          </a:bodyPr>
          <a:lstStyle/>
          <a:p>
            <a:pPr>
              <a:lnSpc>
                <a:spcPct val="100000"/>
              </a:lnSpc>
            </a:pPr>
            <a:r>
              <a:rPr lang="en-US" altLang="zh-CN" sz="1800" dirty="0"/>
              <a:t>A syntax-directed translation scheme embeds program fragments called semantic actions within production bodies.</a:t>
            </a:r>
            <a:endParaRPr lang="zh-CN" altLang="en-US" sz="1800" dirty="0"/>
          </a:p>
        </p:txBody>
      </p:sp>
      <p:sp>
        <p:nvSpPr>
          <p:cNvPr id="5" name="矩形 4">
            <a:extLst>
              <a:ext uri="{FF2B5EF4-FFF2-40B4-BE49-F238E27FC236}">
                <a16:creationId xmlns:a16="http://schemas.microsoft.com/office/drawing/2014/main" xmlns="" id="{39DE9480-8F05-44FA-97B1-FF50EF5D73D0}"/>
              </a:ext>
            </a:extLst>
          </p:cNvPr>
          <p:cNvSpPr/>
          <p:nvPr/>
        </p:nvSpPr>
        <p:spPr>
          <a:xfrm>
            <a:off x="1060881" y="3023248"/>
            <a:ext cx="7044432" cy="1477328"/>
          </a:xfrm>
          <a:prstGeom prst="rect">
            <a:avLst/>
          </a:prstGeom>
        </p:spPr>
        <p:txBody>
          <a:bodyPr wrap="square">
            <a:spAutoFit/>
          </a:bodyPr>
          <a:lstStyle/>
          <a:p>
            <a:r>
              <a:rPr lang="en-US" altLang="zh-CN" u="sng" dirty="0">
                <a:solidFill>
                  <a:srgbClr val="7030A0"/>
                </a:solidFill>
                <a:latin typeface="微软雅黑" panose="020B0503020204020204" pitchFamily="34" charset="-122"/>
                <a:ea typeface="微软雅黑" panose="020B0503020204020204" pitchFamily="34" charset="-122"/>
              </a:rPr>
              <a:t>The position of a semantic action </a:t>
            </a:r>
            <a:r>
              <a:rPr lang="en-US" altLang="zh-CN" dirty="0">
                <a:latin typeface="微软雅黑" panose="020B0503020204020204" pitchFamily="34" charset="-122"/>
                <a:ea typeface="微软雅黑" panose="020B0503020204020204" pitchFamily="34" charset="-122"/>
              </a:rPr>
              <a:t>in a production body </a:t>
            </a:r>
            <a:r>
              <a:rPr lang="en-US" altLang="zh-CN" dirty="0" smtClean="0">
                <a:latin typeface="微软雅黑" panose="020B0503020204020204" pitchFamily="34" charset="-122"/>
                <a:ea typeface="微软雅黑" panose="020B0503020204020204" pitchFamily="34" charset="-122"/>
              </a:rPr>
              <a:t>determines the </a:t>
            </a:r>
            <a:r>
              <a:rPr lang="en-US" altLang="zh-CN" dirty="0">
                <a:latin typeface="微软雅黑" panose="020B0503020204020204" pitchFamily="34" charset="-122"/>
                <a:ea typeface="微软雅黑" panose="020B0503020204020204" pitchFamily="34" charset="-122"/>
              </a:rPr>
              <a:t>order in which the action is executed. In production (5. 2) , the </a:t>
            </a:r>
            <a:r>
              <a:rPr lang="en-US" altLang="zh-CN" dirty="0" smtClean="0">
                <a:latin typeface="微软雅黑" panose="020B0503020204020204" pitchFamily="34" charset="-122"/>
                <a:ea typeface="微软雅黑" panose="020B0503020204020204" pitchFamily="34" charset="-122"/>
              </a:rPr>
              <a:t>action occurs </a:t>
            </a:r>
            <a:r>
              <a:rPr lang="en-US" altLang="zh-CN" dirty="0">
                <a:latin typeface="微软雅黑" panose="020B0503020204020204" pitchFamily="34" charset="-122"/>
                <a:ea typeface="微软雅黑" panose="020B0503020204020204" pitchFamily="34" charset="-122"/>
              </a:rPr>
              <a:t>at the end , after all the grammar symbols; in general, semantic actions may occur at any position in a production body.</a:t>
            </a:r>
            <a:endParaRPr lang="zh-CN" altLang="en-US" dirty="0">
              <a:latin typeface="微软雅黑" panose="020B0503020204020204" pitchFamily="34" charset="-122"/>
              <a:ea typeface="微软雅黑" panose="020B0503020204020204" pitchFamily="34" charset="-122"/>
            </a:endParaRPr>
          </a:p>
        </p:txBody>
      </p:sp>
      <p:pic>
        <p:nvPicPr>
          <p:cNvPr id="7" name="图片 6">
            <a:extLst>
              <a:ext uri="{FF2B5EF4-FFF2-40B4-BE49-F238E27FC236}">
                <a16:creationId xmlns:a16="http://schemas.microsoft.com/office/drawing/2014/main" xmlns="" id="{C9A7BF75-F594-43DA-AFC2-34EA0782CA66}"/>
              </a:ext>
            </a:extLst>
          </p:cNvPr>
          <p:cNvPicPr>
            <a:picLocks noChangeAspect="1"/>
          </p:cNvPicPr>
          <p:nvPr/>
        </p:nvPicPr>
        <p:blipFill>
          <a:blip r:embed="rId2"/>
          <a:stretch>
            <a:fillRect/>
          </a:stretch>
        </p:blipFill>
        <p:spPr>
          <a:xfrm>
            <a:off x="1862521" y="2437195"/>
            <a:ext cx="5441152" cy="487722"/>
          </a:xfrm>
          <a:prstGeom prst="rect">
            <a:avLst/>
          </a:prstGeom>
        </p:spPr>
      </p:pic>
      <p:sp>
        <p:nvSpPr>
          <p:cNvPr id="8" name="矩形 7">
            <a:extLst>
              <a:ext uri="{FF2B5EF4-FFF2-40B4-BE49-F238E27FC236}">
                <a16:creationId xmlns:a16="http://schemas.microsoft.com/office/drawing/2014/main" xmlns="" id="{24BFA8EF-A4B5-47C1-955D-97DA2A957F17}"/>
              </a:ext>
            </a:extLst>
          </p:cNvPr>
          <p:cNvSpPr/>
          <p:nvPr/>
        </p:nvSpPr>
        <p:spPr>
          <a:xfrm>
            <a:off x="1123025" y="4602579"/>
            <a:ext cx="6707080" cy="1200329"/>
          </a:xfrm>
          <a:prstGeom prst="rect">
            <a:avLst/>
          </a:prstGeom>
        </p:spPr>
        <p:txBody>
          <a:bodyPr wrap="square">
            <a:spAutoFit/>
          </a:bodyPr>
          <a:lstStyle/>
          <a:p>
            <a:r>
              <a:rPr lang="en-US" altLang="zh-CN" dirty="0">
                <a:latin typeface="微软雅黑" panose="020B0503020204020204" pitchFamily="34" charset="-122"/>
                <a:ea typeface="微软雅黑" panose="020B0503020204020204" pitchFamily="34" charset="-122"/>
              </a:rPr>
              <a:t>Between the two notations, </a:t>
            </a:r>
            <a:r>
              <a:rPr lang="en-US" altLang="zh-CN" b="1" u="sng" dirty="0">
                <a:solidFill>
                  <a:srgbClr val="7030A0"/>
                </a:solidFill>
                <a:latin typeface="微软雅黑" panose="020B0503020204020204" pitchFamily="34" charset="-122"/>
                <a:ea typeface="微软雅黑" panose="020B0503020204020204" pitchFamily="34" charset="-122"/>
              </a:rPr>
              <a:t>syntax-directed definitions </a:t>
            </a:r>
            <a:r>
              <a:rPr lang="en-US" altLang="zh-CN" dirty="0">
                <a:latin typeface="微软雅黑" panose="020B0503020204020204" pitchFamily="34" charset="-122"/>
                <a:ea typeface="微软雅黑" panose="020B0503020204020204" pitchFamily="34" charset="-122"/>
              </a:rPr>
              <a:t>can be more readable, and hence more useful for specifications. However, </a:t>
            </a:r>
            <a:r>
              <a:rPr lang="en-US" altLang="zh-CN" b="1" u="sng" dirty="0">
                <a:solidFill>
                  <a:srgbClr val="7030A0"/>
                </a:solidFill>
                <a:latin typeface="微软雅黑" panose="020B0503020204020204" pitchFamily="34" charset="-122"/>
                <a:ea typeface="微软雅黑" panose="020B0503020204020204" pitchFamily="34" charset="-122"/>
              </a:rPr>
              <a:t>translation schemes </a:t>
            </a:r>
            <a:r>
              <a:rPr lang="en-US" altLang="zh-CN" dirty="0">
                <a:latin typeface="微软雅黑" panose="020B0503020204020204" pitchFamily="34" charset="-122"/>
                <a:ea typeface="微软雅黑" panose="020B0503020204020204" pitchFamily="34" charset="-122"/>
              </a:rPr>
              <a:t>can be more efficient , and hence more useful for implementations.</a:t>
            </a:r>
            <a:endParaRPr lang="zh-CN" altLang="en-US"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5226896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0DD30E7F-B65C-4295-A0CF-6CA3E34F8DD8}"/>
              </a:ext>
            </a:extLst>
          </p:cNvPr>
          <p:cNvSpPr>
            <a:spLocks noGrp="1"/>
          </p:cNvSpPr>
          <p:nvPr>
            <p:ph type="title"/>
          </p:nvPr>
        </p:nvSpPr>
        <p:spPr/>
        <p:txBody>
          <a:bodyPr/>
          <a:lstStyle/>
          <a:p>
            <a:r>
              <a:rPr lang="en-US" altLang="zh-CN" dirty="0"/>
              <a:t>6.2 Syntax-Directed Definitions</a:t>
            </a:r>
            <a:endParaRPr lang="zh-CN" altLang="en-US" dirty="0"/>
          </a:p>
        </p:txBody>
      </p:sp>
      <p:sp>
        <p:nvSpPr>
          <p:cNvPr id="3" name="内容占位符 2">
            <a:extLst>
              <a:ext uri="{FF2B5EF4-FFF2-40B4-BE49-F238E27FC236}">
                <a16:creationId xmlns:a16="http://schemas.microsoft.com/office/drawing/2014/main" xmlns="" id="{6075EA04-0D09-47A3-898C-E17D4DE095B3}"/>
              </a:ext>
            </a:extLst>
          </p:cNvPr>
          <p:cNvSpPr>
            <a:spLocks noGrp="1"/>
          </p:cNvSpPr>
          <p:nvPr>
            <p:ph idx="1"/>
          </p:nvPr>
        </p:nvSpPr>
        <p:spPr/>
        <p:txBody>
          <a:bodyPr>
            <a:normAutofit/>
          </a:bodyPr>
          <a:lstStyle/>
          <a:p>
            <a:pPr>
              <a:lnSpc>
                <a:spcPct val="100000"/>
              </a:lnSpc>
            </a:pPr>
            <a:r>
              <a:rPr lang="en-US" altLang="zh-CN" sz="1800" dirty="0"/>
              <a:t>A syntax-directed definition ( SDD) is a context-free grammar together with attributes and rules. Attributes are associated with grammar symbols and rules are associated with productions. </a:t>
            </a:r>
          </a:p>
          <a:p>
            <a:pPr>
              <a:lnSpc>
                <a:spcPct val="100000"/>
              </a:lnSpc>
            </a:pPr>
            <a:r>
              <a:rPr lang="en-US" altLang="zh-CN" sz="1800" dirty="0"/>
              <a:t>If X is a symbol and a is one of its attributes, then we write </a:t>
            </a:r>
            <a:r>
              <a:rPr lang="en-US" altLang="zh-CN" sz="1800" dirty="0" err="1"/>
              <a:t>X.a</a:t>
            </a:r>
            <a:r>
              <a:rPr lang="en-US" altLang="zh-CN" sz="1800" dirty="0"/>
              <a:t> to denote the value of </a:t>
            </a:r>
            <a:r>
              <a:rPr lang="en-US" altLang="zh-CN" sz="1800" i="1" dirty="0"/>
              <a:t>a</a:t>
            </a:r>
            <a:r>
              <a:rPr lang="en-US" altLang="zh-CN" sz="1800" dirty="0"/>
              <a:t> at a particular parse-tree node labeled X.</a:t>
            </a:r>
          </a:p>
          <a:p>
            <a:pPr>
              <a:lnSpc>
                <a:spcPct val="100000"/>
              </a:lnSpc>
            </a:pPr>
            <a:endParaRPr lang="en-US" altLang="zh-CN" sz="1800" dirty="0"/>
          </a:p>
          <a:p>
            <a:pPr>
              <a:lnSpc>
                <a:spcPct val="100000"/>
              </a:lnSpc>
            </a:pPr>
            <a:r>
              <a:rPr lang="en-US" altLang="zh-CN" sz="1800" dirty="0"/>
              <a:t>Attributes may be of any kind: numbers , types , table references , or strings, for instance. The strings may even be long sequences of code, say code in the intermediate language used by a compiler.</a:t>
            </a:r>
          </a:p>
        </p:txBody>
      </p:sp>
    </p:spTree>
    <p:extLst>
      <p:ext uri="{BB962C8B-B14F-4D97-AF65-F5344CB8AC3E}">
        <p14:creationId xmlns:p14="http://schemas.microsoft.com/office/powerpoint/2010/main" val="306129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normAutofit/>
          </a:bodyPr>
          <a:lstStyle/>
          <a:p>
            <a:pPr>
              <a:lnSpc>
                <a:spcPct val="100000"/>
              </a:lnSpc>
            </a:pPr>
            <a:r>
              <a:rPr lang="en-US" altLang="zh-CN" sz="1800" b="1" i="1" u="sng" dirty="0">
                <a:solidFill>
                  <a:srgbClr val="7030A0"/>
                </a:solidFill>
              </a:rPr>
              <a:t>A synthesized attribute </a:t>
            </a:r>
            <a:r>
              <a:rPr lang="en-US" altLang="zh-CN" sz="1800" dirty="0"/>
              <a:t>for a nonterminal </a:t>
            </a:r>
            <a:r>
              <a:rPr lang="en-US" altLang="zh-CN" sz="1800" i="1" dirty="0">
                <a:solidFill>
                  <a:srgbClr val="FF0000"/>
                </a:solidFill>
              </a:rPr>
              <a:t>A</a:t>
            </a:r>
            <a:r>
              <a:rPr lang="en-US" altLang="zh-CN" sz="1800" i="1" dirty="0"/>
              <a:t> </a:t>
            </a:r>
            <a:r>
              <a:rPr lang="en-US" altLang="zh-CN" sz="1800" dirty="0"/>
              <a:t>at a parse-tree node </a:t>
            </a:r>
            <a:r>
              <a:rPr lang="en-US" altLang="zh-CN" sz="1800" i="1" dirty="0">
                <a:solidFill>
                  <a:srgbClr val="00B050"/>
                </a:solidFill>
              </a:rPr>
              <a:t>N </a:t>
            </a:r>
            <a:r>
              <a:rPr lang="en-US" altLang="zh-CN" sz="1800" i="1" dirty="0" smtClean="0">
                <a:solidFill>
                  <a:srgbClr val="00B050"/>
                </a:solidFill>
              </a:rPr>
              <a:t> </a:t>
            </a:r>
            <a:r>
              <a:rPr lang="en-US" altLang="zh-CN" sz="1800" dirty="0" smtClean="0"/>
              <a:t>is </a:t>
            </a:r>
            <a:r>
              <a:rPr lang="en-US" altLang="zh-CN" sz="1800" dirty="0"/>
              <a:t>defined by a semantic rule associated with the production at </a:t>
            </a:r>
            <a:r>
              <a:rPr lang="en-US" altLang="zh-CN" sz="1800" i="1" dirty="0">
                <a:solidFill>
                  <a:srgbClr val="00B050"/>
                </a:solidFill>
              </a:rPr>
              <a:t>N</a:t>
            </a:r>
            <a:r>
              <a:rPr lang="en-US" altLang="zh-CN" sz="1800" dirty="0"/>
              <a:t>. </a:t>
            </a:r>
            <a:r>
              <a:rPr lang="en-US" altLang="zh-CN" sz="1800" dirty="0" smtClean="0"/>
              <a:t>   Note </a:t>
            </a:r>
            <a:r>
              <a:rPr lang="en-US" altLang="zh-CN" sz="1800" dirty="0"/>
              <a:t>that the production must have </a:t>
            </a:r>
            <a:r>
              <a:rPr lang="en-US" altLang="zh-CN" sz="1800" i="1" dirty="0">
                <a:solidFill>
                  <a:srgbClr val="FF0000"/>
                </a:solidFill>
              </a:rPr>
              <a:t>A</a:t>
            </a:r>
            <a:r>
              <a:rPr lang="en-US" altLang="zh-CN" sz="1800" dirty="0"/>
              <a:t> as its head. </a:t>
            </a:r>
            <a:r>
              <a:rPr lang="en-US" altLang="zh-CN" sz="1800" dirty="0" smtClean="0"/>
              <a:t>A synthesized </a:t>
            </a:r>
            <a:r>
              <a:rPr lang="en-US" altLang="zh-CN" sz="1800" dirty="0"/>
              <a:t>attribute at node </a:t>
            </a:r>
            <a:r>
              <a:rPr lang="en-US" altLang="zh-CN" sz="1800" i="1" dirty="0">
                <a:solidFill>
                  <a:srgbClr val="00B050"/>
                </a:solidFill>
              </a:rPr>
              <a:t>N</a:t>
            </a:r>
            <a:r>
              <a:rPr lang="en-US" altLang="zh-CN" sz="1800" i="1" dirty="0"/>
              <a:t> </a:t>
            </a:r>
            <a:r>
              <a:rPr lang="en-US" altLang="zh-CN" sz="1800" dirty="0"/>
              <a:t>is defined only in terms of attribute values at the children of </a:t>
            </a:r>
            <a:r>
              <a:rPr lang="en-US" altLang="zh-CN" sz="1800" i="1" dirty="0">
                <a:solidFill>
                  <a:srgbClr val="00B050"/>
                </a:solidFill>
              </a:rPr>
              <a:t>N</a:t>
            </a:r>
            <a:r>
              <a:rPr lang="en-US" altLang="zh-CN" sz="1800" dirty="0"/>
              <a:t> and at </a:t>
            </a:r>
            <a:r>
              <a:rPr lang="en-US" altLang="zh-CN" sz="1800" i="1" dirty="0">
                <a:solidFill>
                  <a:srgbClr val="00B050"/>
                </a:solidFill>
              </a:rPr>
              <a:t>N</a:t>
            </a:r>
            <a:r>
              <a:rPr lang="en-US" altLang="zh-CN" sz="1800" dirty="0"/>
              <a:t> itself.</a:t>
            </a:r>
          </a:p>
          <a:p>
            <a:pPr>
              <a:lnSpc>
                <a:spcPct val="100000"/>
              </a:lnSpc>
            </a:pPr>
            <a:endParaRPr lang="en-US" altLang="zh-CN" sz="1800" dirty="0"/>
          </a:p>
          <a:p>
            <a:pPr>
              <a:lnSpc>
                <a:spcPct val="100000"/>
              </a:lnSpc>
            </a:pPr>
            <a:r>
              <a:rPr lang="en-US" altLang="zh-CN" sz="1800" b="1" i="1" u="sng" dirty="0">
                <a:solidFill>
                  <a:srgbClr val="7030A0"/>
                </a:solidFill>
              </a:rPr>
              <a:t>An inherited attribute </a:t>
            </a:r>
            <a:r>
              <a:rPr lang="en-US" altLang="zh-CN" sz="1800" dirty="0"/>
              <a:t>for a nonterminal </a:t>
            </a:r>
            <a:r>
              <a:rPr lang="en-US" altLang="zh-CN" sz="1800" i="1" dirty="0">
                <a:solidFill>
                  <a:srgbClr val="FF0000"/>
                </a:solidFill>
              </a:rPr>
              <a:t>B</a:t>
            </a:r>
            <a:r>
              <a:rPr lang="en-US" altLang="zh-CN" sz="1800" dirty="0"/>
              <a:t> at a parse-tree node </a:t>
            </a:r>
            <a:r>
              <a:rPr lang="en-US" altLang="zh-CN" sz="1800" i="1" dirty="0">
                <a:solidFill>
                  <a:srgbClr val="00B050"/>
                </a:solidFill>
              </a:rPr>
              <a:t>N</a:t>
            </a:r>
            <a:r>
              <a:rPr lang="en-US" altLang="zh-CN" sz="1800" dirty="0"/>
              <a:t> is defined by a semantic rule associated with the production at the parent of </a:t>
            </a:r>
            <a:r>
              <a:rPr lang="en-US" altLang="zh-CN" sz="1800" i="1" dirty="0">
                <a:solidFill>
                  <a:srgbClr val="00B050"/>
                </a:solidFill>
              </a:rPr>
              <a:t>N</a:t>
            </a:r>
            <a:r>
              <a:rPr lang="en-US" altLang="zh-CN" sz="1800" dirty="0"/>
              <a:t>. </a:t>
            </a:r>
            <a:r>
              <a:rPr lang="en-US" altLang="zh-CN" sz="1800" dirty="0" smtClean="0"/>
              <a:t> Note </a:t>
            </a:r>
            <a:r>
              <a:rPr lang="en-US" altLang="zh-CN" sz="1800" dirty="0"/>
              <a:t>that the production must have </a:t>
            </a:r>
            <a:r>
              <a:rPr lang="en-US" altLang="zh-CN" sz="1800" i="1" dirty="0">
                <a:solidFill>
                  <a:srgbClr val="FF0000"/>
                </a:solidFill>
              </a:rPr>
              <a:t>B</a:t>
            </a:r>
            <a:r>
              <a:rPr lang="en-US" altLang="zh-CN" sz="1800" dirty="0"/>
              <a:t> as a symbol in its body. An inherited attribute at node </a:t>
            </a:r>
            <a:r>
              <a:rPr lang="en-US" altLang="zh-CN" sz="1800" i="1" dirty="0">
                <a:solidFill>
                  <a:srgbClr val="00B050"/>
                </a:solidFill>
              </a:rPr>
              <a:t>N</a:t>
            </a:r>
            <a:r>
              <a:rPr lang="en-US" altLang="zh-CN" sz="1800" dirty="0">
                <a:solidFill>
                  <a:srgbClr val="00B050"/>
                </a:solidFill>
              </a:rPr>
              <a:t> </a:t>
            </a:r>
            <a:r>
              <a:rPr lang="en-US" altLang="zh-CN" sz="1800" dirty="0"/>
              <a:t>is defined only in terms of attribute values at </a:t>
            </a:r>
            <a:r>
              <a:rPr lang="en-US" altLang="zh-CN" sz="1800" i="1" dirty="0">
                <a:solidFill>
                  <a:srgbClr val="00B050"/>
                </a:solidFill>
              </a:rPr>
              <a:t>N</a:t>
            </a:r>
            <a:r>
              <a:rPr lang="en-US" altLang="zh-CN" sz="1800" dirty="0"/>
              <a:t>'s parent , </a:t>
            </a:r>
            <a:r>
              <a:rPr lang="en-US" altLang="zh-CN" sz="1800" i="1" dirty="0">
                <a:solidFill>
                  <a:srgbClr val="00B050"/>
                </a:solidFill>
              </a:rPr>
              <a:t>N</a:t>
            </a:r>
            <a:r>
              <a:rPr lang="en-US" altLang="zh-CN" sz="1800" dirty="0">
                <a:solidFill>
                  <a:srgbClr val="00B050"/>
                </a:solidFill>
              </a:rPr>
              <a:t> </a:t>
            </a:r>
            <a:r>
              <a:rPr lang="en-US" altLang="zh-CN" sz="1800" dirty="0"/>
              <a:t>itself, and </a:t>
            </a:r>
            <a:r>
              <a:rPr lang="en-US" altLang="zh-CN" sz="1800" i="1" dirty="0">
                <a:solidFill>
                  <a:srgbClr val="00B050"/>
                </a:solidFill>
              </a:rPr>
              <a:t>N</a:t>
            </a:r>
            <a:r>
              <a:rPr lang="en-US" altLang="zh-CN" sz="1800" dirty="0"/>
              <a:t>'s siblings.</a:t>
            </a:r>
            <a:endParaRPr lang="zh-CN" altLang="en-US" sz="1800" dirty="0"/>
          </a:p>
        </p:txBody>
      </p:sp>
    </p:spTree>
    <p:extLst>
      <p:ext uri="{BB962C8B-B14F-4D97-AF65-F5344CB8AC3E}">
        <p14:creationId xmlns:p14="http://schemas.microsoft.com/office/powerpoint/2010/main" val="817625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a:xfrm>
            <a:off x="828675" y="1375640"/>
            <a:ext cx="7486650" cy="1224287"/>
          </a:xfrm>
        </p:spPr>
        <p:txBody>
          <a:bodyPr>
            <a:normAutofit/>
          </a:bodyPr>
          <a:lstStyle/>
          <a:p>
            <a:pPr>
              <a:lnSpc>
                <a:spcPct val="100000"/>
              </a:lnSpc>
            </a:pPr>
            <a:r>
              <a:rPr lang="en-US" altLang="zh-CN" sz="1600" dirty="0">
                <a:solidFill>
                  <a:srgbClr val="7030A0"/>
                </a:solidFill>
              </a:rPr>
              <a:t>Terminals can have synthesized attributes, but not inherited attributes. </a:t>
            </a:r>
            <a:r>
              <a:rPr lang="en-US" altLang="zh-CN" sz="1600" dirty="0"/>
              <a:t>Attributes for terminals have lexical values that are supplied by the lexical analyzer; there are no semantic rules in the SDD itself for computing the value of an attribute for a terminal.</a:t>
            </a:r>
            <a:endParaRPr lang="zh-CN" altLang="en-US" sz="1600" dirty="0"/>
          </a:p>
        </p:txBody>
      </p:sp>
      <p:pic>
        <p:nvPicPr>
          <p:cNvPr id="4" name="图片 3"/>
          <p:cNvPicPr>
            <a:picLocks noChangeAspect="1"/>
          </p:cNvPicPr>
          <p:nvPr/>
        </p:nvPicPr>
        <p:blipFill>
          <a:blip r:embed="rId2"/>
          <a:stretch>
            <a:fillRect/>
          </a:stretch>
        </p:blipFill>
        <p:spPr>
          <a:xfrm>
            <a:off x="828675" y="2437557"/>
            <a:ext cx="6999514" cy="4179397"/>
          </a:xfrm>
          <a:prstGeom prst="rect">
            <a:avLst/>
          </a:prstGeom>
        </p:spPr>
      </p:pic>
      <p:cxnSp>
        <p:nvCxnSpPr>
          <p:cNvPr id="6" name="直接连接符 5"/>
          <p:cNvCxnSpPr/>
          <p:nvPr/>
        </p:nvCxnSpPr>
        <p:spPr>
          <a:xfrm flipV="1">
            <a:off x="6911105" y="3284365"/>
            <a:ext cx="457200" cy="10886"/>
          </a:xfrm>
          <a:prstGeom prst="line">
            <a:avLst/>
          </a:prstGeom>
          <a:ln>
            <a:solidFill>
              <a:srgbClr val="FF0000"/>
            </a:solidFill>
          </a:ln>
        </p:spPr>
        <p:style>
          <a:lnRef idx="3">
            <a:schemeClr val="accent2"/>
          </a:lnRef>
          <a:fillRef idx="0">
            <a:schemeClr val="accent2"/>
          </a:fillRef>
          <a:effectRef idx="2">
            <a:schemeClr val="accent2"/>
          </a:effectRef>
          <a:fontRef idx="minor">
            <a:schemeClr val="tx1"/>
          </a:fontRef>
        </p:style>
      </p:cxnSp>
      <p:cxnSp>
        <p:nvCxnSpPr>
          <p:cNvPr id="8" name="直接连接符 7"/>
          <p:cNvCxnSpPr/>
          <p:nvPr/>
        </p:nvCxnSpPr>
        <p:spPr>
          <a:xfrm flipV="1">
            <a:off x="1014100" y="3439886"/>
            <a:ext cx="1632857" cy="10885"/>
          </a:xfrm>
          <a:prstGeom prst="line">
            <a:avLst/>
          </a:prstGeom>
          <a:ln>
            <a:solidFill>
              <a:srgbClr val="FF0000"/>
            </a:solidFill>
          </a:ln>
        </p:spPr>
        <p:style>
          <a:lnRef idx="3">
            <a:schemeClr val="accent2"/>
          </a:lnRef>
          <a:fillRef idx="0">
            <a:schemeClr val="accent2"/>
          </a:fillRef>
          <a:effectRef idx="2">
            <a:schemeClr val="accent2"/>
          </a:effectRef>
          <a:fontRef idx="minor">
            <a:schemeClr val="tx1"/>
          </a:fontRef>
        </p:style>
      </p:cxnSp>
      <p:sp>
        <p:nvSpPr>
          <p:cNvPr id="5" name="矩形 4">
            <a:extLst>
              <a:ext uri="{FF2B5EF4-FFF2-40B4-BE49-F238E27FC236}">
                <a16:creationId xmlns:a16="http://schemas.microsoft.com/office/drawing/2014/main" xmlns="" id="{FBE9844D-C192-48E5-88DA-64FBFEC76C67}"/>
              </a:ext>
            </a:extLst>
          </p:cNvPr>
          <p:cNvSpPr/>
          <p:nvPr/>
        </p:nvSpPr>
        <p:spPr>
          <a:xfrm>
            <a:off x="6171763" y="3979689"/>
            <a:ext cx="2972237" cy="2677656"/>
          </a:xfrm>
          <a:prstGeom prst="rect">
            <a:avLst/>
          </a:prstGeom>
        </p:spPr>
        <p:txBody>
          <a:bodyPr wrap="square">
            <a:spAutoFit/>
          </a:bodyPr>
          <a:lstStyle/>
          <a:p>
            <a:r>
              <a:rPr lang="en-US" altLang="zh-CN" sz="1200" dirty="0">
                <a:latin typeface="微软雅黑" panose="020B0503020204020204" pitchFamily="34" charset="-122"/>
                <a:ea typeface="微软雅黑" panose="020B0503020204020204" pitchFamily="34" charset="-122"/>
              </a:rPr>
              <a:t>The rule for production 1 , sets </a:t>
            </a:r>
            <a:r>
              <a:rPr lang="en-US" altLang="zh-CN" sz="1200" i="1" dirty="0" err="1">
                <a:solidFill>
                  <a:srgbClr val="00B050"/>
                </a:solidFill>
                <a:latin typeface="微软雅黑" panose="020B0503020204020204" pitchFamily="34" charset="-122"/>
                <a:ea typeface="微软雅黑" panose="020B0503020204020204" pitchFamily="34" charset="-122"/>
              </a:rPr>
              <a:t>L.val</a:t>
            </a:r>
            <a:r>
              <a:rPr lang="en-US" altLang="zh-CN" sz="1200" i="1" dirty="0">
                <a:solidFill>
                  <a:srgbClr val="00B050"/>
                </a:solidFill>
                <a:latin typeface="微软雅黑" panose="020B0503020204020204" pitchFamily="34" charset="-122"/>
                <a:ea typeface="微软雅黑" panose="020B0503020204020204" pitchFamily="34" charset="-122"/>
              </a:rPr>
              <a:t> </a:t>
            </a:r>
            <a:r>
              <a:rPr lang="en-US" altLang="zh-CN" sz="1200" dirty="0">
                <a:latin typeface="微软雅黑" panose="020B0503020204020204" pitchFamily="34" charset="-122"/>
                <a:ea typeface="微软雅黑" panose="020B0503020204020204" pitchFamily="34" charset="-122"/>
              </a:rPr>
              <a:t>to </a:t>
            </a:r>
            <a:r>
              <a:rPr lang="en-US" altLang="zh-CN" sz="1200" i="1" dirty="0" err="1">
                <a:solidFill>
                  <a:srgbClr val="00B050"/>
                </a:solidFill>
                <a:latin typeface="微软雅黑" panose="020B0503020204020204" pitchFamily="34" charset="-122"/>
                <a:ea typeface="微软雅黑" panose="020B0503020204020204" pitchFamily="34" charset="-122"/>
              </a:rPr>
              <a:t>E.val</a:t>
            </a:r>
            <a:r>
              <a:rPr lang="en-US" altLang="zh-CN" sz="1200" dirty="0">
                <a:latin typeface="微软雅黑" panose="020B0503020204020204" pitchFamily="34" charset="-122"/>
                <a:ea typeface="微软雅黑" panose="020B0503020204020204" pitchFamily="34" charset="-122"/>
              </a:rPr>
              <a:t>, which we shall see is the numerical value of the entire expression</a:t>
            </a:r>
            <a:r>
              <a:rPr lang="en-US" altLang="zh-CN" sz="1200" dirty="0" smtClean="0">
                <a:latin typeface="微软雅黑" panose="020B0503020204020204" pitchFamily="34" charset="-122"/>
                <a:ea typeface="微软雅黑" panose="020B0503020204020204" pitchFamily="34" charset="-122"/>
              </a:rPr>
              <a:t>.</a:t>
            </a:r>
          </a:p>
          <a:p>
            <a:endParaRPr lang="en-US" altLang="zh-CN" sz="1200" dirty="0">
              <a:latin typeface="微软雅黑" panose="020B0503020204020204" pitchFamily="34" charset="-122"/>
              <a:ea typeface="微软雅黑" panose="020B0503020204020204" pitchFamily="34" charset="-122"/>
            </a:endParaRPr>
          </a:p>
          <a:p>
            <a:r>
              <a:rPr lang="en-US" altLang="zh-CN" sz="1200" dirty="0">
                <a:latin typeface="微软雅黑" panose="020B0503020204020204" pitchFamily="34" charset="-122"/>
                <a:ea typeface="微软雅黑" panose="020B0503020204020204" pitchFamily="34" charset="-122"/>
              </a:rPr>
              <a:t>Production 2 also has one rule, which computes the </a:t>
            </a:r>
            <a:r>
              <a:rPr lang="en-US" altLang="zh-CN" sz="1200" i="1" dirty="0" err="1">
                <a:solidFill>
                  <a:srgbClr val="00B050"/>
                </a:solidFill>
                <a:latin typeface="微软雅黑" panose="020B0503020204020204" pitchFamily="34" charset="-122"/>
                <a:ea typeface="微软雅黑" panose="020B0503020204020204" pitchFamily="34" charset="-122"/>
              </a:rPr>
              <a:t>val</a:t>
            </a:r>
            <a:r>
              <a:rPr lang="en-US" altLang="zh-CN" sz="1200" dirty="0">
                <a:solidFill>
                  <a:srgbClr val="00B050"/>
                </a:solidFill>
                <a:latin typeface="微软雅黑" panose="020B0503020204020204" pitchFamily="34" charset="-122"/>
                <a:ea typeface="微软雅黑" panose="020B0503020204020204" pitchFamily="34" charset="-122"/>
              </a:rPr>
              <a:t> </a:t>
            </a:r>
            <a:r>
              <a:rPr lang="en-US" altLang="zh-CN" sz="1200" dirty="0">
                <a:latin typeface="微软雅黑" panose="020B0503020204020204" pitchFamily="34" charset="-122"/>
                <a:ea typeface="微软雅黑" panose="020B0503020204020204" pitchFamily="34" charset="-122"/>
              </a:rPr>
              <a:t>attribute for the head </a:t>
            </a:r>
            <a:r>
              <a:rPr lang="en-US" altLang="zh-CN" sz="1200" i="1" dirty="0">
                <a:solidFill>
                  <a:srgbClr val="00B050"/>
                </a:solidFill>
                <a:latin typeface="微软雅黑" panose="020B0503020204020204" pitchFamily="34" charset="-122"/>
                <a:ea typeface="微软雅黑" panose="020B0503020204020204" pitchFamily="34" charset="-122"/>
              </a:rPr>
              <a:t>E</a:t>
            </a:r>
            <a:r>
              <a:rPr lang="en-US" altLang="zh-CN" sz="1200" dirty="0">
                <a:latin typeface="微软雅黑" panose="020B0503020204020204" pitchFamily="34" charset="-122"/>
                <a:ea typeface="微软雅黑" panose="020B0503020204020204" pitchFamily="34" charset="-122"/>
              </a:rPr>
              <a:t> as the sum of the values at </a:t>
            </a:r>
            <a:r>
              <a:rPr lang="en-US" altLang="zh-CN" sz="1200" i="1" dirty="0">
                <a:solidFill>
                  <a:srgbClr val="00B050"/>
                </a:solidFill>
                <a:latin typeface="微软雅黑" panose="020B0503020204020204" pitchFamily="34" charset="-122"/>
                <a:ea typeface="微软雅黑" panose="020B0503020204020204" pitchFamily="34" charset="-122"/>
              </a:rPr>
              <a:t>E</a:t>
            </a:r>
            <a:r>
              <a:rPr lang="en-US" altLang="zh-CN" sz="1200" i="1" baseline="-25000" dirty="0">
                <a:solidFill>
                  <a:srgbClr val="00B050"/>
                </a:solidFill>
                <a:latin typeface="微软雅黑" panose="020B0503020204020204" pitchFamily="34" charset="-122"/>
                <a:ea typeface="微软雅黑" panose="020B0503020204020204" pitchFamily="34" charset="-122"/>
              </a:rPr>
              <a:t>1</a:t>
            </a:r>
            <a:r>
              <a:rPr lang="en-US" altLang="zh-CN" sz="1200" baseline="-25000" dirty="0">
                <a:latin typeface="微软雅黑" panose="020B0503020204020204" pitchFamily="34" charset="-122"/>
                <a:ea typeface="微软雅黑" panose="020B0503020204020204" pitchFamily="34" charset="-122"/>
              </a:rPr>
              <a:t> </a:t>
            </a:r>
            <a:r>
              <a:rPr lang="en-US" altLang="zh-CN" sz="1200" dirty="0">
                <a:latin typeface="微软雅黑" panose="020B0503020204020204" pitchFamily="34" charset="-122"/>
                <a:ea typeface="微软雅黑" panose="020B0503020204020204" pitchFamily="34" charset="-122"/>
              </a:rPr>
              <a:t>and </a:t>
            </a:r>
            <a:r>
              <a:rPr lang="en-US" altLang="zh-CN" sz="1200" i="1" dirty="0">
                <a:solidFill>
                  <a:srgbClr val="00B050"/>
                </a:solidFill>
                <a:latin typeface="微软雅黑" panose="020B0503020204020204" pitchFamily="34" charset="-122"/>
                <a:ea typeface="微软雅黑" panose="020B0503020204020204" pitchFamily="34" charset="-122"/>
              </a:rPr>
              <a:t>T</a:t>
            </a:r>
            <a:r>
              <a:rPr lang="en-US" altLang="zh-CN" sz="1200" dirty="0">
                <a:latin typeface="微软雅黑" panose="020B0503020204020204" pitchFamily="34" charset="-122"/>
                <a:ea typeface="微软雅黑" panose="020B0503020204020204" pitchFamily="34" charset="-122"/>
              </a:rPr>
              <a:t>. </a:t>
            </a:r>
            <a:endParaRPr lang="en-US" altLang="zh-CN" sz="1200" dirty="0" smtClean="0">
              <a:latin typeface="微软雅黑" panose="020B0503020204020204" pitchFamily="34" charset="-122"/>
              <a:ea typeface="微软雅黑" panose="020B0503020204020204" pitchFamily="34" charset="-122"/>
            </a:endParaRPr>
          </a:p>
          <a:p>
            <a:endParaRPr lang="en-US" altLang="zh-CN" sz="1200" dirty="0">
              <a:latin typeface="微软雅黑" panose="020B0503020204020204" pitchFamily="34" charset="-122"/>
              <a:ea typeface="微软雅黑" panose="020B0503020204020204" pitchFamily="34" charset="-122"/>
            </a:endParaRPr>
          </a:p>
          <a:p>
            <a:r>
              <a:rPr lang="en-US" altLang="zh-CN" sz="1200" dirty="0" smtClean="0">
                <a:latin typeface="微软雅黑" panose="020B0503020204020204" pitchFamily="34" charset="-122"/>
                <a:ea typeface="微软雅黑" panose="020B0503020204020204" pitchFamily="34" charset="-122"/>
              </a:rPr>
              <a:t>At </a:t>
            </a:r>
            <a:r>
              <a:rPr lang="en-US" altLang="zh-CN" sz="1200" dirty="0">
                <a:latin typeface="微软雅黑" panose="020B0503020204020204" pitchFamily="34" charset="-122"/>
                <a:ea typeface="微软雅黑" panose="020B0503020204020204" pitchFamily="34" charset="-122"/>
              </a:rPr>
              <a:t>any parse tree node </a:t>
            </a:r>
            <a:r>
              <a:rPr lang="en-US" altLang="zh-CN" sz="1200" i="1" dirty="0">
                <a:solidFill>
                  <a:srgbClr val="00B050"/>
                </a:solidFill>
                <a:latin typeface="微软雅黑" panose="020B0503020204020204" pitchFamily="34" charset="-122"/>
                <a:ea typeface="微软雅黑" panose="020B0503020204020204" pitchFamily="34" charset="-122"/>
              </a:rPr>
              <a:t>N</a:t>
            </a:r>
            <a:r>
              <a:rPr lang="en-US" altLang="zh-CN" sz="1200" dirty="0">
                <a:latin typeface="微软雅黑" panose="020B0503020204020204" pitchFamily="34" charset="-122"/>
                <a:ea typeface="微软雅黑" panose="020B0503020204020204" pitchFamily="34" charset="-122"/>
              </a:rPr>
              <a:t> labeled </a:t>
            </a:r>
            <a:r>
              <a:rPr lang="en-US" altLang="zh-CN" sz="1200" i="1" dirty="0">
                <a:solidFill>
                  <a:srgbClr val="00B050"/>
                </a:solidFill>
                <a:latin typeface="微软雅黑" panose="020B0503020204020204" pitchFamily="34" charset="-122"/>
                <a:ea typeface="微软雅黑" panose="020B0503020204020204" pitchFamily="34" charset="-122"/>
              </a:rPr>
              <a:t>E</a:t>
            </a:r>
            <a:r>
              <a:rPr lang="en-US" altLang="zh-CN" sz="1200" dirty="0">
                <a:latin typeface="微软雅黑" panose="020B0503020204020204" pitchFamily="34" charset="-122"/>
                <a:ea typeface="微软雅黑" panose="020B0503020204020204" pitchFamily="34" charset="-122"/>
              </a:rPr>
              <a:t>, the value of </a:t>
            </a:r>
            <a:r>
              <a:rPr lang="en-US" altLang="zh-CN" sz="1200" i="1" dirty="0" err="1">
                <a:solidFill>
                  <a:srgbClr val="00B050"/>
                </a:solidFill>
                <a:latin typeface="微软雅黑" panose="020B0503020204020204" pitchFamily="34" charset="-122"/>
                <a:ea typeface="微软雅黑" panose="020B0503020204020204" pitchFamily="34" charset="-122"/>
              </a:rPr>
              <a:t>val</a:t>
            </a:r>
            <a:r>
              <a:rPr lang="en-US" altLang="zh-CN" sz="1200" dirty="0">
                <a:latin typeface="微软雅黑" panose="020B0503020204020204" pitchFamily="34" charset="-122"/>
                <a:ea typeface="微软雅黑" panose="020B0503020204020204" pitchFamily="34" charset="-122"/>
              </a:rPr>
              <a:t> for </a:t>
            </a:r>
            <a:r>
              <a:rPr lang="en-US" altLang="zh-CN" sz="1200" i="1" dirty="0">
                <a:solidFill>
                  <a:srgbClr val="00B050"/>
                </a:solidFill>
                <a:latin typeface="微软雅黑" panose="020B0503020204020204" pitchFamily="34" charset="-122"/>
                <a:ea typeface="微软雅黑" panose="020B0503020204020204" pitchFamily="34" charset="-122"/>
              </a:rPr>
              <a:t>E</a:t>
            </a:r>
            <a:r>
              <a:rPr lang="en-US" altLang="zh-CN" sz="1200" dirty="0">
                <a:latin typeface="微软雅黑" panose="020B0503020204020204" pitchFamily="34" charset="-122"/>
                <a:ea typeface="微软雅黑" panose="020B0503020204020204" pitchFamily="34" charset="-122"/>
              </a:rPr>
              <a:t> is the sum of the values of </a:t>
            </a:r>
            <a:r>
              <a:rPr lang="en-US" altLang="zh-CN" sz="1200" i="1" dirty="0" err="1">
                <a:solidFill>
                  <a:srgbClr val="00B050"/>
                </a:solidFill>
                <a:latin typeface="微软雅黑" panose="020B0503020204020204" pitchFamily="34" charset="-122"/>
                <a:ea typeface="微软雅黑" panose="020B0503020204020204" pitchFamily="34" charset="-122"/>
              </a:rPr>
              <a:t>val</a:t>
            </a:r>
            <a:r>
              <a:rPr lang="en-US" altLang="zh-CN" sz="1200" dirty="0">
                <a:latin typeface="微软雅黑" panose="020B0503020204020204" pitchFamily="34" charset="-122"/>
                <a:ea typeface="微软雅黑" panose="020B0503020204020204" pitchFamily="34" charset="-122"/>
              </a:rPr>
              <a:t> </a:t>
            </a:r>
            <a:r>
              <a:rPr lang="en-US" altLang="zh-CN" sz="1200" dirty="0" smtClean="0">
                <a:latin typeface="微软雅黑" panose="020B0503020204020204" pitchFamily="34" charset="-122"/>
                <a:ea typeface="微软雅黑" panose="020B0503020204020204" pitchFamily="34" charset="-122"/>
              </a:rPr>
              <a:t>at the </a:t>
            </a:r>
            <a:r>
              <a:rPr lang="en-US" altLang="zh-CN" sz="1200" dirty="0">
                <a:latin typeface="微软雅黑" panose="020B0503020204020204" pitchFamily="34" charset="-122"/>
                <a:ea typeface="微软雅黑" panose="020B0503020204020204" pitchFamily="34" charset="-122"/>
              </a:rPr>
              <a:t>children of node </a:t>
            </a:r>
            <a:r>
              <a:rPr lang="en-US" altLang="zh-CN" sz="1200" i="1" dirty="0">
                <a:solidFill>
                  <a:srgbClr val="00B050"/>
                </a:solidFill>
                <a:latin typeface="微软雅黑" panose="020B0503020204020204" pitchFamily="34" charset="-122"/>
                <a:ea typeface="微软雅黑" panose="020B0503020204020204" pitchFamily="34" charset="-122"/>
              </a:rPr>
              <a:t>N</a:t>
            </a:r>
            <a:r>
              <a:rPr lang="en-US" altLang="zh-CN" sz="1200" dirty="0">
                <a:latin typeface="微软雅黑" panose="020B0503020204020204" pitchFamily="34" charset="-122"/>
                <a:ea typeface="微软雅黑" panose="020B0503020204020204" pitchFamily="34" charset="-122"/>
              </a:rPr>
              <a:t> labeled </a:t>
            </a:r>
            <a:r>
              <a:rPr lang="en-US" altLang="zh-CN" sz="1200" i="1" dirty="0">
                <a:solidFill>
                  <a:srgbClr val="00B050"/>
                </a:solidFill>
                <a:latin typeface="微软雅黑" panose="020B0503020204020204" pitchFamily="34" charset="-122"/>
                <a:ea typeface="微软雅黑" panose="020B0503020204020204" pitchFamily="34" charset="-122"/>
              </a:rPr>
              <a:t>E</a:t>
            </a:r>
            <a:r>
              <a:rPr lang="en-US" altLang="zh-CN" sz="1200" dirty="0">
                <a:latin typeface="微软雅黑" panose="020B0503020204020204" pitchFamily="34" charset="-122"/>
                <a:ea typeface="微软雅黑" panose="020B0503020204020204" pitchFamily="34" charset="-122"/>
              </a:rPr>
              <a:t> and </a:t>
            </a:r>
            <a:r>
              <a:rPr lang="en-US" altLang="zh-CN" sz="1200" i="1" dirty="0">
                <a:solidFill>
                  <a:srgbClr val="00B050"/>
                </a:solidFill>
                <a:latin typeface="微软雅黑" panose="020B0503020204020204" pitchFamily="34" charset="-122"/>
                <a:ea typeface="微软雅黑" panose="020B0503020204020204" pitchFamily="34" charset="-122"/>
              </a:rPr>
              <a:t>T</a:t>
            </a:r>
            <a:r>
              <a:rPr lang="en-US" altLang="zh-CN" sz="1200" dirty="0">
                <a:latin typeface="微软雅黑" panose="020B0503020204020204" pitchFamily="34" charset="-122"/>
                <a:ea typeface="微软雅黑" panose="020B0503020204020204" pitchFamily="34" charset="-122"/>
              </a:rPr>
              <a:t>.</a:t>
            </a:r>
            <a:endParaRPr lang="zh-CN" altLang="en-US" sz="12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9063870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normAutofit/>
          </a:bodyPr>
          <a:lstStyle/>
          <a:p>
            <a:pPr>
              <a:lnSpc>
                <a:spcPct val="100000"/>
              </a:lnSpc>
            </a:pPr>
            <a:r>
              <a:rPr lang="en-US" altLang="zh-CN" sz="1600" dirty="0"/>
              <a:t>An SDD that involves only synthesized attributes is called </a:t>
            </a:r>
            <a:r>
              <a:rPr lang="en-US" altLang="zh-CN" sz="1600" b="1" dirty="0">
                <a:solidFill>
                  <a:srgbClr val="7030A0"/>
                </a:solidFill>
              </a:rPr>
              <a:t>S-attributed</a:t>
            </a:r>
            <a:r>
              <a:rPr lang="en-US" altLang="zh-CN" sz="1600" dirty="0"/>
              <a:t>.</a:t>
            </a:r>
          </a:p>
          <a:p>
            <a:pPr>
              <a:lnSpc>
                <a:spcPct val="100000"/>
              </a:lnSpc>
            </a:pPr>
            <a:r>
              <a:rPr lang="en-US" altLang="zh-CN" sz="1600" dirty="0"/>
              <a:t>In an S-attributed SDD, each rule computes an attribute for the </a:t>
            </a:r>
            <a:r>
              <a:rPr lang="en-US" altLang="zh-CN" sz="1600" dirty="0">
                <a:solidFill>
                  <a:srgbClr val="FF0000"/>
                </a:solidFill>
              </a:rPr>
              <a:t>nonterminal at the head of a production from attributes taken from the body of the production</a:t>
            </a:r>
            <a:r>
              <a:rPr lang="en-US" altLang="zh-CN" sz="1600" dirty="0"/>
              <a:t>.</a:t>
            </a:r>
          </a:p>
          <a:p>
            <a:pPr>
              <a:lnSpc>
                <a:spcPct val="100000"/>
              </a:lnSpc>
            </a:pPr>
            <a:r>
              <a:rPr lang="en-US" altLang="zh-CN" sz="1600" dirty="0"/>
              <a:t>An S-attributed SDD can be implemented naturally in conjunction with an LR parser.</a:t>
            </a:r>
          </a:p>
          <a:p>
            <a:pPr>
              <a:lnSpc>
                <a:spcPct val="100000"/>
              </a:lnSpc>
            </a:pPr>
            <a:r>
              <a:rPr lang="en-US" altLang="zh-CN" sz="1600" dirty="0"/>
              <a:t>An SDD without side effects is sometimes called an </a:t>
            </a:r>
            <a:r>
              <a:rPr lang="en-US" altLang="zh-CN" sz="1600" b="1" i="1" dirty="0">
                <a:solidFill>
                  <a:srgbClr val="7030A0"/>
                </a:solidFill>
              </a:rPr>
              <a:t>attribute grammar</a:t>
            </a:r>
            <a:r>
              <a:rPr lang="en-US" altLang="zh-CN" sz="1600" dirty="0"/>
              <a:t>.</a:t>
            </a:r>
          </a:p>
          <a:p>
            <a:pPr marL="0" indent="0">
              <a:lnSpc>
                <a:spcPct val="100000"/>
              </a:lnSpc>
              <a:buNone/>
            </a:pPr>
            <a:r>
              <a:rPr lang="en-US" altLang="zh-CN" sz="1600" dirty="0"/>
              <a:t>Side effects: printing the result or interacting with a symbol table</a:t>
            </a:r>
          </a:p>
        </p:txBody>
      </p:sp>
    </p:spTree>
    <p:extLst>
      <p:ext uri="{BB962C8B-B14F-4D97-AF65-F5344CB8AC3E}">
        <p14:creationId xmlns:p14="http://schemas.microsoft.com/office/powerpoint/2010/main" val="16918296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normAutofit/>
          </a:bodyPr>
          <a:lstStyle/>
          <a:p>
            <a:r>
              <a:rPr lang="en-US" altLang="zh-CN" sz="1800" dirty="0"/>
              <a:t>Evaluating an SDD at the Nodes of a Parse Tree.</a:t>
            </a:r>
          </a:p>
          <a:p>
            <a:pPr lvl="1"/>
            <a:r>
              <a:rPr lang="en-US" altLang="zh-CN" sz="1600" dirty="0"/>
              <a:t>To visualize the translation specified by an SDD, it helps to work with parse trees, even though a translator need not actually build a parse tree.</a:t>
            </a:r>
          </a:p>
          <a:p>
            <a:pPr lvl="1"/>
            <a:r>
              <a:rPr lang="en-US" altLang="zh-CN" sz="1600" dirty="0"/>
              <a:t>A parse tree, showing the value(s) of its attribute(s) is called an </a:t>
            </a:r>
            <a:r>
              <a:rPr lang="en-US" altLang="zh-CN" sz="1600" i="1" dirty="0">
                <a:solidFill>
                  <a:srgbClr val="7030A0"/>
                </a:solidFill>
              </a:rPr>
              <a:t>annotated parse tree</a:t>
            </a:r>
            <a:r>
              <a:rPr lang="en-US" altLang="zh-CN" sz="1600" dirty="0"/>
              <a:t>.</a:t>
            </a:r>
          </a:p>
          <a:p>
            <a:pPr marL="342900" lvl="1" indent="0">
              <a:buNone/>
            </a:pPr>
            <a:endParaRPr lang="en-US" altLang="zh-CN" sz="1600" dirty="0"/>
          </a:p>
          <a:p>
            <a:pPr marL="342900" lvl="1" indent="0">
              <a:buNone/>
            </a:pPr>
            <a:r>
              <a:rPr lang="en-US" altLang="zh-CN" sz="1600" dirty="0"/>
              <a:t>For SDD's with both inherited and synthesized attributes, there is no guarantee that there is even one order in which to evaluate attributes at nodes.</a:t>
            </a:r>
          </a:p>
        </p:txBody>
      </p:sp>
    </p:spTree>
    <p:extLst>
      <p:ext uri="{BB962C8B-B14F-4D97-AF65-F5344CB8AC3E}">
        <p14:creationId xmlns:p14="http://schemas.microsoft.com/office/powerpoint/2010/main" val="3378306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pic>
        <p:nvPicPr>
          <p:cNvPr id="4" name="图片 3"/>
          <p:cNvPicPr>
            <a:picLocks noChangeAspect="1"/>
          </p:cNvPicPr>
          <p:nvPr/>
        </p:nvPicPr>
        <p:blipFill>
          <a:blip r:embed="rId2"/>
          <a:stretch>
            <a:fillRect/>
          </a:stretch>
        </p:blipFill>
        <p:spPr>
          <a:xfrm>
            <a:off x="1312410" y="1595982"/>
            <a:ext cx="6460300" cy="4891903"/>
          </a:xfrm>
          <a:prstGeom prst="rect">
            <a:avLst/>
          </a:prstGeom>
        </p:spPr>
      </p:pic>
    </p:spTree>
    <p:extLst>
      <p:ext uri="{BB962C8B-B14F-4D97-AF65-F5344CB8AC3E}">
        <p14:creationId xmlns:p14="http://schemas.microsoft.com/office/powerpoint/2010/main" val="3090280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lstStyle/>
          <a:p>
            <a:r>
              <a:rPr lang="en-US" altLang="zh-CN" dirty="0">
                <a:solidFill>
                  <a:srgbClr val="FF0000"/>
                </a:solidFill>
              </a:rPr>
              <a:t>The selection of the attributes is determined by parsing method.</a:t>
            </a:r>
            <a:endParaRPr lang="zh-CN" altLang="en-US" dirty="0">
              <a:solidFill>
                <a:srgbClr val="FF0000"/>
              </a:solidFill>
            </a:endParaRPr>
          </a:p>
        </p:txBody>
      </p:sp>
      <p:pic>
        <p:nvPicPr>
          <p:cNvPr id="4" name="图片 3"/>
          <p:cNvPicPr>
            <a:picLocks noChangeAspect="1"/>
          </p:cNvPicPr>
          <p:nvPr/>
        </p:nvPicPr>
        <p:blipFill>
          <a:blip r:embed="rId2"/>
          <a:stretch>
            <a:fillRect/>
          </a:stretch>
        </p:blipFill>
        <p:spPr>
          <a:xfrm>
            <a:off x="250196" y="2733345"/>
            <a:ext cx="3843019" cy="2448255"/>
          </a:xfrm>
          <a:prstGeom prst="rect">
            <a:avLst/>
          </a:prstGeom>
        </p:spPr>
      </p:pic>
      <p:pic>
        <p:nvPicPr>
          <p:cNvPr id="5" name="图片 4"/>
          <p:cNvPicPr>
            <a:picLocks noChangeAspect="1"/>
          </p:cNvPicPr>
          <p:nvPr/>
        </p:nvPicPr>
        <p:blipFill>
          <a:blip r:embed="rId3"/>
          <a:stretch>
            <a:fillRect/>
          </a:stretch>
        </p:blipFill>
        <p:spPr>
          <a:xfrm>
            <a:off x="4453655" y="2306307"/>
            <a:ext cx="4476417" cy="3974750"/>
          </a:xfrm>
          <a:prstGeom prst="rect">
            <a:avLst/>
          </a:prstGeom>
        </p:spPr>
      </p:pic>
      <p:sp>
        <p:nvSpPr>
          <p:cNvPr id="6" name="文本框 5"/>
          <p:cNvSpPr txBox="1"/>
          <p:nvPr/>
        </p:nvSpPr>
        <p:spPr>
          <a:xfrm>
            <a:off x="1001311" y="1936975"/>
            <a:ext cx="1223412" cy="369332"/>
          </a:xfrm>
          <a:prstGeom prst="rect">
            <a:avLst/>
          </a:prstGeom>
          <a:noFill/>
        </p:spPr>
        <p:txBody>
          <a:bodyPr wrap="none" rtlCol="0">
            <a:spAutoFit/>
          </a:bodyPr>
          <a:lstStyle/>
          <a:p>
            <a:r>
              <a:rPr lang="en-US" altLang="zh-CN" dirty="0"/>
              <a:t>Bottom-up</a:t>
            </a:r>
            <a:endParaRPr lang="zh-CN" altLang="en-US" dirty="0"/>
          </a:p>
        </p:txBody>
      </p:sp>
    </p:spTree>
    <p:extLst>
      <p:ext uri="{BB962C8B-B14F-4D97-AF65-F5344CB8AC3E}">
        <p14:creationId xmlns:p14="http://schemas.microsoft.com/office/powerpoint/2010/main" val="20072040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6.2 Syntax-Directed Definitions</a:t>
            </a:r>
            <a:br>
              <a:rPr lang="en-US" altLang="zh-CN" dirty="0"/>
            </a:br>
            <a:r>
              <a:rPr lang="en-US" altLang="zh-CN" dirty="0"/>
              <a:t>- Inherited and Synthesized Attributes</a:t>
            </a:r>
            <a:endParaRPr lang="zh-CN" altLang="en-US" dirty="0"/>
          </a:p>
        </p:txBody>
      </p:sp>
      <p:sp>
        <p:nvSpPr>
          <p:cNvPr id="3" name="内容占位符 2"/>
          <p:cNvSpPr>
            <a:spLocks noGrp="1"/>
          </p:cNvSpPr>
          <p:nvPr>
            <p:ph idx="1"/>
          </p:nvPr>
        </p:nvSpPr>
        <p:spPr/>
        <p:txBody>
          <a:bodyPr/>
          <a:lstStyle/>
          <a:p>
            <a:r>
              <a:rPr lang="en-US" altLang="zh-CN" dirty="0">
                <a:solidFill>
                  <a:srgbClr val="FF0000"/>
                </a:solidFill>
              </a:rPr>
              <a:t>The selection of the attributes is determined by parsing method.</a:t>
            </a:r>
            <a:endParaRPr lang="zh-CN" altLang="en-US" dirty="0">
              <a:solidFill>
                <a:srgbClr val="FF0000"/>
              </a:solidFill>
            </a:endParaRPr>
          </a:p>
        </p:txBody>
      </p:sp>
      <p:sp>
        <p:nvSpPr>
          <p:cNvPr id="6" name="文本框 5"/>
          <p:cNvSpPr txBox="1"/>
          <p:nvPr/>
        </p:nvSpPr>
        <p:spPr>
          <a:xfrm>
            <a:off x="898762" y="1941754"/>
            <a:ext cx="8071440" cy="646331"/>
          </a:xfrm>
          <a:prstGeom prst="rect">
            <a:avLst/>
          </a:prstGeom>
          <a:noFill/>
        </p:spPr>
        <p:txBody>
          <a:bodyPr wrap="none" rtlCol="0">
            <a:spAutoFit/>
          </a:bodyPr>
          <a:lstStyle/>
          <a:p>
            <a:r>
              <a:rPr lang="en-US" altLang="zh-CN" dirty="0" smtClean="0"/>
              <a:t>Top-down (</a:t>
            </a:r>
            <a:r>
              <a:rPr lang="en-US" altLang="zh-CN" sz="1400" b="1" dirty="0" smtClean="0"/>
              <a:t>Inherited attributes are useful when the structure of </a:t>
            </a:r>
            <a:r>
              <a:rPr lang="en-US" altLang="zh-CN" sz="1400" b="1" dirty="0" smtClean="0"/>
              <a:t>a parse tree does not</a:t>
            </a:r>
          </a:p>
          <a:p>
            <a:r>
              <a:rPr lang="en-US" altLang="zh-CN" sz="1400" b="1" dirty="0"/>
              <a:t> </a:t>
            </a:r>
            <a:r>
              <a:rPr lang="en-US" altLang="zh-CN" sz="1400" b="1" dirty="0" smtClean="0"/>
              <a:t>            “match” the abstract syntax of the source code</a:t>
            </a:r>
            <a:r>
              <a:rPr lang="en-US" altLang="zh-CN" sz="1400" dirty="0" smtClean="0"/>
              <a:t>.</a:t>
            </a:r>
            <a:r>
              <a:rPr lang="en-US" altLang="zh-CN" dirty="0" smtClean="0"/>
              <a:t>)</a:t>
            </a:r>
            <a:endParaRPr lang="zh-CN" altLang="en-US" dirty="0"/>
          </a:p>
        </p:txBody>
      </p:sp>
      <p:pic>
        <p:nvPicPr>
          <p:cNvPr id="7" name="图片 6"/>
          <p:cNvPicPr>
            <a:picLocks noChangeAspect="1"/>
          </p:cNvPicPr>
          <p:nvPr/>
        </p:nvPicPr>
        <p:blipFill>
          <a:blip r:embed="rId2"/>
          <a:stretch>
            <a:fillRect/>
          </a:stretch>
        </p:blipFill>
        <p:spPr>
          <a:xfrm>
            <a:off x="538534" y="2733345"/>
            <a:ext cx="3846058" cy="2281560"/>
          </a:xfrm>
          <a:prstGeom prst="rect">
            <a:avLst/>
          </a:prstGeom>
        </p:spPr>
      </p:pic>
      <p:pic>
        <p:nvPicPr>
          <p:cNvPr id="8" name="图片 7"/>
          <p:cNvPicPr>
            <a:picLocks noChangeAspect="1"/>
          </p:cNvPicPr>
          <p:nvPr/>
        </p:nvPicPr>
        <p:blipFill>
          <a:blip r:embed="rId3"/>
          <a:stretch>
            <a:fillRect/>
          </a:stretch>
        </p:blipFill>
        <p:spPr>
          <a:xfrm>
            <a:off x="4571431" y="2525052"/>
            <a:ext cx="3964559" cy="2489853"/>
          </a:xfrm>
          <a:prstGeom prst="rect">
            <a:avLst/>
          </a:prstGeom>
        </p:spPr>
      </p:pic>
      <p:pic>
        <p:nvPicPr>
          <p:cNvPr id="9" name="图片 8"/>
          <p:cNvPicPr>
            <a:picLocks noChangeAspect="1"/>
          </p:cNvPicPr>
          <p:nvPr/>
        </p:nvPicPr>
        <p:blipFill>
          <a:blip r:embed="rId4"/>
          <a:stretch>
            <a:fillRect/>
          </a:stretch>
        </p:blipFill>
        <p:spPr>
          <a:xfrm>
            <a:off x="594743" y="5305425"/>
            <a:ext cx="7953375" cy="866775"/>
          </a:xfrm>
          <a:prstGeom prst="rect">
            <a:avLst/>
          </a:prstGeom>
        </p:spPr>
      </p:pic>
      <p:sp>
        <p:nvSpPr>
          <p:cNvPr id="4" name="文本框 3"/>
          <p:cNvSpPr txBox="1"/>
          <p:nvPr/>
        </p:nvSpPr>
        <p:spPr>
          <a:xfrm>
            <a:off x="552388" y="6172200"/>
            <a:ext cx="8298169" cy="584775"/>
          </a:xfrm>
          <a:prstGeom prst="rect">
            <a:avLst/>
          </a:prstGeom>
          <a:noFill/>
        </p:spPr>
        <p:txBody>
          <a:bodyPr wrap="none" rtlCol="0">
            <a:spAutoFit/>
          </a:bodyPr>
          <a:lstStyle/>
          <a:p>
            <a:r>
              <a:rPr lang="en-US" altLang="zh-CN" sz="1600" dirty="0" smtClean="0">
                <a:latin typeface="微软雅黑" panose="020B0503020204020204" pitchFamily="34" charset="-122"/>
                <a:ea typeface="微软雅黑" panose="020B0503020204020204" pitchFamily="34" charset="-122"/>
              </a:rPr>
              <a:t>Given a term </a:t>
            </a:r>
            <a:r>
              <a:rPr lang="en-US" altLang="zh-CN" sz="1600" i="1" dirty="0" smtClean="0">
                <a:solidFill>
                  <a:srgbClr val="00B050"/>
                </a:solidFill>
                <a:latin typeface="微软雅黑" panose="020B0503020204020204" pitchFamily="34" charset="-122"/>
                <a:ea typeface="微软雅黑" panose="020B0503020204020204" pitchFamily="34" charset="-122"/>
              </a:rPr>
              <a:t>x*y*z</a:t>
            </a:r>
            <a:r>
              <a:rPr lang="en-US" altLang="zh-CN" sz="1600" dirty="0" smtClean="0">
                <a:latin typeface="微软雅黑" panose="020B0503020204020204" pitchFamily="34" charset="-122"/>
                <a:ea typeface="微软雅黑" panose="020B0503020204020204" pitchFamily="34" charset="-122"/>
              </a:rPr>
              <a:t>, the root of the subtree for </a:t>
            </a:r>
            <a:r>
              <a:rPr lang="en-US" altLang="zh-CN" sz="1600" i="1" dirty="0" smtClean="0">
                <a:solidFill>
                  <a:srgbClr val="00B050"/>
                </a:solidFill>
                <a:latin typeface="微软雅黑" panose="020B0503020204020204" pitchFamily="34" charset="-122"/>
                <a:ea typeface="微软雅黑" panose="020B0503020204020204" pitchFamily="34" charset="-122"/>
              </a:rPr>
              <a:t>*y*z </a:t>
            </a:r>
            <a:r>
              <a:rPr lang="en-US" altLang="zh-CN" sz="1600" dirty="0" smtClean="0">
                <a:latin typeface="微软雅黑" panose="020B0503020204020204" pitchFamily="34" charset="-122"/>
                <a:ea typeface="微软雅黑" panose="020B0503020204020204" pitchFamily="34" charset="-122"/>
              </a:rPr>
              <a:t>inherits </a:t>
            </a:r>
            <a:r>
              <a:rPr lang="en-US" altLang="zh-CN" sz="1600" i="1" dirty="0" smtClean="0">
                <a:solidFill>
                  <a:srgbClr val="00B050"/>
                </a:solidFill>
                <a:latin typeface="微软雅黑" panose="020B0503020204020204" pitchFamily="34" charset="-122"/>
                <a:ea typeface="微软雅黑" panose="020B0503020204020204" pitchFamily="34" charset="-122"/>
              </a:rPr>
              <a:t>x</a:t>
            </a:r>
            <a:r>
              <a:rPr lang="en-US" altLang="zh-CN" sz="1600" dirty="0" smtClean="0">
                <a:latin typeface="微软雅黑" panose="020B0503020204020204" pitchFamily="34" charset="-122"/>
                <a:ea typeface="微软雅黑" panose="020B0503020204020204" pitchFamily="34" charset="-122"/>
              </a:rPr>
              <a:t>. Then, the root of the </a:t>
            </a:r>
          </a:p>
          <a:p>
            <a:r>
              <a:rPr lang="en-US" altLang="zh-CN" sz="1600" dirty="0" smtClean="0">
                <a:latin typeface="微软雅黑" panose="020B0503020204020204" pitchFamily="34" charset="-122"/>
                <a:ea typeface="微软雅黑" panose="020B0503020204020204" pitchFamily="34" charset="-122"/>
              </a:rPr>
              <a:t>Subtree for </a:t>
            </a:r>
            <a:r>
              <a:rPr lang="en-US" altLang="zh-CN" sz="1600" i="1" dirty="0" smtClean="0">
                <a:solidFill>
                  <a:srgbClr val="00B050"/>
                </a:solidFill>
                <a:latin typeface="微软雅黑" panose="020B0503020204020204" pitchFamily="34" charset="-122"/>
                <a:ea typeface="微软雅黑" panose="020B0503020204020204" pitchFamily="34" charset="-122"/>
              </a:rPr>
              <a:t>*z</a:t>
            </a:r>
            <a:r>
              <a:rPr lang="en-US" altLang="zh-CN" sz="1600" dirty="0" smtClean="0">
                <a:latin typeface="微软雅黑" panose="020B0503020204020204" pitchFamily="34" charset="-122"/>
                <a:ea typeface="微软雅黑" panose="020B0503020204020204" pitchFamily="34" charset="-122"/>
              </a:rPr>
              <a:t> inherits the value of </a:t>
            </a:r>
            <a:r>
              <a:rPr lang="en-US" altLang="zh-CN" sz="1600" i="1" dirty="0" smtClean="0">
                <a:solidFill>
                  <a:srgbClr val="00B050"/>
                </a:solidFill>
                <a:latin typeface="微软雅黑" panose="020B0503020204020204" pitchFamily="34" charset="-122"/>
                <a:ea typeface="微软雅黑" panose="020B0503020204020204" pitchFamily="34" charset="-122"/>
              </a:rPr>
              <a:t>x*y</a:t>
            </a:r>
            <a:r>
              <a:rPr lang="en-US" altLang="zh-CN" sz="1600" dirty="0" smtClean="0">
                <a:latin typeface="微软雅黑" panose="020B0503020204020204" pitchFamily="34" charset="-122"/>
                <a:ea typeface="微软雅黑" panose="020B0503020204020204" pitchFamily="34" charset="-122"/>
              </a:rPr>
              <a:t>, and so on.</a:t>
            </a:r>
            <a:endParaRPr lang="zh-CN" altLang="en-US" sz="16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302115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Dependency Graphs</a:t>
            </a:r>
            <a:endParaRPr lang="zh-CN" altLang="en-US" dirty="0"/>
          </a:p>
        </p:txBody>
      </p:sp>
      <p:sp>
        <p:nvSpPr>
          <p:cNvPr id="3" name="内容占位符 2"/>
          <p:cNvSpPr>
            <a:spLocks noGrp="1"/>
          </p:cNvSpPr>
          <p:nvPr>
            <p:ph idx="1"/>
          </p:nvPr>
        </p:nvSpPr>
        <p:spPr/>
        <p:txBody>
          <a:bodyPr>
            <a:normAutofit/>
          </a:bodyPr>
          <a:lstStyle/>
          <a:p>
            <a:pPr>
              <a:lnSpc>
                <a:spcPct val="100000"/>
              </a:lnSpc>
            </a:pPr>
            <a:r>
              <a:rPr lang="en-US" altLang="zh-CN" sz="1600" b="1" i="1" u="sng" dirty="0" smtClean="0">
                <a:solidFill>
                  <a:srgbClr val="7030A0"/>
                </a:solidFill>
              </a:rPr>
              <a:t>Dependency graphs</a:t>
            </a:r>
            <a:r>
              <a:rPr lang="en-US" altLang="zh-CN" sz="1600" dirty="0" smtClean="0"/>
              <a:t> </a:t>
            </a:r>
            <a:r>
              <a:rPr lang="en-US" altLang="zh-CN" sz="1600" dirty="0"/>
              <a:t>are a useful tool for determining an evaluation order for the attribute instances in a given parse tree. While an annotated parse tree shows the values of attributes, a dependency graph helps us determine how those values can be computed.</a:t>
            </a:r>
          </a:p>
          <a:p>
            <a:pPr>
              <a:lnSpc>
                <a:spcPct val="100000"/>
              </a:lnSpc>
            </a:pPr>
            <a:r>
              <a:rPr lang="en-US" altLang="zh-CN" sz="1600" dirty="0"/>
              <a:t>A dependency graph depicts the flow of information among the attribute instances in a particular parse tree; an edge from one attribute instance to another means that the value of the first is needed to compute the second. Edges express constraints implied by the semantic rules.</a:t>
            </a:r>
            <a:endParaRPr lang="zh-CN" altLang="en-US" sz="1600" dirty="0"/>
          </a:p>
        </p:txBody>
      </p:sp>
    </p:spTree>
    <p:extLst>
      <p:ext uri="{BB962C8B-B14F-4D97-AF65-F5344CB8AC3E}">
        <p14:creationId xmlns:p14="http://schemas.microsoft.com/office/powerpoint/2010/main" val="16406918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Dependency Graphs</a:t>
            </a:r>
            <a:endParaRPr lang="zh-CN" altLang="en-US" dirty="0"/>
          </a:p>
        </p:txBody>
      </p:sp>
      <p:pic>
        <p:nvPicPr>
          <p:cNvPr id="4" name="图片 3"/>
          <p:cNvPicPr>
            <a:picLocks noChangeAspect="1"/>
          </p:cNvPicPr>
          <p:nvPr/>
        </p:nvPicPr>
        <p:blipFill>
          <a:blip r:embed="rId2"/>
          <a:stretch>
            <a:fillRect/>
          </a:stretch>
        </p:blipFill>
        <p:spPr>
          <a:xfrm>
            <a:off x="696005" y="1392690"/>
            <a:ext cx="8143875" cy="5705475"/>
          </a:xfrm>
          <a:prstGeom prst="rect">
            <a:avLst/>
          </a:prstGeom>
        </p:spPr>
      </p:pic>
    </p:spTree>
    <p:extLst>
      <p:ext uri="{BB962C8B-B14F-4D97-AF65-F5344CB8AC3E}">
        <p14:creationId xmlns:p14="http://schemas.microsoft.com/office/powerpoint/2010/main" val="35754028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Dependency Graphs</a:t>
            </a:r>
            <a:endParaRPr lang="zh-CN" altLang="en-US" dirty="0"/>
          </a:p>
        </p:txBody>
      </p:sp>
      <p:pic>
        <p:nvPicPr>
          <p:cNvPr id="3" name="图片 2"/>
          <p:cNvPicPr>
            <a:picLocks noChangeAspect="1"/>
          </p:cNvPicPr>
          <p:nvPr/>
        </p:nvPicPr>
        <p:blipFill>
          <a:blip r:embed="rId2"/>
          <a:stretch>
            <a:fillRect/>
          </a:stretch>
        </p:blipFill>
        <p:spPr>
          <a:xfrm>
            <a:off x="717097" y="1600880"/>
            <a:ext cx="8058150" cy="4505325"/>
          </a:xfrm>
          <a:prstGeom prst="rect">
            <a:avLst/>
          </a:prstGeom>
        </p:spPr>
      </p:pic>
      <p:pic>
        <p:nvPicPr>
          <p:cNvPr id="5" name="图片 4">
            <a:extLst>
              <a:ext uri="{FF2B5EF4-FFF2-40B4-BE49-F238E27FC236}">
                <a16:creationId xmlns:a16="http://schemas.microsoft.com/office/drawing/2014/main" xmlns="" id="{20D0D337-E1FD-49BC-80FD-49D298DC8B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71359" y="2513186"/>
            <a:ext cx="2386130" cy="1526154"/>
          </a:xfrm>
          <a:prstGeom prst="rect">
            <a:avLst/>
          </a:prstGeom>
        </p:spPr>
      </p:pic>
    </p:spTree>
    <p:extLst>
      <p:ext uri="{BB962C8B-B14F-4D97-AF65-F5344CB8AC3E}">
        <p14:creationId xmlns:p14="http://schemas.microsoft.com/office/powerpoint/2010/main" val="23651904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S-Attributed Definitions</a:t>
            </a:r>
          </a:p>
        </p:txBody>
      </p:sp>
      <p:sp>
        <p:nvSpPr>
          <p:cNvPr id="3" name="内容占位符 2"/>
          <p:cNvSpPr>
            <a:spLocks noGrp="1"/>
          </p:cNvSpPr>
          <p:nvPr>
            <p:ph idx="1"/>
          </p:nvPr>
        </p:nvSpPr>
        <p:spPr>
          <a:xfrm>
            <a:off x="828675" y="1600200"/>
            <a:ext cx="7486650" cy="3980204"/>
          </a:xfrm>
        </p:spPr>
        <p:txBody>
          <a:bodyPr>
            <a:normAutofit/>
          </a:bodyPr>
          <a:lstStyle/>
          <a:p>
            <a:r>
              <a:rPr lang="en-US" altLang="zh-CN" sz="1800" b="1" dirty="0">
                <a:solidFill>
                  <a:srgbClr val="7030A0"/>
                </a:solidFill>
              </a:rPr>
              <a:t>S-Attributed Definitions</a:t>
            </a:r>
          </a:p>
          <a:p>
            <a:pPr lvl="1"/>
            <a:r>
              <a:rPr lang="en-US" altLang="zh-CN" sz="1600" dirty="0"/>
              <a:t>An SDD is S-attributed if every attribute is synthesized</a:t>
            </a:r>
          </a:p>
          <a:p>
            <a:r>
              <a:rPr lang="en-US" altLang="zh-CN" sz="1900" b="1" dirty="0">
                <a:solidFill>
                  <a:schemeClr val="tx2"/>
                </a:solidFill>
              </a:rPr>
              <a:t>When an </a:t>
            </a:r>
            <a:r>
              <a:rPr lang="en-US" altLang="zh-CN" sz="1900" b="1" dirty="0" smtClean="0">
                <a:solidFill>
                  <a:schemeClr val="tx2"/>
                </a:solidFill>
              </a:rPr>
              <a:t>SDD </a:t>
            </a:r>
            <a:r>
              <a:rPr lang="en-US" altLang="zh-CN" sz="1900" b="1" dirty="0">
                <a:solidFill>
                  <a:schemeClr val="tx2"/>
                </a:solidFill>
              </a:rPr>
              <a:t>is S-attributed, we can evaluate its attributes in any bottom up order of the nodes of the parse tree. It is often especially simple to evaluate the attributes by performing a </a:t>
            </a:r>
            <a:r>
              <a:rPr lang="en-US" altLang="zh-CN" sz="1900" b="1" dirty="0" err="1">
                <a:solidFill>
                  <a:schemeClr val="tx2"/>
                </a:solidFill>
              </a:rPr>
              <a:t>postorder</a:t>
            </a:r>
            <a:r>
              <a:rPr lang="en-US" altLang="zh-CN" sz="1900" b="1" dirty="0">
                <a:solidFill>
                  <a:schemeClr val="tx2"/>
                </a:solidFill>
              </a:rPr>
              <a:t> traversal of the parse tree and evaluating the attributes at a node </a:t>
            </a:r>
            <a:r>
              <a:rPr lang="en-US" altLang="zh-CN" sz="1900" b="1" i="1" dirty="0">
                <a:solidFill>
                  <a:schemeClr val="tx2"/>
                </a:solidFill>
              </a:rPr>
              <a:t>N</a:t>
            </a:r>
            <a:r>
              <a:rPr lang="en-US" altLang="zh-CN" sz="1900" b="1" dirty="0">
                <a:solidFill>
                  <a:schemeClr val="tx2"/>
                </a:solidFill>
              </a:rPr>
              <a:t> when the traversal leaves </a:t>
            </a:r>
            <a:r>
              <a:rPr lang="en-US" altLang="zh-CN" sz="1900" b="1" i="1" dirty="0">
                <a:solidFill>
                  <a:schemeClr val="tx2"/>
                </a:solidFill>
              </a:rPr>
              <a:t>N</a:t>
            </a:r>
            <a:r>
              <a:rPr lang="en-US" altLang="zh-CN" sz="1900" b="1" dirty="0">
                <a:solidFill>
                  <a:schemeClr val="tx2"/>
                </a:solidFill>
              </a:rPr>
              <a:t> for the last time.</a:t>
            </a:r>
            <a:endParaRPr lang="zh-CN" altLang="en-US" sz="1900" b="1" dirty="0">
              <a:solidFill>
                <a:schemeClr val="tx2"/>
              </a:solidFill>
            </a:endParaRPr>
          </a:p>
        </p:txBody>
      </p:sp>
      <p:pic>
        <p:nvPicPr>
          <p:cNvPr id="4" name="图片 3"/>
          <p:cNvPicPr>
            <a:picLocks noChangeAspect="1"/>
          </p:cNvPicPr>
          <p:nvPr/>
        </p:nvPicPr>
        <p:blipFill>
          <a:blip r:embed="rId2"/>
          <a:stretch>
            <a:fillRect/>
          </a:stretch>
        </p:blipFill>
        <p:spPr>
          <a:xfrm>
            <a:off x="1547812" y="4104594"/>
            <a:ext cx="6200775" cy="1152525"/>
          </a:xfrm>
          <a:prstGeom prst="rect">
            <a:avLst/>
          </a:prstGeom>
        </p:spPr>
      </p:pic>
      <p:sp>
        <p:nvSpPr>
          <p:cNvPr id="5" name="内容占位符 2"/>
          <p:cNvSpPr txBox="1">
            <a:spLocks/>
          </p:cNvSpPr>
          <p:nvPr/>
        </p:nvSpPr>
        <p:spPr>
          <a:xfrm>
            <a:off x="579842" y="5580404"/>
            <a:ext cx="7983178" cy="863124"/>
          </a:xfrm>
          <a:prstGeom prst="rect">
            <a:avLst/>
          </a:prstGeom>
        </p:spPr>
        <p:style>
          <a:lnRef idx="1">
            <a:schemeClr val="accent6"/>
          </a:lnRef>
          <a:fillRef idx="2">
            <a:schemeClr val="accent6"/>
          </a:fillRef>
          <a:effectRef idx="1">
            <a:schemeClr val="accent6"/>
          </a:effectRef>
          <a:fontRef idx="minor">
            <a:schemeClr val="dk1"/>
          </a:fontRef>
        </p:style>
        <p:txBody>
          <a:bodyPr vert="horz" lIns="0" tIns="45720" rIns="0" bIns="45720" rtlCol="0">
            <a:normAutofit fontScale="92500"/>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pPr>
              <a:lnSpc>
                <a:spcPct val="110000"/>
              </a:lnSpc>
            </a:pPr>
            <a:r>
              <a:rPr lang="en-US" altLang="zh-CN" sz="1900" dirty="0" smtClean="0">
                <a:solidFill>
                  <a:schemeClr val="tx2"/>
                </a:solidFill>
              </a:rPr>
              <a:t>S-attributed definitions can be implemented during bottom-up parsing, since a bottom up parse corresponds to a </a:t>
            </a:r>
            <a:r>
              <a:rPr lang="en-US" altLang="zh-CN" sz="1900" dirty="0" err="1" smtClean="0">
                <a:solidFill>
                  <a:schemeClr val="tx2"/>
                </a:solidFill>
              </a:rPr>
              <a:t>postorder</a:t>
            </a:r>
            <a:r>
              <a:rPr lang="en-US" altLang="zh-CN" sz="1900" dirty="0" smtClean="0">
                <a:solidFill>
                  <a:schemeClr val="tx2"/>
                </a:solidFill>
              </a:rPr>
              <a:t> traversal.</a:t>
            </a:r>
            <a:endParaRPr lang="zh-CN" altLang="en-US" sz="1900" dirty="0">
              <a:solidFill>
                <a:schemeClr val="tx2"/>
              </a:solidFill>
            </a:endParaRPr>
          </a:p>
        </p:txBody>
      </p:sp>
    </p:spTree>
    <p:extLst>
      <p:ext uri="{BB962C8B-B14F-4D97-AF65-F5344CB8AC3E}">
        <p14:creationId xmlns:p14="http://schemas.microsoft.com/office/powerpoint/2010/main" val="3335338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L-Attributed Definitions</a:t>
            </a:r>
          </a:p>
        </p:txBody>
      </p:sp>
      <p:sp>
        <p:nvSpPr>
          <p:cNvPr id="3" name="内容占位符 2"/>
          <p:cNvSpPr>
            <a:spLocks noGrp="1"/>
          </p:cNvSpPr>
          <p:nvPr>
            <p:ph idx="1"/>
          </p:nvPr>
        </p:nvSpPr>
        <p:spPr/>
        <p:txBody>
          <a:bodyPr>
            <a:normAutofit/>
          </a:bodyPr>
          <a:lstStyle/>
          <a:p>
            <a:r>
              <a:rPr lang="en-US" altLang="zh-CN" sz="1800" b="1" dirty="0">
                <a:solidFill>
                  <a:srgbClr val="7030A0"/>
                </a:solidFill>
              </a:rPr>
              <a:t>L-Attributed Definitions</a:t>
            </a:r>
            <a:endParaRPr lang="zh-CN" altLang="en-US" sz="1800" b="1" dirty="0">
              <a:solidFill>
                <a:srgbClr val="7030A0"/>
              </a:solidFill>
            </a:endParaRPr>
          </a:p>
        </p:txBody>
      </p:sp>
      <p:pic>
        <p:nvPicPr>
          <p:cNvPr id="4" name="图片 3"/>
          <p:cNvPicPr>
            <a:picLocks noChangeAspect="1"/>
          </p:cNvPicPr>
          <p:nvPr/>
        </p:nvPicPr>
        <p:blipFill>
          <a:blip r:embed="rId2"/>
          <a:stretch>
            <a:fillRect/>
          </a:stretch>
        </p:blipFill>
        <p:spPr>
          <a:xfrm>
            <a:off x="828675" y="1958068"/>
            <a:ext cx="7705725" cy="2876550"/>
          </a:xfrm>
          <a:prstGeom prst="rect">
            <a:avLst/>
          </a:prstGeom>
        </p:spPr>
      </p:pic>
      <p:pic>
        <p:nvPicPr>
          <p:cNvPr id="5" name="图片 4"/>
          <p:cNvPicPr>
            <a:picLocks noChangeAspect="1"/>
          </p:cNvPicPr>
          <p:nvPr/>
        </p:nvPicPr>
        <p:blipFill>
          <a:blip r:embed="rId3"/>
          <a:stretch>
            <a:fillRect/>
          </a:stretch>
        </p:blipFill>
        <p:spPr>
          <a:xfrm>
            <a:off x="1100137" y="4742543"/>
            <a:ext cx="7324725" cy="1038225"/>
          </a:xfrm>
          <a:prstGeom prst="rect">
            <a:avLst/>
          </a:prstGeom>
        </p:spPr>
      </p:pic>
    </p:spTree>
    <p:extLst>
      <p:ext uri="{BB962C8B-B14F-4D97-AF65-F5344CB8AC3E}">
        <p14:creationId xmlns:p14="http://schemas.microsoft.com/office/powerpoint/2010/main" val="755733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L-Attributed Definitions</a:t>
            </a:r>
          </a:p>
        </p:txBody>
      </p:sp>
      <p:pic>
        <p:nvPicPr>
          <p:cNvPr id="4" name="图片 3"/>
          <p:cNvPicPr>
            <a:picLocks noChangeAspect="1"/>
          </p:cNvPicPr>
          <p:nvPr/>
        </p:nvPicPr>
        <p:blipFill>
          <a:blip r:embed="rId2"/>
          <a:stretch>
            <a:fillRect/>
          </a:stretch>
        </p:blipFill>
        <p:spPr>
          <a:xfrm>
            <a:off x="828675" y="1298525"/>
            <a:ext cx="7175047" cy="1755597"/>
          </a:xfrm>
          <a:prstGeom prst="rect">
            <a:avLst/>
          </a:prstGeom>
        </p:spPr>
      </p:pic>
      <p:pic>
        <p:nvPicPr>
          <p:cNvPr id="5" name="图片 4"/>
          <p:cNvPicPr>
            <a:picLocks noChangeAspect="1"/>
          </p:cNvPicPr>
          <p:nvPr/>
        </p:nvPicPr>
        <p:blipFill>
          <a:blip r:embed="rId3"/>
          <a:stretch>
            <a:fillRect/>
          </a:stretch>
        </p:blipFill>
        <p:spPr>
          <a:xfrm>
            <a:off x="828675" y="2883649"/>
            <a:ext cx="6993755" cy="3887265"/>
          </a:xfrm>
          <a:prstGeom prst="rect">
            <a:avLst/>
          </a:prstGeom>
        </p:spPr>
      </p:pic>
    </p:spTree>
    <p:extLst>
      <p:ext uri="{BB962C8B-B14F-4D97-AF65-F5344CB8AC3E}">
        <p14:creationId xmlns:p14="http://schemas.microsoft.com/office/powerpoint/2010/main" val="2890361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a:lnSpc>
                <a:spcPct val="100000"/>
              </a:lnSpc>
            </a:pPr>
            <a:r>
              <a:rPr lang="en-US" altLang="zh-CN" dirty="0"/>
              <a:t>6.3 Evaluation Orders for SDD 's - Semantic Rules with Controlled Side Effects</a:t>
            </a:r>
            <a:endParaRPr lang="zh-CN" altLang="en-US" dirty="0"/>
          </a:p>
        </p:txBody>
      </p:sp>
      <p:sp>
        <p:nvSpPr>
          <p:cNvPr id="3" name="内容占位符 2"/>
          <p:cNvSpPr>
            <a:spLocks noGrp="1"/>
          </p:cNvSpPr>
          <p:nvPr>
            <p:ph idx="1"/>
          </p:nvPr>
        </p:nvSpPr>
        <p:spPr>
          <a:xfrm>
            <a:off x="827537" y="3855128"/>
            <a:ext cx="7486650" cy="2448017"/>
          </a:xfrm>
        </p:spPr>
        <p:txBody>
          <a:bodyPr>
            <a:normAutofit/>
          </a:bodyPr>
          <a:lstStyle/>
          <a:p>
            <a:pPr>
              <a:lnSpc>
                <a:spcPct val="100000"/>
              </a:lnSpc>
            </a:pPr>
            <a:r>
              <a:rPr lang="en-US" altLang="zh-CN" sz="1600" dirty="0"/>
              <a:t>We shall control side effects in SDD's in one of the following ways :</a:t>
            </a:r>
            <a:endParaRPr lang="en-US" altLang="zh-CN" sz="1300" dirty="0"/>
          </a:p>
          <a:p>
            <a:pPr>
              <a:lnSpc>
                <a:spcPct val="100000"/>
              </a:lnSpc>
            </a:pPr>
            <a:r>
              <a:rPr lang="en-US" altLang="zh-CN" sz="1600" dirty="0"/>
              <a:t>Permit incidental side effects that do not constrain attribute evaluation. In other words, permit side effects when attribute evaluation based on any topological sort of the dependency graph produces a "correct" translation, where "correct" depends on the application .</a:t>
            </a:r>
          </a:p>
          <a:p>
            <a:pPr>
              <a:lnSpc>
                <a:spcPct val="100000"/>
              </a:lnSpc>
            </a:pPr>
            <a:r>
              <a:rPr lang="en-US" altLang="zh-CN" sz="1600" dirty="0"/>
              <a:t> Constrain the allowable evaluation orders, so that the same translation is produced for any allowable order. The constraints can be thought of as implicit edges added to the dependency graph.</a:t>
            </a:r>
          </a:p>
        </p:txBody>
      </p:sp>
      <p:pic>
        <p:nvPicPr>
          <p:cNvPr id="4" name="图片 3">
            <a:extLst>
              <a:ext uri="{FF2B5EF4-FFF2-40B4-BE49-F238E27FC236}">
                <a16:creationId xmlns:a16="http://schemas.microsoft.com/office/drawing/2014/main" xmlns="" id="{D5D0ADB2-4D41-4031-9869-9F1942359865}"/>
              </a:ext>
            </a:extLst>
          </p:cNvPr>
          <p:cNvPicPr>
            <a:picLocks noChangeAspect="1"/>
          </p:cNvPicPr>
          <p:nvPr/>
        </p:nvPicPr>
        <p:blipFill>
          <a:blip r:embed="rId2"/>
          <a:stretch>
            <a:fillRect/>
          </a:stretch>
        </p:blipFill>
        <p:spPr>
          <a:xfrm>
            <a:off x="313187" y="1623557"/>
            <a:ext cx="8515350" cy="1781175"/>
          </a:xfrm>
          <a:prstGeom prst="rect">
            <a:avLst/>
          </a:prstGeom>
        </p:spPr>
      </p:pic>
    </p:spTree>
    <p:extLst>
      <p:ext uri="{BB962C8B-B14F-4D97-AF65-F5344CB8AC3E}">
        <p14:creationId xmlns:p14="http://schemas.microsoft.com/office/powerpoint/2010/main" val="2979827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Semantic Rules with Controlled Side Effects</a:t>
            </a:r>
            <a:endParaRPr lang="zh-CN" altLang="en-US" dirty="0"/>
          </a:p>
        </p:txBody>
      </p:sp>
      <p:pic>
        <p:nvPicPr>
          <p:cNvPr id="4" name="图片 3"/>
          <p:cNvPicPr>
            <a:picLocks noChangeAspect="1"/>
          </p:cNvPicPr>
          <p:nvPr/>
        </p:nvPicPr>
        <p:blipFill>
          <a:blip r:embed="rId2"/>
          <a:stretch>
            <a:fillRect/>
          </a:stretch>
        </p:blipFill>
        <p:spPr>
          <a:xfrm>
            <a:off x="585107" y="1428750"/>
            <a:ext cx="8191500" cy="5429250"/>
          </a:xfrm>
          <a:prstGeom prst="rect">
            <a:avLst/>
          </a:prstGeom>
        </p:spPr>
      </p:pic>
    </p:spTree>
    <p:extLst>
      <p:ext uri="{BB962C8B-B14F-4D97-AF65-F5344CB8AC3E}">
        <p14:creationId xmlns:p14="http://schemas.microsoft.com/office/powerpoint/2010/main" val="14685007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6.3 Evaluation Orders for SDD 's - Semantic Rules with Controlled Side Effects</a:t>
            </a:r>
            <a:endParaRPr lang="zh-CN" altLang="en-US" dirty="0"/>
          </a:p>
        </p:txBody>
      </p:sp>
      <p:pic>
        <p:nvPicPr>
          <p:cNvPr id="4" name="图片 3"/>
          <p:cNvPicPr>
            <a:picLocks noChangeAspect="1"/>
          </p:cNvPicPr>
          <p:nvPr/>
        </p:nvPicPr>
        <p:blipFill>
          <a:blip r:embed="rId2"/>
          <a:stretch>
            <a:fillRect/>
          </a:stretch>
        </p:blipFill>
        <p:spPr>
          <a:xfrm>
            <a:off x="1247775" y="1719943"/>
            <a:ext cx="6800850" cy="4572000"/>
          </a:xfrm>
          <a:prstGeom prst="rect">
            <a:avLst/>
          </a:prstGeom>
        </p:spPr>
      </p:pic>
    </p:spTree>
    <p:extLst>
      <p:ext uri="{BB962C8B-B14F-4D97-AF65-F5344CB8AC3E}">
        <p14:creationId xmlns:p14="http://schemas.microsoft.com/office/powerpoint/2010/main" val="5188743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6.4 Applications of Syntax-Directed Translation</a:t>
            </a:r>
            <a:endParaRPr lang="zh-CN" altLang="en-US" dirty="0"/>
          </a:p>
        </p:txBody>
      </p:sp>
      <p:sp>
        <p:nvSpPr>
          <p:cNvPr id="3" name="内容占位符 2"/>
          <p:cNvSpPr>
            <a:spLocks noGrp="1"/>
          </p:cNvSpPr>
          <p:nvPr>
            <p:ph idx="1"/>
          </p:nvPr>
        </p:nvSpPr>
        <p:spPr/>
        <p:txBody>
          <a:bodyPr>
            <a:normAutofit/>
          </a:bodyPr>
          <a:lstStyle/>
          <a:p>
            <a:pPr>
              <a:lnSpc>
                <a:spcPct val="100000"/>
              </a:lnSpc>
            </a:pPr>
            <a:r>
              <a:rPr lang="en-US" altLang="zh-CN" sz="1600" dirty="0">
                <a:solidFill>
                  <a:srgbClr val="0070C0"/>
                </a:solidFill>
              </a:rPr>
              <a:t>Construction of Syntax Trees</a:t>
            </a:r>
          </a:p>
          <a:p>
            <a:pPr marL="0" indent="0">
              <a:lnSpc>
                <a:spcPct val="100000"/>
              </a:lnSpc>
              <a:buNone/>
            </a:pPr>
            <a:endParaRPr lang="zh-CN" altLang="en-US" sz="1600" dirty="0">
              <a:solidFill>
                <a:srgbClr val="0070C0"/>
              </a:solidFill>
            </a:endParaRPr>
          </a:p>
        </p:txBody>
      </p:sp>
      <p:pic>
        <p:nvPicPr>
          <p:cNvPr id="4" name="图片 3"/>
          <p:cNvPicPr>
            <a:picLocks noChangeAspect="1"/>
          </p:cNvPicPr>
          <p:nvPr/>
        </p:nvPicPr>
        <p:blipFill>
          <a:blip r:embed="rId2"/>
          <a:stretch>
            <a:fillRect/>
          </a:stretch>
        </p:blipFill>
        <p:spPr>
          <a:xfrm>
            <a:off x="924148" y="2003985"/>
            <a:ext cx="7390039" cy="1332486"/>
          </a:xfrm>
          <a:prstGeom prst="rect">
            <a:avLst/>
          </a:prstGeom>
        </p:spPr>
      </p:pic>
      <p:pic>
        <p:nvPicPr>
          <p:cNvPr id="5" name="图片 4"/>
          <p:cNvPicPr>
            <a:picLocks noChangeAspect="1"/>
          </p:cNvPicPr>
          <p:nvPr/>
        </p:nvPicPr>
        <p:blipFill>
          <a:blip r:embed="rId3"/>
          <a:stretch>
            <a:fillRect/>
          </a:stretch>
        </p:blipFill>
        <p:spPr>
          <a:xfrm>
            <a:off x="1360145" y="3617085"/>
            <a:ext cx="5955055" cy="2274500"/>
          </a:xfrm>
          <a:prstGeom prst="rect">
            <a:avLst/>
          </a:prstGeom>
        </p:spPr>
      </p:pic>
    </p:spTree>
    <p:extLst>
      <p:ext uri="{BB962C8B-B14F-4D97-AF65-F5344CB8AC3E}">
        <p14:creationId xmlns:p14="http://schemas.microsoft.com/office/powerpoint/2010/main" val="2498462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6.4 Applications of Syntax-Directed Translation</a:t>
            </a:r>
            <a:endParaRPr lang="zh-CN" altLang="en-US" dirty="0"/>
          </a:p>
        </p:txBody>
      </p:sp>
      <p:pic>
        <p:nvPicPr>
          <p:cNvPr id="4" name="图片 3"/>
          <p:cNvPicPr>
            <a:picLocks noChangeAspect="1"/>
          </p:cNvPicPr>
          <p:nvPr/>
        </p:nvPicPr>
        <p:blipFill>
          <a:blip r:embed="rId2"/>
          <a:stretch>
            <a:fillRect/>
          </a:stretch>
        </p:blipFill>
        <p:spPr>
          <a:xfrm>
            <a:off x="1870809" y="1575006"/>
            <a:ext cx="5401244" cy="4996564"/>
          </a:xfrm>
          <a:prstGeom prst="rect">
            <a:avLst/>
          </a:prstGeom>
        </p:spPr>
      </p:pic>
    </p:spTree>
    <p:extLst>
      <p:ext uri="{BB962C8B-B14F-4D97-AF65-F5344CB8AC3E}">
        <p14:creationId xmlns:p14="http://schemas.microsoft.com/office/powerpoint/2010/main" val="438349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6.4 Applications of Syntax-Directed Translation</a:t>
            </a:r>
            <a:endParaRPr lang="zh-CN" altLang="en-US" dirty="0"/>
          </a:p>
        </p:txBody>
      </p:sp>
      <p:pic>
        <p:nvPicPr>
          <p:cNvPr id="4" name="内容占位符 3"/>
          <p:cNvPicPr>
            <a:picLocks noGrp="1" noChangeAspect="1"/>
          </p:cNvPicPr>
          <p:nvPr>
            <p:ph idx="1"/>
          </p:nvPr>
        </p:nvPicPr>
        <p:blipFill>
          <a:blip r:embed="rId2"/>
          <a:stretch>
            <a:fillRect/>
          </a:stretch>
        </p:blipFill>
        <p:spPr>
          <a:xfrm>
            <a:off x="827537" y="1479227"/>
            <a:ext cx="7486650" cy="612060"/>
          </a:xfrm>
          <a:prstGeom prst="rect">
            <a:avLst/>
          </a:prstGeom>
        </p:spPr>
      </p:pic>
      <p:pic>
        <p:nvPicPr>
          <p:cNvPr id="5" name="图片 4"/>
          <p:cNvPicPr>
            <a:picLocks noChangeAspect="1"/>
          </p:cNvPicPr>
          <p:nvPr/>
        </p:nvPicPr>
        <p:blipFill>
          <a:blip r:embed="rId3"/>
          <a:stretch>
            <a:fillRect/>
          </a:stretch>
        </p:blipFill>
        <p:spPr>
          <a:xfrm>
            <a:off x="668111" y="5701393"/>
            <a:ext cx="7981950" cy="876300"/>
          </a:xfrm>
          <a:prstGeom prst="rect">
            <a:avLst/>
          </a:prstGeom>
        </p:spPr>
      </p:pic>
      <p:pic>
        <p:nvPicPr>
          <p:cNvPr id="6" name="图片 5"/>
          <p:cNvPicPr>
            <a:picLocks noChangeAspect="1"/>
          </p:cNvPicPr>
          <p:nvPr/>
        </p:nvPicPr>
        <p:blipFill>
          <a:blip r:embed="rId4"/>
          <a:stretch>
            <a:fillRect/>
          </a:stretch>
        </p:blipFill>
        <p:spPr>
          <a:xfrm>
            <a:off x="130629" y="2402225"/>
            <a:ext cx="4207076" cy="2617333"/>
          </a:xfrm>
          <a:prstGeom prst="rect">
            <a:avLst/>
          </a:prstGeom>
        </p:spPr>
      </p:pic>
      <p:pic>
        <p:nvPicPr>
          <p:cNvPr id="7" name="图片 6"/>
          <p:cNvPicPr>
            <a:picLocks noChangeAspect="1"/>
          </p:cNvPicPr>
          <p:nvPr/>
        </p:nvPicPr>
        <p:blipFill>
          <a:blip r:embed="rId5"/>
          <a:stretch>
            <a:fillRect/>
          </a:stretch>
        </p:blipFill>
        <p:spPr>
          <a:xfrm>
            <a:off x="4252912" y="2567175"/>
            <a:ext cx="4701949" cy="2287435"/>
          </a:xfrm>
          <a:prstGeom prst="rect">
            <a:avLst/>
          </a:prstGeom>
        </p:spPr>
      </p:pic>
    </p:spTree>
    <p:extLst>
      <p:ext uri="{BB962C8B-B14F-4D97-AF65-F5344CB8AC3E}">
        <p14:creationId xmlns:p14="http://schemas.microsoft.com/office/powerpoint/2010/main" val="38350714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6.4 Applications of Syntax-Directed Translation</a:t>
            </a:r>
            <a:endParaRPr lang="zh-CN" altLang="en-US" dirty="0"/>
          </a:p>
        </p:txBody>
      </p:sp>
      <p:sp>
        <p:nvSpPr>
          <p:cNvPr id="3" name="内容占位符 2"/>
          <p:cNvSpPr>
            <a:spLocks noGrp="1"/>
          </p:cNvSpPr>
          <p:nvPr>
            <p:ph idx="1"/>
          </p:nvPr>
        </p:nvSpPr>
        <p:spPr>
          <a:xfrm>
            <a:off x="828675" y="1600200"/>
            <a:ext cx="7486650" cy="4720701"/>
          </a:xfrm>
        </p:spPr>
        <p:txBody>
          <a:bodyPr>
            <a:normAutofit lnSpcReduction="10000"/>
          </a:bodyPr>
          <a:lstStyle/>
          <a:p>
            <a:r>
              <a:rPr lang="en-US" altLang="zh-CN" sz="1800" dirty="0">
                <a:solidFill>
                  <a:srgbClr val="0070C0"/>
                </a:solidFill>
              </a:rPr>
              <a:t>The Structure of a Type</a:t>
            </a: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endParaRPr lang="en-US" altLang="zh-CN" sz="1800" dirty="0">
              <a:solidFill>
                <a:srgbClr val="0070C0"/>
              </a:solidFill>
            </a:endParaRPr>
          </a:p>
          <a:p>
            <a:pPr marL="0" indent="0">
              <a:buNone/>
            </a:pPr>
            <a:endParaRPr lang="en-US" altLang="zh-CN" sz="1800" dirty="0">
              <a:solidFill>
                <a:srgbClr val="0070C0"/>
              </a:solidFill>
            </a:endParaRPr>
          </a:p>
          <a:p>
            <a:pPr marL="0" indent="0">
              <a:lnSpc>
                <a:spcPct val="110000"/>
              </a:lnSpc>
              <a:buNone/>
            </a:pPr>
            <a:r>
              <a:rPr lang="en-US" altLang="zh-CN" sz="1700" dirty="0">
                <a:solidFill>
                  <a:srgbClr val="0070C0"/>
                </a:solidFill>
              </a:rPr>
              <a:t>The </a:t>
            </a:r>
            <a:r>
              <a:rPr lang="en-US" altLang="zh-CN" sz="1700" dirty="0" err="1">
                <a:solidFill>
                  <a:srgbClr val="0070C0"/>
                </a:solidFill>
              </a:rPr>
              <a:t>nonterminals</a:t>
            </a:r>
            <a:r>
              <a:rPr lang="en-US" altLang="zh-CN" sz="1700" dirty="0">
                <a:solidFill>
                  <a:srgbClr val="0070C0"/>
                </a:solidFill>
              </a:rPr>
              <a:t> </a:t>
            </a:r>
            <a:r>
              <a:rPr lang="en-US" altLang="zh-CN" sz="1700" i="1" dirty="0">
                <a:solidFill>
                  <a:srgbClr val="0070C0"/>
                </a:solidFill>
              </a:rPr>
              <a:t>B</a:t>
            </a:r>
            <a:r>
              <a:rPr lang="en-US" altLang="zh-CN" sz="1700" dirty="0">
                <a:solidFill>
                  <a:srgbClr val="0070C0"/>
                </a:solidFill>
              </a:rPr>
              <a:t> and </a:t>
            </a:r>
            <a:r>
              <a:rPr lang="en-US" altLang="zh-CN" sz="1700" i="1" dirty="0">
                <a:solidFill>
                  <a:srgbClr val="0070C0"/>
                </a:solidFill>
              </a:rPr>
              <a:t>T</a:t>
            </a:r>
            <a:r>
              <a:rPr lang="en-US" altLang="zh-CN" sz="1700" dirty="0">
                <a:solidFill>
                  <a:srgbClr val="0070C0"/>
                </a:solidFill>
              </a:rPr>
              <a:t> have a synthesized attribute </a:t>
            </a:r>
            <a:r>
              <a:rPr lang="en-US" altLang="zh-CN" sz="1700" i="1" dirty="0">
                <a:solidFill>
                  <a:srgbClr val="0070C0"/>
                </a:solidFill>
              </a:rPr>
              <a:t>t</a:t>
            </a:r>
            <a:r>
              <a:rPr lang="en-US" altLang="zh-CN" sz="1700" dirty="0">
                <a:solidFill>
                  <a:srgbClr val="0070C0"/>
                </a:solidFill>
              </a:rPr>
              <a:t> representing a type. The nonterminal </a:t>
            </a:r>
            <a:r>
              <a:rPr lang="en-US" altLang="zh-CN" sz="1700" i="1" dirty="0">
                <a:solidFill>
                  <a:srgbClr val="0070C0"/>
                </a:solidFill>
              </a:rPr>
              <a:t>C</a:t>
            </a:r>
            <a:r>
              <a:rPr lang="en-US" altLang="zh-CN" sz="1700" dirty="0">
                <a:solidFill>
                  <a:srgbClr val="0070C0"/>
                </a:solidFill>
              </a:rPr>
              <a:t> has two attributes: an inherited attribute </a:t>
            </a:r>
            <a:r>
              <a:rPr lang="en-US" altLang="zh-CN" sz="1700" i="1" dirty="0">
                <a:solidFill>
                  <a:srgbClr val="0070C0"/>
                </a:solidFill>
              </a:rPr>
              <a:t>b</a:t>
            </a:r>
            <a:r>
              <a:rPr lang="en-US" altLang="zh-CN" sz="1700" dirty="0">
                <a:solidFill>
                  <a:srgbClr val="0070C0"/>
                </a:solidFill>
              </a:rPr>
              <a:t> and a synthesized attribute </a:t>
            </a:r>
            <a:r>
              <a:rPr lang="en-US" altLang="zh-CN" sz="1700" i="1" dirty="0">
                <a:solidFill>
                  <a:srgbClr val="0070C0"/>
                </a:solidFill>
              </a:rPr>
              <a:t>t</a:t>
            </a:r>
            <a:r>
              <a:rPr lang="en-US" altLang="zh-CN" sz="1700" dirty="0">
                <a:solidFill>
                  <a:srgbClr val="0070C0"/>
                </a:solidFill>
              </a:rPr>
              <a:t>. The inherited </a:t>
            </a:r>
            <a:r>
              <a:rPr lang="en-US" altLang="zh-CN" sz="1700" i="1" dirty="0">
                <a:solidFill>
                  <a:srgbClr val="0070C0"/>
                </a:solidFill>
              </a:rPr>
              <a:t>b</a:t>
            </a:r>
            <a:r>
              <a:rPr lang="en-US" altLang="zh-CN" sz="1700" dirty="0">
                <a:solidFill>
                  <a:srgbClr val="0070C0"/>
                </a:solidFill>
              </a:rPr>
              <a:t> attributes pass a basic type down the tree, and the synthesized </a:t>
            </a:r>
            <a:r>
              <a:rPr lang="en-US" altLang="zh-CN" sz="1700" i="1" dirty="0">
                <a:solidFill>
                  <a:srgbClr val="0070C0"/>
                </a:solidFill>
              </a:rPr>
              <a:t>t</a:t>
            </a:r>
            <a:r>
              <a:rPr lang="en-US" altLang="zh-CN" sz="1700" dirty="0">
                <a:solidFill>
                  <a:srgbClr val="0070C0"/>
                </a:solidFill>
              </a:rPr>
              <a:t> attributes accumulate the result.</a:t>
            </a:r>
          </a:p>
          <a:p>
            <a:endParaRPr lang="en-US" altLang="zh-CN" sz="1800" dirty="0">
              <a:solidFill>
                <a:srgbClr val="0070C0"/>
              </a:solidFill>
            </a:endParaRPr>
          </a:p>
          <a:p>
            <a:pPr marL="0" indent="0">
              <a:buNone/>
            </a:pPr>
            <a:endParaRPr lang="zh-CN" altLang="en-US" sz="1800" dirty="0"/>
          </a:p>
        </p:txBody>
      </p:sp>
      <p:pic>
        <p:nvPicPr>
          <p:cNvPr id="4" name="图片 3"/>
          <p:cNvPicPr>
            <a:picLocks noChangeAspect="1"/>
          </p:cNvPicPr>
          <p:nvPr/>
        </p:nvPicPr>
        <p:blipFill>
          <a:blip r:embed="rId2"/>
          <a:stretch>
            <a:fillRect/>
          </a:stretch>
        </p:blipFill>
        <p:spPr>
          <a:xfrm>
            <a:off x="695510" y="1926579"/>
            <a:ext cx="6006359" cy="2569028"/>
          </a:xfrm>
          <a:prstGeom prst="rect">
            <a:avLst/>
          </a:prstGeom>
        </p:spPr>
      </p:pic>
      <p:pic>
        <p:nvPicPr>
          <p:cNvPr id="5" name="图片 4">
            <a:extLst>
              <a:ext uri="{FF2B5EF4-FFF2-40B4-BE49-F238E27FC236}">
                <a16:creationId xmlns:a16="http://schemas.microsoft.com/office/drawing/2014/main" xmlns="" id="{DB9ECCF3-D88F-4129-8C70-7ACF05D730C1}"/>
              </a:ext>
            </a:extLst>
          </p:cNvPr>
          <p:cNvPicPr>
            <a:picLocks noChangeAspect="1"/>
          </p:cNvPicPr>
          <p:nvPr/>
        </p:nvPicPr>
        <p:blipFill>
          <a:blip r:embed="rId3"/>
          <a:stretch>
            <a:fillRect/>
          </a:stretch>
        </p:blipFill>
        <p:spPr>
          <a:xfrm>
            <a:off x="5284568" y="3027286"/>
            <a:ext cx="3743197" cy="2008674"/>
          </a:xfrm>
          <a:prstGeom prst="rect">
            <a:avLst/>
          </a:prstGeom>
        </p:spPr>
      </p:pic>
    </p:spTree>
    <p:extLst>
      <p:ext uri="{BB962C8B-B14F-4D97-AF65-F5344CB8AC3E}">
        <p14:creationId xmlns:p14="http://schemas.microsoft.com/office/powerpoint/2010/main" val="14595847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ED2205E1-7F18-4A7D-80F7-3E308B6826EC}"/>
              </a:ext>
            </a:extLst>
          </p:cNvPr>
          <p:cNvSpPr>
            <a:spLocks noGrp="1"/>
          </p:cNvSpPr>
          <p:nvPr>
            <p:ph type="title"/>
          </p:nvPr>
        </p:nvSpPr>
        <p:spPr/>
        <p:txBody>
          <a:bodyPr/>
          <a:lstStyle/>
          <a:p>
            <a:r>
              <a:rPr lang="en-US" altLang="zh-CN" dirty="0"/>
              <a:t>6.4 Applications of Syntax-Directed Translation</a:t>
            </a:r>
            <a:endParaRPr lang="zh-CN" altLang="en-US" dirty="0"/>
          </a:p>
        </p:txBody>
      </p:sp>
      <p:pic>
        <p:nvPicPr>
          <p:cNvPr id="5" name="图片 4">
            <a:extLst>
              <a:ext uri="{FF2B5EF4-FFF2-40B4-BE49-F238E27FC236}">
                <a16:creationId xmlns:a16="http://schemas.microsoft.com/office/drawing/2014/main" xmlns="" id="{CB22EE56-0091-4EAF-9632-C0FC6F5B4F29}"/>
              </a:ext>
            </a:extLst>
          </p:cNvPr>
          <p:cNvPicPr>
            <a:picLocks noChangeAspect="1"/>
          </p:cNvPicPr>
          <p:nvPr/>
        </p:nvPicPr>
        <p:blipFill>
          <a:blip r:embed="rId2"/>
          <a:stretch>
            <a:fillRect/>
          </a:stretch>
        </p:blipFill>
        <p:spPr>
          <a:xfrm>
            <a:off x="828675" y="1758071"/>
            <a:ext cx="7521592" cy="4336156"/>
          </a:xfrm>
          <a:prstGeom prst="rect">
            <a:avLst/>
          </a:prstGeom>
        </p:spPr>
      </p:pic>
    </p:spTree>
    <p:extLst>
      <p:ext uri="{BB962C8B-B14F-4D97-AF65-F5344CB8AC3E}">
        <p14:creationId xmlns:p14="http://schemas.microsoft.com/office/powerpoint/2010/main" val="27589877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06D3FC8F-BF33-4907-B218-721029C3D885}"/>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xmlns="" id="{14C50C73-3213-4060-953A-C9EE48B41786}"/>
              </a:ext>
            </a:extLst>
          </p:cNvPr>
          <p:cNvSpPr>
            <a:spLocks noGrp="1"/>
          </p:cNvSpPr>
          <p:nvPr>
            <p:ph idx="1"/>
          </p:nvPr>
        </p:nvSpPr>
        <p:spPr/>
        <p:txBody>
          <a:bodyPr>
            <a:normAutofit/>
          </a:bodyPr>
          <a:lstStyle/>
          <a:p>
            <a:pPr>
              <a:lnSpc>
                <a:spcPct val="100000"/>
              </a:lnSpc>
            </a:pPr>
            <a:r>
              <a:rPr lang="en-US" altLang="zh-CN" sz="1800" dirty="0"/>
              <a:t>Syntax-directed translation schemes are a complementary notation to syntax directed definitions. All of the applications of syntax-directed definitions can be implemented using syntax-directed translation schemes.</a:t>
            </a:r>
          </a:p>
          <a:p>
            <a:pPr>
              <a:lnSpc>
                <a:spcPct val="100000"/>
              </a:lnSpc>
            </a:pPr>
            <a:endParaRPr lang="en-US" altLang="zh-CN" sz="1800" dirty="0"/>
          </a:p>
          <a:p>
            <a:pPr>
              <a:lnSpc>
                <a:spcPct val="100000"/>
              </a:lnSpc>
            </a:pPr>
            <a:r>
              <a:rPr lang="en-US" altLang="zh-CN" sz="1800" dirty="0"/>
              <a:t>A syntax- directed translation scheme (SDT) is a context free grammar with program fragments embedded within production bodies . The program fragments are called semantic actions and can appear at any position within a production body.</a:t>
            </a:r>
          </a:p>
        </p:txBody>
      </p:sp>
    </p:spTree>
    <p:extLst>
      <p:ext uri="{BB962C8B-B14F-4D97-AF65-F5344CB8AC3E}">
        <p14:creationId xmlns:p14="http://schemas.microsoft.com/office/powerpoint/2010/main" val="908849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44769F36-3310-4F2E-A61A-76B8E1EDD4E6}"/>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xmlns="" id="{4D266839-5B9B-4692-9B06-BC24B1CFC75D}"/>
              </a:ext>
            </a:extLst>
          </p:cNvPr>
          <p:cNvPicPr>
            <a:picLocks noChangeAspect="1"/>
          </p:cNvPicPr>
          <p:nvPr/>
        </p:nvPicPr>
        <p:blipFill>
          <a:blip r:embed="rId2"/>
          <a:stretch>
            <a:fillRect/>
          </a:stretch>
        </p:blipFill>
        <p:spPr>
          <a:xfrm>
            <a:off x="505808" y="2003976"/>
            <a:ext cx="8131245" cy="2796782"/>
          </a:xfrm>
          <a:prstGeom prst="rect">
            <a:avLst/>
          </a:prstGeom>
        </p:spPr>
      </p:pic>
    </p:spTree>
    <p:extLst>
      <p:ext uri="{BB962C8B-B14F-4D97-AF65-F5344CB8AC3E}">
        <p14:creationId xmlns:p14="http://schemas.microsoft.com/office/powerpoint/2010/main" val="30775425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0C42D67D-46CF-4046-977E-9A4CBC3B9DC3}"/>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xmlns="" id="{E64B9F9C-FC1C-4E07-8392-1E4E94959F8E}"/>
              </a:ext>
            </a:extLst>
          </p:cNvPr>
          <p:cNvSpPr>
            <a:spLocks noGrp="1"/>
          </p:cNvSpPr>
          <p:nvPr>
            <p:ph idx="1"/>
          </p:nvPr>
        </p:nvSpPr>
        <p:spPr/>
        <p:txBody>
          <a:bodyPr>
            <a:normAutofit/>
          </a:bodyPr>
          <a:lstStyle/>
          <a:p>
            <a:r>
              <a:rPr lang="en-US" altLang="zh-CN" sz="1600" dirty="0"/>
              <a:t>Postfix Translation Schemes</a:t>
            </a:r>
          </a:p>
          <a:p>
            <a:pPr marL="0" indent="0">
              <a:buNone/>
            </a:pPr>
            <a:r>
              <a:rPr lang="en-US" altLang="zh-CN" sz="1600" dirty="0">
                <a:solidFill>
                  <a:srgbClr val="00B050"/>
                </a:solidFill>
              </a:rPr>
              <a:t>The simplest SDD implementation occurs when we can parse the grammar bottom-up and the SDD is S-attributed. In that case, we can construct an SDT in which each action is placed at the end of the production and is executed along with the reduction of the body to the head of that production.</a:t>
            </a:r>
            <a:endParaRPr lang="zh-CN" altLang="en-US" sz="1600" dirty="0">
              <a:solidFill>
                <a:srgbClr val="00B050"/>
              </a:solidFill>
            </a:endParaRPr>
          </a:p>
        </p:txBody>
      </p:sp>
      <p:pic>
        <p:nvPicPr>
          <p:cNvPr id="5" name="图片 4">
            <a:extLst>
              <a:ext uri="{FF2B5EF4-FFF2-40B4-BE49-F238E27FC236}">
                <a16:creationId xmlns:a16="http://schemas.microsoft.com/office/drawing/2014/main" xmlns="" id="{C545A1B0-3864-4DC1-B1C0-6B9092DB15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6173" y="3274452"/>
            <a:ext cx="5679027" cy="2610194"/>
          </a:xfrm>
          <a:prstGeom prst="rect">
            <a:avLst/>
          </a:prstGeom>
        </p:spPr>
      </p:pic>
    </p:spTree>
    <p:extLst>
      <p:ext uri="{BB962C8B-B14F-4D97-AF65-F5344CB8AC3E}">
        <p14:creationId xmlns:p14="http://schemas.microsoft.com/office/powerpoint/2010/main" val="3104626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DE0AA93C-15DA-419F-B9B1-EED7854DE606}"/>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xmlns="" id="{5F3FD113-9D12-4C39-BCF5-27D9CA2216CF}"/>
              </a:ext>
            </a:extLst>
          </p:cNvPr>
          <p:cNvSpPr>
            <a:spLocks noGrp="1"/>
          </p:cNvSpPr>
          <p:nvPr>
            <p:ph idx="1"/>
          </p:nvPr>
        </p:nvSpPr>
        <p:spPr/>
        <p:txBody>
          <a:bodyPr/>
          <a:lstStyle/>
          <a:p>
            <a:r>
              <a:rPr lang="en-US" altLang="zh-CN" dirty="0">
                <a:solidFill>
                  <a:srgbClr val="00B050"/>
                </a:solidFill>
              </a:rPr>
              <a:t>Parser-Stack Implementation of Postfix SDT’s</a:t>
            </a:r>
          </a:p>
          <a:p>
            <a:pPr marL="0" indent="0">
              <a:buNone/>
            </a:pPr>
            <a:r>
              <a:rPr lang="en-US" altLang="zh-CN" dirty="0"/>
              <a:t>Postfix SDT's can be implemented during LR parsing by executing the actions when reductions occur. The attribute(s) of each grammar symbol can be put on the stack in a place where they can be found during the reduction. The best plan is to place the attributes along with the grammar symbols (or the LR states that represent these symbols) in records on the stack itself.</a:t>
            </a:r>
          </a:p>
          <a:p>
            <a:endParaRPr lang="zh-CN" altLang="en-US" dirty="0">
              <a:solidFill>
                <a:srgbClr val="00B050"/>
              </a:solidFill>
            </a:endParaRPr>
          </a:p>
        </p:txBody>
      </p:sp>
      <p:pic>
        <p:nvPicPr>
          <p:cNvPr id="4" name="图片 3">
            <a:extLst>
              <a:ext uri="{FF2B5EF4-FFF2-40B4-BE49-F238E27FC236}">
                <a16:creationId xmlns:a16="http://schemas.microsoft.com/office/drawing/2014/main" xmlns="" id="{CD136149-8F2D-41F3-A731-12B4EA6036F0}"/>
              </a:ext>
            </a:extLst>
          </p:cNvPr>
          <p:cNvPicPr>
            <a:picLocks noChangeAspect="1"/>
          </p:cNvPicPr>
          <p:nvPr/>
        </p:nvPicPr>
        <p:blipFill>
          <a:blip r:embed="rId2"/>
          <a:stretch>
            <a:fillRect/>
          </a:stretch>
        </p:blipFill>
        <p:spPr>
          <a:xfrm>
            <a:off x="1245012" y="3361513"/>
            <a:ext cx="6652837" cy="2088061"/>
          </a:xfrm>
          <a:prstGeom prst="rect">
            <a:avLst/>
          </a:prstGeom>
        </p:spPr>
      </p:pic>
    </p:spTree>
    <p:extLst>
      <p:ext uri="{BB962C8B-B14F-4D97-AF65-F5344CB8AC3E}">
        <p14:creationId xmlns:p14="http://schemas.microsoft.com/office/powerpoint/2010/main" val="32842018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561DF9F1-55AA-4CE9-9FAA-5F2B1649D445}"/>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xmlns="" id="{8E58542B-8D82-4D44-9392-DC000903D4AC}"/>
              </a:ext>
            </a:extLst>
          </p:cNvPr>
          <p:cNvPicPr>
            <a:picLocks noChangeAspect="1"/>
          </p:cNvPicPr>
          <p:nvPr/>
        </p:nvPicPr>
        <p:blipFill>
          <a:blip r:embed="rId2"/>
          <a:stretch>
            <a:fillRect/>
          </a:stretch>
        </p:blipFill>
        <p:spPr>
          <a:xfrm>
            <a:off x="828675" y="1801360"/>
            <a:ext cx="7536833" cy="4107536"/>
          </a:xfrm>
          <a:prstGeom prst="rect">
            <a:avLst/>
          </a:prstGeom>
        </p:spPr>
      </p:pic>
    </p:spTree>
    <p:extLst>
      <p:ext uri="{BB962C8B-B14F-4D97-AF65-F5344CB8AC3E}">
        <p14:creationId xmlns:p14="http://schemas.microsoft.com/office/powerpoint/2010/main" val="5982183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375A8377-C778-4659-BEA4-72A986A03FF8}"/>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xmlns="" id="{A3EEE31D-629D-4206-89E4-7F5BD29502F1}"/>
              </a:ext>
            </a:extLst>
          </p:cNvPr>
          <p:cNvSpPr>
            <a:spLocks noGrp="1"/>
          </p:cNvSpPr>
          <p:nvPr>
            <p:ph idx="1"/>
          </p:nvPr>
        </p:nvSpPr>
        <p:spPr/>
        <p:txBody>
          <a:bodyPr>
            <a:normAutofit/>
          </a:bodyPr>
          <a:lstStyle/>
          <a:p>
            <a:r>
              <a:rPr lang="en-US" altLang="zh-CN" sz="1600" dirty="0">
                <a:solidFill>
                  <a:srgbClr val="0070C0"/>
                </a:solidFill>
              </a:rPr>
              <a:t>SDT's With Actions Inside Productions</a:t>
            </a:r>
            <a:endParaRPr lang="zh-CN" altLang="en-US" sz="1600" dirty="0">
              <a:solidFill>
                <a:srgbClr val="0070C0"/>
              </a:solidFill>
            </a:endParaRPr>
          </a:p>
        </p:txBody>
      </p:sp>
      <p:pic>
        <p:nvPicPr>
          <p:cNvPr id="4" name="图片 3">
            <a:extLst>
              <a:ext uri="{FF2B5EF4-FFF2-40B4-BE49-F238E27FC236}">
                <a16:creationId xmlns:a16="http://schemas.microsoft.com/office/drawing/2014/main" xmlns="" id="{262405F0-4C28-4A33-BDD8-1E08919120EA}"/>
              </a:ext>
            </a:extLst>
          </p:cNvPr>
          <p:cNvPicPr>
            <a:picLocks noChangeAspect="1"/>
          </p:cNvPicPr>
          <p:nvPr/>
        </p:nvPicPr>
        <p:blipFill>
          <a:blip r:embed="rId2"/>
          <a:stretch>
            <a:fillRect/>
          </a:stretch>
        </p:blipFill>
        <p:spPr>
          <a:xfrm>
            <a:off x="443959" y="2022516"/>
            <a:ext cx="8504657" cy="3452159"/>
          </a:xfrm>
          <a:prstGeom prst="rect">
            <a:avLst/>
          </a:prstGeom>
        </p:spPr>
      </p:pic>
      <p:sp>
        <p:nvSpPr>
          <p:cNvPr id="6" name="矩形 5">
            <a:extLst>
              <a:ext uri="{FF2B5EF4-FFF2-40B4-BE49-F238E27FC236}">
                <a16:creationId xmlns:a16="http://schemas.microsoft.com/office/drawing/2014/main" xmlns="" id="{D45CB778-5CE4-4C46-A509-5927758BB42A}"/>
              </a:ext>
            </a:extLst>
          </p:cNvPr>
          <p:cNvSpPr/>
          <p:nvPr/>
        </p:nvSpPr>
        <p:spPr>
          <a:xfrm>
            <a:off x="1029810" y="3977196"/>
            <a:ext cx="7670231" cy="408373"/>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2733256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ABEECC54-2579-4F1D-8237-52FFDDCC8C67}"/>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xmlns="" id="{58807CEE-4B9B-474C-A5BE-9AEBD0252054}"/>
              </a:ext>
            </a:extLst>
          </p:cNvPr>
          <p:cNvPicPr>
            <a:picLocks noChangeAspect="1"/>
          </p:cNvPicPr>
          <p:nvPr/>
        </p:nvPicPr>
        <p:blipFill>
          <a:blip r:embed="rId2"/>
          <a:stretch>
            <a:fillRect/>
          </a:stretch>
        </p:blipFill>
        <p:spPr>
          <a:xfrm>
            <a:off x="1318745" y="1531180"/>
            <a:ext cx="5987578" cy="3066671"/>
          </a:xfrm>
          <a:prstGeom prst="rect">
            <a:avLst/>
          </a:prstGeom>
        </p:spPr>
      </p:pic>
      <p:pic>
        <p:nvPicPr>
          <p:cNvPr id="3" name="图片 2">
            <a:extLst>
              <a:ext uri="{FF2B5EF4-FFF2-40B4-BE49-F238E27FC236}">
                <a16:creationId xmlns:a16="http://schemas.microsoft.com/office/drawing/2014/main" xmlns="" id="{30DFE33C-B979-446F-8AD3-551E8B38A089}"/>
              </a:ext>
            </a:extLst>
          </p:cNvPr>
          <p:cNvPicPr>
            <a:picLocks noChangeAspect="1"/>
          </p:cNvPicPr>
          <p:nvPr/>
        </p:nvPicPr>
        <p:blipFill>
          <a:blip r:embed="rId3"/>
          <a:stretch>
            <a:fillRect/>
          </a:stretch>
        </p:blipFill>
        <p:spPr>
          <a:xfrm>
            <a:off x="337721" y="4814286"/>
            <a:ext cx="8610600" cy="1295400"/>
          </a:xfrm>
          <a:prstGeom prst="rect">
            <a:avLst/>
          </a:prstGeom>
        </p:spPr>
      </p:pic>
    </p:spTree>
    <p:extLst>
      <p:ext uri="{BB962C8B-B14F-4D97-AF65-F5344CB8AC3E}">
        <p14:creationId xmlns:p14="http://schemas.microsoft.com/office/powerpoint/2010/main" val="29467913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5CC67A61-E529-41A8-829A-BE702D34341E}"/>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xmlns="" id="{80FFBADB-FF94-41DA-8E84-6C2D2A18297B}"/>
              </a:ext>
            </a:extLst>
          </p:cNvPr>
          <p:cNvPicPr>
            <a:picLocks noChangeAspect="1"/>
          </p:cNvPicPr>
          <p:nvPr/>
        </p:nvPicPr>
        <p:blipFill>
          <a:blip r:embed="rId2"/>
          <a:stretch>
            <a:fillRect/>
          </a:stretch>
        </p:blipFill>
        <p:spPr>
          <a:xfrm>
            <a:off x="2495491" y="3785077"/>
            <a:ext cx="3915622" cy="2924133"/>
          </a:xfrm>
          <a:prstGeom prst="rect">
            <a:avLst/>
          </a:prstGeom>
        </p:spPr>
      </p:pic>
      <p:pic>
        <p:nvPicPr>
          <p:cNvPr id="3" name="图片 2">
            <a:extLst>
              <a:ext uri="{FF2B5EF4-FFF2-40B4-BE49-F238E27FC236}">
                <a16:creationId xmlns:a16="http://schemas.microsoft.com/office/drawing/2014/main" xmlns="" id="{6FBD328B-3116-4236-9F8F-64F052BE11BC}"/>
              </a:ext>
            </a:extLst>
          </p:cNvPr>
          <p:cNvPicPr>
            <a:picLocks noChangeAspect="1"/>
          </p:cNvPicPr>
          <p:nvPr/>
        </p:nvPicPr>
        <p:blipFill>
          <a:blip r:embed="rId3"/>
          <a:stretch>
            <a:fillRect/>
          </a:stretch>
        </p:blipFill>
        <p:spPr>
          <a:xfrm>
            <a:off x="1015822" y="1376038"/>
            <a:ext cx="7111218" cy="2409039"/>
          </a:xfrm>
          <a:prstGeom prst="rect">
            <a:avLst/>
          </a:prstGeom>
        </p:spPr>
      </p:pic>
    </p:spTree>
    <p:extLst>
      <p:ext uri="{BB962C8B-B14F-4D97-AF65-F5344CB8AC3E}">
        <p14:creationId xmlns:p14="http://schemas.microsoft.com/office/powerpoint/2010/main" val="3352333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B360E440-5FC0-460F-8AB1-C40DE1DAB558}"/>
              </a:ext>
            </a:extLst>
          </p:cNvPr>
          <p:cNvSpPr>
            <a:spLocks noGrp="1"/>
          </p:cNvSpPr>
          <p:nvPr>
            <p:ph type="title"/>
          </p:nvPr>
        </p:nvSpPr>
        <p:spPr/>
        <p:txBody>
          <a:bodyPr/>
          <a:lstStyle/>
          <a:p>
            <a:r>
              <a:rPr lang="en-US" altLang="zh-CN" dirty="0"/>
              <a:t>6.5 Syntax-Directed Translation Schemes-Left Recursion</a:t>
            </a:r>
            <a:endParaRPr lang="zh-CN" altLang="en-US" dirty="0"/>
          </a:p>
        </p:txBody>
      </p:sp>
      <p:pic>
        <p:nvPicPr>
          <p:cNvPr id="4" name="图片 3">
            <a:extLst>
              <a:ext uri="{FF2B5EF4-FFF2-40B4-BE49-F238E27FC236}">
                <a16:creationId xmlns:a16="http://schemas.microsoft.com/office/drawing/2014/main" xmlns="" id="{AEFD2626-5361-4F63-B263-5D64DE42885A}"/>
              </a:ext>
            </a:extLst>
          </p:cNvPr>
          <p:cNvPicPr>
            <a:picLocks noChangeAspect="1"/>
          </p:cNvPicPr>
          <p:nvPr/>
        </p:nvPicPr>
        <p:blipFill>
          <a:blip r:embed="rId2"/>
          <a:stretch>
            <a:fillRect/>
          </a:stretch>
        </p:blipFill>
        <p:spPr>
          <a:xfrm>
            <a:off x="828675" y="1510991"/>
            <a:ext cx="1722269" cy="586791"/>
          </a:xfrm>
          <a:prstGeom prst="rect">
            <a:avLst/>
          </a:prstGeom>
        </p:spPr>
      </p:pic>
      <p:pic>
        <p:nvPicPr>
          <p:cNvPr id="5" name="图片 4">
            <a:extLst>
              <a:ext uri="{FF2B5EF4-FFF2-40B4-BE49-F238E27FC236}">
                <a16:creationId xmlns:a16="http://schemas.microsoft.com/office/drawing/2014/main" xmlns="" id="{C4F97E0D-41C5-4086-B22D-6B2AE58B92AF}"/>
              </a:ext>
            </a:extLst>
          </p:cNvPr>
          <p:cNvPicPr>
            <a:picLocks noChangeAspect="1"/>
          </p:cNvPicPr>
          <p:nvPr/>
        </p:nvPicPr>
        <p:blipFill>
          <a:blip r:embed="rId3"/>
          <a:stretch>
            <a:fillRect/>
          </a:stretch>
        </p:blipFill>
        <p:spPr>
          <a:xfrm>
            <a:off x="3475175" y="1600200"/>
            <a:ext cx="1447925" cy="647756"/>
          </a:xfrm>
          <a:prstGeom prst="rect">
            <a:avLst/>
          </a:prstGeom>
        </p:spPr>
      </p:pic>
      <p:sp>
        <p:nvSpPr>
          <p:cNvPr id="6" name="箭头: 右 5">
            <a:extLst>
              <a:ext uri="{FF2B5EF4-FFF2-40B4-BE49-F238E27FC236}">
                <a16:creationId xmlns:a16="http://schemas.microsoft.com/office/drawing/2014/main" xmlns="" id="{1EBA6DF8-D0ED-45A6-8FE0-E178504F7A23}"/>
              </a:ext>
            </a:extLst>
          </p:cNvPr>
          <p:cNvSpPr/>
          <p:nvPr/>
        </p:nvSpPr>
        <p:spPr>
          <a:xfrm>
            <a:off x="2805344" y="1804386"/>
            <a:ext cx="541538" cy="20196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 name="图片 6">
            <a:extLst>
              <a:ext uri="{FF2B5EF4-FFF2-40B4-BE49-F238E27FC236}">
                <a16:creationId xmlns:a16="http://schemas.microsoft.com/office/drawing/2014/main" xmlns="" id="{8DFBAA59-5C4D-4A82-ADA2-FAECD58F989A}"/>
              </a:ext>
            </a:extLst>
          </p:cNvPr>
          <p:cNvPicPr>
            <a:picLocks noChangeAspect="1"/>
          </p:cNvPicPr>
          <p:nvPr/>
        </p:nvPicPr>
        <p:blipFill>
          <a:blip r:embed="rId4"/>
          <a:stretch>
            <a:fillRect/>
          </a:stretch>
        </p:blipFill>
        <p:spPr>
          <a:xfrm>
            <a:off x="929423" y="2556769"/>
            <a:ext cx="6598841" cy="3668782"/>
          </a:xfrm>
          <a:prstGeom prst="rect">
            <a:avLst/>
          </a:prstGeom>
        </p:spPr>
      </p:pic>
    </p:spTree>
    <p:extLst>
      <p:ext uri="{BB962C8B-B14F-4D97-AF65-F5344CB8AC3E}">
        <p14:creationId xmlns:p14="http://schemas.microsoft.com/office/powerpoint/2010/main" val="31618658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925036EB-DEE2-406D-9F14-44EEFE1EC6C6}"/>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xmlns="" id="{00AE49C5-625F-4BD7-A9B4-C6047E019503}"/>
              </a:ext>
            </a:extLst>
          </p:cNvPr>
          <p:cNvSpPr>
            <a:spLocks noGrp="1"/>
          </p:cNvSpPr>
          <p:nvPr>
            <p:ph idx="1"/>
          </p:nvPr>
        </p:nvSpPr>
        <p:spPr/>
        <p:txBody>
          <a:bodyPr/>
          <a:lstStyle/>
          <a:p>
            <a:r>
              <a:rPr lang="en-US" altLang="zh-CN" dirty="0"/>
              <a:t>When the actions of an SDD compute attributes rather than merely printing output, we must be more careful about how we eliminate left recursion from a grammar. However , </a:t>
            </a:r>
            <a:r>
              <a:rPr lang="en-US" altLang="zh-CN" dirty="0">
                <a:solidFill>
                  <a:srgbClr val="FF0000"/>
                </a:solidFill>
              </a:rPr>
              <a:t>if the SDD is S-attributed</a:t>
            </a:r>
            <a:r>
              <a:rPr lang="en-US" altLang="zh-CN" dirty="0"/>
              <a:t>, then we can always construct an SDT by placing attribute-computing actions at appropriate positions in the new productions.</a:t>
            </a:r>
            <a:endParaRPr lang="zh-CN" altLang="en-US" dirty="0"/>
          </a:p>
        </p:txBody>
      </p:sp>
      <p:pic>
        <p:nvPicPr>
          <p:cNvPr id="4" name="图片 3">
            <a:extLst>
              <a:ext uri="{FF2B5EF4-FFF2-40B4-BE49-F238E27FC236}">
                <a16:creationId xmlns:a16="http://schemas.microsoft.com/office/drawing/2014/main" xmlns="" id="{9A2FD4A4-7C2D-4FDD-947D-30F715E480B2}"/>
              </a:ext>
            </a:extLst>
          </p:cNvPr>
          <p:cNvPicPr>
            <a:picLocks noChangeAspect="1"/>
          </p:cNvPicPr>
          <p:nvPr/>
        </p:nvPicPr>
        <p:blipFill>
          <a:blip r:embed="rId2"/>
          <a:stretch>
            <a:fillRect/>
          </a:stretch>
        </p:blipFill>
        <p:spPr>
          <a:xfrm>
            <a:off x="2699753" y="2703074"/>
            <a:ext cx="3886537" cy="670618"/>
          </a:xfrm>
          <a:prstGeom prst="rect">
            <a:avLst/>
          </a:prstGeom>
        </p:spPr>
      </p:pic>
      <p:pic>
        <p:nvPicPr>
          <p:cNvPr id="5" name="图片 4">
            <a:extLst>
              <a:ext uri="{FF2B5EF4-FFF2-40B4-BE49-F238E27FC236}">
                <a16:creationId xmlns:a16="http://schemas.microsoft.com/office/drawing/2014/main" xmlns="" id="{966B30D7-C591-47FD-A5A3-62270D7BE02D}"/>
              </a:ext>
            </a:extLst>
          </p:cNvPr>
          <p:cNvPicPr>
            <a:picLocks noChangeAspect="1"/>
          </p:cNvPicPr>
          <p:nvPr/>
        </p:nvPicPr>
        <p:blipFill>
          <a:blip r:embed="rId3"/>
          <a:stretch>
            <a:fillRect/>
          </a:stretch>
        </p:blipFill>
        <p:spPr>
          <a:xfrm>
            <a:off x="1384806" y="3520297"/>
            <a:ext cx="6858520" cy="3078941"/>
          </a:xfrm>
          <a:prstGeom prst="rect">
            <a:avLst/>
          </a:prstGeom>
        </p:spPr>
      </p:pic>
    </p:spTree>
    <p:extLst>
      <p:ext uri="{BB962C8B-B14F-4D97-AF65-F5344CB8AC3E}">
        <p14:creationId xmlns:p14="http://schemas.microsoft.com/office/powerpoint/2010/main" val="41112631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B3616FFA-97A1-432F-A572-9D4A9851BF1C}"/>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xmlns="" id="{9BDBFCFF-B4CC-4975-A9E7-916425078DF2}"/>
              </a:ext>
            </a:extLst>
          </p:cNvPr>
          <p:cNvPicPr>
            <a:picLocks noChangeAspect="1"/>
          </p:cNvPicPr>
          <p:nvPr/>
        </p:nvPicPr>
        <p:blipFill>
          <a:blip r:embed="rId2"/>
          <a:stretch>
            <a:fillRect/>
          </a:stretch>
        </p:blipFill>
        <p:spPr>
          <a:xfrm>
            <a:off x="828675" y="1833062"/>
            <a:ext cx="3886537" cy="670618"/>
          </a:xfrm>
          <a:prstGeom prst="rect">
            <a:avLst/>
          </a:prstGeom>
        </p:spPr>
      </p:pic>
      <p:pic>
        <p:nvPicPr>
          <p:cNvPr id="5" name="图片 4">
            <a:extLst>
              <a:ext uri="{FF2B5EF4-FFF2-40B4-BE49-F238E27FC236}">
                <a16:creationId xmlns:a16="http://schemas.microsoft.com/office/drawing/2014/main" xmlns="" id="{542CBEA2-FC66-468B-BD17-38067158F767}"/>
              </a:ext>
            </a:extLst>
          </p:cNvPr>
          <p:cNvPicPr>
            <a:picLocks noChangeAspect="1"/>
          </p:cNvPicPr>
          <p:nvPr/>
        </p:nvPicPr>
        <p:blipFill>
          <a:blip r:embed="rId3"/>
          <a:stretch>
            <a:fillRect/>
          </a:stretch>
        </p:blipFill>
        <p:spPr>
          <a:xfrm>
            <a:off x="828675" y="3163580"/>
            <a:ext cx="5685013" cy="1028789"/>
          </a:xfrm>
          <a:prstGeom prst="rect">
            <a:avLst/>
          </a:prstGeom>
        </p:spPr>
      </p:pic>
      <p:sp>
        <p:nvSpPr>
          <p:cNvPr id="6" name="箭头: 下 5">
            <a:extLst>
              <a:ext uri="{FF2B5EF4-FFF2-40B4-BE49-F238E27FC236}">
                <a16:creationId xmlns:a16="http://schemas.microsoft.com/office/drawing/2014/main" xmlns="" id="{532FFDFA-E3F2-4F69-918C-330B329B480D}"/>
              </a:ext>
            </a:extLst>
          </p:cNvPr>
          <p:cNvSpPr/>
          <p:nvPr/>
        </p:nvSpPr>
        <p:spPr>
          <a:xfrm>
            <a:off x="3045040" y="2632317"/>
            <a:ext cx="230820" cy="402625"/>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4222087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047BF5E4-3F60-428E-A941-15D669C0BD11}"/>
              </a:ext>
            </a:extLst>
          </p:cNvPr>
          <p:cNvSpPr>
            <a:spLocks noGrp="1"/>
          </p:cNvSpPr>
          <p:nvPr>
            <p:ph type="title"/>
          </p:nvPr>
        </p:nvSpPr>
        <p:spPr/>
        <p:txBody>
          <a:bodyPr/>
          <a:lstStyle/>
          <a:p>
            <a:r>
              <a:rPr lang="en-US" altLang="zh-CN" dirty="0"/>
              <a:t>6.5 Syntax-Directed Translation Schemes</a:t>
            </a:r>
            <a:endParaRPr lang="zh-CN" altLang="en-US" dirty="0"/>
          </a:p>
        </p:txBody>
      </p:sp>
      <p:sp>
        <p:nvSpPr>
          <p:cNvPr id="3" name="内容占位符 2">
            <a:extLst>
              <a:ext uri="{FF2B5EF4-FFF2-40B4-BE49-F238E27FC236}">
                <a16:creationId xmlns:a16="http://schemas.microsoft.com/office/drawing/2014/main" xmlns="" id="{CD8A2E96-23E2-4C98-BECA-C852F1B25A77}"/>
              </a:ext>
            </a:extLst>
          </p:cNvPr>
          <p:cNvSpPr>
            <a:spLocks noGrp="1"/>
          </p:cNvSpPr>
          <p:nvPr>
            <p:ph idx="1"/>
          </p:nvPr>
        </p:nvSpPr>
        <p:spPr/>
        <p:txBody>
          <a:bodyPr>
            <a:normAutofit/>
          </a:bodyPr>
          <a:lstStyle/>
          <a:p>
            <a:r>
              <a:rPr lang="en-US" altLang="zh-CN" sz="1600" dirty="0">
                <a:solidFill>
                  <a:srgbClr val="0070C0"/>
                </a:solidFill>
              </a:rPr>
              <a:t>SDT's for L-Attributed Definitions</a:t>
            </a:r>
          </a:p>
          <a:p>
            <a:pPr marL="0" indent="0">
              <a:buNone/>
            </a:pPr>
            <a:r>
              <a:rPr lang="en-US" altLang="zh-CN" sz="1600" dirty="0">
                <a:solidFill>
                  <a:srgbClr val="0070C0"/>
                </a:solidFill>
              </a:rPr>
              <a:t>The rules for turning an L-attributed SDD into an SDT are as follows:</a:t>
            </a:r>
          </a:p>
          <a:p>
            <a:pPr marL="0" indent="0">
              <a:buNone/>
            </a:pPr>
            <a:r>
              <a:rPr lang="en-US" altLang="zh-CN" sz="1600" dirty="0"/>
              <a:t>1. Embed the action that computes the inherited attributes for a nonterminal </a:t>
            </a:r>
            <a:r>
              <a:rPr lang="en-US" altLang="zh-CN" sz="1600" i="1" dirty="0"/>
              <a:t>A</a:t>
            </a:r>
            <a:r>
              <a:rPr lang="en-US" altLang="zh-CN" sz="1600" dirty="0"/>
              <a:t> immediately before that occurrence of </a:t>
            </a:r>
            <a:r>
              <a:rPr lang="en-US" altLang="zh-CN" sz="1600" i="1" dirty="0"/>
              <a:t>A</a:t>
            </a:r>
            <a:r>
              <a:rPr lang="en-US" altLang="zh-CN" sz="1600" dirty="0"/>
              <a:t> in the body of the production. If several inherited attributes for </a:t>
            </a:r>
            <a:r>
              <a:rPr lang="en-US" altLang="zh-CN" sz="1600" i="1" dirty="0"/>
              <a:t>A</a:t>
            </a:r>
            <a:r>
              <a:rPr lang="en-US" altLang="zh-CN" sz="1600" dirty="0"/>
              <a:t> depend on one another in an acyclic fashion, order the evaluation of attributes so that those needed first are computed first.</a:t>
            </a:r>
          </a:p>
          <a:p>
            <a:pPr marL="0" indent="0">
              <a:buNone/>
            </a:pPr>
            <a:r>
              <a:rPr lang="en-US" altLang="zh-CN" sz="1600" dirty="0"/>
              <a:t>2. Place the actions that compute a synthesized attribute for the head of a production at the end of the body of that production.</a:t>
            </a:r>
          </a:p>
        </p:txBody>
      </p:sp>
    </p:spTree>
    <p:extLst>
      <p:ext uri="{BB962C8B-B14F-4D97-AF65-F5344CB8AC3E}">
        <p14:creationId xmlns:p14="http://schemas.microsoft.com/office/powerpoint/2010/main" val="4329387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815A092C-0A40-4C08-A19C-F13AD08D9639}"/>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xmlns="" id="{33F48C0D-3CBC-474F-B252-639229700A9E}"/>
              </a:ext>
            </a:extLst>
          </p:cNvPr>
          <p:cNvPicPr>
            <a:picLocks noChangeAspect="1"/>
          </p:cNvPicPr>
          <p:nvPr/>
        </p:nvPicPr>
        <p:blipFill>
          <a:blip r:embed="rId2"/>
          <a:stretch>
            <a:fillRect/>
          </a:stretch>
        </p:blipFill>
        <p:spPr>
          <a:xfrm>
            <a:off x="549391" y="1533341"/>
            <a:ext cx="8276037" cy="1234547"/>
          </a:xfrm>
          <a:prstGeom prst="rect">
            <a:avLst/>
          </a:prstGeom>
        </p:spPr>
      </p:pic>
      <p:pic>
        <p:nvPicPr>
          <p:cNvPr id="5" name="图片 4">
            <a:extLst>
              <a:ext uri="{FF2B5EF4-FFF2-40B4-BE49-F238E27FC236}">
                <a16:creationId xmlns:a16="http://schemas.microsoft.com/office/drawing/2014/main" xmlns="" id="{DC91E67A-D2D1-48CD-BC32-E8E470E5D15E}"/>
              </a:ext>
            </a:extLst>
          </p:cNvPr>
          <p:cNvPicPr>
            <a:picLocks noChangeAspect="1"/>
          </p:cNvPicPr>
          <p:nvPr/>
        </p:nvPicPr>
        <p:blipFill>
          <a:blip r:embed="rId3"/>
          <a:stretch>
            <a:fillRect/>
          </a:stretch>
        </p:blipFill>
        <p:spPr>
          <a:xfrm>
            <a:off x="1883027" y="2541900"/>
            <a:ext cx="4808637" cy="815411"/>
          </a:xfrm>
          <a:prstGeom prst="rect">
            <a:avLst/>
          </a:prstGeom>
        </p:spPr>
      </p:pic>
      <p:pic>
        <p:nvPicPr>
          <p:cNvPr id="6" name="图片 5">
            <a:extLst>
              <a:ext uri="{FF2B5EF4-FFF2-40B4-BE49-F238E27FC236}">
                <a16:creationId xmlns:a16="http://schemas.microsoft.com/office/drawing/2014/main" xmlns="" id="{C17D4DB8-6D7F-449C-B632-C04A663FB834}"/>
              </a:ext>
            </a:extLst>
          </p:cNvPr>
          <p:cNvPicPr>
            <a:picLocks noChangeAspect="1"/>
          </p:cNvPicPr>
          <p:nvPr/>
        </p:nvPicPr>
        <p:blipFill>
          <a:blip r:embed="rId4"/>
          <a:stretch>
            <a:fillRect/>
          </a:stretch>
        </p:blipFill>
        <p:spPr>
          <a:xfrm>
            <a:off x="616308" y="3207528"/>
            <a:ext cx="7910245" cy="2804403"/>
          </a:xfrm>
          <a:prstGeom prst="rect">
            <a:avLst/>
          </a:prstGeom>
        </p:spPr>
      </p:pic>
    </p:spTree>
    <p:extLst>
      <p:ext uri="{BB962C8B-B14F-4D97-AF65-F5344CB8AC3E}">
        <p14:creationId xmlns:p14="http://schemas.microsoft.com/office/powerpoint/2010/main" val="3330987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53C26A74-3A65-4644-88A4-A95713C01160}"/>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内容占位符 3">
            <a:extLst>
              <a:ext uri="{FF2B5EF4-FFF2-40B4-BE49-F238E27FC236}">
                <a16:creationId xmlns:a16="http://schemas.microsoft.com/office/drawing/2014/main" xmlns="" id="{C1F7CC53-031B-48DB-8A99-35007BA2330E}"/>
              </a:ext>
            </a:extLst>
          </p:cNvPr>
          <p:cNvPicPr>
            <a:picLocks noGrp="1" noChangeAspect="1"/>
          </p:cNvPicPr>
          <p:nvPr>
            <p:ph idx="1"/>
          </p:nvPr>
        </p:nvPicPr>
        <p:blipFill>
          <a:blip r:embed="rId2"/>
          <a:stretch>
            <a:fillRect/>
          </a:stretch>
        </p:blipFill>
        <p:spPr>
          <a:xfrm>
            <a:off x="1495217" y="1314109"/>
            <a:ext cx="5101206" cy="1288503"/>
          </a:xfrm>
          <a:prstGeom prst="rect">
            <a:avLst/>
          </a:prstGeom>
        </p:spPr>
      </p:pic>
      <p:pic>
        <p:nvPicPr>
          <p:cNvPr id="5" name="图片 4">
            <a:extLst>
              <a:ext uri="{FF2B5EF4-FFF2-40B4-BE49-F238E27FC236}">
                <a16:creationId xmlns:a16="http://schemas.microsoft.com/office/drawing/2014/main" xmlns="" id="{9E89FBA2-8533-4DEE-9641-9ED90D0BB78D}"/>
              </a:ext>
            </a:extLst>
          </p:cNvPr>
          <p:cNvPicPr>
            <a:picLocks noChangeAspect="1"/>
          </p:cNvPicPr>
          <p:nvPr/>
        </p:nvPicPr>
        <p:blipFill>
          <a:blip r:embed="rId3"/>
          <a:stretch>
            <a:fillRect/>
          </a:stretch>
        </p:blipFill>
        <p:spPr>
          <a:xfrm>
            <a:off x="1495217" y="2602612"/>
            <a:ext cx="5101206" cy="3935216"/>
          </a:xfrm>
          <a:prstGeom prst="rect">
            <a:avLst/>
          </a:prstGeom>
        </p:spPr>
      </p:pic>
    </p:spTree>
    <p:extLst>
      <p:ext uri="{BB962C8B-B14F-4D97-AF65-F5344CB8AC3E}">
        <p14:creationId xmlns:p14="http://schemas.microsoft.com/office/powerpoint/2010/main" val="34535127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xmlns="" id="{5C0CC61F-24CA-41A3-B586-F882C43E4D56}"/>
              </a:ext>
            </a:extLst>
          </p:cNvPr>
          <p:cNvSpPr>
            <a:spLocks noGrp="1"/>
          </p:cNvSpPr>
          <p:nvPr>
            <p:ph type="title"/>
          </p:nvPr>
        </p:nvSpPr>
        <p:spPr/>
        <p:txBody>
          <a:bodyPr/>
          <a:lstStyle/>
          <a:p>
            <a:r>
              <a:rPr lang="en-US" altLang="zh-CN" dirty="0"/>
              <a:t>6.5 Syntax-Directed Translation Schemes</a:t>
            </a:r>
            <a:endParaRPr lang="zh-CN" altLang="en-US" dirty="0"/>
          </a:p>
        </p:txBody>
      </p:sp>
      <p:pic>
        <p:nvPicPr>
          <p:cNvPr id="4" name="图片 3">
            <a:extLst>
              <a:ext uri="{FF2B5EF4-FFF2-40B4-BE49-F238E27FC236}">
                <a16:creationId xmlns:a16="http://schemas.microsoft.com/office/drawing/2014/main" xmlns="" id="{5F6FC81A-75BB-4A52-BEE7-CE2FA036E7AB}"/>
              </a:ext>
            </a:extLst>
          </p:cNvPr>
          <p:cNvPicPr>
            <a:picLocks noChangeAspect="1"/>
          </p:cNvPicPr>
          <p:nvPr/>
        </p:nvPicPr>
        <p:blipFill>
          <a:blip r:embed="rId2"/>
          <a:stretch>
            <a:fillRect/>
          </a:stretch>
        </p:blipFill>
        <p:spPr>
          <a:xfrm>
            <a:off x="1628874" y="1829118"/>
            <a:ext cx="5809016" cy="4367496"/>
          </a:xfrm>
          <a:prstGeom prst="rect">
            <a:avLst/>
          </a:prstGeom>
        </p:spPr>
      </p:pic>
    </p:spTree>
    <p:extLst>
      <p:ext uri="{BB962C8B-B14F-4D97-AF65-F5344CB8AC3E}">
        <p14:creationId xmlns:p14="http://schemas.microsoft.com/office/powerpoint/2010/main" val="21712898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Homework 6</a:t>
            </a:r>
            <a:endParaRPr lang="zh-CN" altLang="en-US" dirty="0"/>
          </a:p>
        </p:txBody>
      </p:sp>
      <p:sp>
        <p:nvSpPr>
          <p:cNvPr id="3" name="内容占位符 2"/>
          <p:cNvSpPr>
            <a:spLocks noGrp="1"/>
          </p:cNvSpPr>
          <p:nvPr>
            <p:ph idx="1"/>
          </p:nvPr>
        </p:nvSpPr>
        <p:spPr>
          <a:xfrm>
            <a:off x="828674" y="2046514"/>
            <a:ext cx="7485513" cy="3635829"/>
          </a:xfrm>
        </p:spPr>
        <p:txBody>
          <a:bodyPr/>
          <a:lstStyle/>
          <a:p>
            <a:r>
              <a:rPr lang="en-US" altLang="zh-CN" dirty="0"/>
              <a:t>Consider the following grammar</a:t>
            </a:r>
          </a:p>
          <a:p>
            <a:pPr marL="0" indent="0">
              <a:buNone/>
            </a:pPr>
            <a:endParaRPr lang="en-US" altLang="zh-CN" dirty="0"/>
          </a:p>
          <a:p>
            <a:pPr marL="0" indent="0">
              <a:buNone/>
            </a:pPr>
            <a:endParaRPr lang="en-US" altLang="zh-CN" dirty="0"/>
          </a:p>
          <a:p>
            <a:pPr marL="0" indent="0">
              <a:buNone/>
            </a:pPr>
            <a:endParaRPr lang="en-US" altLang="zh-CN" dirty="0"/>
          </a:p>
          <a:p>
            <a:r>
              <a:rPr lang="en-US" altLang="zh-CN" dirty="0"/>
              <a:t>(a) write a syntax-directed definition that prints out the number of parenthesis pairs. </a:t>
            </a:r>
          </a:p>
          <a:p>
            <a:r>
              <a:rPr lang="en-US" altLang="zh-CN" dirty="0"/>
              <a:t>(b) write a syntax-directed translation scheme that prints out the depth of each a. </a:t>
            </a:r>
          </a:p>
          <a:p>
            <a:r>
              <a:rPr lang="en-US" altLang="zh-CN" dirty="0"/>
              <a:t>(c) Write a syntax-directed translation scheme that prints out the order number of each a. </a:t>
            </a:r>
          </a:p>
          <a:p>
            <a:endParaRPr lang="zh-CN" altLang="en-US" dirty="0"/>
          </a:p>
        </p:txBody>
      </p:sp>
      <p:sp>
        <p:nvSpPr>
          <p:cNvPr id="7" name="Rectangle 5"/>
          <p:cNvSpPr>
            <a:spLocks noChangeArrowheads="1"/>
          </p:cNvSpPr>
          <p:nvPr/>
        </p:nvSpPr>
        <p:spPr bwMode="auto">
          <a:xfrm>
            <a:off x="-1" y="-1"/>
            <a:ext cx="13159621"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zh-CN" altLang="en-US"/>
          </a:p>
        </p:txBody>
      </p:sp>
      <p:graphicFrame>
        <p:nvGraphicFramePr>
          <p:cNvPr id="8" name="对象 7"/>
          <p:cNvGraphicFramePr>
            <a:graphicFrameLocks noChangeAspect="1"/>
          </p:cNvGraphicFramePr>
          <p:nvPr>
            <p:extLst>
              <p:ext uri="{D42A27DB-BD31-4B8C-83A1-F6EECF244321}">
                <p14:modId xmlns:p14="http://schemas.microsoft.com/office/powerpoint/2010/main" val="2985865507"/>
              </p:ext>
            </p:extLst>
          </p:nvPr>
        </p:nvGraphicFramePr>
        <p:xfrm>
          <a:off x="1251857" y="2558143"/>
          <a:ext cx="1332412" cy="740229"/>
        </p:xfrm>
        <a:graphic>
          <a:graphicData uri="http://schemas.openxmlformats.org/presentationml/2006/ole">
            <mc:AlternateContent xmlns:mc="http://schemas.openxmlformats.org/markup-compatibility/2006">
              <mc:Choice xmlns:v="urn:schemas-microsoft-com:vml" Requires="v">
                <p:oleObj spid="_x0000_s1094" name="Equation" r:id="rId3" imgW="774360" imgH="431640" progId="Equation.DSMT4">
                  <p:embed/>
                </p:oleObj>
              </mc:Choice>
              <mc:Fallback>
                <p:oleObj name="Equation" r:id="rId3" imgW="774360" imgH="431640" progId="Equation.DSMT4">
                  <p:embed/>
                  <p:pic>
                    <p:nvPicPr>
                      <p:cNvPr id="0" name="Object 4"/>
                      <p:cNvPicPr>
                        <a:picLocks noChangeAspect="1" noChangeArrowheads="1"/>
                      </p:cNvPicPr>
                      <p:nvPr/>
                    </p:nvPicPr>
                    <p:blipFill>
                      <a:blip r:embed="rId4"/>
                      <a:srcRect/>
                      <a:stretch>
                        <a:fillRect/>
                      </a:stretch>
                    </p:blipFill>
                    <p:spPr bwMode="auto">
                      <a:xfrm>
                        <a:off x="1251857" y="2558143"/>
                        <a:ext cx="1332412" cy="740229"/>
                      </a:xfrm>
                      <a:prstGeom prst="rect">
                        <a:avLst/>
                      </a:prstGeom>
                      <a:noFill/>
                    </p:spPr>
                  </p:pic>
                </p:oleObj>
              </mc:Fallback>
            </mc:AlternateContent>
          </a:graphicData>
        </a:graphic>
      </p:graphicFrame>
    </p:spTree>
    <p:extLst>
      <p:ext uri="{BB962C8B-B14F-4D97-AF65-F5344CB8AC3E}">
        <p14:creationId xmlns:p14="http://schemas.microsoft.com/office/powerpoint/2010/main" val="29239744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学术文献 16x9">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_9411639_TF03431380_TF03431380" id="{9AE2BD50-F2AD-48C6-8A81-F7D7390F9E40}" vid="{822244C9-F44A-41EE-AAAB-DAE7A533DA64}"/>
    </a:ext>
  </a:extLst>
</a:theme>
</file>

<file path=ppt/theme/theme2.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AssetEditForm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APDescription xmlns="4873beb7-5857-4685-be1f-d57550cc96cc" xsi:nil="true"/>
    <AssetExpire xmlns="4873beb7-5857-4685-be1f-d57550cc96cc">2029-01-01T08:00:00+00:00</AssetExpire>
    <CampaignTagsTaxHTField0 xmlns="4873beb7-5857-4685-be1f-d57550cc96cc">
      <Terms xmlns="http://schemas.microsoft.com/office/infopath/2007/PartnerControls"/>
    </CampaignTagsTaxHTField0>
    <IntlLangReviewDate xmlns="4873beb7-5857-4685-be1f-d57550cc96cc" xsi:nil="true"/>
    <TPFriendlyName xmlns="4873beb7-5857-4685-be1f-d57550cc96cc" xsi:nil="true"/>
    <IntlLangReview xmlns="4873beb7-5857-4685-be1f-d57550cc96cc">false</IntlLangReview>
    <LocLastLocAttemptVersionLookup xmlns="4873beb7-5857-4685-be1f-d57550cc96cc">855024</LocLastLocAttemptVersionLookup>
    <PolicheckWords xmlns="4873beb7-5857-4685-be1f-d57550cc96cc" xsi:nil="true"/>
    <SubmitterId xmlns="4873beb7-5857-4685-be1f-d57550cc96cc" xsi:nil="true"/>
    <AcquiredFrom xmlns="4873beb7-5857-4685-be1f-d57550cc96cc">Internal MS</AcquiredFrom>
    <EditorialStatus xmlns="4873beb7-5857-4685-be1f-d57550cc96cc">Complete</EditorialStatus>
    <Markets xmlns="4873beb7-5857-4685-be1f-d57550cc96cc"/>
    <OriginAsset xmlns="4873beb7-5857-4685-be1f-d57550cc96cc" xsi:nil="true"/>
    <AssetStart xmlns="4873beb7-5857-4685-be1f-d57550cc96cc">2012-08-31T08:50:00+00:00</AssetStart>
    <FriendlyTitle xmlns="4873beb7-5857-4685-be1f-d57550cc96cc" xsi:nil="true"/>
    <MarketSpecific xmlns="4873beb7-5857-4685-be1f-d57550cc96cc">false</MarketSpecific>
    <TPNamespace xmlns="4873beb7-5857-4685-be1f-d57550cc96cc" xsi:nil="true"/>
    <PublishStatusLookup xmlns="4873beb7-5857-4685-be1f-d57550cc96cc">
      <Value>1616423</Value>
    </PublishStatusLookup>
    <APAuthor xmlns="4873beb7-5857-4685-be1f-d57550cc96cc">
      <UserInfo>
        <DisplayName>REDMOND\kristaa</DisplayName>
        <AccountId>136</AccountId>
        <AccountType/>
      </UserInfo>
    </APAuthor>
    <TPCommandLine xmlns="4873beb7-5857-4685-be1f-d57550cc96cc" xsi:nil="true"/>
    <IntlLangReviewer xmlns="4873beb7-5857-4685-be1f-d57550cc96cc" xsi:nil="true"/>
    <OpenTemplate xmlns="4873beb7-5857-4685-be1f-d57550cc96cc">true</OpenTemplate>
    <CSXSubmissionDate xmlns="4873beb7-5857-4685-be1f-d57550cc96cc" xsi:nil="true"/>
    <TaxCatchAll xmlns="4873beb7-5857-4685-be1f-d57550cc96cc"/>
    <Manager xmlns="4873beb7-5857-4685-be1f-d57550cc96cc" xsi:nil="true"/>
    <NumericId xmlns="4873beb7-5857-4685-be1f-d57550cc96cc" xsi:nil="true"/>
    <ParentAssetId xmlns="4873beb7-5857-4685-be1f-d57550cc96cc" xsi:nil="true"/>
    <OriginalSourceMarket xmlns="4873beb7-5857-4685-be1f-d57550cc96cc" xsi:nil="true"/>
    <ApprovalStatus xmlns="4873beb7-5857-4685-be1f-d57550cc96cc">InProgress</ApprovalStatus>
    <TPComponent xmlns="4873beb7-5857-4685-be1f-d57550cc96cc" xsi:nil="true"/>
    <EditorialTags xmlns="4873beb7-5857-4685-be1f-d57550cc96cc" xsi:nil="true"/>
    <TPExecutable xmlns="4873beb7-5857-4685-be1f-d57550cc96cc" xsi:nil="true"/>
    <TPLaunchHelpLink xmlns="4873beb7-5857-4685-be1f-d57550cc96cc" xsi:nil="true"/>
    <LocComments xmlns="4873beb7-5857-4685-be1f-d57550cc96cc" xsi:nil="true"/>
    <LocRecommendedHandoff xmlns="4873beb7-5857-4685-be1f-d57550cc96cc" xsi:nil="true"/>
    <SourceTitle xmlns="4873beb7-5857-4685-be1f-d57550cc96cc" xsi:nil="true"/>
    <CSXUpdate xmlns="4873beb7-5857-4685-be1f-d57550cc96cc">false</CSXUpdate>
    <IntlLocPriority xmlns="4873beb7-5857-4685-be1f-d57550cc96cc" xsi:nil="true"/>
    <UAProjectedTotalWords xmlns="4873beb7-5857-4685-be1f-d57550cc96cc" xsi:nil="true"/>
    <AssetType xmlns="4873beb7-5857-4685-be1f-d57550cc96cc">TP</AssetType>
    <MachineTranslated xmlns="4873beb7-5857-4685-be1f-d57550cc96cc">false</MachineTranslated>
    <OutputCachingOn xmlns="4873beb7-5857-4685-be1f-d57550cc96cc">false</OutputCachingOn>
    <TemplateStatus xmlns="4873beb7-5857-4685-be1f-d57550cc96cc">Complete</TemplateStatus>
    <IsSearchable xmlns="4873beb7-5857-4685-be1f-d57550cc96cc">true</IsSearchable>
    <ContentItem xmlns="4873beb7-5857-4685-be1f-d57550cc96cc" xsi:nil="true"/>
    <HandoffToMSDN xmlns="4873beb7-5857-4685-be1f-d57550cc96cc" xsi:nil="true"/>
    <ShowIn xmlns="4873beb7-5857-4685-be1f-d57550cc96cc">Show everywhere</ShowIn>
    <ThumbnailAssetId xmlns="4873beb7-5857-4685-be1f-d57550cc96cc" xsi:nil="true"/>
    <UALocComments xmlns="4873beb7-5857-4685-be1f-d57550cc96cc" xsi:nil="true"/>
    <UALocRecommendation xmlns="4873beb7-5857-4685-be1f-d57550cc96cc">Localize</UALocRecommendation>
    <LastModifiedDateTime xmlns="4873beb7-5857-4685-be1f-d57550cc96cc" xsi:nil="true"/>
    <LegacyData xmlns="4873beb7-5857-4685-be1f-d57550cc96cc" xsi:nil="true"/>
    <LocManualTestRequired xmlns="4873beb7-5857-4685-be1f-d57550cc96cc">false</LocManualTestRequired>
    <LocMarketGroupTiers2 xmlns="4873beb7-5857-4685-be1f-d57550cc96cc" xsi:nil="true"/>
    <ClipArtFilename xmlns="4873beb7-5857-4685-be1f-d57550cc96cc" xsi:nil="true"/>
    <TPApplication xmlns="4873beb7-5857-4685-be1f-d57550cc96cc" xsi:nil="true"/>
    <CSXHash xmlns="4873beb7-5857-4685-be1f-d57550cc96cc" xsi:nil="true"/>
    <DirectSourceMarket xmlns="4873beb7-5857-4685-be1f-d57550cc96cc" xsi:nil="true"/>
    <PrimaryImageGen xmlns="4873beb7-5857-4685-be1f-d57550cc96cc">true</PrimaryImageGen>
    <PlannedPubDate xmlns="4873beb7-5857-4685-be1f-d57550cc96cc" xsi:nil="true"/>
    <CSXSubmissionMarket xmlns="4873beb7-5857-4685-be1f-d57550cc96cc" xsi:nil="true"/>
    <Downloads xmlns="4873beb7-5857-4685-be1f-d57550cc96cc">0</Downloads>
    <ArtSampleDocs xmlns="4873beb7-5857-4685-be1f-d57550cc96cc" xsi:nil="true"/>
    <TrustLevel xmlns="4873beb7-5857-4685-be1f-d57550cc96cc">1 Microsoft Managed Content</TrustLevel>
    <BlockPublish xmlns="4873beb7-5857-4685-be1f-d57550cc96cc">false</BlockPublish>
    <TPLaunchHelpLinkType xmlns="4873beb7-5857-4685-be1f-d57550cc96cc">Template</TPLaunchHelpLinkType>
    <LocalizationTagsTaxHTField0 xmlns="4873beb7-5857-4685-be1f-d57550cc96cc">
      <Terms xmlns="http://schemas.microsoft.com/office/infopath/2007/PartnerControls"/>
    </LocalizationTagsTaxHTField0>
    <BusinessGroup xmlns="4873beb7-5857-4685-be1f-d57550cc96cc" xsi:nil="true"/>
    <Providers xmlns="4873beb7-5857-4685-be1f-d57550cc96cc" xsi:nil="true"/>
    <TemplateTemplateType xmlns="4873beb7-5857-4685-be1f-d57550cc96cc">PowerPoint Presentation Template</TemplateTemplateType>
    <TimesCloned xmlns="4873beb7-5857-4685-be1f-d57550cc96cc" xsi:nil="true"/>
    <TPAppVersion xmlns="4873beb7-5857-4685-be1f-d57550cc96cc" xsi:nil="true"/>
    <VoteCount xmlns="4873beb7-5857-4685-be1f-d57550cc96cc" xsi:nil="true"/>
    <AverageRating xmlns="4873beb7-5857-4685-be1f-d57550cc96cc" xsi:nil="true"/>
    <FeatureTagsTaxHTField0 xmlns="4873beb7-5857-4685-be1f-d57550cc96cc">
      <Terms xmlns="http://schemas.microsoft.com/office/infopath/2007/PartnerControls"/>
    </FeatureTagsTaxHTField0>
    <Provider xmlns="4873beb7-5857-4685-be1f-d57550cc96cc" xsi:nil="true"/>
    <UACurrentWords xmlns="4873beb7-5857-4685-be1f-d57550cc96cc" xsi:nil="true"/>
    <AssetId xmlns="4873beb7-5857-4685-be1f-d57550cc96cc">TP103431361</AssetId>
    <TPClientViewer xmlns="4873beb7-5857-4685-be1f-d57550cc96cc" xsi:nil="true"/>
    <DSATActionTaken xmlns="4873beb7-5857-4685-be1f-d57550cc96cc" xsi:nil="true"/>
    <APEditor xmlns="4873beb7-5857-4685-be1f-d57550cc96cc">
      <UserInfo>
        <DisplayName/>
        <AccountId xsi:nil="true"/>
        <AccountType/>
      </UserInfo>
    </APEditor>
    <TPInstallLocation xmlns="4873beb7-5857-4685-be1f-d57550cc96cc" xsi:nil="true"/>
    <OOCacheId xmlns="4873beb7-5857-4685-be1f-d57550cc96cc" xsi:nil="true"/>
    <IsDeleted xmlns="4873beb7-5857-4685-be1f-d57550cc96cc">false</IsDeleted>
    <PublishTargets xmlns="4873beb7-5857-4685-be1f-d57550cc96cc">OfficeOnlineVNext</PublishTargets>
    <ApprovalLog xmlns="4873beb7-5857-4685-be1f-d57550cc96cc" xsi:nil="true"/>
    <BugNumber xmlns="4873beb7-5857-4685-be1f-d57550cc96cc" xsi:nil="true"/>
    <CrawlForDependencies xmlns="4873beb7-5857-4685-be1f-d57550cc96cc">false</CrawlForDependencies>
    <InternalTagsTaxHTField0 xmlns="4873beb7-5857-4685-be1f-d57550cc96cc">
      <Terms xmlns="http://schemas.microsoft.com/office/infopath/2007/PartnerControls"/>
    </InternalTagsTaxHTField0>
    <LastHandOff xmlns="4873beb7-5857-4685-be1f-d57550cc96cc" xsi:nil="true"/>
    <Milestone xmlns="4873beb7-5857-4685-be1f-d57550cc96cc" xsi:nil="true"/>
    <OriginalRelease xmlns="4873beb7-5857-4685-be1f-d57550cc96cc">15</OriginalRelease>
    <RecommendationsModifier xmlns="4873beb7-5857-4685-be1f-d57550cc96cc" xsi:nil="true"/>
    <ScenarioTagsTaxHTField0 xmlns="4873beb7-5857-4685-be1f-d57550cc96cc">
      <Terms xmlns="http://schemas.microsoft.com/office/infopath/2007/PartnerControls"/>
    </ScenarioTagsTaxHTField0>
    <UANotes xmlns="4873beb7-5857-4685-be1f-d57550cc96cc" xsi:nil="true"/>
  </documentManagement>
</p:properties>
</file>

<file path=customXml/item3.xml><?xml version="1.0" encoding="utf-8"?>
<ct:contentTypeSchema xmlns:ct="http://schemas.microsoft.com/office/2006/metadata/contentType" xmlns:ma="http://schemas.microsoft.com/office/2006/metadata/properties/metaAttributes" ct:_="" ma:_="" ma:contentTypeName="TemplateFile" ma:contentTypeID="0x0101006EDDDB5EE6D98C44930B742096920B300400F5B6D36B3EF94B4E9A635CDF2A18F5B8" ma:contentTypeVersion="72" ma:contentTypeDescription="Create a new document." ma:contentTypeScope="" ma:versionID="a23e56308344d904b51738559c3d67c9">
  <xsd:schema xmlns:xsd="http://www.w3.org/2001/XMLSchema" xmlns:xs="http://www.w3.org/2001/XMLSchema" xmlns:p="http://schemas.microsoft.com/office/2006/metadata/properties" xmlns:ns2="4873beb7-5857-4685-be1f-d57550cc96cc" targetNamespace="http://schemas.microsoft.com/office/2006/metadata/properties" ma:root="true" ma:fieldsID="cd0908cc4600e77bf5da051303e00c8d" ns2:_="">
    <xsd:import namespace="4873beb7-5857-4685-be1f-d57550cc96cc"/>
    <xsd:element name="properties">
      <xsd:complexType>
        <xsd:sequence>
          <xsd:element name="documentManagement">
            <xsd:complexType>
              <xsd:all>
                <xsd:element ref="ns2:AcquiredFrom" minOccurs="0"/>
                <xsd:element ref="ns2:UACurrentWords" minOccurs="0"/>
                <xsd:element ref="ns2:TPApplication" minOccurs="0"/>
                <xsd:element ref="ns2:ApprovalLog" minOccurs="0"/>
                <xsd:element ref="ns2:ApprovalStatus" minOccurs="0"/>
                <xsd:element ref="ns2:AssetStart" minOccurs="0"/>
                <xsd:element ref="ns2:AssetExpire" minOccurs="0"/>
                <xsd:element ref="ns2:AssetId" minOccurs="0"/>
                <xsd:element ref="ns2:IsSearchable" minOccurs="0"/>
                <xsd:element ref="ns2:AssetType" minOccurs="0"/>
                <xsd:element ref="ns2:APAuthor" minOccurs="0"/>
                <xsd:element ref="ns2:AverageRating" minOccurs="0"/>
                <xsd:element ref="ns2:BlockPublish" minOccurs="0"/>
                <xsd:element ref="ns2:BugNumber" minOccurs="0"/>
                <xsd:element ref="ns2:CampaignTagsTaxHTField0" minOccurs="0"/>
                <xsd:element ref="ns2:TPClientViewer" minOccurs="0"/>
                <xsd:element ref="ns2:ClipArtFilename" minOccurs="0"/>
                <xsd:element ref="ns2:TPCommandLine" minOccurs="0"/>
                <xsd:element ref="ns2:TPComponent" minOccurs="0"/>
                <xsd:element ref="ns2:ContentItem" minOccurs="0"/>
                <xsd:element ref="ns2:CrawlForDependencies" minOccurs="0"/>
                <xsd:element ref="ns2:CSXHash" minOccurs="0"/>
                <xsd:element ref="ns2:CSXSubmissionMarket" minOccurs="0"/>
                <xsd:element ref="ns2:CSXUpdate" minOccurs="0"/>
                <xsd:element ref="ns2:IntlLangReviewDate" minOccurs="0"/>
                <xsd:element ref="ns2:IsDeleted" minOccurs="0"/>
                <xsd:element ref="ns2:APDescription" minOccurs="0"/>
                <xsd:element ref="ns2:DirectSourceMarket" minOccurs="0"/>
                <xsd:element ref="ns2:Downloads" minOccurs="0"/>
                <xsd:element ref="ns2:DSATActionTaken" minOccurs="0"/>
                <xsd:element ref="ns2:APEditor" minOccurs="0"/>
                <xsd:element ref="ns2:EditorialStatus" minOccurs="0"/>
                <xsd:element ref="ns2:EditorialTags" minOccurs="0"/>
                <xsd:element ref="ns2:TPExecutable" minOccurs="0"/>
                <xsd:element ref="ns2:FeatureTagsTaxHTField0" minOccurs="0"/>
                <xsd:element ref="ns2:TPFriendlyName" minOccurs="0"/>
                <xsd:element ref="ns2:FriendlyTitle" minOccurs="0"/>
                <xsd:element ref="ns2:PrimaryImageGen" minOccurs="0"/>
                <xsd:element ref="ns2:HandoffToMSDN" minOccurs="0"/>
                <xsd:element ref="ns2:InProjectListLookup" minOccurs="0"/>
                <xsd:element ref="ns2:TPInstallLocation" minOccurs="0"/>
                <xsd:element ref="ns2:InternalTagsTaxHTField0" minOccurs="0"/>
                <xsd:element ref="ns2:IntlLangReview" minOccurs="0"/>
                <xsd:element ref="ns2:IntlLangReviewer" minOccurs="0"/>
                <xsd:element ref="ns2:MarketSpecific" minOccurs="0"/>
                <xsd:element ref="ns2:LastCompleteVersionLookup" minOccurs="0"/>
                <xsd:element ref="ns2:LastHandOff" minOccurs="0"/>
                <xsd:element ref="ns2:LastModifiedDateTime" minOccurs="0"/>
                <xsd:element ref="ns2:LastPreviewErrorLookup" minOccurs="0"/>
                <xsd:element ref="ns2:LastPreviewResultLookup" minOccurs="0"/>
                <xsd:element ref="ns2:LastPreviewAttemptDateLookup" minOccurs="0"/>
                <xsd:element ref="ns2:LastPreviewedByLookup" minOccurs="0"/>
                <xsd:element ref="ns2:LastPreviewTimeLookup" minOccurs="0"/>
                <xsd:element ref="ns2:LastPreviewVersionLookup" minOccurs="0"/>
                <xsd:element ref="ns2:LastPublishErrorLookup" minOccurs="0"/>
                <xsd:element ref="ns2:LastPublishResultLookup" minOccurs="0"/>
                <xsd:element ref="ns2:LastPublishAttemptDateLookup" minOccurs="0"/>
                <xsd:element ref="ns2:LastPublishedByLookup" minOccurs="0"/>
                <xsd:element ref="ns2:LastPublishTimeLookup" minOccurs="0"/>
                <xsd:element ref="ns2:LastPublishVersionLookup" minOccurs="0"/>
                <xsd:element ref="ns2:TPLaunchHelpLinkType" minOccurs="0"/>
                <xsd:element ref="ns2:LegacyData" minOccurs="0"/>
                <xsd:element ref="ns2:TPLaunchHelpLink" minOccurs="0"/>
                <xsd:element ref="ns2:LocComments" minOccurs="0"/>
                <xsd:element ref="ns2:LocLastLocAttemptVersionLookup" minOccurs="0"/>
                <xsd:element ref="ns2:LocLastLocAttemptVersionTypeLookup" minOccurs="0"/>
                <xsd:element ref="ns2:LocManualTestRequired" minOccurs="0"/>
                <xsd:element ref="ns2:LocMarketGroupTiers2" minOccurs="0"/>
                <xsd:element ref="ns2:LocNewPublishedVersionLookup" minOccurs="0"/>
                <xsd:element ref="ns2:LocOverallHandbackStatusLookup" minOccurs="0"/>
                <xsd:element ref="ns2:LocOverallLocStatusLookup" minOccurs="0"/>
                <xsd:element ref="ns2:LocOverallPreviewStatusLookup" minOccurs="0"/>
                <xsd:element ref="ns2:LocOverallPublishStatusLookup" minOccurs="0"/>
                <xsd:element ref="ns2:IntlLocPriority" minOccurs="0"/>
                <xsd:element ref="ns2:LocProcessedForHandoffsLookup" minOccurs="0"/>
                <xsd:element ref="ns2:LocProcessedForMarketsLookup" minOccurs="0"/>
                <xsd:element ref="ns2:LocPublishedDependentAssetsLookup" minOccurs="0"/>
                <xsd:element ref="ns2:LocPublishedLinkedAssetsLookup" minOccurs="0"/>
                <xsd:element ref="ns2:LocRecommendedHandoff" minOccurs="0"/>
                <xsd:element ref="ns2:LocalizationTagsTaxHTField0" minOccurs="0"/>
                <xsd:element ref="ns2:MachineTranslated" minOccurs="0"/>
                <xsd:element ref="ns2:Manager" minOccurs="0"/>
                <xsd:element ref="ns2:Markets" minOccurs="0"/>
                <xsd:element ref="ns2:Milestone" minOccurs="0"/>
                <xsd:element ref="ns2:TPNamespace" minOccurs="0"/>
                <xsd:element ref="ns2:NumericId" minOccurs="0"/>
                <xsd:element ref="ns2:NumOfRatingsLookup" minOccurs="0"/>
                <xsd:element ref="ns2:OOCacheId" minOccurs="0"/>
                <xsd:element ref="ns2:OpenTemplate" minOccurs="0"/>
                <xsd:element ref="ns2:OriginAsset" minOccurs="0"/>
                <xsd:element ref="ns2:OriginalRelease" minOccurs="0"/>
                <xsd:element ref="ns2:OriginalSourceMarket" minOccurs="0"/>
                <xsd:element ref="ns2:OutputCachingOn" minOccurs="0"/>
                <xsd:element ref="ns2:ParentAssetId" minOccurs="0"/>
                <xsd:element ref="ns2:PlannedPubDate" minOccurs="0"/>
                <xsd:element ref="ns2:PolicheckWords" minOccurs="0"/>
                <xsd:element ref="ns2:BusinessGroup" minOccurs="0"/>
                <xsd:element ref="ns2:UAProjectedTotalWords" minOccurs="0"/>
                <xsd:element ref="ns2:Provider" minOccurs="0"/>
                <xsd:element ref="ns2:Providers" minOccurs="0"/>
                <xsd:element ref="ns2:PublishStatusLookup" minOccurs="0"/>
                <xsd:element ref="ns2:PublishTargets" minOccurs="0"/>
                <xsd:element ref="ns2:RecommendationsModifier" minOccurs="0"/>
                <xsd:element ref="ns2:ArtSampleDocs" minOccurs="0"/>
                <xsd:element ref="ns2:ScenarioTagsTaxHTField0" minOccurs="0"/>
                <xsd:element ref="ns2:ShowIn" minOccurs="0"/>
                <xsd:element ref="ns2:SourceTitle" minOccurs="0"/>
                <xsd:element ref="ns2:CSXSubmissionDate" minOccurs="0"/>
                <xsd:element ref="ns2:SubmitterId" minOccurs="0"/>
                <xsd:element ref="ns2:TaxCatchAll" minOccurs="0"/>
                <xsd:element ref="ns2:TaxCatchAllLabel" minOccurs="0"/>
                <xsd:element ref="ns2:TemplateStatus" minOccurs="0"/>
                <xsd:element ref="ns2:TemplateTemplateType" minOccurs="0"/>
                <xsd:element ref="ns2:ThumbnailAssetId" minOccurs="0"/>
                <xsd:element ref="ns2:TimesCloned" minOccurs="0"/>
                <xsd:element ref="ns2:TrustLevel" minOccurs="0"/>
                <xsd:element ref="ns2:UALocComments" minOccurs="0"/>
                <xsd:element ref="ns2:UALocRecommendation" minOccurs="0"/>
                <xsd:element ref="ns2:UANotes" minOccurs="0"/>
                <xsd:element ref="ns2:TPAppVersion" minOccurs="0"/>
                <xsd:element ref="ns2:VoteCou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873beb7-5857-4685-be1f-d57550cc96cc" elementFormDefault="qualified">
    <xsd:import namespace="http://schemas.microsoft.com/office/2006/documentManagement/types"/>
    <xsd:import namespace="http://schemas.microsoft.com/office/infopath/2007/PartnerControls"/>
    <xsd:element name="AcquiredFrom" ma:index="1" nillable="true" ma:displayName="Acquired From" ma:default="Internal MS" ma:internalName="AcquiredFrom" ma:readOnly="false">
      <xsd:simpleType>
        <xsd:restriction base="dms:Choice">
          <xsd:enumeration value="Internal MS"/>
          <xsd:enumeration value="Community"/>
          <xsd:enumeration value="MVP"/>
          <xsd:enumeration value="Publisher"/>
          <xsd:enumeration value="Partner"/>
          <xsd:enumeration value="None"/>
        </xsd:restriction>
      </xsd:simpleType>
    </xsd:element>
    <xsd:element name="UACurrentWords" ma:index="2" nillable="true" ma:displayName="Actual Word Count" ma:default="" ma:internalName="UACurrentWords" ma:readOnly="false">
      <xsd:simpleType>
        <xsd:restriction base="dms:Unknown"/>
      </xsd:simpleType>
    </xsd:element>
    <xsd:element name="TPApplication" ma:index="3" nillable="true" ma:displayName="Application to Open Template With" ma:default="" ma:internalName="TPApplication">
      <xsd:simpleType>
        <xsd:restriction base="dms:Text"/>
      </xsd:simpleType>
    </xsd:element>
    <xsd:element name="ApprovalLog" ma:index="4" nillable="true" ma:displayName="Approval Log" ma:default="" ma:hidden="true" ma:internalName="ApprovalLog" ma:readOnly="false">
      <xsd:simpleType>
        <xsd:restriction base="dms:Note"/>
      </xsd:simpleType>
    </xsd:element>
    <xsd:element name="ApprovalStatus" ma:index="5" nillable="true" ma:displayName="Approval Status" ma:default="InProgress" ma:internalName="ApprovalStatus" ma:readOnly="false">
      <xsd:simpleType>
        <xsd:restriction base="dms:Choice">
          <xsd:enumeration value="InProgress"/>
          <xsd:enumeration value="Rejected"/>
          <xsd:enumeration value="Questionable"/>
          <xsd:enumeration value="ApprovedAutomatic"/>
          <xsd:enumeration value="ApprovedManual"/>
          <xsd:enumeration value="On Hold"/>
          <xsd:enumeration value="Needs Review"/>
          <xsd:enumeration value="A Violation"/>
          <xsd:enumeration value="Unpublished Violation"/>
        </xsd:restriction>
      </xsd:simpleType>
    </xsd:element>
    <xsd:element name="AssetStart" ma:index="6" nillable="true" ma:displayName="Asset Begin Date" ma:default="[Today]" ma:internalName="AssetStart" ma:readOnly="false">
      <xsd:simpleType>
        <xsd:restriction base="dms:DateTime"/>
      </xsd:simpleType>
    </xsd:element>
    <xsd:element name="AssetExpire" ma:index="7" nillable="true" ma:displayName="Asset End Date" ma:default="2029-01-01T08:00:00Z" ma:format="DateTime" ma:internalName="AssetExpire" ma:readOnly="false">
      <xsd:simpleType>
        <xsd:restriction base="dms:DateTime"/>
      </xsd:simpleType>
    </xsd:element>
    <xsd:element name="AssetId" ma:index="8" nillable="true" ma:displayName="Asset ID" ma:default="" ma:indexed="true" ma:internalName="AssetId" ma:readOnly="false">
      <xsd:simpleType>
        <xsd:restriction base="dms:Text">
          <xsd:maxLength value="255"/>
        </xsd:restriction>
      </xsd:simpleType>
    </xsd:element>
    <xsd:element name="IsSearchable" ma:index="9" nillable="true" ma:displayName="Asset Searchable?" ma:default="true" ma:internalName="IsSearchable" ma:readOnly="false">
      <xsd:simpleType>
        <xsd:restriction base="dms:Boolean"/>
      </xsd:simpleType>
    </xsd:element>
    <xsd:element name="AssetType" ma:index="10" nillable="true" ma:displayName="Asset Type" ma:default="" ma:internalName="AssetType" ma:readOnly="false">
      <xsd:simpleType>
        <xsd:restriction base="dms:Unknown"/>
      </xsd:simpleType>
    </xsd:element>
    <xsd:element name="APAuthor" ma:index="11" nillable="true" ma:displayName="Author" ma:default="" ma:list="UserInfo" ma:internalName="APAuth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AverageRating" ma:index="12" nillable="true" ma:displayName="Average Rating" ma:internalName="AverageRating" ma:readOnly="false">
      <xsd:simpleType>
        <xsd:restriction base="dms:Text"/>
      </xsd:simpleType>
    </xsd:element>
    <xsd:element name="BlockPublish" ma:index="13" nillable="true" ma:displayName="Block from Publishing?" ma:default="" ma:internalName="BlockPublish" ma:readOnly="false">
      <xsd:simpleType>
        <xsd:restriction base="dms:Boolean"/>
      </xsd:simpleType>
    </xsd:element>
    <xsd:element name="BugNumber" ma:index="14" nillable="true" ma:displayName="Bug Number" ma:default="" ma:internalName="BugNumber" ma:readOnly="false">
      <xsd:simpleType>
        <xsd:restriction base="dms:Text"/>
      </xsd:simpleType>
    </xsd:element>
    <xsd:element name="CampaignTagsTaxHTField0" ma:index="16" nillable="true" ma:taxonomy="true" ma:internalName="CampaignTagsTaxHTField0" ma:taxonomyFieldName="CampaignTags" ma:displayName="Campaigns" ma:readOnly="false" ma:default="" ma:fieldId="{1df42cc3-2301-4f11-a52a-6ead923c29ed}" ma:taxonomyMulti="true" ma:sspId="8f79753a-75d3-41f5-8ca3-40b843941b4f" ma:termSetId="ca0e50d4-faa1-44ce-961e-bb1441c60e66" ma:anchorId="00000000-0000-0000-0000-000000000000" ma:open="false" ma:isKeyword="false">
      <xsd:complexType>
        <xsd:sequence>
          <xsd:element ref="pc:Terms" minOccurs="0" maxOccurs="1"/>
        </xsd:sequence>
      </xsd:complexType>
    </xsd:element>
    <xsd:element name="TPClientViewer" ma:index="17" nillable="true" ma:displayName="Client Viewer" ma:default="" ma:internalName="TPClientViewer">
      <xsd:simpleType>
        <xsd:restriction base="dms:Text"/>
      </xsd:simpleType>
    </xsd:element>
    <xsd:element name="ClipArtFilename" ma:index="18" nillable="true" ma:displayName="Clip Art Name" ma:default="" ma:internalName="ClipArtFilename" ma:readOnly="false">
      <xsd:simpleType>
        <xsd:restriction base="dms:Text"/>
      </xsd:simpleType>
    </xsd:element>
    <xsd:element name="TPCommandLine" ma:index="19" nillable="true" ma:displayName="Command Line" ma:default="" ma:internalName="TPCommandLine">
      <xsd:simpleType>
        <xsd:restriction base="dms:Text"/>
      </xsd:simpleType>
    </xsd:element>
    <xsd:element name="TPComponent" ma:index="20" nillable="true" ma:displayName="Component" ma:default="" ma:internalName="TPComponent">
      <xsd:simpleType>
        <xsd:restriction base="dms:Text"/>
      </xsd:simpleType>
    </xsd:element>
    <xsd:element name="ContentItem" ma:index="21" nillable="true" ma:displayName="Content Item" ma:default="" ma:hidden="true" ma:internalName="ContentItem" ma:readOnly="false">
      <xsd:simpleType>
        <xsd:restriction base="dms:Unknown"/>
      </xsd:simpleType>
    </xsd:element>
    <xsd:element name="CrawlForDependencies" ma:index="23" nillable="true" ma:displayName="Crawl for Dependencies?" ma:default="true" ma:internalName="CrawlForDependencies" ma:readOnly="false">
      <xsd:simpleType>
        <xsd:restriction base="dms:Boolean"/>
      </xsd:simpleType>
    </xsd:element>
    <xsd:element name="CSXHash" ma:index="26" nillable="true" ma:displayName="CSX Hash" ma:default="" ma:indexed="true" ma:internalName="CSXHash" ma:readOnly="false">
      <xsd:simpleType>
        <xsd:restriction base="dms:Text"/>
      </xsd:simpleType>
    </xsd:element>
    <xsd:element name="CSXSubmissionMarket" ma:index="27" nillable="true" ma:displayName="CSX Submission Market" ma:default="" ma:list="{2FBD1B11-2ACE-4FDC-B5A3-635D4ADF6F1B}" ma:internalName="CSXSubmissionMarket" ma:readOnly="false" ma:showField="MarketName" ma:web="4873beb7-5857-4685-be1f-d57550cc96cc">
      <xsd:simpleType>
        <xsd:restriction base="dms:Lookup"/>
      </xsd:simpleType>
    </xsd:element>
    <xsd:element name="CSXUpdate" ma:index="28" nillable="true" ma:displayName="CSX Updated?" ma:default="false" ma:internalName="CSXUpdate" ma:readOnly="false">
      <xsd:simpleType>
        <xsd:restriction base="dms:Boolean"/>
      </xsd:simpleType>
    </xsd:element>
    <xsd:element name="IntlLangReviewDate" ma:index="29" nillable="true" ma:displayName="Date to Complete Intl QA" ma:default="" ma:internalName="IntlLangReviewDate" ma:readOnly="false">
      <xsd:simpleType>
        <xsd:restriction base="dms:DateTime"/>
      </xsd:simpleType>
    </xsd:element>
    <xsd:element name="IsDeleted" ma:index="30" nillable="true" ma:displayName="Deleted?" ma:default="" ma:internalName="IsDeleted" ma:readOnly="false">
      <xsd:simpleType>
        <xsd:restriction base="dms:Boolean"/>
      </xsd:simpleType>
    </xsd:element>
    <xsd:element name="APDescription" ma:index="31" nillable="true" ma:displayName="Description" ma:default="" ma:internalName="APDescription" ma:readOnly="false">
      <xsd:simpleType>
        <xsd:restriction base="dms:Note"/>
      </xsd:simpleType>
    </xsd:element>
    <xsd:element name="DirectSourceMarket" ma:index="32" nillable="true" ma:displayName="Direct Source Market Group" ma:default="" ma:internalName="DirectSourceMarket" ma:readOnly="false">
      <xsd:simpleType>
        <xsd:restriction base="dms:Text"/>
      </xsd:simpleType>
    </xsd:element>
    <xsd:element name="Downloads" ma:index="33" nillable="true" ma:displayName="Downloads" ma:default="0" ma:hidden="true" ma:internalName="Downloads" ma:readOnly="false">
      <xsd:simpleType>
        <xsd:restriction base="dms:Unknown"/>
      </xsd:simpleType>
    </xsd:element>
    <xsd:element name="DSATActionTaken" ma:index="34" nillable="true" ma:displayName="DSAT Action Taken" ma:default="" ma:internalName="DSATActionTaken" ma:readOnly="false">
      <xsd:simpleType>
        <xsd:restriction base="dms:Choice">
          <xsd:enumeration value="Best Bets"/>
          <xsd:enumeration value="Expire"/>
          <xsd:enumeration value="Hide"/>
          <xsd:enumeration value="None"/>
        </xsd:restriction>
      </xsd:simpleType>
    </xsd:element>
    <xsd:element name="APEditor" ma:index="35" nillable="true" ma:displayName="Editor" ma:default="" ma:list="UserInfo" ma:internalName="APEdit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EditorialStatus" ma:index="36" nillable="true" ma:displayName="Editorial Status" ma:default="" ma:internalName="EditorialStatus" ma:readOnly="false">
      <xsd:simpleType>
        <xsd:restriction base="dms:Unknown"/>
      </xsd:simpleType>
    </xsd:element>
    <xsd:element name="EditorialTags" ma:index="37" nillable="true" ma:displayName="Editorial Tags" ma:default="" ma:internalName="EditorialTags">
      <xsd:simpleType>
        <xsd:restriction base="dms:Unknown"/>
      </xsd:simpleType>
    </xsd:element>
    <xsd:element name="TPExecutable" ma:index="38" nillable="true" ma:displayName="Executable" ma:default="" ma:internalName="TPExecutable">
      <xsd:simpleType>
        <xsd:restriction base="dms:Text"/>
      </xsd:simpleType>
    </xsd:element>
    <xsd:element name="FeatureTagsTaxHTField0" ma:index="40" nillable="true" ma:taxonomy="true" ma:internalName="FeatureTagsTaxHTField0" ma:taxonomyFieldName="FeatureTags" ma:displayName="Features" ma:readOnly="false" ma:default="" ma:fieldId="{7fc0d542-15c6-4882-a8e3-13bca44403fb}" ma:taxonomyMulti="true" ma:sspId="8f79753a-75d3-41f5-8ca3-40b843941b4f" ma:termSetId="f1ab6845-967d-4854-a0ba-4ec07f0f8113" ma:anchorId="00000000-0000-0000-0000-000000000000" ma:open="false" ma:isKeyword="false">
      <xsd:complexType>
        <xsd:sequence>
          <xsd:element ref="pc:Terms" minOccurs="0" maxOccurs="1"/>
        </xsd:sequence>
      </xsd:complexType>
    </xsd:element>
    <xsd:element name="TPFriendlyName" ma:index="41" nillable="true" ma:displayName="Friendly Name" ma:default="" ma:internalName="TPFriendlyName">
      <xsd:simpleType>
        <xsd:restriction base="dms:Text"/>
      </xsd:simpleType>
    </xsd:element>
    <xsd:element name="FriendlyTitle" ma:index="42" nillable="true" ma:displayName="Friendly Title" ma:default="" ma:description="Shorter title to be used when displaying search results" ma:internalName="FriendlyTitle" ma:readOnly="false">
      <xsd:simpleType>
        <xsd:restriction base="dms:Text"/>
      </xsd:simpleType>
    </xsd:element>
    <xsd:element name="PrimaryImageGen" ma:index="43" nillable="true" ma:displayName="Generate Images?" ma:default="true" ma:internalName="PrimaryImageGen">
      <xsd:simpleType>
        <xsd:restriction base="dms:Boolean"/>
      </xsd:simpleType>
    </xsd:element>
    <xsd:element name="HandoffToMSDN" ma:index="44" nillable="true" ma:displayName="Handoff To MSDN Date" ma:default="" ma:internalName="HandoffToMSDN" ma:readOnly="false">
      <xsd:simpleType>
        <xsd:restriction base="dms:DateTime"/>
      </xsd:simpleType>
    </xsd:element>
    <xsd:element name="InProjectListLookup" ma:index="45" nillable="true" ma:displayName="InProjectListLookup" ma:list="{9E343742-310B-4684-A24C-1D137CB4B230}" ma:internalName="InProjectListLookup" ma:readOnly="true" ma:showField="InProjectLis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InstallLocation" ma:index="46" nillable="true" ma:displayName="Install Location" ma:default="" ma:internalName="TPInstallLocation">
      <xsd:simpleType>
        <xsd:restriction base="dms:Text"/>
      </xsd:simpleType>
    </xsd:element>
    <xsd:element name="InternalTagsTaxHTField0" ma:index="48" nillable="true" ma:taxonomy="true" ma:internalName="InternalTagsTaxHTField0" ma:taxonomyFieldName="InternalTags" ma:displayName="Internal Tags" ma:readOnly="false" ma:default="" ma:fieldId="{1490b8a4-2706-41ec-b5e3-73176dccf34e}" ma:taxonomyMulti="true" ma:sspId="8f79753a-75d3-41f5-8ca3-40b843941b4f" ma:termSetId="82b6639e-f7fc-4c18-ad2d-003a6e707765" ma:anchorId="00000000-0000-0000-0000-000000000000" ma:open="false" ma:isKeyword="false">
      <xsd:complexType>
        <xsd:sequence>
          <xsd:element ref="pc:Terms" minOccurs="0" maxOccurs="1"/>
        </xsd:sequence>
      </xsd:complexType>
    </xsd:element>
    <xsd:element name="IntlLangReview" ma:index="49" nillable="true" ma:displayName="Intl Lang QA Review Required?" ma:default="" ma:internalName="IntlLangReview" ma:readOnly="false">
      <xsd:simpleType>
        <xsd:restriction base="dms:Boolean"/>
      </xsd:simpleType>
    </xsd:element>
    <xsd:element name="IntlLangReviewer" ma:index="50" nillable="true" ma:displayName="Intl Lang QA Reviewer" ma:default="" ma:internalName="IntlLangReviewer" ma:readOnly="false">
      <xsd:simpleType>
        <xsd:restriction base="dms:Text"/>
      </xsd:simpleType>
    </xsd:element>
    <xsd:element name="MarketSpecific" ma:index="51" nillable="true" ma:displayName="Is Market Specific?" ma:default="" ma:internalName="MarketSpecific" ma:readOnly="false">
      <xsd:simpleType>
        <xsd:restriction base="dms:Boolean"/>
      </xsd:simpleType>
    </xsd:element>
    <xsd:element name="LastCompleteVersionLookup" ma:index="52" nillable="true" ma:displayName="Last Complete Version Lookup" ma:default="" ma:list="{9E343742-310B-4684-A24C-1D137CB4B230}" ma:internalName="LastCompleteVersionLookup" ma:readOnly="true" ma:showField="LastComplete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HandOff" ma:index="53" nillable="true" ma:displayName="Last Hand-off" ma:default="" ma:internalName="LastHandOff" ma:readOnly="false">
      <xsd:simpleType>
        <xsd:restriction base="dms:DateTime"/>
      </xsd:simpleType>
    </xsd:element>
    <xsd:element name="LastModifiedDateTime" ma:index="54" nillable="true" ma:displayName="Last Modified Date" ma:default="" ma:internalName="LastModifiedDateTime" ma:readOnly="false">
      <xsd:simpleType>
        <xsd:restriction base="dms:DateTime"/>
      </xsd:simpleType>
    </xsd:element>
    <xsd:element name="LastPreviewErrorLookup" ma:index="55" nillable="true" ma:displayName="Last Preview Attempt Error" ma:default="" ma:list="{9E343742-310B-4684-A24C-1D137CB4B230}" ma:internalName="LastPreviewErrorLookup" ma:readOnly="true" ma:showField="LastPreview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ResultLookup" ma:index="56" nillable="true" ma:displayName="Last Preview Attempt Result" ma:default="" ma:list="{9E343742-310B-4684-A24C-1D137CB4B230}" ma:internalName="LastPreviewResultLookup" ma:readOnly="true" ma:showField="LastPreview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AttemptDateLookup" ma:index="57" nillable="true" ma:displayName="Last Preview Attempted On" ma:default="" ma:list="{9E343742-310B-4684-A24C-1D137CB4B230}" ma:internalName="LastPreviewAttemptDateLookup" ma:readOnly="true" ma:showField="LastPreview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edByLookup" ma:index="58" nillable="true" ma:displayName="Last Previewed By" ma:default="" ma:list="{9E343742-310B-4684-A24C-1D137CB4B230}" ma:internalName="LastPreviewedByLookup" ma:readOnly="true" ma:showField="LastPreview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TimeLookup" ma:index="59" nillable="true" ma:displayName="Last Previewed Date" ma:default="" ma:list="{9E343742-310B-4684-A24C-1D137CB4B230}" ma:internalName="LastPreviewTimeLookup" ma:readOnly="true" ma:showField="LastPreview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VersionLookup" ma:index="60" nillable="true" ma:displayName="Last Previewed Version" ma:default="" ma:list="{9E343742-310B-4684-A24C-1D137CB4B230}" ma:internalName="LastPreviewVersionLookup" ma:readOnly="true" ma:showField="LastPreview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rrorLookup" ma:index="61" nillable="true" ma:displayName="Last Publish Attempt Error" ma:default="" ma:list="{9E343742-310B-4684-A24C-1D137CB4B230}" ma:internalName="LastPublishErrorLookup" ma:readOnly="true" ma:showField="LastPublish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ResultLookup" ma:index="62" nillable="true" ma:displayName="Last Publish Attempt Result" ma:default="" ma:list="{9E343742-310B-4684-A24C-1D137CB4B230}" ma:internalName="LastPublishResultLookup" ma:readOnly="true" ma:showField="LastPublish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AttemptDateLookup" ma:index="63" nillable="true" ma:displayName="Last Publish Attempted On" ma:default="" ma:list="{9E343742-310B-4684-A24C-1D137CB4B230}" ma:internalName="LastPublishAttemptDateLookup" ma:readOnly="true" ma:showField="LastPublish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dByLookup" ma:index="64" nillable="true" ma:displayName="Last Published By" ma:default="" ma:list="{9E343742-310B-4684-A24C-1D137CB4B230}" ma:internalName="LastPublishedByLookup" ma:readOnly="true" ma:showField="LastPublish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TimeLookup" ma:index="65" nillable="true" ma:displayName="Last Published Date" ma:default="" ma:list="{9E343742-310B-4684-A24C-1D137CB4B230}" ma:internalName="LastPublishTimeLookup" ma:readOnly="true" ma:showField="LastPublish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VersionLookup" ma:index="66" nillable="true" ma:displayName="Last Published Version" ma:default="" ma:list="{9E343742-310B-4684-A24C-1D137CB4B230}" ma:internalName="LastPublishVersionLookup" ma:readOnly="true" ma:showField="LastPublish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LaunchHelpLinkType" ma:index="67" nillable="true" ma:displayName="Launch Help Link Type" ma:default="Template" ma:internalName="TPLaunchHelpLinkType">
      <xsd:simpleType>
        <xsd:restriction base="dms:Choice">
          <xsd:enumeration value="Template"/>
          <xsd:enumeration value="Training"/>
          <xsd:enumeration value="URL"/>
          <xsd:enumeration value="None"/>
        </xsd:restriction>
      </xsd:simpleType>
    </xsd:element>
    <xsd:element name="LegacyData" ma:index="68" nillable="true" ma:displayName="Legacy Data" ma:default="" ma:internalName="LegacyData" ma:readOnly="false">
      <xsd:simpleType>
        <xsd:restriction base="dms:Note"/>
      </xsd:simpleType>
    </xsd:element>
    <xsd:element name="TPLaunchHelpLink" ma:index="69" nillable="true" ma:displayName="Link to Launch Help Topic" ma:default="" ma:internalName="TPLaunchHelpLink">
      <xsd:simpleType>
        <xsd:restriction base="dms:Text"/>
      </xsd:simpleType>
    </xsd:element>
    <xsd:element name="LocComments" ma:index="70" nillable="true" ma:displayName="Loc Approval Comments" ma:default="" ma:internalName="LocComments" ma:readOnly="false">
      <xsd:simpleType>
        <xsd:restriction base="dms:Note"/>
      </xsd:simpleType>
    </xsd:element>
    <xsd:element name="LocLastLocAttemptVersionLookup" ma:index="71" nillable="true" ma:displayName="Loc Last Loc Attempt Version" ma:default="" ma:list="{7DD1DCEC-E449-43D3-891F-7DC62F62AD21}" ma:internalName="LocLastLocAttemptVersionLookup" ma:readOnly="false" ma:showField="LastLocAttemptVersion" ma:web="4873beb7-5857-4685-be1f-d57550cc96cc">
      <xsd:simpleType>
        <xsd:restriction base="dms:Lookup"/>
      </xsd:simpleType>
    </xsd:element>
    <xsd:element name="LocLastLocAttemptVersionTypeLookup" ma:index="72" nillable="true" ma:displayName="Loc Last Loc Attempt Version Type" ma:default="" ma:list="{7DD1DCEC-E449-43D3-891F-7DC62F62AD21}" ma:internalName="LocLastLocAttemptVersionTypeLookup" ma:readOnly="true" ma:showField="LastLocAttemptVersionType" ma:web="4873beb7-5857-4685-be1f-d57550cc96cc">
      <xsd:simpleType>
        <xsd:restriction base="dms:Lookup"/>
      </xsd:simpleType>
    </xsd:element>
    <xsd:element name="LocManualTestRequired" ma:index="73" nillable="true" ma:displayName="Loc Manual Test Required" ma:default="" ma:internalName="LocManualTestRequired" ma:readOnly="false">
      <xsd:simpleType>
        <xsd:restriction base="dms:Boolean"/>
      </xsd:simpleType>
    </xsd:element>
    <xsd:element name="LocMarketGroupTiers2" ma:index="74" nillable="true" ma:displayName="Loc Market Group Tiers" ma:internalName="LocMarketGroupTiers2" ma:readOnly="false">
      <xsd:simpleType>
        <xsd:restriction base="dms:Unknown"/>
      </xsd:simpleType>
    </xsd:element>
    <xsd:element name="LocNewPublishedVersionLookup" ma:index="75" nillable="true" ma:displayName="Loc New Published Version Lookup" ma:default="" ma:list="{7DD1DCEC-E449-43D3-891F-7DC62F62AD21}" ma:internalName="LocNewPublishedVersionLookup" ma:readOnly="true" ma:showField="NewPublishedVersion" ma:web="4873beb7-5857-4685-be1f-d57550cc96cc">
      <xsd:simpleType>
        <xsd:restriction base="dms:Lookup"/>
      </xsd:simpleType>
    </xsd:element>
    <xsd:element name="LocOverallHandbackStatusLookup" ma:index="76" nillable="true" ma:displayName="Loc Overall Handback Status" ma:default="" ma:list="{7DD1DCEC-E449-43D3-891F-7DC62F62AD21}" ma:internalName="LocOverallHandbackStatusLookup" ma:readOnly="true" ma:showField="OverallHandbackStatus" ma:web="4873beb7-5857-4685-be1f-d57550cc96cc">
      <xsd:simpleType>
        <xsd:restriction base="dms:Lookup"/>
      </xsd:simpleType>
    </xsd:element>
    <xsd:element name="LocOverallLocStatusLookup" ma:index="77" nillable="true" ma:displayName="Loc Overall Localize Status" ma:default="" ma:list="{7DD1DCEC-E449-43D3-891F-7DC62F62AD21}" ma:internalName="LocOverallLocStatusLookup" ma:readOnly="true" ma:showField="OverallLocStatus" ma:web="4873beb7-5857-4685-be1f-d57550cc96cc">
      <xsd:simpleType>
        <xsd:restriction base="dms:Lookup"/>
      </xsd:simpleType>
    </xsd:element>
    <xsd:element name="LocOverallPreviewStatusLookup" ma:index="78" nillable="true" ma:displayName="Loc Overall Preview Status" ma:default="" ma:list="{7DD1DCEC-E449-43D3-891F-7DC62F62AD21}" ma:internalName="LocOverallPreviewStatusLookup" ma:readOnly="true" ma:showField="OverallPreviewStatus" ma:web="4873beb7-5857-4685-be1f-d57550cc96cc">
      <xsd:simpleType>
        <xsd:restriction base="dms:Lookup"/>
      </xsd:simpleType>
    </xsd:element>
    <xsd:element name="LocOverallPublishStatusLookup" ma:index="79" nillable="true" ma:displayName="Loc Overall Publish Status" ma:default="" ma:list="{7DD1DCEC-E449-43D3-891F-7DC62F62AD21}" ma:internalName="LocOverallPublishStatusLookup" ma:readOnly="true" ma:showField="OverallPublishStatus" ma:web="4873beb7-5857-4685-be1f-d57550cc96cc">
      <xsd:simpleType>
        <xsd:restriction base="dms:Lookup"/>
      </xsd:simpleType>
    </xsd:element>
    <xsd:element name="IntlLocPriority" ma:index="80" nillable="true" ma:displayName="Loc Priority" ma:default="" ma:internalName="IntlLocPriority" ma:readOnly="false">
      <xsd:simpleType>
        <xsd:restriction base="dms:Unknown"/>
      </xsd:simpleType>
    </xsd:element>
    <xsd:element name="LocProcessedForHandoffsLookup" ma:index="81" nillable="true" ma:displayName="Loc Processed For Handoffs" ma:default="" ma:list="{7DD1DCEC-E449-43D3-891F-7DC62F62AD21}" ma:internalName="LocProcessedForHandoffsLookup" ma:readOnly="true" ma:showField="ProcessedForHandoffs" ma:web="4873beb7-5857-4685-be1f-d57550cc96cc">
      <xsd:simpleType>
        <xsd:restriction base="dms:Lookup"/>
      </xsd:simpleType>
    </xsd:element>
    <xsd:element name="LocProcessedForMarketsLookup" ma:index="82" nillable="true" ma:displayName="Loc Processed For Markets" ma:default="" ma:list="{7DD1DCEC-E449-43D3-891F-7DC62F62AD21}" ma:internalName="LocProcessedForMarketsLookup" ma:readOnly="true" ma:showField="ProcessedForMarkets" ma:web="4873beb7-5857-4685-be1f-d57550cc96cc">
      <xsd:simpleType>
        <xsd:restriction base="dms:Lookup"/>
      </xsd:simpleType>
    </xsd:element>
    <xsd:element name="LocPublishedDependentAssetsLookup" ma:index="83" nillable="true" ma:displayName="Loc Published Dependent Assets" ma:default="" ma:list="{7DD1DCEC-E449-43D3-891F-7DC62F62AD21}" ma:internalName="LocPublishedDependentAssetsLookup" ma:readOnly="true" ma:showField="PublishedDependentAssets" ma:web="4873beb7-5857-4685-be1f-d57550cc96cc">
      <xsd:simpleType>
        <xsd:restriction base="dms:Lookup"/>
      </xsd:simpleType>
    </xsd:element>
    <xsd:element name="LocPublishedLinkedAssetsLookup" ma:index="84" nillable="true" ma:displayName="Loc Published Linked Assets" ma:default="" ma:list="{7DD1DCEC-E449-43D3-891F-7DC62F62AD21}" ma:internalName="LocPublishedLinkedAssetsLookup" ma:readOnly="true" ma:showField="PublishedLinkedAssets" ma:web="4873beb7-5857-4685-be1f-d57550cc96cc">
      <xsd:simpleType>
        <xsd:restriction base="dms:Lookup"/>
      </xsd:simpleType>
    </xsd:element>
    <xsd:element name="LocRecommendedHandoff" ma:index="85" nillable="true" ma:displayName="Loc Recommended Handoff" ma:default="" ma:indexed="true" ma:internalName="LocRecommendedHandoff" ma:readOnly="false">
      <xsd:simpleType>
        <xsd:restriction base="dms:Text"/>
      </xsd:simpleType>
    </xsd:element>
    <xsd:element name="LocalizationTagsTaxHTField0" ma:index="87" nillable="true" ma:taxonomy="true" ma:internalName="LocalizationTagsTaxHTField0" ma:taxonomyFieldName="LocalizationTags" ma:displayName="Localization Tags" ma:readOnly="false" ma:default="" ma:fieldId="{00f02cb3-2c7c-424a-9c61-10e9b6878429}" ma:taxonomyMulti="true" ma:sspId="8f79753a-75d3-41f5-8ca3-40b843941b4f" ma:termSetId="5b7703a5-8e8b-4b58-8b31-1cea35331da3" ma:anchorId="00000000-0000-0000-0000-000000000000" ma:open="false" ma:isKeyword="false">
      <xsd:complexType>
        <xsd:sequence>
          <xsd:element ref="pc:Terms" minOccurs="0" maxOccurs="1"/>
        </xsd:sequence>
      </xsd:complexType>
    </xsd:element>
    <xsd:element name="MachineTranslated" ma:index="88" nillable="true" ma:displayName="Machine Translated" ma:default="" ma:internalName="MachineTranslated" ma:readOnly="false">
      <xsd:simpleType>
        <xsd:restriction base="dms:Boolean"/>
      </xsd:simpleType>
    </xsd:element>
    <xsd:element name="Manager" ma:index="89" nillable="true" ma:displayName="Manager" ma:hidden="true" ma:internalName="Manager" ma:readOnly="false">
      <xsd:simpleType>
        <xsd:restriction base="dms:Text"/>
      </xsd:simpleType>
    </xsd:element>
    <xsd:element name="Markets" ma:index="90" nillable="true" ma:displayName="Markets" ma:default="" ma:description="Leave blank to show in all markets" ma:list="{2FBD1B11-2ACE-4FDC-B5A3-635D4ADF6F1B}" ma:internalName="Markets" ma:readOnly="false" ma:showField="MarketNa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Milestone" ma:index="91" nillable="true" ma:displayName="Milestone" ma:default="" ma:internalName="Milestone" ma:readOnly="false">
      <xsd:simpleType>
        <xsd:restriction base="dms:Unknown"/>
      </xsd:simpleType>
    </xsd:element>
    <xsd:element name="TPNamespace" ma:index="94" nillable="true" ma:displayName="Namespace" ma:default="" ma:internalName="TPNamespace">
      <xsd:simpleType>
        <xsd:restriction base="dms:Text"/>
      </xsd:simpleType>
    </xsd:element>
    <xsd:element name="NumericId" ma:index="95" nillable="true" ma:displayName="Numeric ID" ma:default="" ma:indexed="true" ma:internalName="NumericId" ma:readOnly="false">
      <xsd:simpleType>
        <xsd:restriction base="dms:Number"/>
      </xsd:simpleType>
    </xsd:element>
    <xsd:element name="NumOfRatingsLookup" ma:index="96" nillable="true" ma:displayName="NumOfRatings" ma:default="" ma:list="{9E343742-310B-4684-A24C-1D137CB4B230}" ma:internalName="NumOfRatingsLookup" ma:readOnly="true" ma:showField="NumOfRating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OOCacheId" ma:index="97" nillable="true" ma:displayName="OOCacheId" ma:internalName="OOCacheId" ma:readOnly="false">
      <xsd:simpleType>
        <xsd:restriction base="dms:Text"/>
      </xsd:simpleType>
    </xsd:element>
    <xsd:element name="OpenTemplate" ma:index="98" nillable="true" ma:displayName="Open Template" ma:default="true" ma:internalName="OpenTemplate">
      <xsd:simpleType>
        <xsd:restriction base="dms:Boolean"/>
      </xsd:simpleType>
    </xsd:element>
    <xsd:element name="OriginAsset" ma:index="99" nillable="true" ma:displayName="Origin Asset" ma:default="" ma:internalName="OriginAsset" ma:readOnly="false">
      <xsd:simpleType>
        <xsd:restriction base="dms:Text"/>
      </xsd:simpleType>
    </xsd:element>
    <xsd:element name="OriginalRelease" ma:index="100" nillable="true" ma:displayName="Original Release" ma:default="15" ma:internalName="OriginalRelease" ma:readOnly="false">
      <xsd:simpleType>
        <xsd:restriction base="dms:Choice">
          <xsd:enumeration value="14"/>
          <xsd:enumeration value="15"/>
          <xsd:enumeration value="16"/>
        </xsd:restriction>
      </xsd:simpleType>
    </xsd:element>
    <xsd:element name="OriginalSourceMarket" ma:index="101" nillable="true" ma:displayName="Original Source Market Group" ma:default="" ma:internalName="OriginalSourceMarket" ma:readOnly="false">
      <xsd:simpleType>
        <xsd:restriction base="dms:Text"/>
      </xsd:simpleType>
    </xsd:element>
    <xsd:element name="OutputCachingOn" ma:index="102" nillable="true" ma:displayName="Output Caching" ma:default="true" ma:hidden="true" ma:internalName="OutputCachingOn" ma:readOnly="false">
      <xsd:simpleType>
        <xsd:restriction base="dms:Boolean"/>
      </xsd:simpleType>
    </xsd:element>
    <xsd:element name="ParentAssetId" ma:index="103" nillable="true" ma:displayName="Parent Asset Id" ma:default="" ma:internalName="ParentAssetId" ma:readOnly="false">
      <xsd:simpleType>
        <xsd:restriction base="dms:Text"/>
      </xsd:simpleType>
    </xsd:element>
    <xsd:element name="PlannedPubDate" ma:index="104" nillable="true" ma:displayName="Planned Publish Date" ma:default="" ma:indexed="true" ma:internalName="PlannedPubDate" ma:readOnly="false">
      <xsd:simpleType>
        <xsd:restriction base="dms:DateTime"/>
      </xsd:simpleType>
    </xsd:element>
    <xsd:element name="PolicheckWords" ma:index="105" nillable="true" ma:displayName="Policheck Words" ma:default="" ma:internalName="PolicheckWords" ma:readOnly="false">
      <xsd:simpleType>
        <xsd:restriction base="dms:Text"/>
      </xsd:simpleType>
    </xsd:element>
    <xsd:element name="BusinessGroup" ma:index="106" nillable="true" ma:displayName="Product Division Owner" ma:default="" ma:internalName="BusinessGroup" ma:readOnly="false">
      <xsd:simpleType>
        <xsd:restriction base="dms:Unknown"/>
      </xsd:simpleType>
    </xsd:element>
    <xsd:element name="UAProjectedTotalWords" ma:index="107" nillable="true" ma:displayName="Projected Word Count" ma:default="" ma:internalName="UAProjectedTotalWords" ma:readOnly="false">
      <xsd:simpleType>
        <xsd:restriction base="dms:Unknown"/>
      </xsd:simpleType>
    </xsd:element>
    <xsd:element name="Provider" ma:index="108" nillable="true" ma:displayName="Provider" ma:default="" ma:internalName="Provider" ma:readOnly="false">
      <xsd:simpleType>
        <xsd:restriction base="dms:Unknown"/>
      </xsd:simpleType>
    </xsd:element>
    <xsd:element name="Providers" ma:index="109" nillable="true" ma:displayName="Providers" ma:default="" ma:internalName="Providers">
      <xsd:simpleType>
        <xsd:restriction base="dms:Unknown"/>
      </xsd:simpleType>
    </xsd:element>
    <xsd:element name="PublishStatusLookup" ma:index="110" nillable="true" ma:displayName="Publish Status" ma:default="" ma:list="{9E343742-310B-4684-A24C-1D137CB4B230}" ma:internalName="PublishStatusLookup" ma:readOnly="false" ma:showField="PublishStatu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PublishTargets" ma:index="111" nillable="true" ma:displayName="Publish Target" ma:default="OfficeOnlineVNext" ma:internalName="PublishTargets" ma:readOnly="false">
      <xsd:simpleType>
        <xsd:restriction base="dms:Unknown"/>
      </xsd:simpleType>
    </xsd:element>
    <xsd:element name="RecommendationsModifier" ma:index="112" nillable="true" ma:displayName="Recommendations Modifier" ma:default="" ma:internalName="RecommendationsModifier" ma:readOnly="false">
      <xsd:simpleType>
        <xsd:restriction base="dms:Number"/>
      </xsd:simpleType>
    </xsd:element>
    <xsd:element name="ArtSampleDocs" ma:index="113" nillable="true" ma:displayName="Sample Docs" ma:default="" ma:hidden="true" ma:internalName="ArtSampleDocs" ma:readOnly="false">
      <xsd:simpleType>
        <xsd:restriction base="dms:Text"/>
      </xsd:simpleType>
    </xsd:element>
    <xsd:element name="ScenarioTagsTaxHTField0" ma:index="115" nillable="true" ma:taxonomy="true" ma:internalName="ScenarioTagsTaxHTField0" ma:taxonomyFieldName="ScenarioTags" ma:displayName="Scenarios" ma:readOnly="false" ma:default="" ma:fieldId="{93aef74d-6c78-4815-8310-51477dceeccc}" ma:taxonomyMulti="true" ma:sspId="8f79753a-75d3-41f5-8ca3-40b843941b4f" ma:termSetId="4b7d5f16-e2f2-4fc0-bab3-6e8b931e57d6" ma:anchorId="00000000-0000-0000-0000-000000000000" ma:open="false" ma:isKeyword="false">
      <xsd:complexType>
        <xsd:sequence>
          <xsd:element ref="pc:Terms" minOccurs="0" maxOccurs="1"/>
        </xsd:sequence>
      </xsd:complexType>
    </xsd:element>
    <xsd:element name="ShowIn" ma:index="117" nillable="true" ma:displayName="Show In" ma:default="Show everywhere" ma:internalName="ShowIn" ma:readOnly="false">
      <xsd:simpleType>
        <xsd:restriction base="dms:Choice">
          <xsd:enumeration value="Hide on web"/>
          <xsd:enumeration value="On Web no search"/>
          <xsd:enumeration value="Show everywhere"/>
          <xsd:enumeration value="Special use only"/>
        </xsd:restriction>
      </xsd:simpleType>
    </xsd:element>
    <xsd:element name="SourceTitle" ma:index="118" nillable="true" ma:displayName="Source Title" ma:default="" ma:indexed="true" ma:internalName="SourceTitle" ma:readOnly="false">
      <xsd:simpleType>
        <xsd:restriction base="dms:Text"/>
      </xsd:simpleType>
    </xsd:element>
    <xsd:element name="CSXSubmissionDate" ma:index="119" nillable="true" ma:displayName="Submission Date" ma:default="" ma:internalName="CSXSubmissionDate" ma:readOnly="false">
      <xsd:simpleType>
        <xsd:restriction base="dms:DateTime"/>
      </xsd:simpleType>
    </xsd:element>
    <xsd:element name="SubmitterId" ma:index="120" nillable="true" ma:displayName="Submitter ID" ma:default="" ma:internalName="SubmitterId" ma:readOnly="false">
      <xsd:simpleType>
        <xsd:restriction base="dms:Text"/>
      </xsd:simpleType>
    </xsd:element>
    <xsd:element name="TaxCatchAll" ma:index="121" nillable="true" ma:displayName="Taxonomy Catch All Column" ma:hidden="true" ma:list="{530f955b-6704-4601-bd83-f81d87f1e440}" ma:internalName="TaxCatchAll" ma:showField="CatchAllData"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axCatchAllLabel" ma:index="122" nillable="true" ma:displayName="Taxonomy Catch All Column1" ma:hidden="true" ma:list="{530f955b-6704-4601-bd83-f81d87f1e440}" ma:internalName="TaxCatchAllLabel" ma:readOnly="true" ma:showField="CatchAllDataLabel"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emplateStatus" ma:index="123" nillable="true" ma:displayName="Template Status" ma:default="" ma:internalName="TemplateStatus">
      <xsd:simpleType>
        <xsd:restriction base="dms:Unknown"/>
      </xsd:simpleType>
    </xsd:element>
    <xsd:element name="TemplateTemplateType" ma:index="124" nillable="true" ma:displayName="Template Type" ma:default="" ma:internalName="TemplateTemplateType">
      <xsd:simpleType>
        <xsd:restriction base="dms:Unknown"/>
      </xsd:simpleType>
    </xsd:element>
    <xsd:element name="ThumbnailAssetId" ma:index="125" nillable="true" ma:displayName="Thumbnail Image Asset" ma:default="" ma:internalName="ThumbnailAssetId" ma:readOnly="false">
      <xsd:simpleType>
        <xsd:restriction base="dms:Text"/>
      </xsd:simpleType>
    </xsd:element>
    <xsd:element name="TimesCloned" ma:index="126" nillable="true" ma:displayName="Times Cloned" ma:default="" ma:internalName="TimesCloned" ma:readOnly="false">
      <xsd:simpleType>
        <xsd:restriction base="dms:Number"/>
      </xsd:simpleType>
    </xsd:element>
    <xsd:element name="TrustLevel" ma:index="128" nillable="true" ma:displayName="Trust Level" ma:default="1 Microsoft Managed Content" ma:internalName="TrustLevel" ma:readOnly="false">
      <xsd:simpleType>
        <xsd:restriction base="dms:Unknown"/>
      </xsd:simpleType>
    </xsd:element>
    <xsd:element name="UALocComments" ma:index="129" nillable="true" ma:displayName="UA Loc Comments" ma:default="" ma:internalName="UALocComments" ma:readOnly="false">
      <xsd:simpleType>
        <xsd:restriction base="dms:Note"/>
      </xsd:simpleType>
    </xsd:element>
    <xsd:element name="UALocRecommendation" ma:index="130" nillable="true" ma:displayName="UA Loc Recommendation" ma:default="Localize" ma:internalName="UALocRecommendation" ma:readOnly="false">
      <xsd:simpleType>
        <xsd:restriction base="dms:Choice">
          <xsd:enumeration value="Localize"/>
          <xsd:enumeration value="Never Localize"/>
          <xsd:enumeration value="Priority Localize"/>
        </xsd:restriction>
      </xsd:simpleType>
    </xsd:element>
    <xsd:element name="UANotes" ma:index="131" nillable="true" ma:displayName="UA Notes" ma:default="" ma:internalName="UANotes" ma:readOnly="false">
      <xsd:simpleType>
        <xsd:restriction base="dms:Note"/>
      </xsd:simpleType>
    </xsd:element>
    <xsd:element name="TPAppVersion" ma:index="132" nillable="true" ma:displayName="Version" ma:default="" ma:internalName="TPAppVersion">
      <xsd:simpleType>
        <xsd:restriction base="dms:Text"/>
      </xsd:simpleType>
    </xsd:element>
    <xsd:element name="VoteCount" ma:index="133" nillable="true" ma:displayName="Vote Count" ma:default="" ma:internalName="VoteCount" ma:readOnly="fals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22" ma:displayName="Content Type"/>
        <xsd:element ref="dc:title" minOccurs="0" maxOccurs="1" ma:index="12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61E720F-F05D-4536-9C34-0CFCED65D3B7}">
  <ds:schemaRefs>
    <ds:schemaRef ds:uri="http://schemas.microsoft.com/sharepoint/v3/contenttype/forms"/>
  </ds:schemaRefs>
</ds:datastoreItem>
</file>

<file path=customXml/itemProps2.xml><?xml version="1.0" encoding="utf-8"?>
<ds:datastoreItem xmlns:ds="http://schemas.openxmlformats.org/officeDocument/2006/customXml" ds:itemID="{8CDDBB83-77C1-4099-A0AA-289882E745E2}">
  <ds:schemaRefs>
    <ds:schemaRef ds:uri="http://purl.org/dc/terms/"/>
    <ds:schemaRef ds:uri="http://purl.org/dc/dcmitype/"/>
    <ds:schemaRef ds:uri="http://www.w3.org/XML/1998/namespace"/>
    <ds:schemaRef ds:uri="http://purl.org/dc/elements/1.1/"/>
    <ds:schemaRef ds:uri="http://schemas.microsoft.com/office/infopath/2007/PartnerControls"/>
    <ds:schemaRef ds:uri="http://schemas.microsoft.com/office/2006/documentManagement/types"/>
    <ds:schemaRef ds:uri="http://schemas.openxmlformats.org/package/2006/metadata/core-properties"/>
    <ds:schemaRef ds:uri="4873beb7-5857-4685-be1f-d57550cc96cc"/>
    <ds:schemaRef ds:uri="http://schemas.microsoft.com/office/2006/metadata/properties"/>
  </ds:schemaRefs>
</ds:datastoreItem>
</file>

<file path=customXml/itemProps3.xml><?xml version="1.0" encoding="utf-8"?>
<ds:datastoreItem xmlns:ds="http://schemas.openxmlformats.org/officeDocument/2006/customXml" ds:itemID="{28C8B9CA-0273-4370-889A-FC05DA5C2FA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873beb7-5857-4685-be1f-d57550cc96c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1778</Words>
  <Application>Microsoft Office PowerPoint</Application>
  <PresentationFormat>全屏显示(4:3)</PresentationFormat>
  <Paragraphs>139</Paragraphs>
  <Slides>43</Slides>
  <Notes>1</Notes>
  <HiddenSlides>0</HiddenSlides>
  <MMClips>0</MMClips>
  <ScaleCrop>false</ScaleCrop>
  <HeadingPairs>
    <vt:vector size="8" baseType="variant">
      <vt:variant>
        <vt:lpstr>已用的字体</vt:lpstr>
      </vt:variant>
      <vt:variant>
        <vt:i4>4</vt:i4>
      </vt:variant>
      <vt:variant>
        <vt:lpstr>主题</vt:lpstr>
      </vt:variant>
      <vt:variant>
        <vt:i4>1</vt:i4>
      </vt:variant>
      <vt:variant>
        <vt:lpstr>嵌入 OLE 服务器</vt:lpstr>
      </vt:variant>
      <vt:variant>
        <vt:i4>1</vt:i4>
      </vt:variant>
      <vt:variant>
        <vt:lpstr>幻灯片标题</vt:lpstr>
      </vt:variant>
      <vt:variant>
        <vt:i4>43</vt:i4>
      </vt:variant>
    </vt:vector>
  </HeadingPairs>
  <TitlesOfParts>
    <vt:vector size="49" baseType="lpstr">
      <vt:lpstr>Euphemia</vt:lpstr>
      <vt:lpstr>微软雅黑</vt:lpstr>
      <vt:lpstr>Arial</vt:lpstr>
      <vt:lpstr>Wingdings</vt:lpstr>
      <vt:lpstr>学术文献 16x9</vt:lpstr>
      <vt:lpstr>Equation</vt:lpstr>
      <vt:lpstr>Compilers</vt:lpstr>
      <vt:lpstr>Syntax-Directed Translation</vt:lpstr>
      <vt:lpstr>Outlines</vt:lpstr>
      <vt:lpstr>6.1 Introduction</vt:lpstr>
      <vt:lpstr>6.1 Introduction</vt:lpstr>
      <vt:lpstr>6.2 Syntax-Directed Definitions</vt:lpstr>
      <vt:lpstr>6.2 Syntax-Directed Definitions - Inherited and Synthesized Attributes</vt:lpstr>
      <vt:lpstr>6.2 Syntax-Directed Definitions - Inherited and Synthesized Attributes</vt:lpstr>
      <vt:lpstr>6.2 Syntax-Directed Definitions - Inherited and Synthesized Attributes</vt:lpstr>
      <vt:lpstr>6.2 Syntax-Directed Definitions - Inherited and Synthesized Attributes</vt:lpstr>
      <vt:lpstr>6.2 Syntax-Directed Definitions - Inherited and Synthesized Attributes</vt:lpstr>
      <vt:lpstr>6.2 Syntax-Directed Definitions - Inherited and Synthesized Attributes</vt:lpstr>
      <vt:lpstr>6.2 Syntax-Directed Definitions - Inherited and Synthesized Attributes</vt:lpstr>
      <vt:lpstr>6.3 Evaluation Orders for SDD 's - Dependency Graphs</vt:lpstr>
      <vt:lpstr>6.3 Evaluation Orders for SDD 's - Dependency Graphs</vt:lpstr>
      <vt:lpstr>6.3 Evaluation Orders for SDD 's - Dependency Graphs</vt:lpstr>
      <vt:lpstr>6.3 Evaluation Orders for SDD 's - S-Attributed Definitions</vt:lpstr>
      <vt:lpstr>6.3 Evaluation Orders for SDD 's - L-Attributed Definitions</vt:lpstr>
      <vt:lpstr>6.3 Evaluation Orders for SDD 's - L-Attributed Definitions</vt:lpstr>
      <vt:lpstr>6.3 Evaluation Orders for SDD 's - Semantic Rules with Controlled Side Effects</vt:lpstr>
      <vt:lpstr>6.3 Evaluation Orders for SDD 's - Semantic Rules with Controlled Side Effects</vt:lpstr>
      <vt:lpstr>6.3 Evaluation Orders for SDD 's - Semantic Rules with Controlled Side Effects</vt:lpstr>
      <vt:lpstr>6.4 Applications of Syntax-Directed Translation</vt:lpstr>
      <vt:lpstr>6.4 Applications of Syntax-Directed Translation</vt:lpstr>
      <vt:lpstr>6.4 Applications of Syntax-Directed Translation</vt:lpstr>
      <vt:lpstr>6.4 Applications of Syntax-Directed Translation</vt:lpstr>
      <vt:lpstr>6.4 Applications of Syntax-Directed Translation</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Schemes-Left Recursion</vt:lpstr>
      <vt:lpstr>6.5 Syntax-Directed Translation Schemes</vt:lpstr>
      <vt:lpstr>6.5 Syntax-Directed Translation Schemes</vt:lpstr>
      <vt:lpstr>6.5 Syntax-Directed Translation Schemes</vt:lpstr>
      <vt:lpstr>6.5 Syntax-Directed Translation Schemes</vt:lpstr>
      <vt:lpstr>6.5 Syntax-Directed Translation Schemes</vt:lpstr>
      <vt:lpstr>6.5 Syntax-Directed Translation Schemes</vt:lpstr>
      <vt:lpstr>Homework 6</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2017-04-09T02:54:44Z</dcterms:created>
  <dcterms:modified xsi:type="dcterms:W3CDTF">2020-05-04T06:50:44Z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0x0101006EDDDB5EE6D98C44930B742096920B300400F5B6D36B3EF94B4E9A635CDF2A18F5B8</vt:lpwstr>
  </property>
  <property fmtid="{D5CDD505-2E9C-101B-9397-08002B2CF9AE}" pid="3" name="InternalTags">
    <vt:lpwstr/>
  </property>
  <property fmtid="{D5CDD505-2E9C-101B-9397-08002B2CF9AE}" pid="4" name="FeatureTags">
    <vt:lpwstr/>
  </property>
  <property fmtid="{D5CDD505-2E9C-101B-9397-08002B2CF9AE}" pid="5" name="LocalizationTags">
    <vt:lpwstr/>
  </property>
  <property fmtid="{D5CDD505-2E9C-101B-9397-08002B2CF9AE}" pid="6" name="ScenarioTags">
    <vt:lpwstr/>
  </property>
  <property fmtid="{D5CDD505-2E9C-101B-9397-08002B2CF9AE}" pid="7" name="CampaignTags">
    <vt:lpwstr/>
  </property>
</Properties>
</file>