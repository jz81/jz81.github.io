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1" r:id="rId6"/>
    <p:sldId id="273" r:id="rId7"/>
    <p:sldId id="274" r:id="rId8"/>
    <p:sldId id="281" r:id="rId9"/>
    <p:sldId id="275" r:id="rId10"/>
    <p:sldId id="284" r:id="rId11"/>
    <p:sldId id="277" r:id="rId12"/>
    <p:sldId id="285" r:id="rId13"/>
    <p:sldId id="278" r:id="rId14"/>
    <p:sldId id="280" r:id="rId15"/>
  </p:sldIdLst>
  <p:sldSz cx="9144000" cy="6858000" type="screen4x3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43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2020/4/3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49057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7572375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4" y="4511785"/>
            <a:ext cx="7572376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/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3334" y="0"/>
            <a:ext cx="1310643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1"/>
            <a:ext cx="9144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1"/>
            <a:ext cx="9144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135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675" y="2292095"/>
            <a:ext cx="4300538" cy="2219691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28675" y="4511785"/>
            <a:ext cx="4300538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ctr" rtl="0">
              <a:buNone/>
              <a:defRPr sz="1500"/>
            </a:lvl2pPr>
            <a:lvl3pPr marL="685800" indent="0" algn="ctr" rtl="0">
              <a:buNone/>
              <a:defRPr sz="1350"/>
            </a:lvl3pPr>
            <a:lvl4pPr marL="1028700" indent="0" algn="ctr" rtl="0">
              <a:buNone/>
              <a:defRPr sz="1200"/>
            </a:lvl4pPr>
            <a:lvl5pPr marL="1371600" indent="0" algn="ctr" rtl="0">
              <a:buNone/>
              <a:defRPr sz="1200"/>
            </a:lvl5pPr>
            <a:lvl6pPr marL="1714500" indent="0" algn="ctr" rtl="0">
              <a:buNone/>
              <a:defRPr sz="1200"/>
            </a:lvl6pPr>
            <a:lvl7pPr marL="2057400" indent="0" algn="ctr" rtl="0">
              <a:buNone/>
              <a:defRPr sz="1200"/>
            </a:lvl7pPr>
            <a:lvl8pPr marL="2400300" indent="0" algn="ctr" rtl="0">
              <a:buNone/>
              <a:defRPr sz="1200"/>
            </a:lvl8pPr>
            <a:lvl9pPr marL="2743200" indent="0" algn="ctr" rtl="0">
              <a:buNone/>
              <a:defRPr sz="1200"/>
            </a:lvl9pPr>
          </a:lstStyle>
          <a:p>
            <a:pPr rtl="0"/>
            <a:r>
              <a:rPr lang="zh-CN" altLang="en-US" noProof="0"/>
              <a:t>单击以编辑母版副标题样式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410" y="0"/>
            <a:ext cx="1310643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235798" y="1310656"/>
            <a:ext cx="3908203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9258300" y="0"/>
            <a:ext cx="97155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9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9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1"/>
            <a:ext cx="9144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sz="1350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8675" y="2971806"/>
            <a:ext cx="7553324" cy="1684150"/>
          </a:xfrm>
        </p:spPr>
        <p:txBody>
          <a:bodyPr rtlCol="0" anchor="ctr">
            <a:normAutofit/>
          </a:bodyPr>
          <a:lstStyle>
            <a:lvl1pPr algn="l" rtl="0">
              <a:defRPr sz="33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4655956"/>
            <a:ext cx="7553324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 rtl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 rtl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" y="0"/>
            <a:ext cx="1337391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8675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600201"/>
            <a:ext cx="3686175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smtClean="0"/>
              <a:pPr/>
              <a:t>2020/4/3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8675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4583" y="1600201"/>
            <a:ext cx="3689604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500" b="1"/>
            </a:lvl2pPr>
            <a:lvl3pPr marL="685800" indent="0" algn="l" rtl="0">
              <a:buNone/>
              <a:defRPr sz="1350" b="1"/>
            </a:lvl3pPr>
            <a:lvl4pPr marL="1028700" indent="0" algn="l" rtl="0">
              <a:buNone/>
              <a:defRPr sz="1200" b="1"/>
            </a:lvl4pPr>
            <a:lvl5pPr marL="1371600" indent="0" algn="l" rtl="0">
              <a:buNone/>
              <a:defRPr sz="1200" b="1"/>
            </a:lvl5pPr>
            <a:lvl6pPr marL="1714500" indent="0" algn="l" rtl="0">
              <a:buNone/>
              <a:defRPr sz="1200" b="1"/>
            </a:lvl6pPr>
            <a:lvl7pPr marL="2057400" indent="0" algn="l" rtl="0">
              <a:buNone/>
              <a:defRPr sz="1200" b="1"/>
            </a:lvl7pPr>
            <a:lvl8pPr marL="2400300" indent="0" algn="l" rtl="0">
              <a:buNone/>
              <a:defRPr sz="1200" b="1"/>
            </a:lvl8pPr>
            <a:lvl9pPr marL="2743200" indent="0" algn="l" rtl="0">
              <a:buNone/>
              <a:defRPr sz="12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4583" y="2424112"/>
            <a:ext cx="3689604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31386" y="1600200"/>
            <a:ext cx="4083939" cy="4572001"/>
          </a:xfrm>
        </p:spPr>
        <p:txBody>
          <a:bodyPr rtlCol="0">
            <a:normAutofit/>
          </a:bodyPr>
          <a:lstStyle>
            <a:lvl1pPr algn="l" rtl="0">
              <a:defRPr sz="1500"/>
            </a:lvl1pPr>
            <a:lvl2pPr algn="l" rtl="0">
              <a:defRPr sz="1200"/>
            </a:lvl2pPr>
            <a:lvl3pPr algn="l" rtl="0">
              <a:defRPr sz="1200"/>
            </a:lvl3pPr>
            <a:lvl4pPr algn="l" rtl="0">
              <a:defRPr sz="1050"/>
            </a:lvl4pPr>
            <a:lvl5pPr algn="l" rtl="0">
              <a:defRPr sz="1050"/>
            </a:lvl5pPr>
            <a:lvl6pPr algn="l" rtl="0">
              <a:defRPr sz="1050"/>
            </a:lvl6pPr>
            <a:lvl7pPr algn="l" rtl="0">
              <a:defRPr sz="1050"/>
            </a:lvl7pPr>
            <a:lvl8pPr algn="l" rtl="0">
              <a:defRPr sz="1050"/>
            </a:lvl8pPr>
            <a:lvl9pPr algn="l" rtl="0">
              <a:defRPr sz="10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3288411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/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91003" y="1600200"/>
            <a:ext cx="4823184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15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2100"/>
            </a:lvl2pPr>
            <a:lvl3pPr marL="685800" indent="0" algn="l" rtl="0">
              <a:buNone/>
              <a:defRPr sz="1800"/>
            </a:lvl3pPr>
            <a:lvl4pPr marL="1028700" indent="0" algn="l" rtl="0">
              <a:buNone/>
              <a:defRPr sz="1500"/>
            </a:lvl4pPr>
            <a:lvl5pPr marL="1371600" indent="0" algn="l" rtl="0">
              <a:buNone/>
              <a:defRPr sz="1500"/>
            </a:lvl5pPr>
            <a:lvl6pPr marL="1714500" indent="0" algn="l" rtl="0">
              <a:buNone/>
              <a:defRPr sz="1500"/>
            </a:lvl6pPr>
            <a:lvl7pPr marL="2057400" indent="0" algn="l" rtl="0">
              <a:buNone/>
              <a:defRPr sz="1500"/>
            </a:lvl7pPr>
            <a:lvl8pPr marL="2400300" indent="0" algn="l" rtl="0">
              <a:buNone/>
              <a:defRPr sz="1500"/>
            </a:lvl8pPr>
            <a:lvl9pPr marL="2743200" indent="0" algn="l" rtl="0">
              <a:buNone/>
              <a:defRPr sz="15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28675" y="1600200"/>
            <a:ext cx="2547747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900"/>
              </a:spcBef>
              <a:buNone/>
              <a:defRPr sz="135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indent="0" algn="l" rtl="0">
              <a:buNone/>
              <a:defRPr sz="1050"/>
            </a:lvl2pPr>
            <a:lvl3pPr marL="685800" indent="0" algn="l" rtl="0">
              <a:buNone/>
              <a:defRPr sz="900"/>
            </a:lvl3pPr>
            <a:lvl4pPr marL="1028700" indent="0" algn="l" rtl="0">
              <a:buNone/>
              <a:defRPr sz="750"/>
            </a:lvl4pPr>
            <a:lvl5pPr marL="1371600" indent="0" algn="l" rtl="0">
              <a:buNone/>
              <a:defRPr sz="750"/>
            </a:lvl5pPr>
            <a:lvl6pPr marL="1714500" indent="0" algn="l" rtl="0">
              <a:buNone/>
              <a:defRPr sz="750"/>
            </a:lvl6pPr>
            <a:lvl7pPr marL="2057400" indent="0" algn="l" rtl="0">
              <a:buNone/>
              <a:defRPr sz="750"/>
            </a:lvl7pPr>
            <a:lvl8pPr marL="2400300" indent="0" algn="l" rtl="0">
              <a:buNone/>
              <a:defRPr sz="750"/>
            </a:lvl8pPr>
            <a:lvl9pPr marL="2743200" indent="0" algn="l" rtl="0">
              <a:buNone/>
              <a:defRPr sz="75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2020/4/3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7029450" y="365125"/>
            <a:ext cx="1285875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8675" y="365125"/>
            <a:ext cx="6074172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2020/4/3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4181447" y="3239394"/>
            <a:ext cx="5632704" cy="63302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28675" y="76200"/>
            <a:ext cx="748551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28675" y="1600200"/>
            <a:ext cx="748665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8675" y="6356352"/>
            <a:ext cx="137216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smtClean="0"/>
              <a:pPr/>
              <a:t>2020/4/3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00844" y="6356350"/>
            <a:ext cx="474231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42587" y="6356352"/>
            <a:ext cx="13716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9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827532" y="1219202"/>
            <a:ext cx="7488936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1350"/>
        </a:spcBef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450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§"/>
        <a:defRPr sz="10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2" userDrawn="1">
          <p15:clr>
            <a:srgbClr val="F26B43"/>
          </p15:clr>
        </p15:guide>
        <p15:guide id="2" pos="5238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ang@njus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457200" y="2576321"/>
            <a:ext cx="4672013" cy="1664768"/>
          </a:xfrm>
        </p:spPr>
        <p:txBody>
          <a:bodyPr rtlCol="0" anchor="ctr"/>
          <a:lstStyle/>
          <a:p>
            <a:pPr rtl="0"/>
            <a:r>
              <a:rPr lang="en-US" altLang="zh-CN" dirty="0"/>
              <a:t>Compiling METHOD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350615" y="3879543"/>
            <a:ext cx="4300538" cy="1639717"/>
          </a:xfrm>
        </p:spPr>
        <p:txBody>
          <a:bodyPr rtlCol="0">
            <a:normAutofit lnSpcReduction="10000"/>
          </a:bodyPr>
          <a:lstStyle/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Taught by </a:t>
            </a: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Jing Zhang</a:t>
            </a: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ctr" rt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jzhang@njust.edu.cn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ctr" rtl="0"/>
            <a:r>
              <a:rPr lang="en-US" sz="2000" dirty="0"/>
              <a:t>http:// jz81.github.io</a:t>
            </a:r>
          </a:p>
          <a:p>
            <a:pPr algn="ctr" rtl="0"/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 title="示例图片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5" r="88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Basic Elements of programming Languages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Evolution of Programming Languages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000" dirty="0"/>
              <a:t>First-generation language</a:t>
            </a:r>
          </a:p>
          <a:p>
            <a:pPr lvl="1"/>
            <a:r>
              <a:rPr lang="en-US" altLang="zh-CN" sz="1700" dirty="0"/>
              <a:t>Machine language</a:t>
            </a:r>
          </a:p>
          <a:p>
            <a:r>
              <a:rPr lang="en-US" altLang="zh-CN" sz="2000" dirty="0"/>
              <a:t>Early 1950’s, Second-generation language - mnemonic assembly language</a:t>
            </a:r>
          </a:p>
          <a:p>
            <a:pPr lvl="1"/>
            <a:r>
              <a:rPr lang="en-US" altLang="zh-CN" sz="1700" dirty="0"/>
              <a:t>Mnemonic representations of machine instructions</a:t>
            </a:r>
          </a:p>
          <a:p>
            <a:r>
              <a:rPr lang="en-US" altLang="zh-CN" sz="2000" dirty="0"/>
              <a:t>Latter half of the 1950’s, Third-generation language – higher-level language</a:t>
            </a:r>
          </a:p>
          <a:p>
            <a:pPr lvl="1"/>
            <a:r>
              <a:rPr lang="en-US" altLang="zh-CN" sz="1700" dirty="0"/>
              <a:t>Fortran (scientific computation)</a:t>
            </a:r>
          </a:p>
          <a:p>
            <a:pPr lvl="1"/>
            <a:r>
              <a:rPr lang="en-US" altLang="zh-CN" sz="1700" dirty="0"/>
              <a:t>Cobol (business data processing)</a:t>
            </a:r>
          </a:p>
          <a:p>
            <a:pPr lvl="1"/>
            <a:r>
              <a:rPr lang="en-US" altLang="zh-CN" sz="1700" dirty="0"/>
              <a:t>Lisp (symbolic computation)</a:t>
            </a:r>
          </a:p>
          <a:p>
            <a:pPr lvl="1"/>
            <a:r>
              <a:rPr lang="en-US" altLang="zh-CN" sz="1700" dirty="0"/>
              <a:t>Object-oriented language (C++, Java)</a:t>
            </a:r>
          </a:p>
          <a:p>
            <a:r>
              <a:rPr lang="en-US" altLang="zh-CN" sz="2000" dirty="0"/>
              <a:t>Fourth-generation language (for specific application)</a:t>
            </a:r>
          </a:p>
          <a:p>
            <a:pPr lvl="1"/>
            <a:r>
              <a:rPr lang="en-US" altLang="zh-CN" sz="1700" dirty="0"/>
              <a:t>SQL for database, Postscript for text formatting</a:t>
            </a:r>
          </a:p>
          <a:p>
            <a:r>
              <a:rPr lang="en-US" altLang="zh-CN" sz="2000" dirty="0"/>
              <a:t>Fifth-generation </a:t>
            </a:r>
          </a:p>
          <a:p>
            <a:pPr lvl="1"/>
            <a:r>
              <a:rPr lang="en-US" altLang="zh-CN" sz="1700" dirty="0"/>
              <a:t>Logic- and constraint-based languages, Prolog</a:t>
            </a:r>
            <a:endParaRPr lang="zh-CN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32001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Some Classifications of Programming Languages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Imperative language</a:t>
            </a:r>
          </a:p>
          <a:p>
            <a:pPr lvl="1"/>
            <a:r>
              <a:rPr lang="en-US" altLang="zh-CN" sz="1700" dirty="0"/>
              <a:t>A program specifies how a computation is to be done</a:t>
            </a:r>
          </a:p>
          <a:p>
            <a:pPr lvl="1"/>
            <a:r>
              <a:rPr lang="en-US" altLang="zh-CN" sz="1700" dirty="0"/>
              <a:t>C, C++, C#, Java</a:t>
            </a:r>
          </a:p>
          <a:p>
            <a:r>
              <a:rPr lang="en-US" altLang="zh-CN" sz="2000" dirty="0"/>
              <a:t>Declarative language</a:t>
            </a:r>
          </a:p>
          <a:p>
            <a:pPr lvl="1"/>
            <a:r>
              <a:rPr lang="en-US" altLang="zh-CN" sz="1700" dirty="0"/>
              <a:t>A program specifies what computation is to be done</a:t>
            </a:r>
            <a:endParaRPr lang="en-US" altLang="zh-CN" sz="1550" dirty="0"/>
          </a:p>
          <a:p>
            <a:pPr lvl="1"/>
            <a:r>
              <a:rPr lang="en-US" altLang="zh-CN" sz="1550" dirty="0"/>
              <a:t>Functional language such as ML and Haskell</a:t>
            </a:r>
            <a:endParaRPr lang="en-US" altLang="zh-CN" sz="1700" dirty="0"/>
          </a:p>
          <a:p>
            <a:endParaRPr lang="en-US" altLang="zh-CN" sz="2000" dirty="0"/>
          </a:p>
          <a:p>
            <a:r>
              <a:rPr lang="en-US" altLang="zh-CN" sz="2000" dirty="0"/>
              <a:t>Object-oriented language is one that support object-oriented programming</a:t>
            </a:r>
          </a:p>
          <a:p>
            <a:r>
              <a:rPr lang="en-US" altLang="zh-CN" sz="2000" dirty="0"/>
              <a:t>Scripting languages are interpreted languages with high-level operators designed for “gluing together” computations.</a:t>
            </a:r>
          </a:p>
          <a:p>
            <a:pPr lvl="1"/>
            <a:r>
              <a:rPr lang="en-US" altLang="zh-CN" sz="1700" dirty="0" err="1"/>
              <a:t>Awk</a:t>
            </a:r>
            <a:r>
              <a:rPr lang="en-US" altLang="zh-CN" sz="1700" dirty="0"/>
              <a:t>, JavaScript, Perl, PHP, Python, Ruby and </a:t>
            </a:r>
            <a:r>
              <a:rPr lang="en-US" altLang="zh-CN" sz="1700" dirty="0" err="1"/>
              <a:t>Tcl</a:t>
            </a:r>
            <a:endParaRPr lang="en-US" altLang="zh-CN" sz="1700" dirty="0"/>
          </a:p>
        </p:txBody>
      </p:sp>
    </p:spTree>
    <p:extLst>
      <p:ext uri="{BB962C8B-B14F-4D97-AF65-F5344CB8AC3E}">
        <p14:creationId xmlns:p14="http://schemas.microsoft.com/office/powerpoint/2010/main" val="277334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367161"/>
            <a:ext cx="7486650" cy="4805039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2000" dirty="0"/>
              <a:t>Data Type and Operation</a:t>
            </a:r>
            <a:endParaRPr lang="en-US" altLang="zh-CN" sz="1700" dirty="0"/>
          </a:p>
          <a:p>
            <a:pPr lvl="1"/>
            <a:r>
              <a:rPr lang="en-US" altLang="zh-CN" sz="1700" dirty="0"/>
              <a:t>Numeric data type: integer, real number (float and double), complex (Operations, + - * \ %)</a:t>
            </a:r>
          </a:p>
          <a:p>
            <a:pPr lvl="1"/>
            <a:r>
              <a:rPr lang="en-US" altLang="zh-CN" sz="1700" dirty="0"/>
              <a:t>Logic data type: Boolean (Operations: and, or not)</a:t>
            </a:r>
          </a:p>
          <a:p>
            <a:pPr lvl="1"/>
            <a:r>
              <a:rPr lang="en-US" altLang="zh-CN" sz="1700" dirty="0"/>
              <a:t>Character </a:t>
            </a:r>
          </a:p>
          <a:p>
            <a:pPr lvl="1"/>
            <a:r>
              <a:rPr lang="en-US" altLang="zh-CN" sz="1700" dirty="0"/>
              <a:t>Pointer</a:t>
            </a:r>
          </a:p>
          <a:p>
            <a:r>
              <a:rPr lang="en-US" altLang="zh-CN" sz="2000" dirty="0"/>
              <a:t>Data structure</a:t>
            </a:r>
          </a:p>
          <a:p>
            <a:pPr lvl="1"/>
            <a:r>
              <a:rPr lang="en-US" altLang="zh-CN" sz="1700" dirty="0"/>
              <a:t>Array</a:t>
            </a:r>
          </a:p>
          <a:p>
            <a:pPr lvl="1"/>
            <a:r>
              <a:rPr lang="en-US" altLang="zh-CN" sz="1700" dirty="0"/>
              <a:t>Record (struct)</a:t>
            </a:r>
          </a:p>
          <a:p>
            <a:r>
              <a:rPr lang="en-US" altLang="zh-CN" sz="2000" dirty="0"/>
              <a:t>Abstract data structure</a:t>
            </a:r>
          </a:p>
          <a:p>
            <a:pPr lvl="1"/>
            <a:r>
              <a:rPr lang="en-US" altLang="zh-CN" sz="1700" dirty="0"/>
              <a:t>Class</a:t>
            </a:r>
          </a:p>
          <a:p>
            <a:r>
              <a:rPr lang="en-US" altLang="zh-CN" sz="2000" dirty="0"/>
              <a:t>Statement and control structure</a:t>
            </a:r>
          </a:p>
          <a:p>
            <a:pPr lvl="1"/>
            <a:r>
              <a:rPr lang="en-US" altLang="zh-CN" sz="1700" dirty="0"/>
              <a:t>Expression</a:t>
            </a:r>
          </a:p>
          <a:p>
            <a:pPr lvl="1"/>
            <a:r>
              <a:rPr lang="en-US" altLang="zh-CN" sz="1700" dirty="0"/>
              <a:t>Assignment statement</a:t>
            </a:r>
          </a:p>
          <a:p>
            <a:pPr lvl="1"/>
            <a:r>
              <a:rPr lang="en-US" altLang="zh-CN" sz="1700" dirty="0"/>
              <a:t>Control statement</a:t>
            </a:r>
          </a:p>
          <a:p>
            <a:pPr lvl="2"/>
            <a:r>
              <a:rPr lang="en-US" altLang="zh-CN" sz="1550" dirty="0"/>
              <a:t>If then else</a:t>
            </a:r>
          </a:p>
          <a:p>
            <a:pPr lvl="2"/>
            <a:r>
              <a:rPr lang="en-US" altLang="zh-CN" sz="1550" dirty="0"/>
              <a:t>For</a:t>
            </a:r>
          </a:p>
          <a:p>
            <a:pPr lvl="2"/>
            <a:r>
              <a:rPr lang="en-US" altLang="zh-CN" sz="1550" dirty="0"/>
              <a:t>Do while</a:t>
            </a:r>
          </a:p>
          <a:p>
            <a:pPr lvl="2"/>
            <a:r>
              <a:rPr lang="en-US" altLang="zh-CN" sz="1550" dirty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222440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The static/Dynamic Distinction</a:t>
            </a:r>
          </a:p>
          <a:p>
            <a:pPr lvl="1"/>
            <a:r>
              <a:rPr lang="en-US" altLang="zh-CN" sz="1700" dirty="0">
                <a:solidFill>
                  <a:srgbClr val="7030A0"/>
                </a:solidFill>
              </a:rPr>
              <a:t>Static policy</a:t>
            </a:r>
            <a:r>
              <a:rPr lang="en-US" altLang="zh-CN" sz="1700" dirty="0"/>
              <a:t>: the issue can be decided at </a:t>
            </a:r>
            <a:r>
              <a:rPr lang="en-US" altLang="zh-CN" sz="1700" i="1" dirty="0">
                <a:solidFill>
                  <a:srgbClr val="FF0000"/>
                </a:solidFill>
              </a:rPr>
              <a:t>compile time</a:t>
            </a:r>
            <a:r>
              <a:rPr lang="en-US" altLang="zh-CN" sz="1700" dirty="0"/>
              <a:t>;</a:t>
            </a:r>
          </a:p>
          <a:p>
            <a:pPr lvl="1"/>
            <a:r>
              <a:rPr lang="en-US" altLang="zh-CN" sz="1700" dirty="0">
                <a:solidFill>
                  <a:srgbClr val="7030A0"/>
                </a:solidFill>
              </a:rPr>
              <a:t>Dynamic policy</a:t>
            </a:r>
            <a:r>
              <a:rPr lang="en-US" altLang="zh-CN" sz="1700" dirty="0"/>
              <a:t>: the issue only can be decided at </a:t>
            </a:r>
            <a:r>
              <a:rPr lang="en-US" altLang="zh-CN" sz="1700" i="1" dirty="0">
                <a:solidFill>
                  <a:srgbClr val="FF0000"/>
                </a:solidFill>
              </a:rPr>
              <a:t>run time</a:t>
            </a:r>
            <a:r>
              <a:rPr lang="en-US" altLang="zh-CN" sz="1700" dirty="0"/>
              <a:t>.</a:t>
            </a:r>
          </a:p>
          <a:p>
            <a:pPr lvl="1"/>
            <a:r>
              <a:rPr lang="en-US" altLang="zh-CN" sz="1700" dirty="0"/>
              <a:t>Understand keyword </a:t>
            </a:r>
            <a:r>
              <a:rPr lang="en-US" altLang="zh-CN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altLang="zh-CN" sz="1700" dirty="0">
                <a:cs typeface="Courier New" panose="02070309020205020404" pitchFamily="49" charset="0"/>
              </a:rPr>
              <a:t>in some programming language</a:t>
            </a:r>
          </a:p>
          <a:p>
            <a:pPr marL="342900" lvl="1" indent="0">
              <a:buNone/>
            </a:pPr>
            <a:endParaRPr lang="en-US" altLang="zh-CN" sz="1700" dirty="0">
              <a:cs typeface="Courier New" panose="02070309020205020404" pitchFamily="49" charset="0"/>
            </a:endParaRPr>
          </a:p>
          <a:p>
            <a:r>
              <a:rPr lang="en-US" altLang="zh-CN" sz="2000" dirty="0">
                <a:cs typeface="Courier New" panose="02070309020205020404" pitchFamily="49" charset="0"/>
              </a:rPr>
              <a:t>Environments and States</a:t>
            </a:r>
          </a:p>
          <a:p>
            <a:pPr lvl="1"/>
            <a:r>
              <a:rPr lang="en-US" altLang="zh-CN" sz="1700" dirty="0">
                <a:cs typeface="Courier New" panose="02070309020205020404" pitchFamily="49" charset="0"/>
              </a:rPr>
              <a:t>The environment is a mapping form names to</a:t>
            </a:r>
            <a:r>
              <a:rPr lang="en-US" altLang="zh-CN" sz="1700" dirty="0"/>
              <a:t> locations in the store.</a:t>
            </a:r>
          </a:p>
          <a:p>
            <a:pPr marL="342900" lvl="1" indent="0">
              <a:buNone/>
            </a:pPr>
            <a:r>
              <a:rPr lang="en-US" altLang="zh-CN" sz="1700" dirty="0"/>
              <a:t>   Variables refer to locations (“l-values” in the terminology of C)</a:t>
            </a:r>
          </a:p>
          <a:p>
            <a:pPr lvl="1"/>
            <a:r>
              <a:rPr lang="en-US" altLang="zh-CN" sz="1700" dirty="0">
                <a:cs typeface="Courier New" panose="02070309020205020404" pitchFamily="49" charset="0"/>
              </a:rPr>
              <a:t>The state is a mapping from locations in store to their values.</a:t>
            </a:r>
            <a:endParaRPr lang="en-US" altLang="zh-CN" sz="1700" dirty="0"/>
          </a:p>
          <a:p>
            <a:pPr marL="342900" lvl="1" indent="0">
              <a:buNone/>
            </a:pPr>
            <a:r>
              <a:rPr lang="en-US" altLang="zh-CN" sz="1700" dirty="0">
                <a:cs typeface="Courier New" panose="02070309020205020404" pitchFamily="49" charset="0"/>
              </a:rPr>
              <a:t>   </a:t>
            </a:r>
            <a:r>
              <a:rPr lang="en-US" altLang="zh-CN" sz="1700" dirty="0" err="1">
                <a:cs typeface="Courier New" panose="02070309020205020404" pitchFamily="49" charset="0"/>
              </a:rPr>
              <a:t>r-values</a:t>
            </a:r>
            <a:endParaRPr lang="en-US" altLang="zh-CN" sz="1700" dirty="0">
              <a:cs typeface="Courier New" panose="02070309020205020404" pitchFamily="49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369" y="4804351"/>
            <a:ext cx="5254932" cy="152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8675" y="1600199"/>
            <a:ext cx="7486650" cy="4871621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 int a = 1;        /* global a */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int b = 1;       /*</a:t>
            </a:r>
            <a:r>
              <a:rPr lang="zh-CN" altLang="en-US" sz="2000" dirty="0"/>
              <a:t> </a:t>
            </a:r>
            <a:r>
              <a:rPr lang="en-US" altLang="zh-CN" sz="2000" dirty="0"/>
              <a:t>global</a:t>
            </a:r>
            <a:r>
              <a:rPr lang="zh-CN" altLang="en-US" sz="2000" dirty="0"/>
              <a:t> </a:t>
            </a:r>
            <a:r>
              <a:rPr lang="en-US" altLang="zh-CN" sz="2000" dirty="0"/>
              <a:t>b*/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int main() { 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int b  = 2;       /* local b */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{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      int a = 3;   /* local a */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&lt;&lt;a&lt;&lt;b;         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}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{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      int b = 4;   /*local b*/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 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a &lt;&lt; b;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}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       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a &lt;&lt; b;</a:t>
            </a:r>
          </a:p>
          <a:p>
            <a:pPr>
              <a:spcBef>
                <a:spcPts val="0"/>
              </a:spcBef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6509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Names, Identifiers and Variables</a:t>
            </a:r>
          </a:p>
          <a:p>
            <a:pPr lvl="1"/>
            <a:r>
              <a:rPr lang="en-US" altLang="zh-CN" sz="1600" dirty="0"/>
              <a:t>Name and variable refer to the same thing</a:t>
            </a:r>
          </a:p>
          <a:p>
            <a:pPr lvl="1"/>
            <a:r>
              <a:rPr lang="en-US" altLang="zh-CN" sz="1600" dirty="0"/>
              <a:t>We use </a:t>
            </a:r>
            <a:r>
              <a:rPr lang="en-US" altLang="zh-CN" sz="1600" dirty="0">
                <a:solidFill>
                  <a:srgbClr val="7030A0"/>
                </a:solidFill>
              </a:rPr>
              <a:t>name</a:t>
            </a:r>
            <a:r>
              <a:rPr lang="en-US" altLang="zh-CN" sz="1600" dirty="0"/>
              <a:t>  in compile-time and use </a:t>
            </a:r>
            <a:r>
              <a:rPr lang="en-US" altLang="zh-CN" sz="1600" dirty="0">
                <a:solidFill>
                  <a:srgbClr val="7030A0"/>
                </a:solidFill>
              </a:rPr>
              <a:t>variable</a:t>
            </a:r>
            <a:r>
              <a:rPr lang="en-US" altLang="zh-CN" sz="1600" dirty="0"/>
              <a:t> in run-time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Identifier is a string of characters, typically letters or digits, that refers to (identifies) an entity, such as a data object, a procedure, a class, or a type. All identifiers are names, but not all names are identifiers. Names can also be expressions. For example, the name </a:t>
            </a:r>
            <a:r>
              <a:rPr lang="en-US" altLang="zh-CN" sz="1600" i="1" dirty="0" err="1">
                <a:solidFill>
                  <a:srgbClr val="00B050"/>
                </a:solidFill>
              </a:rPr>
              <a:t>x.y</a:t>
            </a:r>
            <a:r>
              <a:rPr lang="en-US" altLang="zh-CN" sz="1600" i="1" dirty="0">
                <a:solidFill>
                  <a:srgbClr val="00B050"/>
                </a:solidFill>
              </a:rPr>
              <a:t> </a:t>
            </a:r>
            <a:r>
              <a:rPr lang="en-US" altLang="zh-CN" sz="1600" dirty="0"/>
              <a:t>might denote the field y of a structure denoted by x. Here, x and y are identifiers, while </a:t>
            </a:r>
            <a:r>
              <a:rPr lang="en-US" altLang="zh-CN" sz="1600" i="1" dirty="0" err="1">
                <a:solidFill>
                  <a:srgbClr val="00B050"/>
                </a:solidFill>
              </a:rPr>
              <a:t>x.y</a:t>
            </a:r>
            <a:r>
              <a:rPr lang="en-US" altLang="zh-CN" sz="1600" i="1" dirty="0">
                <a:solidFill>
                  <a:srgbClr val="00B050"/>
                </a:solidFill>
              </a:rPr>
              <a:t> </a:t>
            </a:r>
            <a:r>
              <a:rPr lang="en-US" altLang="zh-CN" sz="1600" dirty="0"/>
              <a:t>is a name, but not an identifier.</a:t>
            </a:r>
          </a:p>
          <a:p>
            <a:pPr>
              <a:lnSpc>
                <a:spcPct val="100000"/>
              </a:lnSpc>
            </a:pPr>
            <a:r>
              <a:rPr lang="en-US" altLang="zh-CN" sz="1900" dirty="0"/>
              <a:t>Static Scope and Block Structure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The scope rules for C are based on program structure; the scope of a declaration is determined implicitly by where the declaration appears in the program.</a:t>
            </a:r>
          </a:p>
          <a:p>
            <a:pPr lvl="1">
              <a:lnSpc>
                <a:spcPct val="100000"/>
              </a:lnSpc>
            </a:pPr>
            <a:r>
              <a:rPr lang="en-US" altLang="zh-CN" sz="1600" dirty="0"/>
              <a:t>Later languages, such as C++, Java, and C#, also provide explicit control over scopes through the use of keywords like </a:t>
            </a:r>
            <a:r>
              <a:rPr lang="en-US" altLang="zh-CN" sz="1600" b="1" dirty="0"/>
              <a:t>public</a:t>
            </a:r>
            <a:r>
              <a:rPr lang="en-US" altLang="zh-CN" sz="1600" dirty="0"/>
              <a:t>, </a:t>
            </a:r>
            <a:r>
              <a:rPr lang="en-US" altLang="zh-CN" sz="1600" b="1" dirty="0"/>
              <a:t>private</a:t>
            </a:r>
            <a:r>
              <a:rPr lang="en-US" altLang="zh-CN" sz="1600" dirty="0"/>
              <a:t>, and </a:t>
            </a:r>
            <a:r>
              <a:rPr lang="en-US" altLang="zh-CN" sz="1600" b="1" dirty="0"/>
              <a:t>protected</a:t>
            </a:r>
          </a:p>
          <a:p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223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F97D1-71B0-434B-AE99-7FB44CD12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3E2990-3FD0-4D76-BCA7-461204006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37" y="1609531"/>
            <a:ext cx="3912414" cy="347565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Main () {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int a =1;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int b =1;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{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int b= 2;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{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      int a = 3;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      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&lt;&lt;b;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}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{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    int b = 4;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    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b;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}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     </a:t>
            </a:r>
            <a:r>
              <a:rPr lang="en-US" altLang="zh-CN" dirty="0" err="1"/>
              <a:t>cout</a:t>
            </a:r>
            <a:r>
              <a:rPr lang="en-US" altLang="zh-CN" dirty="0"/>
              <a:t> &lt;&lt;a &lt;&lt; b;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    }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20FD14-8271-4DAC-B18F-307301314927}"/>
              </a:ext>
            </a:extLst>
          </p:cNvPr>
          <p:cNvSpPr/>
          <p:nvPr/>
        </p:nvSpPr>
        <p:spPr>
          <a:xfrm>
            <a:off x="1082351" y="1866122"/>
            <a:ext cx="3228392" cy="290182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5F07A6-14FC-4A60-B9E9-FF152D202178}"/>
              </a:ext>
            </a:extLst>
          </p:cNvPr>
          <p:cNvSpPr/>
          <p:nvPr/>
        </p:nvSpPr>
        <p:spPr>
          <a:xfrm>
            <a:off x="1418253" y="2425959"/>
            <a:ext cx="2780523" cy="2108719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16EA34-C4E3-4DF1-93D6-7DF9D91B5C6D}"/>
              </a:ext>
            </a:extLst>
          </p:cNvPr>
          <p:cNvSpPr/>
          <p:nvPr/>
        </p:nvSpPr>
        <p:spPr>
          <a:xfrm>
            <a:off x="1707502" y="2817844"/>
            <a:ext cx="1679510" cy="45720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496D2F-5FDB-4167-9D82-825F764CC9CB}"/>
              </a:ext>
            </a:extLst>
          </p:cNvPr>
          <p:cNvSpPr/>
          <p:nvPr/>
        </p:nvSpPr>
        <p:spPr>
          <a:xfrm>
            <a:off x="1707502" y="3657599"/>
            <a:ext cx="1679510" cy="45720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7A0B14-7162-4EF8-8A50-0A31CA0F7102}"/>
              </a:ext>
            </a:extLst>
          </p:cNvPr>
          <p:cNvSpPr txBox="1"/>
          <p:nvPr/>
        </p:nvSpPr>
        <p:spPr>
          <a:xfrm>
            <a:off x="3991027" y="186612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1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0A37C2-8BBE-4E00-8107-704C607EF806}"/>
              </a:ext>
            </a:extLst>
          </p:cNvPr>
          <p:cNvSpPr txBox="1"/>
          <p:nvPr/>
        </p:nvSpPr>
        <p:spPr>
          <a:xfrm>
            <a:off x="3831169" y="24920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2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C76A53-26B8-472D-83CD-66F7220C19B0}"/>
              </a:ext>
            </a:extLst>
          </p:cNvPr>
          <p:cNvSpPr txBox="1"/>
          <p:nvPr/>
        </p:nvSpPr>
        <p:spPr>
          <a:xfrm>
            <a:off x="3080515" y="28178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3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40B3EB-A5CD-4844-83C9-BA38CE780032}"/>
              </a:ext>
            </a:extLst>
          </p:cNvPr>
          <p:cNvSpPr txBox="1"/>
          <p:nvPr/>
        </p:nvSpPr>
        <p:spPr>
          <a:xfrm>
            <a:off x="3068336" y="36125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4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FFFBE3C5-B132-422F-A404-F65758DD9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530785"/>
              </p:ext>
            </p:extLst>
          </p:nvPr>
        </p:nvGraphicFramePr>
        <p:xfrm>
          <a:off x="4581823" y="1564191"/>
          <a:ext cx="391241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193">
                  <a:extLst>
                    <a:ext uri="{9D8B030D-6E8A-4147-A177-3AD203B41FA5}">
                      <a16:colId xmlns:a16="http://schemas.microsoft.com/office/drawing/2014/main" val="4101505211"/>
                    </a:ext>
                  </a:extLst>
                </a:gridCol>
                <a:gridCol w="1692221">
                  <a:extLst>
                    <a:ext uri="{9D8B030D-6E8A-4147-A177-3AD203B41FA5}">
                      <a16:colId xmlns:a16="http://schemas.microsoft.com/office/drawing/2014/main" val="2487662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Declaration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Scope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879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int a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88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int b =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66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int b =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4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int a =3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52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 int b= 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602416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AF5CDB63-FD57-4BFC-B36C-BD9157F874B9}"/>
              </a:ext>
            </a:extLst>
          </p:cNvPr>
          <p:cNvSpPr txBox="1"/>
          <p:nvPr/>
        </p:nvSpPr>
        <p:spPr>
          <a:xfrm>
            <a:off x="7011670" y="193454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1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8AB5B24-2C51-45BB-B7D6-11FBBAED55E8}"/>
              </a:ext>
            </a:extLst>
          </p:cNvPr>
          <p:cNvSpPr txBox="1"/>
          <p:nvPr/>
        </p:nvSpPr>
        <p:spPr>
          <a:xfrm>
            <a:off x="7011670" y="23255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1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327B24-0E9F-47B8-89EA-5D09727FA876}"/>
              </a:ext>
            </a:extLst>
          </p:cNvPr>
          <p:cNvSpPr txBox="1"/>
          <p:nvPr/>
        </p:nvSpPr>
        <p:spPr>
          <a:xfrm>
            <a:off x="7042550" y="26940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2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F1DB5F-10CF-49E6-B3E9-38A3853DADDE}"/>
              </a:ext>
            </a:extLst>
          </p:cNvPr>
          <p:cNvSpPr txBox="1"/>
          <p:nvPr/>
        </p:nvSpPr>
        <p:spPr>
          <a:xfrm>
            <a:off x="7042550" y="302945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3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44D654-F844-4363-9C97-CE54C3EE01CA}"/>
              </a:ext>
            </a:extLst>
          </p:cNvPr>
          <p:cNvSpPr txBox="1"/>
          <p:nvPr/>
        </p:nvSpPr>
        <p:spPr>
          <a:xfrm>
            <a:off x="7042550" y="34194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4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7C362E-FE75-4CC8-B32F-946E055F57FD}"/>
              </a:ext>
            </a:extLst>
          </p:cNvPr>
          <p:cNvSpPr txBox="1"/>
          <p:nvPr/>
        </p:nvSpPr>
        <p:spPr>
          <a:xfrm>
            <a:off x="7281729" y="1945320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-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557304-1241-4BE9-A7C2-B817B1405A6A}"/>
              </a:ext>
            </a:extLst>
          </p:cNvPr>
          <p:cNvSpPr txBox="1"/>
          <p:nvPr/>
        </p:nvSpPr>
        <p:spPr>
          <a:xfrm>
            <a:off x="7323235" y="2715601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-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AD3973-5D12-4E59-AD2C-814A1CCA17CF}"/>
              </a:ext>
            </a:extLst>
          </p:cNvPr>
          <p:cNvSpPr txBox="1"/>
          <p:nvPr/>
        </p:nvSpPr>
        <p:spPr>
          <a:xfrm>
            <a:off x="7302206" y="2313804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-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EDEE8D-A591-4938-8E2E-F12505C4BC07}"/>
              </a:ext>
            </a:extLst>
          </p:cNvPr>
          <p:cNvSpPr txBox="1"/>
          <p:nvPr/>
        </p:nvSpPr>
        <p:spPr>
          <a:xfrm>
            <a:off x="7472872" y="19470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3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8495F6D-9E79-483C-8525-1016AA183CCF}"/>
              </a:ext>
            </a:extLst>
          </p:cNvPr>
          <p:cNvSpPr txBox="1"/>
          <p:nvPr/>
        </p:nvSpPr>
        <p:spPr>
          <a:xfrm>
            <a:off x="7472872" y="23379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2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9B60E4-C7A5-40DD-9803-FFE06024E7D5}"/>
              </a:ext>
            </a:extLst>
          </p:cNvPr>
          <p:cNvSpPr txBox="1"/>
          <p:nvPr/>
        </p:nvSpPr>
        <p:spPr>
          <a:xfrm>
            <a:off x="7493238" y="27126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B</a:t>
            </a:r>
            <a:r>
              <a:rPr lang="en-US" altLang="zh-CN" baseline="-25000" dirty="0">
                <a:solidFill>
                  <a:srgbClr val="0070C0"/>
                </a:solidFill>
              </a:rPr>
              <a:t>4</a:t>
            </a:r>
            <a:endParaRPr lang="zh-CN" altLang="en-US" baseline="-25000" dirty="0">
              <a:solidFill>
                <a:srgbClr val="0070C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0C3F5AF-607B-4A8D-A2C4-BC8AF6DE5F42}"/>
              </a:ext>
            </a:extLst>
          </p:cNvPr>
          <p:cNvSpPr txBox="1"/>
          <p:nvPr/>
        </p:nvSpPr>
        <p:spPr>
          <a:xfrm>
            <a:off x="3080515" y="5050595"/>
            <a:ext cx="269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Blocks in a C++ </a:t>
            </a:r>
            <a:r>
              <a:rPr lang="en-US" altLang="zh-CN" dirty="0" err="1"/>
              <a:t>progam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088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Static-scope rules for a language with blocks, where block is a grouping of declaration and statement</a:t>
            </a:r>
          </a:p>
          <a:p>
            <a:r>
              <a:rPr lang="en-US" altLang="zh-CN" sz="2000" dirty="0"/>
              <a:t>Declarations and Definitions</a:t>
            </a:r>
          </a:p>
          <a:p>
            <a:pPr lvl="1"/>
            <a:r>
              <a:rPr lang="en-US" altLang="zh-CN" sz="1700" dirty="0"/>
              <a:t>Declaration tells us the type of things</a:t>
            </a:r>
          </a:p>
          <a:p>
            <a:pPr lvl="1"/>
            <a:r>
              <a:rPr lang="en-US" altLang="zh-CN" sz="1700" dirty="0"/>
              <a:t>Definition tell us about their values.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901F5C-DCEF-4CF8-AFC4-D419F39BC075}"/>
              </a:ext>
            </a:extLst>
          </p:cNvPr>
          <p:cNvSpPr txBox="1"/>
          <p:nvPr/>
        </p:nvSpPr>
        <p:spPr>
          <a:xfrm>
            <a:off x="1091680" y="3401008"/>
            <a:ext cx="298579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/* </a:t>
            </a:r>
            <a:r>
              <a:rPr lang="en-US" altLang="zh-CN" dirty="0" err="1"/>
              <a:t>func.h</a:t>
            </a:r>
            <a:r>
              <a:rPr lang="en-US" altLang="zh-CN" dirty="0"/>
              <a:t> */</a:t>
            </a:r>
          </a:p>
          <a:p>
            <a:r>
              <a:rPr lang="en-US" altLang="zh-CN" dirty="0"/>
              <a:t>char* func1(int a, float b);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081CE4-7514-44E8-9831-B2777A73C9F3}"/>
              </a:ext>
            </a:extLst>
          </p:cNvPr>
          <p:cNvSpPr txBox="1"/>
          <p:nvPr/>
        </p:nvSpPr>
        <p:spPr>
          <a:xfrm>
            <a:off x="1091680" y="4509605"/>
            <a:ext cx="298579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/* </a:t>
            </a:r>
            <a:r>
              <a:rPr lang="en-US" altLang="zh-CN" dirty="0" err="1"/>
              <a:t>func.c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char* func1(int a, float b){</a:t>
            </a:r>
          </a:p>
          <a:p>
            <a:r>
              <a:rPr lang="en-US" altLang="zh-CN" dirty="0"/>
              <a:t>    ……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ACB4A5-A69D-4C79-9564-90F975DB286E}"/>
              </a:ext>
            </a:extLst>
          </p:cNvPr>
          <p:cNvSpPr txBox="1"/>
          <p:nvPr/>
        </p:nvSpPr>
        <p:spPr>
          <a:xfrm>
            <a:off x="4703502" y="3401008"/>
            <a:ext cx="2985797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/* </a:t>
            </a:r>
            <a:r>
              <a:rPr lang="en-US" altLang="zh-CN" dirty="0" err="1"/>
              <a:t>cal.c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# include “</a:t>
            </a:r>
            <a:r>
              <a:rPr lang="en-US" altLang="zh-CN" dirty="0" err="1"/>
              <a:t>func.h</a:t>
            </a:r>
            <a:r>
              <a:rPr lang="en-US" altLang="zh-CN" dirty="0"/>
              <a:t>”</a:t>
            </a:r>
          </a:p>
          <a:p>
            <a:r>
              <a:rPr lang="en-US" altLang="zh-CN" dirty="0"/>
              <a:t>Void calculation ( ){</a:t>
            </a:r>
          </a:p>
          <a:p>
            <a:r>
              <a:rPr lang="en-US" altLang="zh-CN" dirty="0"/>
              <a:t>   char* str = NULL;</a:t>
            </a:r>
          </a:p>
          <a:p>
            <a:r>
              <a:rPr lang="en-US" altLang="zh-CN" dirty="0"/>
              <a:t>   int u= 2;</a:t>
            </a:r>
          </a:p>
          <a:p>
            <a:r>
              <a:rPr lang="en-US" altLang="zh-CN" dirty="0"/>
              <a:t>   float v= 0.5;</a:t>
            </a:r>
          </a:p>
          <a:p>
            <a:r>
              <a:rPr lang="en-US" altLang="zh-CN" dirty="0"/>
              <a:t>   str = func1(u , v);</a:t>
            </a:r>
          </a:p>
          <a:p>
            <a:r>
              <a:rPr lang="en-US" altLang="zh-CN" dirty="0"/>
              <a:t>   </a:t>
            </a:r>
            <a:r>
              <a:rPr lang="en-US" altLang="zh-CN" dirty="0" err="1"/>
              <a:t>printf</a:t>
            </a:r>
            <a:r>
              <a:rPr lang="en-US" altLang="zh-CN" dirty="0"/>
              <a:t>(“%s\n”, str);</a:t>
            </a:r>
          </a:p>
          <a:p>
            <a:r>
              <a:rPr lang="en-US" altLang="zh-CN" dirty="0"/>
              <a:t>}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7F4042-5927-4181-A743-1B4B0DF5BF3E}"/>
              </a:ext>
            </a:extLst>
          </p:cNvPr>
          <p:cNvCxnSpPr/>
          <p:nvPr/>
        </p:nvCxnSpPr>
        <p:spPr>
          <a:xfrm>
            <a:off x="2183363" y="6050902"/>
            <a:ext cx="0" cy="2264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16753AE-332C-42B3-BF54-FF940359F35F}"/>
              </a:ext>
            </a:extLst>
          </p:cNvPr>
          <p:cNvCxnSpPr/>
          <p:nvPr/>
        </p:nvCxnSpPr>
        <p:spPr>
          <a:xfrm>
            <a:off x="5993363" y="5986331"/>
            <a:ext cx="0" cy="2264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F767359-35A4-4DAB-B92C-5257B13A16ED}"/>
              </a:ext>
            </a:extLst>
          </p:cNvPr>
          <p:cNvSpPr txBox="1"/>
          <p:nvPr/>
        </p:nvSpPr>
        <p:spPr>
          <a:xfrm>
            <a:off x="1884784" y="6229906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func.o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3BF349-C4C8-4987-99FE-1061F4AC72B9}"/>
              </a:ext>
            </a:extLst>
          </p:cNvPr>
          <p:cNvSpPr txBox="1"/>
          <p:nvPr/>
        </p:nvSpPr>
        <p:spPr>
          <a:xfrm>
            <a:off x="5746945" y="6164117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cal.o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66CB32-335F-4DCF-A234-2ED635235364}"/>
              </a:ext>
            </a:extLst>
          </p:cNvPr>
          <p:cNvSpPr txBox="1"/>
          <p:nvPr/>
        </p:nvSpPr>
        <p:spPr>
          <a:xfrm>
            <a:off x="2359905" y="5979451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Compiling</a:t>
            </a:r>
            <a:endParaRPr lang="zh-CN" altLang="en-US" i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C52720-CB97-40C7-B808-9E161DC71F4F}"/>
              </a:ext>
            </a:extLst>
          </p:cNvPr>
          <p:cNvSpPr txBox="1"/>
          <p:nvPr/>
        </p:nvSpPr>
        <p:spPr>
          <a:xfrm>
            <a:off x="6085721" y="591488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Compiling</a:t>
            </a:r>
            <a:endParaRPr lang="zh-CN" altLang="en-US" i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4FDC876-864C-4D34-B581-5D02EEC0A53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713857" y="6414572"/>
            <a:ext cx="91575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B9C8D1F-F2DC-4072-BCC2-911904AFCAD5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4753759" y="6420485"/>
            <a:ext cx="99318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1D8F49A-0FF9-4CDA-A1EA-FD82DE01594C}"/>
              </a:ext>
            </a:extLst>
          </p:cNvPr>
          <p:cNvSpPr txBox="1"/>
          <p:nvPr/>
        </p:nvSpPr>
        <p:spPr>
          <a:xfrm>
            <a:off x="3629608" y="6235819"/>
            <a:ext cx="1124151" cy="36933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Linker.exe</a:t>
            </a:r>
            <a:endParaRPr lang="zh-CN" alt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8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Programming Language Basic - Parameter Passing Mechanisms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2000" dirty="0">
                <a:solidFill>
                  <a:srgbClr val="514843"/>
                </a:solidFill>
              </a:rPr>
              <a:t>How the </a:t>
            </a:r>
            <a:r>
              <a:rPr lang="en-US" altLang="zh-CN" sz="2000" dirty="0">
                <a:solidFill>
                  <a:srgbClr val="00B050"/>
                </a:solidFill>
              </a:rPr>
              <a:t>actual parameters </a:t>
            </a:r>
            <a:r>
              <a:rPr lang="en-US" altLang="zh-CN" sz="2000" dirty="0">
                <a:solidFill>
                  <a:srgbClr val="514843"/>
                </a:solidFill>
              </a:rPr>
              <a:t>(the parameters used in the call of a procedure) are associated with the </a:t>
            </a:r>
            <a:r>
              <a:rPr lang="en-US" altLang="zh-CN" sz="2000" i="1" dirty="0">
                <a:solidFill>
                  <a:srgbClr val="00B050"/>
                </a:solidFill>
              </a:rPr>
              <a:t>formal parameters </a:t>
            </a:r>
            <a:r>
              <a:rPr lang="en-US" altLang="zh-CN" sz="2000" dirty="0">
                <a:solidFill>
                  <a:srgbClr val="514843"/>
                </a:solidFill>
              </a:rPr>
              <a:t>(those used in the procedure definition).</a:t>
            </a:r>
          </a:p>
          <a:p>
            <a:r>
              <a:rPr lang="en-US" altLang="zh-CN" sz="2000" dirty="0"/>
              <a:t>Call by Value: </a:t>
            </a:r>
          </a:p>
          <a:p>
            <a:pPr lvl="1"/>
            <a:r>
              <a:rPr lang="en-US" altLang="zh-CN" sz="1700" dirty="0"/>
              <a:t>In </a:t>
            </a:r>
            <a:r>
              <a:rPr lang="en-US" altLang="zh-CN" sz="1700" i="1" dirty="0"/>
              <a:t>call-by-value</a:t>
            </a:r>
            <a:r>
              <a:rPr lang="en-US" altLang="zh-CN" sz="1700" dirty="0"/>
              <a:t>, the actual parameter is evaluated (if it is an expression) or copied (if it is a variable) .</a:t>
            </a:r>
          </a:p>
          <a:p>
            <a:r>
              <a:rPr lang="en-US" altLang="zh-CN" sz="2000" dirty="0"/>
              <a:t>Call by Reference:</a:t>
            </a:r>
          </a:p>
          <a:p>
            <a:pPr lvl="1"/>
            <a:r>
              <a:rPr lang="en-US" altLang="zh-CN" sz="1700" dirty="0"/>
              <a:t>In </a:t>
            </a:r>
            <a:r>
              <a:rPr lang="en-US" altLang="zh-CN" sz="1700" i="1" dirty="0"/>
              <a:t>call-by-reference</a:t>
            </a:r>
            <a:r>
              <a:rPr lang="en-US" altLang="zh-CN" sz="1700" dirty="0"/>
              <a:t>, the address of the actual parameter is passed to the </a:t>
            </a:r>
            <a:r>
              <a:rPr lang="en-US" altLang="zh-CN" sz="1700" dirty="0" err="1"/>
              <a:t>callee</a:t>
            </a:r>
            <a:r>
              <a:rPr lang="en-US" altLang="zh-CN" sz="1700" dirty="0"/>
              <a:t> as the value of the corresponding formal parameter.</a:t>
            </a:r>
          </a:p>
          <a:p>
            <a:r>
              <a:rPr lang="en-US" altLang="zh-CN" sz="2000" dirty="0"/>
              <a:t>Call by Name</a:t>
            </a:r>
          </a:p>
          <a:p>
            <a:pPr lvl="1"/>
            <a:r>
              <a:rPr lang="en-US" altLang="zh-CN" sz="1700" dirty="0"/>
              <a:t>the actual parameter were substituted literally for the formal parameter in the code of the </a:t>
            </a:r>
            <a:r>
              <a:rPr lang="en-US" altLang="zh-CN" sz="1700" dirty="0" err="1"/>
              <a:t>callee</a:t>
            </a:r>
            <a:r>
              <a:rPr lang="en-US" altLang="zh-CN" sz="1700" dirty="0"/>
              <a:t>, as if the formal parameter were a macro standing for the actual parameter</a:t>
            </a:r>
          </a:p>
        </p:txBody>
      </p:sp>
    </p:spTree>
    <p:extLst>
      <p:ext uri="{BB962C8B-B14F-4D97-AF65-F5344CB8AC3E}">
        <p14:creationId xmlns:p14="http://schemas.microsoft.com/office/powerpoint/2010/main" val="119310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9411639_TF03431380_TF03431380" id="{9AE2BD50-F2AD-48C6-8A81-F7D7390F9E40}" vid="{822244C9-F44A-41EE-AAAB-DAE7A533DA64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schemas.microsoft.com/office/infopath/2007/PartnerControls"/>
    <ds:schemaRef ds:uri="http://purl.org/dc/dcmitype/"/>
    <ds:schemaRef ds:uri="http://purl.org/dc/elements/1.1/"/>
    <ds:schemaRef ds:uri="4873beb7-5857-4685-be1f-d57550cc96cc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1000</Words>
  <Application>Microsoft Office PowerPoint</Application>
  <PresentationFormat>全屏显示(4:3)</PresentationFormat>
  <Paragraphs>160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微软雅黑</vt:lpstr>
      <vt:lpstr>Calibri</vt:lpstr>
      <vt:lpstr>Courier New</vt:lpstr>
      <vt:lpstr>Euphemia</vt:lpstr>
      <vt:lpstr>Wingdings</vt:lpstr>
      <vt:lpstr>学术文献 16x9</vt:lpstr>
      <vt:lpstr>Compiling METHOD</vt:lpstr>
      <vt:lpstr>Basic Elements of programming Languages</vt:lpstr>
      <vt:lpstr>1.3 Evolution of Programming Languages</vt:lpstr>
      <vt:lpstr>Some Classifications of Programming Languages</vt:lpstr>
      <vt:lpstr>1.6 Programming Language Basic</vt:lpstr>
      <vt:lpstr>1.6 Programming Language Basic</vt:lpstr>
      <vt:lpstr>1.6 Programming Language Basic</vt:lpstr>
      <vt:lpstr>1.6 Programming Language Basic</vt:lpstr>
      <vt:lpstr>1.6 Programming Language Basic</vt:lpstr>
      <vt:lpstr>1.6 Programming Language Basic</vt:lpstr>
      <vt:lpstr>1.6 Programming Language Basic - Parameter Passing Mechanisms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2017-04-09T02:54:44Z</dcterms:created>
  <dcterms:modified xsi:type="dcterms:W3CDTF">2020-04-03T08:54:26Z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