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5"/>
    <p:sldId id="261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8" r:id="rId16"/>
    <p:sldId id="289" r:id="rId17"/>
    <p:sldId id="290" r:id="rId18"/>
    <p:sldId id="291" r:id="rId19"/>
    <p:sldId id="292" r:id="rId20"/>
  </p:sldIdLst>
  <p:sldSz cx="9144000" cy="6858000" type="screen4x3"/>
  <p:notesSz cx="6858000" cy="9144000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1542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9" d="100"/>
          <a:sy n="99" d="100"/>
        </p:scale>
        <p:origin x="357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91C0301E-2321-4F52-B85E-5901506D265C}" type="datetime1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2020/5/27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06834459-7356-44BF-850D-8B30C4FB3B6B}" type="slidenum">
              <a:rPr lang="en-US" altLang="zh-CN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‹#›</a:t>
            </a:fld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29B22C3-6CB1-491B-AD00-E0837F23A3F3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A3C37BE-C303-496D-B5CD-85F2937540FC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altLang="zh-CN" smtClean="0"/>
              <a:pPr/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49057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7572375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4" y="4511785"/>
            <a:ext cx="7572376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/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A7392AAC-879E-4B39-8824-AF6B730A809E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pic>
        <p:nvPicPr>
          <p:cNvPr id="11" name="图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334" y="0"/>
            <a:ext cx="1310643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9BA78444-6099-4C0A-A3A9-C6F3C5D7F289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包含图片的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 12"/>
          <p:cNvGrpSpPr/>
          <p:nvPr/>
        </p:nvGrpSpPr>
        <p:grpSpPr>
          <a:xfrm rot="10800000">
            <a:off x="0" y="5645511"/>
            <a:ext cx="9144000" cy="63125"/>
            <a:chOff x="507492" y="1501519"/>
            <a:chExt cx="8129016" cy="63125"/>
          </a:xfrm>
        </p:grpSpPr>
        <p:cxnSp>
          <p:nvCxnSpPr>
            <p:cNvPr id="17" name="直接连接符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 13"/>
          <p:cNvGrpSpPr/>
          <p:nvPr/>
        </p:nvGrpSpPr>
        <p:grpSpPr>
          <a:xfrm>
            <a:off x="0" y="1143001"/>
            <a:ext cx="9144000" cy="63125"/>
            <a:chOff x="507492" y="1501519"/>
            <a:chExt cx="8129016" cy="63125"/>
          </a:xfrm>
        </p:grpSpPr>
        <p:cxnSp>
          <p:nvCxnSpPr>
            <p:cNvPr id="15" name="直接连接符​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4300538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5" y="4511785"/>
            <a:ext cx="4300538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pic>
        <p:nvPicPr>
          <p:cNvPr id="10" name="图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4410" y="0"/>
            <a:ext cx="1310643" cy="2292094"/>
          </a:xfrm>
          <a:prstGeom prst="rect">
            <a:avLst/>
          </a:prstGeom>
        </p:spPr>
      </p:pic>
      <p:sp>
        <p:nvSpPr>
          <p:cNvPr id="11" name="图片占位符 10"/>
          <p:cNvSpPr>
            <a:spLocks noGrp="1"/>
          </p:cNvSpPr>
          <p:nvPr>
            <p:ph type="pic" sz="quarter" idx="13"/>
          </p:nvPr>
        </p:nvSpPr>
        <p:spPr>
          <a:xfrm>
            <a:off x="5235798" y="1310656"/>
            <a:ext cx="3908203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 rtlCol="0"/>
          <a:lstStyle>
            <a:lvl1pPr marL="0" indent="0" algn="ctr" rtl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19" name="说明文字"/>
          <p:cNvSpPr/>
          <p:nvPr/>
        </p:nvSpPr>
        <p:spPr>
          <a:xfrm>
            <a:off x="9258300" y="0"/>
            <a:ext cx="971550" cy="68580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zh-CN" altLang="en-US" sz="900" b="1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注意：</a:t>
            </a:r>
          </a:p>
          <a:p>
            <a:pPr rtl="0"/>
            <a:r>
              <a:rPr lang="zh-CN" altLang="en-US" sz="900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若要更改此幻灯片上的图像，请选择该图片，并将其删除。然后单击占位符中的图片图标以插入自己的图像。</a:t>
            </a:r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 7"/>
          <p:cNvGrpSpPr/>
          <p:nvPr/>
        </p:nvGrpSpPr>
        <p:grpSpPr>
          <a:xfrm>
            <a:off x="0" y="2514601"/>
            <a:ext cx="9144000" cy="3194035"/>
            <a:chOff x="647402" y="2514600"/>
            <a:chExt cx="10838688" cy="3194035"/>
          </a:xfrm>
        </p:grpSpPr>
        <p:grpSp>
          <p:nvGrpSpPr>
            <p:cNvPr id="9" name="组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直接连接符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​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矩形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zh-CN" altLang="en-US" sz="1350" noProof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直接连接符​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​​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28675" y="2971806"/>
            <a:ext cx="7553324" cy="1684150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4655956"/>
            <a:ext cx="7553324" cy="50975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l" rtl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AF5F6A19-70BF-4380-9A40-68C9536408C6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7" name="图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" y="0"/>
            <a:ext cx="1337391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28675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017EB90-196C-4C15-BD31-13E0E0436C73}" type="datetime1">
              <a:rPr lang="zh-CN" altLang="en-US" smtClean="0"/>
              <a:pPr/>
              <a:t>2020/5/27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8675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4583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4583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C2EC0F41-B48F-4298-A7F6-618EB9D22195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DB2D836-56E8-4B15-857C-14B1A5B3B67B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38D929F-7D8C-4CC3-8AC7-BB9B8FE2DEBF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带题注的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31386" y="1600200"/>
            <a:ext cx="4083939" cy="4572001"/>
          </a:xfrm>
        </p:spPr>
        <p:txBody>
          <a:bodyPr rtlCol="0">
            <a:normAutofit/>
          </a:bodyPr>
          <a:lstStyle>
            <a:lvl1pPr algn="l" rtl="0">
              <a:defRPr sz="1500"/>
            </a:lvl1pPr>
            <a:lvl2pPr algn="l" rtl="0">
              <a:defRPr sz="1200"/>
            </a:lvl2pPr>
            <a:lvl3pPr algn="l" rtl="0">
              <a:defRPr sz="1200"/>
            </a:lvl3pPr>
            <a:lvl4pPr algn="l" rtl="0">
              <a:defRPr sz="1050"/>
            </a:lvl4pPr>
            <a:lvl5pPr algn="l" rtl="0">
              <a:defRPr sz="1050"/>
            </a:lvl5pPr>
            <a:lvl6pPr algn="l" rtl="0">
              <a:defRPr sz="1050"/>
            </a:lvl6pPr>
            <a:lvl7pPr algn="l" rtl="0">
              <a:defRPr sz="1050"/>
            </a:lvl7pPr>
            <a:lvl8pPr algn="l" rtl="0">
              <a:defRPr sz="1050"/>
            </a:lvl8pPr>
            <a:lvl9pPr algn="l" rtl="0">
              <a:defRPr sz="10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3288411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/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7892ACC-8BC8-4C9E-9D2B-0669DA5038B6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带题注的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91003" y="1600200"/>
            <a:ext cx="4823184" cy="4572001"/>
          </a:xfrm>
        </p:spPr>
        <p:txBody>
          <a:bodyPr tIns="1188720" rtlCol="0">
            <a:normAutofit/>
          </a:bodyPr>
          <a:lstStyle>
            <a:lvl1pPr marL="0" indent="0" algn="ctr" rtl="0">
              <a:buNone/>
              <a:defRPr sz="15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2100"/>
            </a:lvl2pPr>
            <a:lvl3pPr marL="685800" indent="0" algn="l" rtl="0">
              <a:buNone/>
              <a:defRPr sz="1800"/>
            </a:lvl3pPr>
            <a:lvl4pPr marL="1028700" indent="0" algn="l" rtl="0">
              <a:buNone/>
              <a:defRPr sz="1500"/>
            </a:lvl4pPr>
            <a:lvl5pPr marL="1371600" indent="0" algn="l" rtl="0">
              <a:buNone/>
              <a:defRPr sz="1500"/>
            </a:lvl5pPr>
            <a:lvl6pPr marL="1714500" indent="0" algn="l" rtl="0">
              <a:buNone/>
              <a:defRPr sz="1500"/>
            </a:lvl6pPr>
            <a:lvl7pPr marL="2057400" indent="0" algn="l" rtl="0">
              <a:buNone/>
              <a:defRPr sz="1500"/>
            </a:lvl7pPr>
            <a:lvl8pPr marL="2400300" indent="0" algn="l" rtl="0">
              <a:buNone/>
              <a:defRPr sz="1500"/>
            </a:lvl8pPr>
            <a:lvl9pPr marL="2743200" indent="0" algn="l" rtl="0">
              <a:buNone/>
              <a:defRPr sz="15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2547747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118C275-B304-48F5-8C4F-015CBCF4E7C1}" type="datetime1">
              <a:rPr lang="zh-CN" altLang="en-US" smtClean="0"/>
              <a:pPr/>
              <a:t>2020/5/27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8791AA9-DDCB-4BA8-AD1D-963A3AA00622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垂直标题 1"/>
          <p:cNvSpPr>
            <a:spLocks noGrp="1"/>
          </p:cNvSpPr>
          <p:nvPr>
            <p:ph type="title" orient="vert"/>
          </p:nvPr>
        </p:nvSpPr>
        <p:spPr>
          <a:xfrm>
            <a:off x="7029450" y="365125"/>
            <a:ext cx="1285875" cy="5811838"/>
          </a:xfrm>
        </p:spPr>
        <p:txBody>
          <a:bodyPr vert="eaVert"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28675" y="365125"/>
            <a:ext cx="6074172" cy="5811838"/>
          </a:xfrm>
        </p:spPr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170426F-E661-472B-BE42-25E072CD46D9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grpSp>
        <p:nvGrpSpPr>
          <p:cNvPr id="7" name="组 6"/>
          <p:cNvGrpSpPr/>
          <p:nvPr/>
        </p:nvGrpSpPr>
        <p:grpSpPr>
          <a:xfrm rot="5400000">
            <a:off x="4181447" y="3239394"/>
            <a:ext cx="5632704" cy="63302"/>
            <a:chOff x="1073150" y="1219201"/>
            <a:chExt cx="10058400" cy="63125"/>
          </a:xfrm>
        </p:grpSpPr>
        <p:cxnSp>
          <p:nvCxnSpPr>
            <p:cNvPr id="8" name="直接连接符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​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28675" y="76200"/>
            <a:ext cx="748551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0"/>
            <a:ext cx="748665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  <a:p>
            <a:pPr lvl="5" rtl="0"/>
            <a:r>
              <a:rPr lang="zh-CN" altLang="en-US" noProof="0" dirty="0"/>
              <a:t>第六级</a:t>
            </a:r>
          </a:p>
          <a:p>
            <a:pPr lvl="6" rtl="0"/>
            <a:r>
              <a:rPr lang="zh-CN" altLang="en-US" noProof="0" dirty="0"/>
              <a:t>第七级</a:t>
            </a:r>
          </a:p>
          <a:p>
            <a:pPr lvl="7" rtl="0"/>
            <a:r>
              <a:rPr lang="zh-CN" altLang="en-US" noProof="0" dirty="0"/>
              <a:t>第八级</a:t>
            </a:r>
          </a:p>
          <a:p>
            <a:pPr lvl="8" rtl="0"/>
            <a:r>
              <a:rPr lang="zh-CN" altLang="en-US" noProof="0" dirty="0"/>
              <a:t>第九级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28675" y="6356352"/>
            <a:ext cx="137216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60B6A15-7713-4A08-BBFD-F297CCC2B976}" type="datetime1">
              <a:rPr lang="zh-CN" altLang="en-US" smtClean="0"/>
              <a:pPr/>
              <a:t>2020/5/27</a:t>
            </a:fld>
            <a:r>
              <a:rPr lang="zh-CN" altLang="en-US" dirty="0"/>
              <a:t>​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00844" y="6356350"/>
            <a:ext cx="474231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942587" y="6356352"/>
            <a:ext cx="13716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/>
            <a:fld id="{0FF54DE5-C571-48E8-A5BC-B369434E2F44}" type="slidenum">
              <a:rPr lang="en-US" altLang="zh-CN" noProof="0" smtClean="0"/>
              <a:pPr algn="r"/>
              <a:t>‹#›</a:t>
            </a:fld>
            <a:endParaRPr lang="zh-CN" altLang="en-US" noProof="0" dirty="0"/>
          </a:p>
        </p:txBody>
      </p:sp>
      <p:grpSp>
        <p:nvGrpSpPr>
          <p:cNvPr id="15" name="组 14"/>
          <p:cNvGrpSpPr/>
          <p:nvPr/>
        </p:nvGrpSpPr>
        <p:grpSpPr>
          <a:xfrm>
            <a:off x="827532" y="1219202"/>
            <a:ext cx="7488936" cy="84403"/>
            <a:chOff x="1073150" y="1219201"/>
            <a:chExt cx="10058400" cy="63125"/>
          </a:xfrm>
        </p:grpSpPr>
        <p:cxnSp>
          <p:nvCxnSpPr>
            <p:cNvPr id="13" name="直接连接符​​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1350"/>
        </a:spcBef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9pPr>
    </p:bodyStyle>
    <p:otherStyle>
      <a:defPPr>
        <a:defRPr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2" userDrawn="1">
          <p15:clr>
            <a:srgbClr val="F26B43"/>
          </p15:clr>
        </p15:guide>
        <p15:guide id="2" pos="5238" userDrawn="1">
          <p15:clr>
            <a:srgbClr val="F26B43"/>
          </p15:clr>
        </p15:guide>
        <p15:guide id="3" orient="horz" pos="1008" userDrawn="1">
          <p15:clr>
            <a:srgbClr val="F26B43"/>
          </p15:clr>
        </p15:guide>
        <p15:guide id="4" orient="horz" pos="38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828675" y="2576321"/>
            <a:ext cx="4300538" cy="1664768"/>
          </a:xfrm>
        </p:spPr>
        <p:txBody>
          <a:bodyPr rtlCol="0" anchor="ctr"/>
          <a:lstStyle/>
          <a:p>
            <a:pPr rtl="0"/>
            <a:r>
              <a:rPr lang="en-US" altLang="zh-CN" dirty="0"/>
              <a:t>Compilers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828675" y="3879543"/>
            <a:ext cx="4300538" cy="1473692"/>
          </a:xfrm>
        </p:spPr>
        <p:txBody>
          <a:bodyPr rtlCol="0">
            <a:normAutofit/>
          </a:bodyPr>
          <a:lstStyle/>
          <a:p>
            <a:pPr rtl="0"/>
            <a:r>
              <a:rPr lang="en-US" sz="2000" dirty="0"/>
              <a:t>Principles, Techniques, &amp; Tools</a:t>
            </a: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Taught by Jing Zhang </a:t>
            </a: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(jzhang@njust.edu.cn)</a:t>
            </a:r>
          </a:p>
        </p:txBody>
      </p:sp>
      <p:pic>
        <p:nvPicPr>
          <p:cNvPr id="4" name="图片占位符 3" descr="桌上一本打开的书，书架在背景中模糊显示" title="示例图片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5" r="88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en-US" altLang="zh-CN" dirty="0" smtClean="0"/>
              <a:t>Code Generation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Issues in the Design of a Code Generator</a:t>
            </a:r>
          </a:p>
          <a:p>
            <a:r>
              <a:rPr lang="en-US" altLang="zh-CN" dirty="0" smtClean="0"/>
              <a:t>The Target Language</a:t>
            </a:r>
            <a:endParaRPr lang="en-US" altLang="zh-CN" dirty="0"/>
          </a:p>
          <a:p>
            <a:r>
              <a:rPr lang="en-US" altLang="zh-CN" dirty="0" smtClean="0"/>
              <a:t>Addresses in the Target Code</a:t>
            </a:r>
            <a:endParaRPr lang="en-US" altLang="zh-CN" dirty="0"/>
          </a:p>
          <a:p>
            <a:r>
              <a:rPr lang="en-US" altLang="zh-CN" dirty="0" smtClean="0"/>
              <a:t>Basic Blocks and Flow Graphs</a:t>
            </a:r>
            <a:endParaRPr lang="en-US" altLang="zh-CN" dirty="0"/>
          </a:p>
          <a:p>
            <a:r>
              <a:rPr lang="en-US" altLang="zh-CN" dirty="0" smtClean="0"/>
              <a:t>Optimization of Basic Blocks</a:t>
            </a:r>
          </a:p>
          <a:p>
            <a:r>
              <a:rPr lang="en-US" altLang="zh-CN" dirty="0" smtClean="0"/>
              <a:t>Peephole Optimization</a:t>
            </a:r>
          </a:p>
          <a:p>
            <a:r>
              <a:rPr lang="en-US" altLang="zh-CN" dirty="0" smtClean="0"/>
              <a:t>Register Allocation and Assignment</a:t>
            </a:r>
          </a:p>
          <a:p>
            <a:r>
              <a:rPr lang="en-US" altLang="zh-CN" dirty="0" smtClean="0"/>
              <a:t>Instruction Selection by Tree Rewriting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5570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9.1 Issues </a:t>
            </a:r>
            <a:r>
              <a:rPr lang="en-US" altLang="zh-CN" dirty="0"/>
              <a:t>in the Design of a Code </a:t>
            </a:r>
            <a:r>
              <a:rPr lang="en-US" altLang="zh-CN" dirty="0" smtClean="0"/>
              <a:t>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501497"/>
          </a:xfrm>
        </p:spPr>
        <p:txBody>
          <a:bodyPr>
            <a:normAutofit/>
          </a:bodyPr>
          <a:lstStyle/>
          <a:p>
            <a:r>
              <a:rPr lang="en-US" altLang="zh-CN" dirty="0"/>
              <a:t>The final phase in our compiler model is the code generator. It takes as </a:t>
            </a:r>
            <a:r>
              <a:rPr lang="en-US" altLang="zh-CN" dirty="0" smtClean="0"/>
              <a:t>input the </a:t>
            </a:r>
            <a:r>
              <a:rPr lang="en-US" altLang="zh-CN" dirty="0"/>
              <a:t>intermediate representation (IR) produced by the front end of the </a:t>
            </a:r>
            <a:r>
              <a:rPr lang="en-US" altLang="zh-CN" dirty="0" smtClean="0"/>
              <a:t>compiler, along </a:t>
            </a:r>
            <a:r>
              <a:rPr lang="en-US" altLang="zh-CN" dirty="0"/>
              <a:t>with relevant symbol table information, and produces as output </a:t>
            </a:r>
            <a:r>
              <a:rPr lang="en-US" altLang="zh-CN" dirty="0" smtClean="0"/>
              <a:t>a semantically </a:t>
            </a:r>
            <a:r>
              <a:rPr lang="en-US" altLang="zh-CN" dirty="0"/>
              <a:t>equivalent target </a:t>
            </a:r>
            <a:r>
              <a:rPr lang="en-US" altLang="zh-CN" dirty="0" smtClean="0"/>
              <a:t>program.</a:t>
            </a:r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en-US" altLang="zh-CN" dirty="0" smtClean="0"/>
          </a:p>
          <a:p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en-US" altLang="zh-CN" dirty="0" smtClean="0"/>
          </a:p>
          <a:p>
            <a:r>
              <a:rPr lang="en-US" altLang="zh-CN" dirty="0"/>
              <a:t>The challenge is that, mathematically, the problem of generating an </a:t>
            </a:r>
            <a:r>
              <a:rPr lang="en-US" altLang="zh-CN" dirty="0" smtClean="0"/>
              <a:t>optimal target </a:t>
            </a:r>
            <a:r>
              <a:rPr lang="en-US" altLang="zh-CN" dirty="0"/>
              <a:t>program for a given source program is undecidable; many of the </a:t>
            </a:r>
            <a:r>
              <a:rPr lang="en-US" altLang="zh-CN" dirty="0" err="1" smtClean="0"/>
              <a:t>subproblems</a:t>
            </a:r>
            <a:r>
              <a:rPr lang="en-US" altLang="zh-CN" dirty="0" smtClean="0"/>
              <a:t> encountered in </a:t>
            </a:r>
            <a:r>
              <a:rPr lang="en-US" altLang="zh-CN" dirty="0"/>
              <a:t>code generation such as register allocation are </a:t>
            </a:r>
            <a:r>
              <a:rPr lang="en-US" altLang="zh-CN" dirty="0" smtClean="0"/>
              <a:t>computationally intractable</a:t>
            </a:r>
            <a:r>
              <a:rPr lang="en-US" altLang="zh-CN" dirty="0"/>
              <a:t>. In practice, we must be content with heuristic </a:t>
            </a:r>
            <a:r>
              <a:rPr lang="en-US" altLang="zh-CN" dirty="0" smtClean="0"/>
              <a:t>techniques that </a:t>
            </a:r>
            <a:r>
              <a:rPr lang="en-US" altLang="zh-CN" dirty="0"/>
              <a:t>generate good, but not necessarily optimal, code. Fortunately, </a:t>
            </a:r>
            <a:r>
              <a:rPr lang="en-US" altLang="zh-CN" dirty="0" smtClean="0"/>
              <a:t>heuristics have </a:t>
            </a:r>
            <a:r>
              <a:rPr lang="en-US" altLang="zh-CN" dirty="0"/>
              <a:t>matured enough that a carefully designed code generator can produce </a:t>
            </a:r>
            <a:r>
              <a:rPr lang="en-US" altLang="zh-CN" dirty="0" smtClean="0"/>
              <a:t>code that </a:t>
            </a:r>
            <a:r>
              <a:rPr lang="en-US" altLang="zh-CN" dirty="0"/>
              <a:t>is several times faster than code produced by a naive one.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076" y="2626629"/>
            <a:ext cx="6172200" cy="122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1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9.1 Issues in the Design of a Code 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sz="1600" dirty="0">
                <a:solidFill>
                  <a:srgbClr val="7030A0"/>
                </a:solidFill>
              </a:rPr>
              <a:t>Input to the Code </a:t>
            </a:r>
            <a:r>
              <a:rPr lang="en-US" altLang="zh-CN" sz="1600" dirty="0" smtClean="0">
                <a:solidFill>
                  <a:srgbClr val="7030A0"/>
                </a:solidFill>
              </a:rPr>
              <a:t>Generator</a:t>
            </a:r>
          </a:p>
          <a:p>
            <a:pPr lvl="1"/>
            <a:r>
              <a:rPr lang="en-US" altLang="zh-CN" sz="1400" dirty="0"/>
              <a:t>The many choices for the IR include three-address representations such </a:t>
            </a:r>
            <a:r>
              <a:rPr lang="en-US" altLang="zh-CN" sz="1400" dirty="0" smtClean="0"/>
              <a:t>as quadruples</a:t>
            </a:r>
            <a:r>
              <a:rPr lang="en-US" altLang="zh-CN" sz="1400" dirty="0"/>
              <a:t>, triples, indirect triples; virtual machine representations such </a:t>
            </a:r>
            <a:r>
              <a:rPr lang="en-US" altLang="zh-CN" sz="1400" dirty="0" smtClean="0"/>
              <a:t>as bytecodes </a:t>
            </a:r>
            <a:r>
              <a:rPr lang="en-US" altLang="zh-CN" sz="1400" dirty="0"/>
              <a:t>and stack-machine code; linear representations such as postfix </a:t>
            </a:r>
            <a:r>
              <a:rPr lang="en-US" altLang="zh-CN" sz="1400" dirty="0" smtClean="0"/>
              <a:t>notation; and </a:t>
            </a:r>
            <a:r>
              <a:rPr lang="en-US" altLang="zh-CN" sz="1400" dirty="0"/>
              <a:t>graphical representations such as syntax trees and DAG's. </a:t>
            </a:r>
            <a:r>
              <a:rPr lang="en-US" altLang="zh-CN" sz="1400" dirty="0" smtClean="0"/>
              <a:t>Many of </a:t>
            </a:r>
            <a:r>
              <a:rPr lang="en-US" altLang="zh-CN" sz="1400" dirty="0"/>
              <a:t>the algorithms in this chapter are couched in terms of the </a:t>
            </a:r>
            <a:r>
              <a:rPr lang="en-US" altLang="zh-CN" sz="1400" dirty="0" smtClean="0"/>
              <a:t>representations considered </a:t>
            </a:r>
            <a:r>
              <a:rPr lang="en-US" altLang="zh-CN" sz="1400" dirty="0"/>
              <a:t>in Chapter 6: three-address code, trees, and DAG 's</a:t>
            </a:r>
            <a:r>
              <a:rPr lang="en-US" altLang="zh-CN" sz="1400" dirty="0" smtClean="0"/>
              <a:t>.</a:t>
            </a:r>
          </a:p>
          <a:p>
            <a:r>
              <a:rPr lang="en-US" altLang="zh-CN" sz="1600" dirty="0">
                <a:solidFill>
                  <a:srgbClr val="7030A0"/>
                </a:solidFill>
              </a:rPr>
              <a:t>The </a:t>
            </a:r>
            <a:r>
              <a:rPr lang="en-US" altLang="zh-CN" sz="1600" dirty="0" smtClean="0">
                <a:solidFill>
                  <a:srgbClr val="7030A0"/>
                </a:solidFill>
              </a:rPr>
              <a:t>Target Program</a:t>
            </a:r>
          </a:p>
          <a:p>
            <a:pPr lvl="1"/>
            <a:r>
              <a:rPr lang="en-US" altLang="zh-CN" sz="1400" dirty="0">
                <a:solidFill>
                  <a:schemeClr val="tx2"/>
                </a:solidFill>
              </a:rPr>
              <a:t>The instruction-set architecture of the target machine has a significant </a:t>
            </a:r>
            <a:r>
              <a:rPr lang="en-US" altLang="zh-CN" sz="1400" dirty="0" smtClean="0">
                <a:solidFill>
                  <a:schemeClr val="tx2"/>
                </a:solidFill>
              </a:rPr>
              <a:t>impact on </a:t>
            </a:r>
            <a:r>
              <a:rPr lang="en-US" altLang="zh-CN" sz="1400" dirty="0">
                <a:solidFill>
                  <a:schemeClr val="tx2"/>
                </a:solidFill>
              </a:rPr>
              <a:t>the difficulty of constructing a good code generator that </a:t>
            </a:r>
            <a:r>
              <a:rPr lang="en-US" altLang="zh-CN" sz="1400" dirty="0" smtClean="0">
                <a:solidFill>
                  <a:schemeClr val="tx2"/>
                </a:solidFill>
              </a:rPr>
              <a:t>produces high-quality </a:t>
            </a:r>
            <a:r>
              <a:rPr lang="en-US" altLang="zh-CN" sz="1400" dirty="0">
                <a:solidFill>
                  <a:schemeClr val="tx2"/>
                </a:solidFill>
              </a:rPr>
              <a:t>machine code. The most common target-machine </a:t>
            </a:r>
            <a:r>
              <a:rPr lang="en-US" altLang="zh-CN" sz="1400" dirty="0" smtClean="0">
                <a:solidFill>
                  <a:schemeClr val="tx2"/>
                </a:solidFill>
              </a:rPr>
              <a:t>architectures are RISC </a:t>
            </a:r>
            <a:r>
              <a:rPr lang="en-US" altLang="zh-CN" sz="1400" dirty="0">
                <a:solidFill>
                  <a:schemeClr val="tx2"/>
                </a:solidFill>
              </a:rPr>
              <a:t>(reduced instruction set computer) , </a:t>
            </a:r>
            <a:r>
              <a:rPr lang="en-US" altLang="zh-CN" sz="1400" dirty="0" smtClean="0">
                <a:solidFill>
                  <a:schemeClr val="tx2"/>
                </a:solidFill>
              </a:rPr>
              <a:t>CISC (complex </a:t>
            </a:r>
            <a:r>
              <a:rPr lang="en-US" altLang="zh-CN" sz="1400" dirty="0">
                <a:solidFill>
                  <a:schemeClr val="tx2"/>
                </a:solidFill>
              </a:rPr>
              <a:t>instruction </a:t>
            </a:r>
            <a:r>
              <a:rPr lang="en-US" altLang="zh-CN" sz="1400" dirty="0" smtClean="0">
                <a:solidFill>
                  <a:schemeClr val="tx2"/>
                </a:solidFill>
              </a:rPr>
              <a:t>set computer</a:t>
            </a:r>
            <a:r>
              <a:rPr lang="en-US" altLang="zh-CN" sz="1400" dirty="0">
                <a:solidFill>
                  <a:schemeClr val="tx2"/>
                </a:solidFill>
              </a:rPr>
              <a:t>) , and stack based</a:t>
            </a:r>
            <a:r>
              <a:rPr lang="en-US" altLang="zh-CN" sz="1400" dirty="0" smtClean="0">
                <a:solidFill>
                  <a:schemeClr val="tx2"/>
                </a:solidFill>
              </a:rPr>
              <a:t>.</a:t>
            </a:r>
          </a:p>
          <a:p>
            <a:pPr lvl="1"/>
            <a:r>
              <a:rPr lang="en-US" altLang="zh-CN" sz="1400" dirty="0">
                <a:solidFill>
                  <a:schemeClr val="tx2"/>
                </a:solidFill>
              </a:rPr>
              <a:t>A </a:t>
            </a:r>
            <a:r>
              <a:rPr lang="en-US" altLang="zh-CN" sz="1400" dirty="0" smtClean="0">
                <a:solidFill>
                  <a:schemeClr val="tx2"/>
                </a:solidFill>
              </a:rPr>
              <a:t>RISC </a:t>
            </a:r>
            <a:r>
              <a:rPr lang="en-US" altLang="zh-CN" sz="1400" dirty="0">
                <a:solidFill>
                  <a:schemeClr val="tx2"/>
                </a:solidFill>
              </a:rPr>
              <a:t>machine typically has many registers, three-address </a:t>
            </a:r>
            <a:r>
              <a:rPr lang="en-US" altLang="zh-CN" sz="1400" dirty="0" smtClean="0">
                <a:solidFill>
                  <a:schemeClr val="tx2"/>
                </a:solidFill>
              </a:rPr>
              <a:t>instructions, simple </a:t>
            </a:r>
            <a:r>
              <a:rPr lang="en-US" altLang="zh-CN" sz="1400" dirty="0">
                <a:solidFill>
                  <a:schemeClr val="tx2"/>
                </a:solidFill>
              </a:rPr>
              <a:t>addressing modes, and a relatively simple instruction-set </a:t>
            </a:r>
            <a:r>
              <a:rPr lang="en-US" altLang="zh-CN" sz="1400" dirty="0" smtClean="0">
                <a:solidFill>
                  <a:schemeClr val="tx2"/>
                </a:solidFill>
              </a:rPr>
              <a:t>architecture. In </a:t>
            </a:r>
            <a:r>
              <a:rPr lang="en-US" altLang="zh-CN" sz="1400" dirty="0">
                <a:solidFill>
                  <a:schemeClr val="tx2"/>
                </a:solidFill>
              </a:rPr>
              <a:t>contrast, a </a:t>
            </a:r>
            <a:r>
              <a:rPr lang="en-US" altLang="zh-CN" sz="1400" dirty="0" smtClean="0">
                <a:solidFill>
                  <a:schemeClr val="tx2"/>
                </a:solidFill>
              </a:rPr>
              <a:t>CISC </a:t>
            </a:r>
            <a:r>
              <a:rPr lang="en-US" altLang="zh-CN" sz="1400" dirty="0">
                <a:solidFill>
                  <a:schemeClr val="tx2"/>
                </a:solidFill>
              </a:rPr>
              <a:t>machine typically has few registers, two-address </a:t>
            </a:r>
            <a:r>
              <a:rPr lang="en-US" altLang="zh-CN" sz="1400" dirty="0" smtClean="0">
                <a:solidFill>
                  <a:schemeClr val="tx2"/>
                </a:solidFill>
              </a:rPr>
              <a:t>instructions, </a:t>
            </a:r>
            <a:r>
              <a:rPr lang="en-US" altLang="zh-CN" sz="1400" dirty="0">
                <a:solidFill>
                  <a:schemeClr val="tx2"/>
                </a:solidFill>
              </a:rPr>
              <a:t>a variety of addressing modes , several register classes, </a:t>
            </a:r>
            <a:r>
              <a:rPr lang="en-US" altLang="zh-CN" sz="1400" dirty="0" smtClean="0">
                <a:solidFill>
                  <a:schemeClr val="tx2"/>
                </a:solidFill>
              </a:rPr>
              <a:t>variable-length instructions</a:t>
            </a:r>
            <a:r>
              <a:rPr lang="en-US" altLang="zh-CN" sz="1400" dirty="0">
                <a:solidFill>
                  <a:schemeClr val="tx2"/>
                </a:solidFill>
              </a:rPr>
              <a:t>, and instructions with side </a:t>
            </a:r>
            <a:r>
              <a:rPr lang="en-US" altLang="zh-CN" sz="1400" dirty="0" smtClean="0">
                <a:solidFill>
                  <a:schemeClr val="tx2"/>
                </a:solidFill>
              </a:rPr>
              <a:t>effects.</a:t>
            </a:r>
          </a:p>
          <a:p>
            <a:pPr lvl="1"/>
            <a:r>
              <a:rPr lang="en-US" altLang="zh-CN" sz="1400" dirty="0" smtClean="0">
                <a:solidFill>
                  <a:schemeClr val="tx2"/>
                </a:solidFill>
              </a:rPr>
              <a:t>We </a:t>
            </a:r>
            <a:r>
              <a:rPr lang="en-US" altLang="zh-CN" sz="1400" dirty="0">
                <a:solidFill>
                  <a:schemeClr val="tx2"/>
                </a:solidFill>
              </a:rPr>
              <a:t>shall use a very simple </a:t>
            </a:r>
            <a:r>
              <a:rPr lang="en-US" altLang="zh-CN" sz="1400" dirty="0" smtClean="0">
                <a:solidFill>
                  <a:schemeClr val="tx2"/>
                </a:solidFill>
              </a:rPr>
              <a:t>RISC-like </a:t>
            </a:r>
            <a:r>
              <a:rPr lang="en-US" altLang="zh-CN" sz="1400" dirty="0">
                <a:solidFill>
                  <a:schemeClr val="tx2"/>
                </a:solidFill>
              </a:rPr>
              <a:t>computer as our </a:t>
            </a:r>
            <a:r>
              <a:rPr lang="en-US" altLang="zh-CN" sz="1400" dirty="0" smtClean="0">
                <a:solidFill>
                  <a:schemeClr val="tx2"/>
                </a:solidFill>
              </a:rPr>
              <a:t>target machine</a:t>
            </a:r>
            <a:r>
              <a:rPr lang="en-US" altLang="zh-CN" sz="1400" dirty="0">
                <a:solidFill>
                  <a:schemeClr val="tx2"/>
                </a:solidFill>
              </a:rPr>
              <a:t>. We add to it some </a:t>
            </a:r>
            <a:r>
              <a:rPr lang="en-US" altLang="zh-CN" sz="1400" dirty="0" err="1" smtClean="0">
                <a:solidFill>
                  <a:schemeClr val="tx2"/>
                </a:solidFill>
              </a:rPr>
              <a:t>ClSC</a:t>
            </a:r>
            <a:r>
              <a:rPr lang="en-US" altLang="zh-CN" sz="1400" dirty="0" smtClean="0">
                <a:solidFill>
                  <a:schemeClr val="tx2"/>
                </a:solidFill>
              </a:rPr>
              <a:t>-like </a:t>
            </a:r>
            <a:r>
              <a:rPr lang="en-US" altLang="zh-CN" sz="1400" dirty="0">
                <a:solidFill>
                  <a:schemeClr val="tx2"/>
                </a:solidFill>
              </a:rPr>
              <a:t>addressing modes so that we can </a:t>
            </a:r>
            <a:r>
              <a:rPr lang="en-US" altLang="zh-CN" sz="1400" dirty="0" smtClean="0">
                <a:solidFill>
                  <a:schemeClr val="tx2"/>
                </a:solidFill>
              </a:rPr>
              <a:t>also discuss </a:t>
            </a:r>
            <a:r>
              <a:rPr lang="en-US" altLang="zh-CN" sz="1400" dirty="0">
                <a:solidFill>
                  <a:schemeClr val="tx2"/>
                </a:solidFill>
              </a:rPr>
              <a:t>code-generation techniques for </a:t>
            </a:r>
            <a:r>
              <a:rPr lang="en-US" altLang="zh-CN" sz="1400" dirty="0" smtClean="0">
                <a:solidFill>
                  <a:schemeClr val="tx2"/>
                </a:solidFill>
              </a:rPr>
              <a:t>CISC </a:t>
            </a:r>
            <a:r>
              <a:rPr lang="en-US" altLang="zh-CN" sz="1400" dirty="0">
                <a:solidFill>
                  <a:schemeClr val="tx2"/>
                </a:solidFill>
              </a:rPr>
              <a:t>machines. For readability, we </a:t>
            </a:r>
            <a:r>
              <a:rPr lang="en-US" altLang="zh-CN" sz="1400" dirty="0" smtClean="0">
                <a:solidFill>
                  <a:schemeClr val="tx2"/>
                </a:solidFill>
              </a:rPr>
              <a:t>use assembly </a:t>
            </a:r>
            <a:r>
              <a:rPr lang="en-US" altLang="zh-CN" sz="1400" dirty="0">
                <a:solidFill>
                  <a:schemeClr val="tx2"/>
                </a:solidFill>
              </a:rPr>
              <a:t>code as the target </a:t>
            </a:r>
            <a:r>
              <a:rPr lang="en-US" altLang="zh-CN" sz="1400" dirty="0" smtClean="0">
                <a:solidFill>
                  <a:schemeClr val="tx2"/>
                </a:solidFill>
              </a:rPr>
              <a:t>language.</a:t>
            </a:r>
            <a:endParaRPr lang="zh-CN" alt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9841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9.1 Issues in the Design of a Code 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5176615"/>
          </a:xfrm>
        </p:spPr>
        <p:txBody>
          <a:bodyPr>
            <a:normAutofit/>
          </a:bodyPr>
          <a:lstStyle/>
          <a:p>
            <a:r>
              <a:rPr lang="en-US" altLang="zh-CN" sz="1600" dirty="0">
                <a:solidFill>
                  <a:srgbClr val="7030A0"/>
                </a:solidFill>
              </a:rPr>
              <a:t>Instruction </a:t>
            </a:r>
            <a:r>
              <a:rPr lang="en-US" altLang="zh-CN" sz="1600" dirty="0" smtClean="0">
                <a:solidFill>
                  <a:srgbClr val="7030A0"/>
                </a:solidFill>
              </a:rPr>
              <a:t>Selection</a:t>
            </a:r>
          </a:p>
          <a:p>
            <a:pPr lvl="1"/>
            <a:r>
              <a:rPr lang="en-US" altLang="zh-CN" sz="1300" dirty="0">
                <a:solidFill>
                  <a:schemeClr val="tx2"/>
                </a:solidFill>
              </a:rPr>
              <a:t>The code generator must map the </a:t>
            </a:r>
            <a:r>
              <a:rPr lang="en-US" altLang="zh-CN" sz="1300" dirty="0" err="1">
                <a:solidFill>
                  <a:schemeClr val="tx2"/>
                </a:solidFill>
              </a:rPr>
              <a:t>lR</a:t>
            </a:r>
            <a:r>
              <a:rPr lang="en-US" altLang="zh-CN" sz="1300" dirty="0">
                <a:solidFill>
                  <a:schemeClr val="tx2"/>
                </a:solidFill>
              </a:rPr>
              <a:t> program into a code sequence that can </a:t>
            </a:r>
            <a:r>
              <a:rPr lang="en-US" altLang="zh-CN" sz="1300" dirty="0" smtClean="0">
                <a:solidFill>
                  <a:schemeClr val="tx2"/>
                </a:solidFill>
              </a:rPr>
              <a:t>be executed </a:t>
            </a:r>
            <a:r>
              <a:rPr lang="en-US" altLang="zh-CN" sz="1300" dirty="0">
                <a:solidFill>
                  <a:schemeClr val="tx2"/>
                </a:solidFill>
              </a:rPr>
              <a:t>by the target machine. The complexity of performing this mapping </a:t>
            </a:r>
            <a:r>
              <a:rPr lang="en-US" altLang="zh-CN" sz="1300" dirty="0" smtClean="0">
                <a:solidFill>
                  <a:schemeClr val="tx2"/>
                </a:solidFill>
              </a:rPr>
              <a:t>is determined </a:t>
            </a:r>
            <a:r>
              <a:rPr lang="en-US" altLang="zh-CN" sz="1300" dirty="0">
                <a:solidFill>
                  <a:schemeClr val="tx2"/>
                </a:solidFill>
              </a:rPr>
              <a:t>by a factors such </a:t>
            </a:r>
            <a:r>
              <a:rPr lang="en-US" altLang="zh-CN" sz="1300" dirty="0" smtClean="0">
                <a:solidFill>
                  <a:schemeClr val="tx2"/>
                </a:solidFill>
              </a:rPr>
              <a:t>as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sz="1400" dirty="0">
                <a:solidFill>
                  <a:srgbClr val="00B0F0"/>
                </a:solidFill>
              </a:rPr>
              <a:t>the level of the </a:t>
            </a:r>
            <a:r>
              <a:rPr lang="en-US" altLang="zh-CN" sz="1400" dirty="0" smtClean="0">
                <a:solidFill>
                  <a:srgbClr val="00B0F0"/>
                </a:solidFill>
              </a:rPr>
              <a:t>IR</a:t>
            </a:r>
          </a:p>
          <a:p>
            <a:pPr marL="685800" lvl="2" indent="0">
              <a:buNone/>
            </a:pPr>
            <a:r>
              <a:rPr lang="en-US" altLang="zh-CN" sz="1150" dirty="0" smtClean="0">
                <a:solidFill>
                  <a:schemeClr val="tx2"/>
                </a:solidFill>
              </a:rPr>
              <a:t>If </a:t>
            </a:r>
            <a:r>
              <a:rPr lang="en-US" altLang="zh-CN" sz="1150" dirty="0">
                <a:solidFill>
                  <a:schemeClr val="tx2"/>
                </a:solidFill>
              </a:rPr>
              <a:t>the IR is high level, the code generator may translate each IR </a:t>
            </a:r>
            <a:r>
              <a:rPr lang="en-US" altLang="zh-CN" sz="1150" dirty="0" smtClean="0">
                <a:solidFill>
                  <a:schemeClr val="tx2"/>
                </a:solidFill>
              </a:rPr>
              <a:t>statement into </a:t>
            </a:r>
            <a:r>
              <a:rPr lang="en-US" altLang="zh-CN" sz="1150" dirty="0">
                <a:solidFill>
                  <a:schemeClr val="tx2"/>
                </a:solidFill>
              </a:rPr>
              <a:t>a sequence of machine instructions using code templates</a:t>
            </a:r>
            <a:r>
              <a:rPr lang="en-US" altLang="zh-CN" sz="1150" dirty="0" smtClean="0">
                <a:solidFill>
                  <a:schemeClr val="tx2"/>
                </a:solidFill>
              </a:rPr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sz="1400" dirty="0">
                <a:solidFill>
                  <a:srgbClr val="00B0F0"/>
                </a:solidFill>
              </a:rPr>
              <a:t>the nature of the instruction-set </a:t>
            </a:r>
            <a:r>
              <a:rPr lang="en-US" altLang="zh-CN" sz="1400" dirty="0" smtClean="0">
                <a:solidFill>
                  <a:srgbClr val="00B0F0"/>
                </a:solidFill>
              </a:rPr>
              <a:t>architecture</a:t>
            </a:r>
          </a:p>
          <a:p>
            <a:pPr marL="685800" lvl="2" indent="0">
              <a:buNone/>
            </a:pPr>
            <a:r>
              <a:rPr lang="en-US" altLang="zh-CN" sz="1150" dirty="0">
                <a:solidFill>
                  <a:schemeClr val="tx2"/>
                </a:solidFill>
              </a:rPr>
              <a:t>Instruction speeds and machine idioms are other important </a:t>
            </a:r>
            <a:r>
              <a:rPr lang="en-US" altLang="zh-CN" sz="1150" dirty="0" smtClean="0">
                <a:solidFill>
                  <a:schemeClr val="tx2"/>
                </a:solidFill>
              </a:rPr>
              <a:t>factors.</a:t>
            </a:r>
          </a:p>
          <a:p>
            <a:pPr marL="685800" lvl="2" indent="0">
              <a:buNone/>
            </a:pPr>
            <a:endParaRPr lang="en-US" altLang="zh-CN" sz="1150" dirty="0" smtClean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r>
              <a:rPr lang="en-US" altLang="zh-CN" sz="1150" dirty="0" smtClean="0">
                <a:solidFill>
                  <a:schemeClr val="tx2"/>
                </a:solidFill>
              </a:rPr>
              <a:t>                              </a:t>
            </a:r>
          </a:p>
          <a:p>
            <a:pPr marL="685800" lvl="2" indent="0">
              <a:buNone/>
            </a:pPr>
            <a:endParaRPr lang="en-US" altLang="zh-CN" sz="1150" dirty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 smtClean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 smtClean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>
              <a:solidFill>
                <a:schemeClr val="tx2"/>
              </a:solidFill>
            </a:endParaRP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sz="1400" dirty="0">
                <a:solidFill>
                  <a:srgbClr val="00B0F0"/>
                </a:solidFill>
              </a:rPr>
              <a:t>the desired quality of the generated </a:t>
            </a:r>
            <a:r>
              <a:rPr lang="en-US" altLang="zh-CN" sz="1400" dirty="0" smtClean="0">
                <a:solidFill>
                  <a:srgbClr val="00B0F0"/>
                </a:solidFill>
              </a:rPr>
              <a:t>code</a:t>
            </a:r>
          </a:p>
          <a:p>
            <a:pPr marL="685800" lvl="2" indent="0">
              <a:lnSpc>
                <a:spcPct val="100000"/>
              </a:lnSpc>
              <a:buNone/>
            </a:pPr>
            <a:r>
              <a:rPr lang="en-US" altLang="zh-CN" sz="1150" dirty="0">
                <a:solidFill>
                  <a:schemeClr val="tx2"/>
                </a:solidFill>
              </a:rPr>
              <a:t>The quality of the generated code is usually determined by its speed and size. On most machines, a given IR program can be implemented by many different code sequences, with significant cost differences between the different implementations. A naive translation of the intermediate code may therefore lead to correct but unacceptably inefficient target code.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en-US" altLang="zh-CN" sz="1300" dirty="0">
              <a:solidFill>
                <a:schemeClr val="tx2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619" y="3743280"/>
            <a:ext cx="1133475" cy="6191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017" y="3633550"/>
            <a:ext cx="3115110" cy="1505160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743058" y="4170348"/>
            <a:ext cx="2768837" cy="427289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983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9.1 Issues in the Design of a Code 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646777"/>
          </a:xfrm>
        </p:spPr>
        <p:txBody>
          <a:bodyPr>
            <a:normAutofit/>
          </a:bodyPr>
          <a:lstStyle/>
          <a:p>
            <a:r>
              <a:rPr lang="en-US" altLang="zh-CN" sz="1600" dirty="0">
                <a:solidFill>
                  <a:srgbClr val="7030A0"/>
                </a:solidFill>
              </a:rPr>
              <a:t>Register </a:t>
            </a:r>
            <a:r>
              <a:rPr lang="en-US" altLang="zh-CN" sz="1600" dirty="0" smtClean="0">
                <a:solidFill>
                  <a:srgbClr val="7030A0"/>
                </a:solidFill>
              </a:rPr>
              <a:t>Allocation</a:t>
            </a:r>
          </a:p>
          <a:p>
            <a:pPr lvl="1"/>
            <a:r>
              <a:rPr lang="en-US" altLang="zh-CN" sz="1600" dirty="0">
                <a:solidFill>
                  <a:schemeClr val="tx2"/>
                </a:solidFill>
              </a:rPr>
              <a:t>A key problem in code generation is deciding what values to hold in </a:t>
            </a:r>
            <a:r>
              <a:rPr lang="en-US" altLang="zh-CN" sz="1600" dirty="0" smtClean="0">
                <a:solidFill>
                  <a:schemeClr val="tx2"/>
                </a:solidFill>
              </a:rPr>
              <a:t>what registers</a:t>
            </a:r>
            <a:r>
              <a:rPr lang="en-US" altLang="zh-CN" sz="1600" dirty="0">
                <a:solidFill>
                  <a:schemeClr val="tx2"/>
                </a:solidFill>
              </a:rPr>
              <a:t>. Registers are the fastest computational unit on the target </a:t>
            </a:r>
            <a:r>
              <a:rPr lang="en-US" altLang="zh-CN" sz="1600" dirty="0" smtClean="0">
                <a:solidFill>
                  <a:schemeClr val="tx2"/>
                </a:solidFill>
              </a:rPr>
              <a:t>machine, but </a:t>
            </a:r>
            <a:r>
              <a:rPr lang="en-US" altLang="zh-CN" sz="1600" dirty="0">
                <a:solidFill>
                  <a:schemeClr val="tx2"/>
                </a:solidFill>
              </a:rPr>
              <a:t>we usually do not have enough of them to hold all values</a:t>
            </a:r>
            <a:r>
              <a:rPr lang="en-US" altLang="zh-CN" sz="1600" dirty="0" smtClean="0">
                <a:solidFill>
                  <a:schemeClr val="tx2"/>
                </a:solidFill>
              </a:rPr>
              <a:t>.</a:t>
            </a:r>
          </a:p>
          <a:p>
            <a:pPr lvl="1"/>
            <a:r>
              <a:rPr lang="en-US" altLang="zh-CN" sz="1600" dirty="0">
                <a:solidFill>
                  <a:schemeClr val="tx2"/>
                </a:solidFill>
              </a:rPr>
              <a:t>The use of registers is often subdivided into two </a:t>
            </a:r>
            <a:r>
              <a:rPr lang="en-US" altLang="zh-CN" sz="1600" dirty="0" err="1">
                <a:solidFill>
                  <a:schemeClr val="tx2"/>
                </a:solidFill>
              </a:rPr>
              <a:t>subproblems</a:t>
            </a:r>
            <a:r>
              <a:rPr lang="en-US" altLang="zh-CN" sz="1600" dirty="0">
                <a:solidFill>
                  <a:schemeClr val="tx2"/>
                </a:solidFill>
              </a:rPr>
              <a:t>:</a:t>
            </a:r>
          </a:p>
          <a:p>
            <a:pPr lvl="2"/>
            <a:r>
              <a:rPr lang="en-US" altLang="zh-CN" sz="1450" dirty="0">
                <a:solidFill>
                  <a:srgbClr val="00B050"/>
                </a:solidFill>
              </a:rPr>
              <a:t>1. Register allocation</a:t>
            </a:r>
            <a:r>
              <a:rPr lang="en-US" altLang="zh-CN" sz="1450" dirty="0">
                <a:solidFill>
                  <a:schemeClr val="tx2"/>
                </a:solidFill>
              </a:rPr>
              <a:t>, during which we select the set of variables that </a:t>
            </a:r>
            <a:r>
              <a:rPr lang="en-US" altLang="zh-CN" sz="1450" dirty="0" smtClean="0">
                <a:solidFill>
                  <a:schemeClr val="tx2"/>
                </a:solidFill>
              </a:rPr>
              <a:t>will </a:t>
            </a:r>
            <a:r>
              <a:rPr lang="en-US" altLang="zh-CN" sz="1600" dirty="0" smtClean="0">
                <a:solidFill>
                  <a:schemeClr val="tx2"/>
                </a:solidFill>
              </a:rPr>
              <a:t>reside </a:t>
            </a:r>
            <a:r>
              <a:rPr lang="en-US" altLang="zh-CN" sz="1600" dirty="0">
                <a:solidFill>
                  <a:schemeClr val="tx2"/>
                </a:solidFill>
              </a:rPr>
              <a:t>in registers at each point in the program.</a:t>
            </a:r>
          </a:p>
          <a:p>
            <a:pPr lvl="2"/>
            <a:r>
              <a:rPr lang="en-US" altLang="zh-CN" sz="1450" dirty="0">
                <a:solidFill>
                  <a:srgbClr val="00B050"/>
                </a:solidFill>
              </a:rPr>
              <a:t>2. Register assignment</a:t>
            </a:r>
            <a:r>
              <a:rPr lang="en-US" altLang="zh-CN" sz="1450" dirty="0">
                <a:solidFill>
                  <a:schemeClr val="tx2"/>
                </a:solidFill>
              </a:rPr>
              <a:t>, during which we pick the specific register that </a:t>
            </a:r>
            <a:r>
              <a:rPr lang="en-US" altLang="zh-CN" sz="1450" dirty="0" smtClean="0">
                <a:solidFill>
                  <a:schemeClr val="tx2"/>
                </a:solidFill>
              </a:rPr>
              <a:t>a </a:t>
            </a:r>
            <a:r>
              <a:rPr lang="en-US" altLang="zh-CN" sz="1600" dirty="0" smtClean="0">
                <a:solidFill>
                  <a:schemeClr val="tx2"/>
                </a:solidFill>
              </a:rPr>
              <a:t>variable </a:t>
            </a:r>
            <a:r>
              <a:rPr lang="en-US" altLang="zh-CN" sz="1600" dirty="0">
                <a:solidFill>
                  <a:schemeClr val="tx2"/>
                </a:solidFill>
              </a:rPr>
              <a:t>will reside in</a:t>
            </a:r>
            <a:r>
              <a:rPr lang="en-US" altLang="zh-CN" sz="1600" dirty="0" smtClean="0">
                <a:solidFill>
                  <a:schemeClr val="tx2"/>
                </a:solidFill>
              </a:rPr>
              <a:t>.</a:t>
            </a:r>
          </a:p>
          <a:p>
            <a:r>
              <a:rPr lang="en-US" altLang="zh-CN" sz="2050" dirty="0">
                <a:solidFill>
                  <a:srgbClr val="7030A0"/>
                </a:solidFill>
              </a:rPr>
              <a:t>Evaluation </a:t>
            </a:r>
            <a:r>
              <a:rPr lang="en-US" altLang="zh-CN" sz="2050" dirty="0" smtClean="0">
                <a:solidFill>
                  <a:srgbClr val="7030A0"/>
                </a:solidFill>
              </a:rPr>
              <a:t>Order</a:t>
            </a:r>
          </a:p>
          <a:p>
            <a:pPr lvl="1"/>
            <a:r>
              <a:rPr lang="en-US" altLang="zh-CN" sz="1750" dirty="0">
                <a:solidFill>
                  <a:schemeClr val="tx2"/>
                </a:solidFill>
              </a:rPr>
              <a:t>The order in which computations are </a:t>
            </a:r>
            <a:r>
              <a:rPr lang="en-US" altLang="zh-CN" sz="1750" dirty="0" smtClean="0">
                <a:solidFill>
                  <a:schemeClr val="tx2"/>
                </a:solidFill>
              </a:rPr>
              <a:t>performed </a:t>
            </a:r>
            <a:r>
              <a:rPr lang="en-US" altLang="zh-CN" sz="1750" dirty="0">
                <a:solidFill>
                  <a:schemeClr val="tx2"/>
                </a:solidFill>
              </a:rPr>
              <a:t>can affect the efficiency of </a:t>
            </a:r>
            <a:r>
              <a:rPr lang="en-US" altLang="zh-CN" sz="1750" dirty="0" smtClean="0">
                <a:solidFill>
                  <a:schemeClr val="tx2"/>
                </a:solidFill>
              </a:rPr>
              <a:t>the target </a:t>
            </a:r>
            <a:r>
              <a:rPr lang="en-US" altLang="zh-CN" sz="1750" dirty="0">
                <a:solidFill>
                  <a:schemeClr val="tx2"/>
                </a:solidFill>
              </a:rPr>
              <a:t>code. As we shall see, some computation orders require </a:t>
            </a:r>
            <a:r>
              <a:rPr lang="en-US" altLang="zh-CN" sz="1750" dirty="0" smtClean="0">
                <a:solidFill>
                  <a:schemeClr val="tx2"/>
                </a:solidFill>
              </a:rPr>
              <a:t>fewer registers to </a:t>
            </a:r>
            <a:r>
              <a:rPr lang="en-US" altLang="zh-CN" sz="1750" dirty="0">
                <a:solidFill>
                  <a:schemeClr val="tx2"/>
                </a:solidFill>
              </a:rPr>
              <a:t>hold intermediate results than others. However, picking a best order </a:t>
            </a:r>
            <a:r>
              <a:rPr lang="en-US" altLang="zh-CN" sz="1750" dirty="0" smtClean="0">
                <a:solidFill>
                  <a:schemeClr val="tx2"/>
                </a:solidFill>
              </a:rPr>
              <a:t>in the </a:t>
            </a:r>
            <a:r>
              <a:rPr lang="en-US" altLang="zh-CN" sz="1750" dirty="0">
                <a:solidFill>
                  <a:schemeClr val="tx2"/>
                </a:solidFill>
              </a:rPr>
              <a:t>general case is a difficult NP-complete problem.</a:t>
            </a:r>
            <a:endParaRPr lang="en-US" altLang="zh-CN" sz="1750" dirty="0" smtClean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730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The </a:t>
            </a:r>
            <a:r>
              <a:rPr lang="en-US" altLang="zh-CN" dirty="0"/>
              <a:t>Target </a:t>
            </a:r>
            <a:r>
              <a:rPr lang="en-US" altLang="zh-CN" dirty="0" smtClean="0"/>
              <a:t>Language-instructions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 smtClean="0"/>
              <a:t>The underlying </a:t>
            </a:r>
            <a:r>
              <a:rPr lang="en-US" altLang="zh-CN" dirty="0"/>
              <a:t>computer is a byte-addressable machine with n general-purpose </a:t>
            </a:r>
            <a:r>
              <a:rPr lang="en-US" altLang="zh-CN" dirty="0" smtClean="0"/>
              <a:t>registers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0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. . . 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n-1</a:t>
            </a:r>
            <a:r>
              <a:rPr lang="en-US" altLang="zh-CN" dirty="0"/>
              <a:t>. We assume </a:t>
            </a:r>
            <a:r>
              <a:rPr lang="en-US" altLang="zh-CN" dirty="0" smtClean="0"/>
              <a:t>the following </a:t>
            </a:r>
            <a:r>
              <a:rPr lang="en-US" altLang="zh-CN" dirty="0"/>
              <a:t>kinds of instructions are available</a:t>
            </a:r>
            <a:r>
              <a:rPr lang="en-US" altLang="zh-CN" dirty="0" smtClean="0"/>
              <a:t>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Load</a:t>
            </a:r>
            <a:r>
              <a:rPr lang="en-US" altLang="zh-CN" dirty="0"/>
              <a:t> operations:  The instruction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addr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loads the value in </a:t>
            </a:r>
            <a:r>
              <a:rPr lang="en-US" altLang="zh-CN" dirty="0" smtClean="0"/>
              <a:t>location </a:t>
            </a:r>
            <a:r>
              <a:rPr lang="en-US" altLang="zh-CN" dirty="0" err="1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addr</a:t>
            </a:r>
            <a:r>
              <a:rPr lang="en-US" altLang="zh-CN" dirty="0" smtClean="0"/>
              <a:t> </a:t>
            </a:r>
            <a:r>
              <a:rPr lang="en-US" altLang="zh-CN" dirty="0"/>
              <a:t>into location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/>
              <a:t>. An instruction of the </a:t>
            </a:r>
            <a:r>
              <a:rPr lang="en-US" altLang="zh-CN" dirty="0" smtClean="0"/>
              <a:t>form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is </a:t>
            </a:r>
            <a:r>
              <a:rPr lang="en-US" altLang="zh-CN" dirty="0" smtClean="0"/>
              <a:t>a register-to-register </a:t>
            </a:r>
            <a:r>
              <a:rPr lang="en-US" altLang="zh-CN" dirty="0"/>
              <a:t>copy in which the contents of 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/>
              <a:t> </a:t>
            </a:r>
            <a:r>
              <a:rPr lang="en-US" altLang="zh-CN" dirty="0"/>
              <a:t>are </a:t>
            </a:r>
            <a:r>
              <a:rPr lang="en-US" altLang="zh-CN" dirty="0" smtClean="0"/>
              <a:t>copied into </a:t>
            </a:r>
            <a:r>
              <a:rPr lang="en-US" altLang="zh-CN" dirty="0"/>
              <a:t>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Store</a:t>
            </a:r>
            <a:r>
              <a:rPr lang="en-US" altLang="zh-CN" dirty="0"/>
              <a:t> operations: The instruction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x, r </a:t>
            </a:r>
            <a:r>
              <a:rPr lang="en-US" altLang="zh-CN" dirty="0"/>
              <a:t>stores the value in 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/>
              <a:t> </a:t>
            </a:r>
            <a:r>
              <a:rPr lang="en-US" altLang="zh-CN" dirty="0" smtClean="0"/>
              <a:t>into the </a:t>
            </a:r>
            <a:r>
              <a:rPr lang="en-US" altLang="zh-CN" dirty="0"/>
              <a:t>location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Computation</a:t>
            </a:r>
            <a:r>
              <a:rPr lang="en-US" altLang="zh-CN" dirty="0"/>
              <a:t> operations of the form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OP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, where 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OP</a:t>
            </a:r>
            <a:r>
              <a:rPr lang="en-US" altLang="zh-CN" dirty="0" smtClean="0"/>
              <a:t> </a:t>
            </a:r>
            <a:r>
              <a:rPr lang="en-US" altLang="zh-CN" dirty="0"/>
              <a:t>is a </a:t>
            </a:r>
            <a:r>
              <a:rPr lang="en-US" altLang="zh-CN" dirty="0" smtClean="0"/>
              <a:t>operator like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</a:t>
            </a:r>
            <a:r>
              <a:rPr lang="en-US" altLang="zh-CN" dirty="0"/>
              <a:t> or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SUB</a:t>
            </a:r>
            <a:r>
              <a:rPr lang="en-US" altLang="zh-CN" dirty="0"/>
              <a:t>, and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 smtClean="0">
                <a:solidFill>
                  <a:srgbClr val="7030A0"/>
                </a:solidFill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, </a:t>
            </a:r>
            <a:r>
              <a:rPr lang="en-US" altLang="zh-CN" dirty="0"/>
              <a:t>and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are locations. The </a:t>
            </a:r>
            <a:r>
              <a:rPr lang="en-US" altLang="zh-CN" dirty="0"/>
              <a:t>effect of this machine instruction is to apply the </a:t>
            </a:r>
            <a:r>
              <a:rPr lang="en-US" altLang="zh-CN" dirty="0" smtClean="0"/>
              <a:t>operation represented </a:t>
            </a:r>
            <a:r>
              <a:rPr lang="en-US" altLang="zh-CN" dirty="0"/>
              <a:t>by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OP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to </a:t>
            </a:r>
            <a:r>
              <a:rPr lang="en-US" altLang="zh-CN" dirty="0"/>
              <a:t>the values in locations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and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, </a:t>
            </a:r>
            <a:r>
              <a:rPr lang="en-US" altLang="zh-CN" dirty="0"/>
              <a:t>and place </a:t>
            </a:r>
            <a:r>
              <a:rPr lang="en-US" altLang="zh-CN" dirty="0" smtClean="0"/>
              <a:t>the result </a:t>
            </a:r>
            <a:r>
              <a:rPr lang="en-US" altLang="zh-CN" dirty="0"/>
              <a:t>of this operation in location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Unconditional jumps</a:t>
            </a:r>
            <a:r>
              <a:rPr lang="en-US" altLang="zh-CN" dirty="0"/>
              <a:t>: The instruction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BR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causes control to branch </a:t>
            </a:r>
            <a:r>
              <a:rPr lang="en-US" altLang="zh-CN" dirty="0" smtClean="0"/>
              <a:t>to the </a:t>
            </a:r>
            <a:r>
              <a:rPr lang="en-US" altLang="zh-CN" dirty="0"/>
              <a:t>machine instruction with label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/>
              <a:t>. (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BR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stands for branch.)</a:t>
            </a:r>
            <a:endParaRPr lang="en-US" altLang="zh-CN" dirty="0" smtClean="0"/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Conditional jumps </a:t>
            </a:r>
            <a:r>
              <a:rPr lang="en-US" altLang="zh-CN" dirty="0"/>
              <a:t>of the form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Bcond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r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/>
              <a:t>, where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is a register,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is a </a:t>
            </a:r>
            <a:r>
              <a:rPr lang="en-US" altLang="zh-CN" dirty="0" smtClean="0"/>
              <a:t>label, and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cond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stands for any of the common tests on values in the register 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 smtClean="0"/>
              <a:t>. For </a:t>
            </a:r>
            <a:r>
              <a:rPr lang="en-US" altLang="zh-CN" dirty="0"/>
              <a:t>example,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BLTZ</a:t>
            </a:r>
            <a:r>
              <a:rPr lang="en-US" altLang="zh-CN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causes a jump to label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if the value in 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 smtClean="0"/>
              <a:t>is less </a:t>
            </a:r>
            <a:r>
              <a:rPr lang="en-US" altLang="zh-CN" dirty="0"/>
              <a:t>than zero, and allows control to pass to the next machine </a:t>
            </a:r>
            <a:r>
              <a:rPr lang="en-US" altLang="zh-CN" dirty="0" smtClean="0"/>
              <a:t>instruction if </a:t>
            </a:r>
            <a:r>
              <a:rPr lang="en-US" altLang="zh-CN" dirty="0"/>
              <a:t>not.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7908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The </a:t>
            </a:r>
            <a:r>
              <a:rPr lang="en-US" altLang="zh-CN" dirty="0"/>
              <a:t>Target </a:t>
            </a:r>
            <a:r>
              <a:rPr lang="en-US" altLang="zh-CN" dirty="0" smtClean="0"/>
              <a:t>Language-addressing modes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0129" y="1600200"/>
            <a:ext cx="7486650" cy="5257800"/>
          </a:xfrm>
        </p:spPr>
        <p:txBody>
          <a:bodyPr>
            <a:normAutofit/>
          </a:bodyPr>
          <a:lstStyle/>
          <a:p>
            <a:r>
              <a:rPr lang="en-US" altLang="zh-CN" dirty="0" smtClean="0"/>
              <a:t>Assume </a:t>
            </a:r>
            <a:r>
              <a:rPr lang="en-US" altLang="zh-CN" dirty="0"/>
              <a:t>our target machine has a variety of addressing modes</a:t>
            </a:r>
            <a:r>
              <a:rPr lang="en-US" altLang="zh-CN" dirty="0" smtClean="0"/>
              <a:t>:</a:t>
            </a:r>
            <a:endParaRPr lang="en-US" altLang="zh-CN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In instructions, a location can be a variable name x referring to the </a:t>
            </a:r>
            <a:r>
              <a:rPr lang="en-US" altLang="zh-CN" dirty="0" smtClean="0"/>
              <a:t>memory location </a:t>
            </a:r>
            <a:r>
              <a:rPr lang="en-US" altLang="zh-CN" dirty="0"/>
              <a:t>that is reserved for x (that is, the I-value of x</a:t>
            </a:r>
            <a:r>
              <a:rPr lang="en-US" altLang="zh-CN" dirty="0" smtClean="0"/>
              <a:t>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A location can also be an indexed address of the form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a(r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), </a:t>
            </a:r>
            <a:r>
              <a:rPr lang="en-US" altLang="zh-CN" dirty="0"/>
              <a:t>where a </a:t>
            </a:r>
            <a:r>
              <a:rPr lang="en-US" altLang="zh-CN" dirty="0" smtClean="0"/>
              <a:t>is a </a:t>
            </a:r>
            <a:r>
              <a:rPr lang="en-US" altLang="zh-CN" dirty="0"/>
              <a:t>variable and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/>
              <a:t> is a register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a(R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  <a:r>
              <a:rPr lang="en-US" altLang="zh-CN" dirty="0"/>
              <a:t>has the effect of </a:t>
            </a:r>
            <a:r>
              <a:rPr lang="en-US" altLang="zh-CN" dirty="0" smtClean="0"/>
              <a:t>setting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/>
              <a:t> </a:t>
            </a:r>
            <a:r>
              <a:rPr lang="en-US" altLang="zh-CN" dirty="0"/>
              <a:t>= contents </a:t>
            </a:r>
            <a:r>
              <a:rPr lang="en-US" altLang="zh-CN" dirty="0" smtClean="0"/>
              <a:t>(</a:t>
            </a:r>
            <a:r>
              <a:rPr lang="en-US" altLang="zh-CN" dirty="0" err="1" smtClean="0"/>
              <a:t>a+contents</a:t>
            </a:r>
            <a:r>
              <a:rPr lang="en-US" altLang="zh-CN" dirty="0" smtClean="0"/>
              <a:t> (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/>
              <a:t>)), where contents(x</a:t>
            </a:r>
            <a:r>
              <a:rPr lang="en-US" altLang="zh-CN" dirty="0"/>
              <a:t>) denotes the </a:t>
            </a:r>
            <a:r>
              <a:rPr lang="en-US" altLang="zh-CN" dirty="0" smtClean="0"/>
              <a:t>contents of </a:t>
            </a:r>
            <a:r>
              <a:rPr lang="en-US" altLang="zh-CN" dirty="0"/>
              <a:t>the register or memory location represented by x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A memory location can be an integer indexed by a register. For </a:t>
            </a:r>
            <a:r>
              <a:rPr lang="en-US" altLang="zh-CN" dirty="0" smtClean="0"/>
              <a:t>example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LD 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100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  <a:r>
              <a:rPr lang="en-US" altLang="zh-CN" dirty="0"/>
              <a:t>has the effect of setting </a:t>
            </a:r>
            <a:r>
              <a:rPr lang="en-US" altLang="zh-CN" dirty="0" smtClean="0"/>
              <a:t>R</a:t>
            </a:r>
            <a:r>
              <a:rPr lang="en-US" altLang="zh-CN" baseline="-25000" dirty="0" smtClean="0"/>
              <a:t>1</a:t>
            </a:r>
            <a:r>
              <a:rPr lang="en-US" altLang="zh-CN" dirty="0" smtClean="0"/>
              <a:t>= </a:t>
            </a:r>
            <a:r>
              <a:rPr lang="en-US" altLang="zh-CN" dirty="0"/>
              <a:t>contents (</a:t>
            </a:r>
            <a:r>
              <a:rPr lang="en-US" altLang="zh-CN" dirty="0" smtClean="0"/>
              <a:t>100+contents </a:t>
            </a:r>
            <a:r>
              <a:rPr lang="en-US" altLang="zh-CN" dirty="0"/>
              <a:t>(R</a:t>
            </a:r>
            <a:r>
              <a:rPr lang="en-US" altLang="zh-CN" baseline="-25000" dirty="0"/>
              <a:t>2</a:t>
            </a:r>
            <a:r>
              <a:rPr lang="en-US" altLang="zh-CN" dirty="0" smtClean="0"/>
              <a:t>)).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We also allow two indirect addressing modes: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*r </a:t>
            </a:r>
            <a:r>
              <a:rPr lang="en-US" altLang="zh-CN" dirty="0"/>
              <a:t>means the memory </a:t>
            </a:r>
            <a:r>
              <a:rPr lang="en-US" altLang="zh-CN" dirty="0" smtClean="0"/>
              <a:t>location found </a:t>
            </a:r>
            <a:r>
              <a:rPr lang="en-US" altLang="zh-CN" dirty="0"/>
              <a:t>in the location </a:t>
            </a:r>
            <a:r>
              <a:rPr lang="en-US" altLang="zh-CN" dirty="0" smtClean="0"/>
              <a:t>represented </a:t>
            </a:r>
            <a:r>
              <a:rPr lang="en-US" altLang="zh-CN" dirty="0"/>
              <a:t>by the contents of 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/>
              <a:t> </a:t>
            </a:r>
            <a:r>
              <a:rPr lang="en-US" altLang="zh-CN" dirty="0" smtClean="0"/>
              <a:t>and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*100(r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  <a:r>
              <a:rPr lang="en-US" altLang="zh-CN" dirty="0"/>
              <a:t>means the memory location found in the location obtained </a:t>
            </a:r>
            <a:r>
              <a:rPr lang="en-US" altLang="zh-CN" dirty="0" smtClean="0"/>
              <a:t>by adding </a:t>
            </a:r>
            <a:r>
              <a:rPr lang="en-US" altLang="zh-CN" dirty="0"/>
              <a:t>100 to the contents of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/>
              <a:t>. For example, 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, *100(R</a:t>
            </a:r>
            <a:r>
              <a:rPr lang="en-US" altLang="zh-CN" baseline="-250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  <a:r>
              <a:rPr lang="en-US" altLang="zh-CN" dirty="0"/>
              <a:t>has </a:t>
            </a:r>
            <a:r>
              <a:rPr lang="en-US" altLang="zh-CN" dirty="0" smtClean="0"/>
              <a:t>the effect </a:t>
            </a:r>
            <a:r>
              <a:rPr lang="en-US" altLang="zh-CN" dirty="0"/>
              <a:t>of setting </a:t>
            </a:r>
            <a:r>
              <a:rPr lang="en-US" altLang="zh-CN" dirty="0" err="1" smtClean="0"/>
              <a:t>R</a:t>
            </a:r>
            <a:r>
              <a:rPr lang="en-US" altLang="zh-CN" baseline="-25000" dirty="0" err="1" smtClean="0"/>
              <a:t>l</a:t>
            </a:r>
            <a:r>
              <a:rPr lang="en-US" altLang="zh-CN" dirty="0" smtClean="0"/>
              <a:t>=contents(contents </a:t>
            </a:r>
            <a:r>
              <a:rPr lang="en-US" altLang="zh-CN" dirty="0"/>
              <a:t>(</a:t>
            </a:r>
            <a:r>
              <a:rPr lang="en-US" altLang="zh-CN" dirty="0" smtClean="0"/>
              <a:t>100+contents </a:t>
            </a:r>
            <a:r>
              <a:rPr lang="en-US" altLang="zh-CN" dirty="0"/>
              <a:t>(R</a:t>
            </a:r>
            <a:r>
              <a:rPr lang="en-US" altLang="zh-CN" baseline="-25000" dirty="0"/>
              <a:t>2</a:t>
            </a:r>
            <a:r>
              <a:rPr lang="en-US" altLang="zh-CN" dirty="0"/>
              <a:t>) ) </a:t>
            </a:r>
            <a:r>
              <a:rPr lang="en-US" altLang="zh-CN" dirty="0" smtClean="0"/>
              <a:t>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Finally, we allow an immediate constant addressing mode. The </a:t>
            </a:r>
            <a:r>
              <a:rPr lang="en-US" altLang="zh-CN" dirty="0" smtClean="0"/>
              <a:t>constant is </a:t>
            </a:r>
            <a:r>
              <a:rPr lang="en-US" altLang="zh-CN" dirty="0"/>
              <a:t>prefixed by #. The instruction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#100 </a:t>
            </a:r>
            <a:r>
              <a:rPr lang="en-US" altLang="zh-CN" dirty="0"/>
              <a:t>loads the integer 100 </a:t>
            </a:r>
            <a:r>
              <a:rPr lang="en-US" altLang="zh-CN" dirty="0" smtClean="0"/>
              <a:t>into register R</a:t>
            </a:r>
            <a:r>
              <a:rPr lang="en-US" altLang="zh-CN" baseline="-25000" dirty="0" smtClean="0"/>
              <a:t>1</a:t>
            </a:r>
            <a:r>
              <a:rPr lang="en-US" altLang="zh-CN" dirty="0" smtClean="0"/>
              <a:t>, </a:t>
            </a:r>
            <a:r>
              <a:rPr lang="en-US" altLang="zh-CN" dirty="0"/>
              <a:t>and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 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# 100 </a:t>
            </a:r>
            <a:r>
              <a:rPr lang="en-US" altLang="zh-CN" dirty="0"/>
              <a:t>adds the integer 100 into register </a:t>
            </a:r>
            <a:r>
              <a:rPr lang="en-US" altLang="zh-CN" dirty="0" smtClean="0"/>
              <a:t>R</a:t>
            </a:r>
            <a:r>
              <a:rPr lang="en-US" altLang="zh-CN" baseline="-25000" dirty="0" smtClean="0"/>
              <a:t>1</a:t>
            </a:r>
            <a:r>
              <a:rPr lang="en-US" altLang="zh-CN" dirty="0" smtClean="0"/>
              <a:t>.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1885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The </a:t>
            </a:r>
            <a:r>
              <a:rPr lang="en-US" altLang="zh-CN" dirty="0"/>
              <a:t>Target </a:t>
            </a:r>
            <a:r>
              <a:rPr lang="en-US" altLang="zh-CN" dirty="0" smtClean="0"/>
              <a:t>Language – Examples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5" y="1538813"/>
            <a:ext cx="7504762" cy="4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28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The </a:t>
            </a:r>
            <a:r>
              <a:rPr lang="en-US" altLang="zh-CN" dirty="0"/>
              <a:t>Target </a:t>
            </a:r>
            <a:r>
              <a:rPr lang="en-US" altLang="zh-CN" dirty="0" smtClean="0"/>
              <a:t>Language – Examples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72" y="1342739"/>
            <a:ext cx="7561905" cy="3266667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83" y="4562481"/>
            <a:ext cx="6285714" cy="80952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749" y="5315143"/>
            <a:ext cx="5257143" cy="15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376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The Target Language – Instruction Cost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We assume </a:t>
            </a:r>
            <a:r>
              <a:rPr lang="en-US" altLang="zh-CN" dirty="0"/>
              <a:t>each </a:t>
            </a:r>
            <a:r>
              <a:rPr lang="en-US" altLang="zh-CN" dirty="0" smtClean="0"/>
              <a:t>target-language instruction </a:t>
            </a:r>
            <a:r>
              <a:rPr lang="en-US" altLang="zh-CN" dirty="0"/>
              <a:t>has an associated cost. For simplicity, we take the cost of an </a:t>
            </a:r>
            <a:r>
              <a:rPr lang="en-US" altLang="zh-CN" dirty="0" smtClean="0"/>
              <a:t>instruction to </a:t>
            </a:r>
            <a:r>
              <a:rPr lang="en-US" altLang="zh-CN" dirty="0"/>
              <a:t>be one plus the costs associated with the addressing modes of </a:t>
            </a:r>
            <a:r>
              <a:rPr lang="en-US" altLang="zh-CN" dirty="0" smtClean="0"/>
              <a:t>the operands</a:t>
            </a:r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33" y="2465556"/>
            <a:ext cx="7190476" cy="29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618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Addresses in the Target Code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989176"/>
          </a:xfrm>
        </p:spPr>
        <p:txBody>
          <a:bodyPr/>
          <a:lstStyle/>
          <a:p>
            <a:r>
              <a:rPr lang="en-US" altLang="zh-CN" dirty="0" smtClean="0"/>
              <a:t>In the last chapter, we </a:t>
            </a:r>
            <a:r>
              <a:rPr lang="en-US" altLang="zh-CN" dirty="0"/>
              <a:t>described how </a:t>
            </a:r>
            <a:r>
              <a:rPr lang="en-US" altLang="zh-CN" dirty="0" smtClean="0"/>
              <a:t>each executing </a:t>
            </a:r>
            <a:r>
              <a:rPr lang="en-US" altLang="zh-CN" dirty="0"/>
              <a:t>program runs in its own logical address space that was </a:t>
            </a:r>
            <a:r>
              <a:rPr lang="en-US" altLang="zh-CN" dirty="0" smtClean="0"/>
              <a:t>partitioned into </a:t>
            </a:r>
            <a:r>
              <a:rPr lang="en-US" altLang="zh-CN" dirty="0"/>
              <a:t>four code and data areas:</a:t>
            </a:r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849" y="2432561"/>
            <a:ext cx="7266667" cy="34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48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Addresses in the Target Code-Static Allocation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672413"/>
          </a:xfrm>
        </p:spPr>
        <p:txBody>
          <a:bodyPr/>
          <a:lstStyle/>
          <a:p>
            <a:r>
              <a:rPr lang="en-US" altLang="zh-CN" dirty="0"/>
              <a:t>code generation for simplified procedure calls and returns, three-address statements</a:t>
            </a:r>
            <a:r>
              <a:rPr lang="en-US" altLang="zh-CN" dirty="0" smtClean="0"/>
              <a:t>:</a:t>
            </a:r>
          </a:p>
          <a:p>
            <a:endParaRPr lang="en-US" altLang="zh-CN" dirty="0"/>
          </a:p>
          <a:p>
            <a:endParaRPr lang="en-US" altLang="zh-CN" dirty="0" smtClean="0"/>
          </a:p>
          <a:p>
            <a:r>
              <a:rPr lang="en-US" altLang="zh-CN" dirty="0"/>
              <a:t>Here, a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call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callee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statement in the intermediate code can be </a:t>
            </a:r>
            <a:r>
              <a:rPr lang="en-US" altLang="zh-CN" dirty="0" smtClean="0"/>
              <a:t>implemented by </a:t>
            </a:r>
            <a:r>
              <a:rPr lang="en-US" altLang="zh-CN" dirty="0"/>
              <a:t>a sequence of two target-machine </a:t>
            </a:r>
            <a:r>
              <a:rPr lang="en-US" altLang="zh-CN" dirty="0" smtClean="0"/>
              <a:t>instructions</a:t>
            </a:r>
            <a:r>
              <a:rPr lang="en-US" altLang="zh-CN" dirty="0"/>
              <a:t>:</a:t>
            </a:r>
            <a:endParaRPr lang="en-US" altLang="zh-CN" dirty="0" smtClean="0"/>
          </a:p>
          <a:p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385" y="1880754"/>
            <a:ext cx="4557339" cy="109402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9329" y="3484139"/>
            <a:ext cx="3226892" cy="555742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648" y="4142015"/>
            <a:ext cx="7647619" cy="26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248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Addresses in the Target Code-Static Allocation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672413"/>
          </a:xfrm>
        </p:spPr>
        <p:txBody>
          <a:bodyPr/>
          <a:lstStyle/>
          <a:p>
            <a:r>
              <a:rPr lang="en-US" altLang="zh-CN" dirty="0"/>
              <a:t>A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return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callee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statement can </a:t>
            </a:r>
            <a:r>
              <a:rPr lang="en-US" altLang="zh-CN" dirty="0" smtClean="0"/>
              <a:t>be implemented </a:t>
            </a:r>
            <a:r>
              <a:rPr lang="en-US" altLang="zh-CN" dirty="0"/>
              <a:t>by a simple jump instruction</a:t>
            </a:r>
          </a:p>
          <a:p>
            <a:endParaRPr lang="en-US" altLang="zh-CN" dirty="0" smtClean="0"/>
          </a:p>
          <a:p>
            <a:r>
              <a:rPr lang="en-US" altLang="zh-CN" dirty="0"/>
              <a:t>which transfers control to the address saved at the beginning of the </a:t>
            </a:r>
            <a:r>
              <a:rPr lang="en-US" altLang="zh-CN" dirty="0" smtClean="0"/>
              <a:t>activation record </a:t>
            </a:r>
            <a:r>
              <a:rPr lang="en-US" altLang="zh-CN" dirty="0"/>
              <a:t>for </a:t>
            </a:r>
            <a:r>
              <a:rPr lang="en-US" altLang="zh-CN" dirty="0" err="1"/>
              <a:t>callee</a:t>
            </a:r>
            <a:r>
              <a:rPr lang="en-US" altLang="zh-CN" dirty="0" smtClean="0"/>
              <a:t>.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 smtClean="0"/>
              <a:t>Example</a:t>
            </a:r>
            <a:r>
              <a:rPr lang="zh-CN" altLang="en-US" dirty="0" smtClean="0"/>
              <a:t>： </a:t>
            </a:r>
            <a:endParaRPr lang="en-US" altLang="zh-CN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05" y="1968134"/>
            <a:ext cx="2333333" cy="32381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167" y="3741864"/>
            <a:ext cx="2530948" cy="1958182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043" y="3119215"/>
            <a:ext cx="4310801" cy="3129506"/>
          </a:xfrm>
          <a:prstGeom prst="rect">
            <a:avLst/>
          </a:prstGeom>
        </p:spPr>
      </p:pic>
      <p:sp>
        <p:nvSpPr>
          <p:cNvPr id="10" name="右箭头 9"/>
          <p:cNvSpPr/>
          <p:nvPr/>
        </p:nvSpPr>
        <p:spPr>
          <a:xfrm>
            <a:off x="3469593" y="4221622"/>
            <a:ext cx="709300" cy="3931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496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Addresses in the Target </a:t>
            </a:r>
            <a:r>
              <a:rPr lang="en-US" altLang="zh-CN" dirty="0"/>
              <a:t>Code-Stack Allocation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4057116"/>
          </a:xfrm>
        </p:spPr>
        <p:txBody>
          <a:bodyPr/>
          <a:lstStyle/>
          <a:p>
            <a:r>
              <a:rPr lang="en-US" altLang="zh-CN" dirty="0"/>
              <a:t>Static allocation can become stack allocation by using relative addresses </a:t>
            </a:r>
            <a:r>
              <a:rPr lang="en-US" altLang="zh-CN" dirty="0" smtClean="0"/>
              <a:t>for storage </a:t>
            </a:r>
            <a:r>
              <a:rPr lang="en-US" altLang="zh-CN" dirty="0"/>
              <a:t>in activation records. In stack allocation, however , the position of </a:t>
            </a:r>
            <a:r>
              <a:rPr lang="en-US" altLang="zh-CN" dirty="0" smtClean="0"/>
              <a:t>an activation </a:t>
            </a:r>
            <a:r>
              <a:rPr lang="en-US" altLang="zh-CN" dirty="0"/>
              <a:t>record for a procedure is not known until run time. This position </a:t>
            </a:r>
            <a:r>
              <a:rPr lang="en-US" altLang="zh-CN" dirty="0" smtClean="0"/>
              <a:t>is usually </a:t>
            </a:r>
            <a:r>
              <a:rPr lang="en-US" altLang="zh-CN" dirty="0"/>
              <a:t>stored in a register, so words in the activation record can be accessed </a:t>
            </a:r>
            <a:r>
              <a:rPr lang="en-US" altLang="zh-CN" dirty="0" smtClean="0"/>
              <a:t>as offsets </a:t>
            </a:r>
            <a:r>
              <a:rPr lang="en-US" altLang="zh-CN" dirty="0"/>
              <a:t>from the value in this register</a:t>
            </a:r>
            <a:r>
              <a:rPr lang="en-US" altLang="zh-CN" dirty="0" smtClean="0"/>
              <a:t>.</a:t>
            </a:r>
          </a:p>
          <a:p>
            <a:r>
              <a:rPr lang="en-US" altLang="zh-CN" dirty="0" smtClean="0"/>
              <a:t>We </a:t>
            </a:r>
            <a:r>
              <a:rPr lang="en-US" altLang="zh-CN" dirty="0"/>
              <a:t>shall use positive offsets by maintaining in a register SP a pointer </a:t>
            </a:r>
            <a:r>
              <a:rPr lang="en-US" altLang="zh-CN" dirty="0" smtClean="0"/>
              <a:t>to the </a:t>
            </a:r>
            <a:r>
              <a:rPr lang="en-US" altLang="zh-CN" dirty="0"/>
              <a:t>beginning of the activation record on top of the stack. When a </a:t>
            </a:r>
            <a:r>
              <a:rPr lang="en-US" altLang="zh-CN" dirty="0" smtClean="0"/>
              <a:t>procedure call </a:t>
            </a:r>
            <a:r>
              <a:rPr lang="en-US" altLang="zh-CN" dirty="0"/>
              <a:t>occurs, the calling procedure increments SP and transfers control to </a:t>
            </a:r>
            <a:r>
              <a:rPr lang="en-US" altLang="zh-CN" dirty="0" smtClean="0"/>
              <a:t>the called </a:t>
            </a:r>
            <a:r>
              <a:rPr lang="en-US" altLang="zh-CN" dirty="0"/>
              <a:t>procedure. After control returns to the caller, we decrement SP, </a:t>
            </a:r>
            <a:r>
              <a:rPr lang="en-US" altLang="zh-CN" dirty="0" smtClean="0"/>
              <a:t>thereby deallocating </a:t>
            </a:r>
            <a:r>
              <a:rPr lang="en-US" altLang="zh-CN" dirty="0"/>
              <a:t>the activation record of the called procedure.</a:t>
            </a:r>
          </a:p>
        </p:txBody>
      </p:sp>
    </p:spTree>
    <p:extLst>
      <p:ext uri="{BB962C8B-B14F-4D97-AF65-F5344CB8AC3E}">
        <p14:creationId xmlns:p14="http://schemas.microsoft.com/office/powerpoint/2010/main" val="2820385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学术文献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9411639_TF03431380_TF03431380" id="{9AE2BD50-F2AD-48C6-8A81-F7D7390F9E40}" vid="{822244C9-F44A-41EE-AAAB-DAE7A533DA64}"/>
    </a:ext>
  </a:extLst>
</a:theme>
</file>

<file path=ppt/theme/theme2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8CDDBB83-77C1-4099-A0AA-289882E745E2}">
  <ds:schemaRefs>
    <ds:schemaRef ds:uri="http://purl.org/dc/terms/"/>
    <ds:schemaRef ds:uri="http://www.w3.org/XML/1998/namespace"/>
    <ds:schemaRef ds:uri="http://schemas.microsoft.com/office/2006/documentManagement/types"/>
    <ds:schemaRef ds:uri="4873beb7-5857-4685-be1f-d57550cc96cc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1495</Words>
  <Application>Microsoft Office PowerPoint</Application>
  <PresentationFormat>全屏显示(4:3)</PresentationFormat>
  <Paragraphs>97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2" baseType="lpstr">
      <vt:lpstr>Euphemia</vt:lpstr>
      <vt:lpstr>微软雅黑</vt:lpstr>
      <vt:lpstr>Arial</vt:lpstr>
      <vt:lpstr>Cambria Math</vt:lpstr>
      <vt:lpstr>Wingdings</vt:lpstr>
      <vt:lpstr>学术文献 16x9</vt:lpstr>
      <vt:lpstr>Compilers</vt:lpstr>
      <vt:lpstr>Code Generation</vt:lpstr>
      <vt:lpstr>Outlines</vt:lpstr>
      <vt:lpstr>9.1 Issues in the Design of a Code Generator</vt:lpstr>
      <vt:lpstr>9.1 Issues in the Design of a Code Generator</vt:lpstr>
      <vt:lpstr>9.1 Issues in the Design of a Code Generator</vt:lpstr>
      <vt:lpstr>9.1 Issues in the Design of a Code Generator</vt:lpstr>
      <vt:lpstr>8.2 The Target Language-instructions</vt:lpstr>
      <vt:lpstr>8.2 The Target Language-addressing modes</vt:lpstr>
      <vt:lpstr>8.2 The Target Language – Examples</vt:lpstr>
      <vt:lpstr>8.2 The Target Language – Examples</vt:lpstr>
      <vt:lpstr>8.2 The Target Language – Instruction Cost</vt:lpstr>
      <vt:lpstr>8.3 Addresses in the Target Code</vt:lpstr>
      <vt:lpstr>8.3 Addresses in the Target Code-Static Allocation</vt:lpstr>
      <vt:lpstr>8.3 Addresses in the Target Code-Static Allocation</vt:lpstr>
      <vt:lpstr>8.3 Addresses in the Target Code-Stack Allocation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2017-04-09T02:54:44Z</dcterms:created>
  <dcterms:modified xsi:type="dcterms:W3CDTF">2020-05-27T05:48:34Z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