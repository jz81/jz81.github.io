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1" r:id="rId6"/>
    <p:sldId id="278" r:id="rId7"/>
    <p:sldId id="279" r:id="rId8"/>
    <p:sldId id="280" r:id="rId9"/>
    <p:sldId id="281" r:id="rId10"/>
    <p:sldId id="282" r:id="rId11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154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2020/5/26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2020/5/26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2020/5/26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2020/5/26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2020/5/26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828675" y="2576321"/>
            <a:ext cx="4300538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Compilers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828675" y="3879543"/>
            <a:ext cx="4300538" cy="1473692"/>
          </a:xfrm>
        </p:spPr>
        <p:txBody>
          <a:bodyPr rtlCol="0">
            <a:normAutofit/>
          </a:bodyPr>
          <a:lstStyle/>
          <a:p>
            <a:pPr rtl="0"/>
            <a:r>
              <a:rPr lang="en-US" sz="2000" dirty="0"/>
              <a:t>Principles, Techniques, &amp; Tools</a:t>
            </a: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Jing Zhang </a:t>
            </a: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(jzhang@njust.edu.cn)</a:t>
            </a: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altLang="zh-CN" dirty="0" smtClean="0"/>
              <a:t>Code Generation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Issues in the Design of a Code Generator</a:t>
            </a:r>
          </a:p>
          <a:p>
            <a:r>
              <a:rPr lang="en-US" altLang="zh-CN" dirty="0" smtClean="0"/>
              <a:t>The Target Language</a:t>
            </a:r>
            <a:endParaRPr lang="en-US" altLang="zh-CN" dirty="0"/>
          </a:p>
          <a:p>
            <a:r>
              <a:rPr lang="en-US" altLang="zh-CN" dirty="0" smtClean="0"/>
              <a:t>Addresses in the Target Code</a:t>
            </a:r>
            <a:endParaRPr lang="en-US" altLang="zh-CN" dirty="0"/>
          </a:p>
          <a:p>
            <a:r>
              <a:rPr lang="en-US" altLang="zh-CN" dirty="0" smtClean="0"/>
              <a:t>Basic Blocks and Flow Graphs</a:t>
            </a:r>
            <a:endParaRPr lang="en-US" altLang="zh-CN" dirty="0"/>
          </a:p>
          <a:p>
            <a:r>
              <a:rPr lang="en-US" altLang="zh-CN" dirty="0" smtClean="0"/>
              <a:t>Optimization of Basic Blocks</a:t>
            </a:r>
          </a:p>
          <a:p>
            <a:r>
              <a:rPr lang="en-US" altLang="zh-CN" dirty="0" smtClean="0"/>
              <a:t>Peephole Optimization</a:t>
            </a:r>
          </a:p>
          <a:p>
            <a:r>
              <a:rPr lang="en-US" altLang="zh-CN" dirty="0" smtClean="0"/>
              <a:t>Register Allocation and Assignment</a:t>
            </a:r>
          </a:p>
          <a:p>
            <a:r>
              <a:rPr lang="en-US" altLang="zh-CN" dirty="0" smtClean="0"/>
              <a:t>Instruction Selection by Tree Rewriting</a:t>
            </a:r>
            <a:endParaRPr lang="en-US" altLang="zh-CN" dirty="0" smtClean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5570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9.1 Issues </a:t>
            </a:r>
            <a:r>
              <a:rPr lang="en-US" altLang="zh-CN" dirty="0"/>
              <a:t>in the Design of a Code </a:t>
            </a:r>
            <a:r>
              <a:rPr lang="en-US" altLang="zh-CN" dirty="0" smtClean="0"/>
              <a:t>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501497"/>
          </a:xfrm>
        </p:spPr>
        <p:txBody>
          <a:bodyPr>
            <a:normAutofit/>
          </a:bodyPr>
          <a:lstStyle/>
          <a:p>
            <a:r>
              <a:rPr lang="en-US" altLang="zh-CN" dirty="0"/>
              <a:t>The final phase in our compiler model is the code generator. It takes as </a:t>
            </a:r>
            <a:r>
              <a:rPr lang="en-US" altLang="zh-CN" dirty="0" smtClean="0"/>
              <a:t>input the </a:t>
            </a:r>
            <a:r>
              <a:rPr lang="en-US" altLang="zh-CN" dirty="0"/>
              <a:t>intermediate representation (IR) produced by the front end of the </a:t>
            </a:r>
            <a:r>
              <a:rPr lang="en-US" altLang="zh-CN" dirty="0" smtClean="0"/>
              <a:t>compiler, along </a:t>
            </a:r>
            <a:r>
              <a:rPr lang="en-US" altLang="zh-CN" dirty="0"/>
              <a:t>with relevant symbol table information, and produces as output </a:t>
            </a:r>
            <a:r>
              <a:rPr lang="en-US" altLang="zh-CN" dirty="0" smtClean="0"/>
              <a:t>a semantically </a:t>
            </a:r>
            <a:r>
              <a:rPr lang="en-US" altLang="zh-CN" dirty="0"/>
              <a:t>equivalent target </a:t>
            </a:r>
            <a:r>
              <a:rPr lang="en-US" altLang="zh-CN" dirty="0" smtClean="0"/>
              <a:t>program.</a:t>
            </a:r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dirty="0" smtClean="0"/>
          </a:p>
          <a:p>
            <a:r>
              <a:rPr lang="en-US" altLang="zh-CN" dirty="0"/>
              <a:t>The challenge is that, mathematically, the problem of generating an </a:t>
            </a:r>
            <a:r>
              <a:rPr lang="en-US" altLang="zh-CN" dirty="0" smtClean="0"/>
              <a:t>optimal target </a:t>
            </a:r>
            <a:r>
              <a:rPr lang="en-US" altLang="zh-CN" dirty="0"/>
              <a:t>program for a given source program is undecidable; many of the </a:t>
            </a:r>
            <a:r>
              <a:rPr lang="en-US" altLang="zh-CN" dirty="0" err="1" smtClean="0"/>
              <a:t>subproblems</a:t>
            </a:r>
            <a:r>
              <a:rPr lang="en-US" altLang="zh-CN" dirty="0" smtClean="0"/>
              <a:t> encountered </a:t>
            </a:r>
            <a:r>
              <a:rPr lang="en-US" altLang="zh-CN" dirty="0" err="1"/>
              <a:t>iIi</a:t>
            </a:r>
            <a:r>
              <a:rPr lang="en-US" altLang="zh-CN" dirty="0"/>
              <a:t> code generation such as register allocation are </a:t>
            </a:r>
            <a:r>
              <a:rPr lang="en-US" altLang="zh-CN" dirty="0" smtClean="0"/>
              <a:t>computationally intractable</a:t>
            </a:r>
            <a:r>
              <a:rPr lang="en-US" altLang="zh-CN" dirty="0"/>
              <a:t>. In practice, we must be content with heuristic </a:t>
            </a:r>
            <a:r>
              <a:rPr lang="en-US" altLang="zh-CN" dirty="0" smtClean="0"/>
              <a:t>techniques that </a:t>
            </a:r>
            <a:r>
              <a:rPr lang="en-US" altLang="zh-CN" dirty="0"/>
              <a:t>generate good, but not necessarily optimal, code. Fortunately, </a:t>
            </a:r>
            <a:r>
              <a:rPr lang="en-US" altLang="zh-CN" dirty="0" smtClean="0"/>
              <a:t>heuristics have </a:t>
            </a:r>
            <a:r>
              <a:rPr lang="en-US" altLang="zh-CN" dirty="0"/>
              <a:t>matured enough that a carefully designed code generator can produce </a:t>
            </a:r>
            <a:r>
              <a:rPr lang="en-US" altLang="zh-CN" dirty="0" smtClean="0"/>
              <a:t>code that </a:t>
            </a:r>
            <a:r>
              <a:rPr lang="en-US" altLang="zh-CN" dirty="0"/>
              <a:t>is several times faster than code produced by a naive one.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076" y="2626629"/>
            <a:ext cx="6172200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1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Input to the Code </a:t>
            </a:r>
            <a:r>
              <a:rPr lang="en-US" altLang="zh-CN" sz="1600" dirty="0" smtClean="0">
                <a:solidFill>
                  <a:srgbClr val="7030A0"/>
                </a:solidFill>
              </a:rPr>
              <a:t>Generator</a:t>
            </a:r>
          </a:p>
          <a:p>
            <a:pPr lvl="1"/>
            <a:r>
              <a:rPr lang="en-US" altLang="zh-CN" sz="1400" dirty="0"/>
              <a:t>The many choices for the IR include three-address representations such </a:t>
            </a:r>
            <a:r>
              <a:rPr lang="en-US" altLang="zh-CN" sz="1400" dirty="0" smtClean="0"/>
              <a:t>as quadruples</a:t>
            </a:r>
            <a:r>
              <a:rPr lang="en-US" altLang="zh-CN" sz="1400" dirty="0"/>
              <a:t>, triples, indirect triples; virtual machine representations such </a:t>
            </a:r>
            <a:r>
              <a:rPr lang="en-US" altLang="zh-CN" sz="1400" dirty="0" smtClean="0"/>
              <a:t>as bytecodes </a:t>
            </a:r>
            <a:r>
              <a:rPr lang="en-US" altLang="zh-CN" sz="1400" dirty="0"/>
              <a:t>and stack-machine code; linear representations such as postfix </a:t>
            </a:r>
            <a:r>
              <a:rPr lang="en-US" altLang="zh-CN" sz="1400" dirty="0" smtClean="0"/>
              <a:t>notation; and </a:t>
            </a:r>
            <a:r>
              <a:rPr lang="en-US" altLang="zh-CN" sz="1400" dirty="0"/>
              <a:t>graphical representations such as syntax trees and DAG's. </a:t>
            </a:r>
            <a:r>
              <a:rPr lang="en-US" altLang="zh-CN" sz="1400" dirty="0" smtClean="0"/>
              <a:t>Many of </a:t>
            </a:r>
            <a:r>
              <a:rPr lang="en-US" altLang="zh-CN" sz="1400" dirty="0"/>
              <a:t>the algorithms in this chapter are couched in terms of the </a:t>
            </a:r>
            <a:r>
              <a:rPr lang="en-US" altLang="zh-CN" sz="1400" dirty="0" smtClean="0"/>
              <a:t>representations considered </a:t>
            </a:r>
            <a:r>
              <a:rPr lang="en-US" altLang="zh-CN" sz="1400" dirty="0"/>
              <a:t>in Chapter 6: three-address code, trees, and DAG 's</a:t>
            </a:r>
            <a:r>
              <a:rPr lang="en-US" altLang="zh-CN" sz="1400" dirty="0" smtClean="0"/>
              <a:t>.</a:t>
            </a:r>
          </a:p>
          <a:p>
            <a:r>
              <a:rPr lang="en-US" altLang="zh-CN" sz="1600" dirty="0">
                <a:solidFill>
                  <a:srgbClr val="7030A0"/>
                </a:solidFill>
              </a:rPr>
              <a:t>The </a:t>
            </a:r>
            <a:r>
              <a:rPr lang="en-US" altLang="zh-CN" sz="1600" dirty="0" smtClean="0">
                <a:solidFill>
                  <a:srgbClr val="7030A0"/>
                </a:solidFill>
              </a:rPr>
              <a:t>Target Program</a:t>
            </a:r>
          </a:p>
          <a:p>
            <a:pPr lvl="1"/>
            <a:r>
              <a:rPr lang="en-US" altLang="zh-CN" sz="1400" dirty="0">
                <a:solidFill>
                  <a:schemeClr val="tx2"/>
                </a:solidFill>
              </a:rPr>
              <a:t>The instruction-set architecture of the target machine has a significant </a:t>
            </a:r>
            <a:r>
              <a:rPr lang="en-US" altLang="zh-CN" sz="1400" dirty="0" smtClean="0">
                <a:solidFill>
                  <a:schemeClr val="tx2"/>
                </a:solidFill>
              </a:rPr>
              <a:t>impact on </a:t>
            </a:r>
            <a:r>
              <a:rPr lang="en-US" altLang="zh-CN" sz="1400" dirty="0">
                <a:solidFill>
                  <a:schemeClr val="tx2"/>
                </a:solidFill>
              </a:rPr>
              <a:t>the difficulty of constructing a good code generator that </a:t>
            </a:r>
            <a:r>
              <a:rPr lang="en-US" altLang="zh-CN" sz="1400" dirty="0" smtClean="0">
                <a:solidFill>
                  <a:schemeClr val="tx2"/>
                </a:solidFill>
              </a:rPr>
              <a:t>produces high-quality </a:t>
            </a:r>
            <a:r>
              <a:rPr lang="en-US" altLang="zh-CN" sz="1400" dirty="0">
                <a:solidFill>
                  <a:schemeClr val="tx2"/>
                </a:solidFill>
              </a:rPr>
              <a:t>machine code. The most common target-machine </a:t>
            </a:r>
            <a:r>
              <a:rPr lang="en-US" altLang="zh-CN" sz="1400" dirty="0" smtClean="0">
                <a:solidFill>
                  <a:schemeClr val="tx2"/>
                </a:solidFill>
              </a:rPr>
              <a:t>architectures are RISC </a:t>
            </a:r>
            <a:r>
              <a:rPr lang="en-US" altLang="zh-CN" sz="1400" dirty="0">
                <a:solidFill>
                  <a:schemeClr val="tx2"/>
                </a:solidFill>
              </a:rPr>
              <a:t>(reduced instruction set computer) ,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(complex </a:t>
            </a:r>
            <a:r>
              <a:rPr lang="en-US" altLang="zh-CN" sz="1400" dirty="0">
                <a:solidFill>
                  <a:schemeClr val="tx2"/>
                </a:solidFill>
              </a:rPr>
              <a:t>instruction </a:t>
            </a:r>
            <a:r>
              <a:rPr lang="en-US" altLang="zh-CN" sz="1400" dirty="0" smtClean="0">
                <a:solidFill>
                  <a:schemeClr val="tx2"/>
                </a:solidFill>
              </a:rPr>
              <a:t>set computer</a:t>
            </a:r>
            <a:r>
              <a:rPr lang="en-US" altLang="zh-CN" sz="1400" dirty="0">
                <a:solidFill>
                  <a:schemeClr val="tx2"/>
                </a:solidFill>
              </a:rPr>
              <a:t>) , and stack based</a:t>
            </a:r>
            <a:r>
              <a:rPr lang="en-US" altLang="zh-CN" sz="1400" dirty="0" smtClean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en-US" altLang="zh-CN" sz="1400" dirty="0">
                <a:solidFill>
                  <a:schemeClr val="tx2"/>
                </a:solidFill>
              </a:rPr>
              <a:t>A </a:t>
            </a:r>
            <a:r>
              <a:rPr lang="en-US" altLang="zh-CN" sz="1400" dirty="0" smtClean="0">
                <a:solidFill>
                  <a:schemeClr val="tx2"/>
                </a:solidFill>
              </a:rPr>
              <a:t>RISC </a:t>
            </a:r>
            <a:r>
              <a:rPr lang="en-US" altLang="zh-CN" sz="1400" dirty="0">
                <a:solidFill>
                  <a:schemeClr val="tx2"/>
                </a:solidFill>
              </a:rPr>
              <a:t>machine typically has many registers, three-address </a:t>
            </a:r>
            <a:r>
              <a:rPr lang="en-US" altLang="zh-CN" sz="1400" dirty="0" smtClean="0">
                <a:solidFill>
                  <a:schemeClr val="tx2"/>
                </a:solidFill>
              </a:rPr>
              <a:t>instructions, simple </a:t>
            </a:r>
            <a:r>
              <a:rPr lang="en-US" altLang="zh-CN" sz="1400" dirty="0">
                <a:solidFill>
                  <a:schemeClr val="tx2"/>
                </a:solidFill>
              </a:rPr>
              <a:t>addressing modes, and a relatively simple instruction-set </a:t>
            </a:r>
            <a:r>
              <a:rPr lang="en-US" altLang="zh-CN" sz="1400" dirty="0" smtClean="0">
                <a:solidFill>
                  <a:schemeClr val="tx2"/>
                </a:solidFill>
              </a:rPr>
              <a:t>architecture. In </a:t>
            </a:r>
            <a:r>
              <a:rPr lang="en-US" altLang="zh-CN" sz="1400" dirty="0">
                <a:solidFill>
                  <a:schemeClr val="tx2"/>
                </a:solidFill>
              </a:rPr>
              <a:t>contrast, a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</a:t>
            </a:r>
            <a:r>
              <a:rPr lang="en-US" altLang="zh-CN" sz="1400" dirty="0">
                <a:solidFill>
                  <a:schemeClr val="tx2"/>
                </a:solidFill>
              </a:rPr>
              <a:t>machine typically has few registers, two-address </a:t>
            </a:r>
            <a:r>
              <a:rPr lang="en-US" altLang="zh-CN" sz="1400" dirty="0" smtClean="0">
                <a:solidFill>
                  <a:schemeClr val="tx2"/>
                </a:solidFill>
              </a:rPr>
              <a:t>instructions, </a:t>
            </a:r>
            <a:r>
              <a:rPr lang="en-US" altLang="zh-CN" sz="1400" dirty="0">
                <a:solidFill>
                  <a:schemeClr val="tx2"/>
                </a:solidFill>
              </a:rPr>
              <a:t>a variety of addressing modes , several register classes, </a:t>
            </a:r>
            <a:r>
              <a:rPr lang="en-US" altLang="zh-CN" sz="1400" dirty="0" smtClean="0">
                <a:solidFill>
                  <a:schemeClr val="tx2"/>
                </a:solidFill>
              </a:rPr>
              <a:t>variable-length instructions</a:t>
            </a:r>
            <a:r>
              <a:rPr lang="en-US" altLang="zh-CN" sz="1400" dirty="0">
                <a:solidFill>
                  <a:schemeClr val="tx2"/>
                </a:solidFill>
              </a:rPr>
              <a:t>, and instructions with side </a:t>
            </a:r>
            <a:r>
              <a:rPr lang="en-US" altLang="zh-CN" sz="1400" dirty="0" smtClean="0">
                <a:solidFill>
                  <a:schemeClr val="tx2"/>
                </a:solidFill>
              </a:rPr>
              <a:t>effects.</a:t>
            </a:r>
          </a:p>
          <a:p>
            <a:pPr lvl="1"/>
            <a:r>
              <a:rPr lang="en-US" altLang="zh-CN" sz="1400" dirty="0" smtClean="0">
                <a:solidFill>
                  <a:schemeClr val="tx2"/>
                </a:solidFill>
              </a:rPr>
              <a:t>We </a:t>
            </a:r>
            <a:r>
              <a:rPr lang="en-US" altLang="zh-CN" sz="1400" dirty="0">
                <a:solidFill>
                  <a:schemeClr val="tx2"/>
                </a:solidFill>
              </a:rPr>
              <a:t>shall use a very simple </a:t>
            </a:r>
            <a:r>
              <a:rPr lang="en-US" altLang="zh-CN" sz="1400" dirty="0" smtClean="0">
                <a:solidFill>
                  <a:schemeClr val="tx2"/>
                </a:solidFill>
              </a:rPr>
              <a:t>RISC-like </a:t>
            </a:r>
            <a:r>
              <a:rPr lang="en-US" altLang="zh-CN" sz="1400" dirty="0">
                <a:solidFill>
                  <a:schemeClr val="tx2"/>
                </a:solidFill>
              </a:rPr>
              <a:t>computer as our </a:t>
            </a:r>
            <a:r>
              <a:rPr lang="en-US" altLang="zh-CN" sz="1400" dirty="0" smtClean="0">
                <a:solidFill>
                  <a:schemeClr val="tx2"/>
                </a:solidFill>
              </a:rPr>
              <a:t>target machine</a:t>
            </a:r>
            <a:r>
              <a:rPr lang="en-US" altLang="zh-CN" sz="1400" dirty="0">
                <a:solidFill>
                  <a:schemeClr val="tx2"/>
                </a:solidFill>
              </a:rPr>
              <a:t>. We add to it some </a:t>
            </a:r>
            <a:r>
              <a:rPr lang="en-US" altLang="zh-CN" sz="1400" dirty="0" err="1" smtClean="0">
                <a:solidFill>
                  <a:schemeClr val="tx2"/>
                </a:solidFill>
              </a:rPr>
              <a:t>ClSC</a:t>
            </a:r>
            <a:r>
              <a:rPr lang="en-US" altLang="zh-CN" sz="1400" dirty="0" smtClean="0">
                <a:solidFill>
                  <a:schemeClr val="tx2"/>
                </a:solidFill>
              </a:rPr>
              <a:t>-like </a:t>
            </a:r>
            <a:r>
              <a:rPr lang="en-US" altLang="zh-CN" sz="1400" dirty="0">
                <a:solidFill>
                  <a:schemeClr val="tx2"/>
                </a:solidFill>
              </a:rPr>
              <a:t>addressing modes so that we can </a:t>
            </a:r>
            <a:r>
              <a:rPr lang="en-US" altLang="zh-CN" sz="1400" dirty="0" smtClean="0">
                <a:solidFill>
                  <a:schemeClr val="tx2"/>
                </a:solidFill>
              </a:rPr>
              <a:t>also discuss </a:t>
            </a:r>
            <a:r>
              <a:rPr lang="en-US" altLang="zh-CN" sz="1400" dirty="0">
                <a:solidFill>
                  <a:schemeClr val="tx2"/>
                </a:solidFill>
              </a:rPr>
              <a:t>code-generation techniques for </a:t>
            </a:r>
            <a:r>
              <a:rPr lang="en-US" altLang="zh-CN" sz="1400" dirty="0" smtClean="0">
                <a:solidFill>
                  <a:schemeClr val="tx2"/>
                </a:solidFill>
              </a:rPr>
              <a:t>CISC </a:t>
            </a:r>
            <a:r>
              <a:rPr lang="en-US" altLang="zh-CN" sz="1400" dirty="0">
                <a:solidFill>
                  <a:schemeClr val="tx2"/>
                </a:solidFill>
              </a:rPr>
              <a:t>machines. For readability, we </a:t>
            </a:r>
            <a:r>
              <a:rPr lang="en-US" altLang="zh-CN" sz="1400" dirty="0" smtClean="0">
                <a:solidFill>
                  <a:schemeClr val="tx2"/>
                </a:solidFill>
              </a:rPr>
              <a:t>use assembly </a:t>
            </a:r>
            <a:r>
              <a:rPr lang="en-US" altLang="zh-CN" sz="1400" dirty="0">
                <a:solidFill>
                  <a:schemeClr val="tx2"/>
                </a:solidFill>
              </a:rPr>
              <a:t>code as the target </a:t>
            </a:r>
            <a:r>
              <a:rPr lang="en-US" altLang="zh-CN" sz="1400" dirty="0" smtClean="0">
                <a:solidFill>
                  <a:schemeClr val="tx2"/>
                </a:solidFill>
              </a:rPr>
              <a:t>language.</a:t>
            </a:r>
            <a:endParaRPr lang="zh-CN" altLang="en-US"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841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5176615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Instruction </a:t>
            </a:r>
            <a:r>
              <a:rPr lang="en-US" altLang="zh-CN" sz="1600" dirty="0" smtClean="0">
                <a:solidFill>
                  <a:srgbClr val="7030A0"/>
                </a:solidFill>
              </a:rPr>
              <a:t>Selection</a:t>
            </a:r>
          </a:p>
          <a:p>
            <a:pPr lvl="1"/>
            <a:r>
              <a:rPr lang="en-US" altLang="zh-CN" sz="1300" dirty="0">
                <a:solidFill>
                  <a:schemeClr val="tx2"/>
                </a:solidFill>
              </a:rPr>
              <a:t>The code generator must map the </a:t>
            </a:r>
            <a:r>
              <a:rPr lang="en-US" altLang="zh-CN" sz="1300" dirty="0" err="1">
                <a:solidFill>
                  <a:schemeClr val="tx2"/>
                </a:solidFill>
              </a:rPr>
              <a:t>lR</a:t>
            </a:r>
            <a:r>
              <a:rPr lang="en-US" altLang="zh-CN" sz="1300" dirty="0">
                <a:solidFill>
                  <a:schemeClr val="tx2"/>
                </a:solidFill>
              </a:rPr>
              <a:t> program into a code sequence that can </a:t>
            </a:r>
            <a:r>
              <a:rPr lang="en-US" altLang="zh-CN" sz="1300" dirty="0" smtClean="0">
                <a:solidFill>
                  <a:schemeClr val="tx2"/>
                </a:solidFill>
              </a:rPr>
              <a:t>be executed </a:t>
            </a:r>
            <a:r>
              <a:rPr lang="en-US" altLang="zh-CN" sz="1300" dirty="0">
                <a:solidFill>
                  <a:schemeClr val="tx2"/>
                </a:solidFill>
              </a:rPr>
              <a:t>by the target machine. The complexity of performing this mapping </a:t>
            </a:r>
            <a:r>
              <a:rPr lang="en-US" altLang="zh-CN" sz="1300" dirty="0" smtClean="0">
                <a:solidFill>
                  <a:schemeClr val="tx2"/>
                </a:solidFill>
              </a:rPr>
              <a:t>is determined </a:t>
            </a:r>
            <a:r>
              <a:rPr lang="en-US" altLang="zh-CN" sz="1300" dirty="0">
                <a:solidFill>
                  <a:schemeClr val="tx2"/>
                </a:solidFill>
              </a:rPr>
              <a:t>by a factors such </a:t>
            </a:r>
            <a:r>
              <a:rPr lang="en-US" altLang="zh-CN" sz="1300" dirty="0" smtClean="0">
                <a:solidFill>
                  <a:schemeClr val="tx2"/>
                </a:solidFill>
              </a:rPr>
              <a:t>as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level of the </a:t>
            </a:r>
            <a:r>
              <a:rPr lang="en-US" altLang="zh-CN" sz="1400" dirty="0" smtClean="0">
                <a:solidFill>
                  <a:srgbClr val="00B0F0"/>
                </a:solidFill>
              </a:rPr>
              <a:t>IR</a:t>
            </a:r>
          </a:p>
          <a:p>
            <a:pPr marL="685800" lvl="2" indent="0">
              <a:buNone/>
            </a:pPr>
            <a:r>
              <a:rPr lang="en-US" altLang="zh-CN" sz="1150" dirty="0" smtClean="0">
                <a:solidFill>
                  <a:schemeClr val="tx2"/>
                </a:solidFill>
              </a:rPr>
              <a:t>If </a:t>
            </a:r>
            <a:r>
              <a:rPr lang="en-US" altLang="zh-CN" sz="1150" dirty="0">
                <a:solidFill>
                  <a:schemeClr val="tx2"/>
                </a:solidFill>
              </a:rPr>
              <a:t>the IR is high level, the code generator may translate each IR </a:t>
            </a:r>
            <a:r>
              <a:rPr lang="en-US" altLang="zh-CN" sz="1150" dirty="0" smtClean="0">
                <a:solidFill>
                  <a:schemeClr val="tx2"/>
                </a:solidFill>
              </a:rPr>
              <a:t>statement into </a:t>
            </a:r>
            <a:r>
              <a:rPr lang="en-US" altLang="zh-CN" sz="1150" dirty="0">
                <a:solidFill>
                  <a:schemeClr val="tx2"/>
                </a:solidFill>
              </a:rPr>
              <a:t>a sequence of machine instructions using code templates</a:t>
            </a:r>
            <a:r>
              <a:rPr lang="en-US" altLang="zh-CN" sz="1150" dirty="0" smtClean="0">
                <a:solidFill>
                  <a:schemeClr val="tx2"/>
                </a:solidFill>
              </a:rPr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nature of the instruction-set </a:t>
            </a:r>
            <a:r>
              <a:rPr lang="en-US" altLang="zh-CN" sz="1400" dirty="0" smtClean="0">
                <a:solidFill>
                  <a:srgbClr val="00B0F0"/>
                </a:solidFill>
              </a:rPr>
              <a:t>architecture</a:t>
            </a:r>
          </a:p>
          <a:p>
            <a:pPr marL="685800" lvl="2" indent="0">
              <a:buNone/>
            </a:pPr>
            <a:r>
              <a:rPr lang="en-US" altLang="zh-CN" sz="1150" dirty="0">
                <a:solidFill>
                  <a:schemeClr val="tx2"/>
                </a:solidFill>
              </a:rPr>
              <a:t>Instruction speeds and machine idioms are other important </a:t>
            </a:r>
            <a:r>
              <a:rPr lang="en-US" altLang="zh-CN" sz="1150" dirty="0" smtClean="0">
                <a:solidFill>
                  <a:schemeClr val="tx2"/>
                </a:solidFill>
              </a:rPr>
              <a:t>factors.</a:t>
            </a: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r>
              <a:rPr lang="en-US" altLang="zh-CN" sz="1150" dirty="0" smtClean="0">
                <a:solidFill>
                  <a:schemeClr val="tx2"/>
                </a:solidFill>
              </a:rPr>
              <a:t>                              </a:t>
            </a: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 smtClean="0">
              <a:solidFill>
                <a:schemeClr val="tx2"/>
              </a:solidFill>
            </a:endParaRPr>
          </a:p>
          <a:p>
            <a:pPr marL="685800" lvl="2" indent="0">
              <a:buNone/>
            </a:pPr>
            <a:endParaRPr lang="en-US" altLang="zh-CN" sz="1150" dirty="0">
              <a:solidFill>
                <a:schemeClr val="tx2"/>
              </a:solidFill>
            </a:endParaRP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sz="1400" dirty="0">
                <a:solidFill>
                  <a:srgbClr val="00B0F0"/>
                </a:solidFill>
              </a:rPr>
              <a:t>the </a:t>
            </a:r>
            <a:r>
              <a:rPr lang="en-US" altLang="zh-CN" sz="1400" dirty="0">
                <a:solidFill>
                  <a:srgbClr val="00B0F0"/>
                </a:solidFill>
              </a:rPr>
              <a:t>desired quality of the generated </a:t>
            </a:r>
            <a:r>
              <a:rPr lang="en-US" altLang="zh-CN" sz="1400" dirty="0" smtClean="0">
                <a:solidFill>
                  <a:srgbClr val="00B0F0"/>
                </a:solidFill>
              </a:rPr>
              <a:t>code</a:t>
            </a:r>
          </a:p>
          <a:p>
            <a:pPr marL="685800" lvl="2" indent="0">
              <a:lnSpc>
                <a:spcPct val="100000"/>
              </a:lnSpc>
              <a:buNone/>
            </a:pPr>
            <a:r>
              <a:rPr lang="en-US" altLang="zh-CN" sz="1150" dirty="0">
                <a:solidFill>
                  <a:schemeClr val="tx2"/>
                </a:solidFill>
              </a:rPr>
              <a:t>The quality of the generated code is usually determined by its speed </a:t>
            </a:r>
            <a:r>
              <a:rPr lang="en-US" altLang="zh-CN" sz="1150" dirty="0">
                <a:solidFill>
                  <a:schemeClr val="tx2"/>
                </a:solidFill>
              </a:rPr>
              <a:t>and size</a:t>
            </a:r>
            <a:r>
              <a:rPr lang="en-US" altLang="zh-CN" sz="1150" dirty="0">
                <a:solidFill>
                  <a:schemeClr val="tx2"/>
                </a:solidFill>
              </a:rPr>
              <a:t>. On most machines, a given IR program can be implemented by </a:t>
            </a:r>
            <a:r>
              <a:rPr lang="en-US" altLang="zh-CN" sz="1150" dirty="0">
                <a:solidFill>
                  <a:schemeClr val="tx2"/>
                </a:solidFill>
              </a:rPr>
              <a:t>many different </a:t>
            </a:r>
            <a:r>
              <a:rPr lang="en-US" altLang="zh-CN" sz="1150" dirty="0">
                <a:solidFill>
                  <a:schemeClr val="tx2"/>
                </a:solidFill>
              </a:rPr>
              <a:t>code sequences, with significant cost differences between the </a:t>
            </a:r>
            <a:r>
              <a:rPr lang="en-US" altLang="zh-CN" sz="1150" dirty="0">
                <a:solidFill>
                  <a:schemeClr val="tx2"/>
                </a:solidFill>
              </a:rPr>
              <a:t>different implementations</a:t>
            </a:r>
            <a:r>
              <a:rPr lang="en-US" altLang="zh-CN" sz="1150" dirty="0">
                <a:solidFill>
                  <a:schemeClr val="tx2"/>
                </a:solidFill>
              </a:rPr>
              <a:t>. A naive translation of the intermediate code may </a:t>
            </a:r>
            <a:r>
              <a:rPr lang="en-US" altLang="zh-CN" sz="1150" dirty="0">
                <a:solidFill>
                  <a:schemeClr val="tx2"/>
                </a:solidFill>
              </a:rPr>
              <a:t>therefore lead </a:t>
            </a:r>
            <a:r>
              <a:rPr lang="en-US" altLang="zh-CN" sz="1150" dirty="0">
                <a:solidFill>
                  <a:schemeClr val="tx2"/>
                </a:solidFill>
              </a:rPr>
              <a:t>to correct but unacceptably inefficient target code.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altLang="zh-CN" sz="1300" dirty="0">
              <a:solidFill>
                <a:schemeClr val="tx2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619" y="3743280"/>
            <a:ext cx="1133475" cy="6191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017" y="3633550"/>
            <a:ext cx="3115110" cy="150516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743058" y="4170348"/>
            <a:ext cx="2768837" cy="427289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983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9.1 Issues in the Design of a Code Generator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199"/>
            <a:ext cx="7486650" cy="4646777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solidFill>
                  <a:srgbClr val="7030A0"/>
                </a:solidFill>
              </a:rPr>
              <a:t>Register </a:t>
            </a:r>
            <a:r>
              <a:rPr lang="en-US" altLang="zh-CN" sz="1600" dirty="0" smtClean="0">
                <a:solidFill>
                  <a:srgbClr val="7030A0"/>
                </a:solidFill>
              </a:rPr>
              <a:t>Allocation</a:t>
            </a:r>
          </a:p>
          <a:p>
            <a:pPr lvl="1"/>
            <a:r>
              <a:rPr lang="en-US" altLang="zh-CN" sz="1600" dirty="0">
                <a:solidFill>
                  <a:schemeClr val="tx2"/>
                </a:solidFill>
              </a:rPr>
              <a:t>A key problem in code generation is deciding what values to hold in </a:t>
            </a:r>
            <a:r>
              <a:rPr lang="en-US" altLang="zh-CN" sz="1600" dirty="0" smtClean="0">
                <a:solidFill>
                  <a:schemeClr val="tx2"/>
                </a:solidFill>
              </a:rPr>
              <a:t>what registers</a:t>
            </a:r>
            <a:r>
              <a:rPr lang="en-US" altLang="zh-CN" sz="1600" dirty="0">
                <a:solidFill>
                  <a:schemeClr val="tx2"/>
                </a:solidFill>
              </a:rPr>
              <a:t>. Registers are the fastest computational unit on the target </a:t>
            </a:r>
            <a:r>
              <a:rPr lang="en-US" altLang="zh-CN" sz="1600" dirty="0" smtClean="0">
                <a:solidFill>
                  <a:schemeClr val="tx2"/>
                </a:solidFill>
              </a:rPr>
              <a:t>machine, but </a:t>
            </a:r>
            <a:r>
              <a:rPr lang="en-US" altLang="zh-CN" sz="1600" dirty="0">
                <a:solidFill>
                  <a:schemeClr val="tx2"/>
                </a:solidFill>
              </a:rPr>
              <a:t>we usually do not have enough of them to hold all values</a:t>
            </a:r>
            <a:r>
              <a:rPr lang="en-US" altLang="zh-CN" sz="1600" dirty="0" smtClean="0">
                <a:solidFill>
                  <a:schemeClr val="tx2"/>
                </a:solidFill>
              </a:rPr>
              <a:t>.</a:t>
            </a:r>
          </a:p>
          <a:p>
            <a:pPr lvl="1"/>
            <a:r>
              <a:rPr lang="en-US" altLang="zh-CN" sz="1600" dirty="0">
                <a:solidFill>
                  <a:schemeClr val="tx2"/>
                </a:solidFill>
              </a:rPr>
              <a:t>The use of registers is often subdivided into two </a:t>
            </a:r>
            <a:r>
              <a:rPr lang="en-US" altLang="zh-CN" sz="1600" dirty="0" err="1">
                <a:solidFill>
                  <a:schemeClr val="tx2"/>
                </a:solidFill>
              </a:rPr>
              <a:t>subproblems</a:t>
            </a:r>
            <a:r>
              <a:rPr lang="en-US" altLang="zh-CN" sz="1600" dirty="0">
                <a:solidFill>
                  <a:schemeClr val="tx2"/>
                </a:solidFill>
              </a:rPr>
              <a:t>:</a:t>
            </a:r>
          </a:p>
          <a:p>
            <a:pPr lvl="2"/>
            <a:r>
              <a:rPr lang="en-US" altLang="zh-CN" sz="1450" dirty="0">
                <a:solidFill>
                  <a:srgbClr val="00B050"/>
                </a:solidFill>
              </a:rPr>
              <a:t>1. Register allocation</a:t>
            </a:r>
            <a:r>
              <a:rPr lang="en-US" altLang="zh-CN" sz="1450" dirty="0">
                <a:solidFill>
                  <a:schemeClr val="tx2"/>
                </a:solidFill>
              </a:rPr>
              <a:t>, during which we select the set of variables that </a:t>
            </a:r>
            <a:r>
              <a:rPr lang="en-US" altLang="zh-CN" sz="1450" dirty="0" smtClean="0">
                <a:solidFill>
                  <a:schemeClr val="tx2"/>
                </a:solidFill>
              </a:rPr>
              <a:t>will </a:t>
            </a:r>
            <a:r>
              <a:rPr lang="en-US" altLang="zh-CN" sz="1600" dirty="0" smtClean="0">
                <a:solidFill>
                  <a:schemeClr val="tx2"/>
                </a:solidFill>
              </a:rPr>
              <a:t>reside </a:t>
            </a:r>
            <a:r>
              <a:rPr lang="en-US" altLang="zh-CN" sz="1600" dirty="0">
                <a:solidFill>
                  <a:schemeClr val="tx2"/>
                </a:solidFill>
              </a:rPr>
              <a:t>in registers at each point in the program.</a:t>
            </a:r>
          </a:p>
          <a:p>
            <a:pPr lvl="2"/>
            <a:r>
              <a:rPr lang="en-US" altLang="zh-CN" sz="1450" dirty="0">
                <a:solidFill>
                  <a:srgbClr val="00B050"/>
                </a:solidFill>
              </a:rPr>
              <a:t>2. Register assignment</a:t>
            </a:r>
            <a:r>
              <a:rPr lang="en-US" altLang="zh-CN" sz="1450" dirty="0">
                <a:solidFill>
                  <a:schemeClr val="tx2"/>
                </a:solidFill>
              </a:rPr>
              <a:t>, during which we pick the specific register that </a:t>
            </a:r>
            <a:r>
              <a:rPr lang="en-US" altLang="zh-CN" sz="1450" dirty="0" smtClean="0">
                <a:solidFill>
                  <a:schemeClr val="tx2"/>
                </a:solidFill>
              </a:rPr>
              <a:t>a </a:t>
            </a:r>
            <a:r>
              <a:rPr lang="en-US" altLang="zh-CN" sz="1600" dirty="0" smtClean="0">
                <a:solidFill>
                  <a:schemeClr val="tx2"/>
                </a:solidFill>
              </a:rPr>
              <a:t>variable </a:t>
            </a:r>
            <a:r>
              <a:rPr lang="en-US" altLang="zh-CN" sz="1600" dirty="0">
                <a:solidFill>
                  <a:schemeClr val="tx2"/>
                </a:solidFill>
              </a:rPr>
              <a:t>will reside in</a:t>
            </a:r>
            <a:r>
              <a:rPr lang="en-US" altLang="zh-CN" sz="1600" dirty="0" smtClean="0">
                <a:solidFill>
                  <a:schemeClr val="tx2"/>
                </a:solidFill>
              </a:rPr>
              <a:t>.</a:t>
            </a:r>
          </a:p>
          <a:p>
            <a:r>
              <a:rPr lang="en-US" altLang="zh-CN" sz="2050" dirty="0">
                <a:solidFill>
                  <a:srgbClr val="7030A0"/>
                </a:solidFill>
              </a:rPr>
              <a:t>Evaluation </a:t>
            </a:r>
            <a:r>
              <a:rPr lang="en-US" altLang="zh-CN" sz="2050" dirty="0" smtClean="0">
                <a:solidFill>
                  <a:srgbClr val="7030A0"/>
                </a:solidFill>
              </a:rPr>
              <a:t>Order</a:t>
            </a:r>
          </a:p>
          <a:p>
            <a:pPr lvl="1"/>
            <a:r>
              <a:rPr lang="en-US" altLang="zh-CN" sz="1750" dirty="0">
                <a:solidFill>
                  <a:schemeClr val="tx2"/>
                </a:solidFill>
              </a:rPr>
              <a:t>The order in which computations are </a:t>
            </a:r>
            <a:r>
              <a:rPr lang="en-US" altLang="zh-CN" sz="1750" dirty="0" smtClean="0">
                <a:solidFill>
                  <a:schemeClr val="tx2"/>
                </a:solidFill>
              </a:rPr>
              <a:t>performed </a:t>
            </a:r>
            <a:r>
              <a:rPr lang="en-US" altLang="zh-CN" sz="1750" dirty="0">
                <a:solidFill>
                  <a:schemeClr val="tx2"/>
                </a:solidFill>
              </a:rPr>
              <a:t>can affect the efficiency of </a:t>
            </a:r>
            <a:r>
              <a:rPr lang="en-US" altLang="zh-CN" sz="1750" dirty="0" smtClean="0">
                <a:solidFill>
                  <a:schemeClr val="tx2"/>
                </a:solidFill>
              </a:rPr>
              <a:t>the target </a:t>
            </a:r>
            <a:r>
              <a:rPr lang="en-US" altLang="zh-CN" sz="1750" dirty="0">
                <a:solidFill>
                  <a:schemeClr val="tx2"/>
                </a:solidFill>
              </a:rPr>
              <a:t>code. As we shall see, some computation orders require </a:t>
            </a:r>
            <a:r>
              <a:rPr lang="en-US" altLang="zh-CN" sz="1750" dirty="0" smtClean="0">
                <a:solidFill>
                  <a:schemeClr val="tx2"/>
                </a:solidFill>
              </a:rPr>
              <a:t>fewer registers to </a:t>
            </a:r>
            <a:r>
              <a:rPr lang="en-US" altLang="zh-CN" sz="1750" dirty="0">
                <a:solidFill>
                  <a:schemeClr val="tx2"/>
                </a:solidFill>
              </a:rPr>
              <a:t>hold intermediate results than others. However, picking a best order </a:t>
            </a:r>
            <a:r>
              <a:rPr lang="en-US" altLang="zh-CN" sz="1750" dirty="0" smtClean="0">
                <a:solidFill>
                  <a:schemeClr val="tx2"/>
                </a:solidFill>
              </a:rPr>
              <a:t>in the </a:t>
            </a:r>
            <a:r>
              <a:rPr lang="en-US" altLang="zh-CN" sz="1750" dirty="0">
                <a:solidFill>
                  <a:schemeClr val="tx2"/>
                </a:solidFill>
              </a:rPr>
              <a:t>general case is a difficult NP-complete problem.</a:t>
            </a:r>
            <a:endParaRPr lang="en-US" altLang="zh-CN" sz="1750" dirty="0" smtClean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730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CDDBB83-77C1-4099-A0AA-289882E745E2}">
  <ds:schemaRefs>
    <ds:schemaRef ds:uri="http://purl.org/dc/terms/"/>
    <ds:schemaRef ds:uri="http://www.w3.org/XML/1998/namespace"/>
    <ds:schemaRef ds:uri="http://schemas.microsoft.com/office/2006/documentManagement/types"/>
    <ds:schemaRef ds:uri="4873beb7-5857-4685-be1f-d57550cc96cc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670</Words>
  <Application>Microsoft Office PowerPoint</Application>
  <PresentationFormat>全屏显示(4:3)</PresentationFormat>
  <Paragraphs>62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Euphemia</vt:lpstr>
      <vt:lpstr>微软雅黑</vt:lpstr>
      <vt:lpstr>Arial</vt:lpstr>
      <vt:lpstr>Wingdings</vt:lpstr>
      <vt:lpstr>学术文献 16x9</vt:lpstr>
      <vt:lpstr>Compilers</vt:lpstr>
      <vt:lpstr>Code Generation</vt:lpstr>
      <vt:lpstr>Outlines</vt:lpstr>
      <vt:lpstr>9.1 Issues in the Design of a Code Generator</vt:lpstr>
      <vt:lpstr>9.1 Issues in the Design of a Code Generator</vt:lpstr>
      <vt:lpstr>9.1 Issues in the Design of a Code Generator</vt:lpstr>
      <vt:lpstr>9.1 Issues in the Design of a Code Generator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2020-05-26T09:20:52Z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