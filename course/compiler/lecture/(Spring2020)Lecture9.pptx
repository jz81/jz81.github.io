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61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6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297" r:id="rId31"/>
  </p:sldIdLst>
  <p:sldSz cx="9144000" cy="6858000" type="screen4x3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154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2020/5/27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2020/5/27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905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2292095"/>
            <a:ext cx="7572375" cy="2219691"/>
          </a:xfrm>
        </p:spPr>
        <p:txBody>
          <a:bodyPr rtlCol="0" anchor="ctr">
            <a:normAutofit/>
          </a:bodyPr>
          <a:lstStyle>
            <a:lvl1pPr algn="l" rtl="0">
              <a:defRPr sz="33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4" y="4511785"/>
            <a:ext cx="7572376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/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2020/5/27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3334" y="0"/>
            <a:ext cx="1310643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2020/5/27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1"/>
            <a:ext cx="9144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1"/>
            <a:ext cx="9144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2292095"/>
            <a:ext cx="4300538" cy="2219691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5" y="4511785"/>
            <a:ext cx="4300538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410" y="0"/>
            <a:ext cx="1310643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235798" y="1310656"/>
            <a:ext cx="3908203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9258300" y="0"/>
            <a:ext cx="97155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9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9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1"/>
            <a:ext cx="9144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sz="1350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675" y="2971806"/>
            <a:ext cx="7553324" cy="1684150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4655956"/>
            <a:ext cx="7553324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 rtl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2020/5/27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" y="0"/>
            <a:ext cx="1337391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8675" y="1600201"/>
            <a:ext cx="3686175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600201"/>
            <a:ext cx="3686175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smtClean="0"/>
              <a:pPr/>
              <a:t>2020/5/27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600201"/>
            <a:ext cx="3689604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8675" y="2424112"/>
            <a:ext cx="3689604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4583" y="1600201"/>
            <a:ext cx="3689604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4583" y="2424112"/>
            <a:ext cx="3689604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2020/5/27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2020/5/27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2020/5/27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1386" y="1600200"/>
            <a:ext cx="4083939" cy="4572001"/>
          </a:xfrm>
        </p:spPr>
        <p:txBody>
          <a:bodyPr rtlCol="0">
            <a:normAutofit/>
          </a:bodyPr>
          <a:lstStyle>
            <a:lvl1pPr algn="l" rtl="0">
              <a:defRPr sz="1500"/>
            </a:lvl1pPr>
            <a:lvl2pPr algn="l" rtl="0">
              <a:defRPr sz="1200"/>
            </a:lvl2pPr>
            <a:lvl3pPr algn="l" rtl="0">
              <a:defRPr sz="1200"/>
            </a:lvl3pPr>
            <a:lvl4pPr algn="l" rtl="0">
              <a:defRPr sz="1050"/>
            </a:lvl4pPr>
            <a:lvl5pPr algn="l" rtl="0">
              <a:defRPr sz="1050"/>
            </a:lvl5pPr>
            <a:lvl6pPr algn="l" rtl="0">
              <a:defRPr sz="1050"/>
            </a:lvl6pPr>
            <a:lvl7pPr algn="l" rtl="0">
              <a:defRPr sz="1050"/>
            </a:lvl7pPr>
            <a:lvl8pPr algn="l" rtl="0">
              <a:defRPr sz="1050"/>
            </a:lvl8pPr>
            <a:lvl9pPr algn="l" rtl="0">
              <a:defRPr sz="10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600200"/>
            <a:ext cx="3288411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2020/5/27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91003" y="1600200"/>
            <a:ext cx="4823184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2100"/>
            </a:lvl2pPr>
            <a:lvl3pPr marL="685800" indent="0" algn="l" rtl="0">
              <a:buNone/>
              <a:defRPr sz="1800"/>
            </a:lvl3pPr>
            <a:lvl4pPr marL="1028700" indent="0" algn="l" rtl="0">
              <a:buNone/>
              <a:defRPr sz="1500"/>
            </a:lvl4pPr>
            <a:lvl5pPr marL="1371600" indent="0" algn="l" rtl="0">
              <a:buNone/>
              <a:defRPr sz="1500"/>
            </a:lvl5pPr>
            <a:lvl6pPr marL="1714500" indent="0" algn="l" rtl="0">
              <a:buNone/>
              <a:defRPr sz="1500"/>
            </a:lvl6pPr>
            <a:lvl7pPr marL="2057400" indent="0" algn="l" rtl="0">
              <a:buNone/>
              <a:defRPr sz="1500"/>
            </a:lvl7pPr>
            <a:lvl8pPr marL="2400300" indent="0" algn="l" rtl="0">
              <a:buNone/>
              <a:defRPr sz="1500"/>
            </a:lvl8pPr>
            <a:lvl9pPr marL="2743200" indent="0" algn="l" rtl="0">
              <a:buNone/>
              <a:defRPr sz="15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600200"/>
            <a:ext cx="2547747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2020/5/27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2020/5/27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7029450" y="365125"/>
            <a:ext cx="1285875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8675" y="365125"/>
            <a:ext cx="6074172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2020/5/27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4181447" y="3239394"/>
            <a:ext cx="5632704" cy="63302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28675" y="76200"/>
            <a:ext cx="748551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600200"/>
            <a:ext cx="748665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8675" y="6356352"/>
            <a:ext cx="137216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smtClean="0"/>
              <a:pPr/>
              <a:t>2020/5/27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00844" y="6356350"/>
            <a:ext cx="474231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42587" y="6356352"/>
            <a:ext cx="13716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827532" y="1219202"/>
            <a:ext cx="7488936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135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2" userDrawn="1">
          <p15:clr>
            <a:srgbClr val="F26B43"/>
          </p15:clr>
        </p15:guide>
        <p15:guide id="2" pos="5238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828675" y="2576321"/>
            <a:ext cx="4300538" cy="1664768"/>
          </a:xfrm>
        </p:spPr>
        <p:txBody>
          <a:bodyPr rtlCol="0" anchor="ctr"/>
          <a:lstStyle/>
          <a:p>
            <a:pPr rtl="0"/>
            <a:r>
              <a:rPr lang="en-US" altLang="zh-CN" dirty="0"/>
              <a:t>Compilers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828675" y="3879543"/>
            <a:ext cx="4300538" cy="1473692"/>
          </a:xfrm>
        </p:spPr>
        <p:txBody>
          <a:bodyPr rtlCol="0">
            <a:normAutofit/>
          </a:bodyPr>
          <a:lstStyle/>
          <a:p>
            <a:pPr rtl="0"/>
            <a:r>
              <a:rPr lang="en-US" sz="2000" dirty="0"/>
              <a:t>Principles, Techniques, &amp; Tools</a:t>
            </a:r>
          </a:p>
          <a:p>
            <a:pPr rtl="0"/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Taught by Jing Zhang </a:t>
            </a:r>
          </a:p>
          <a:p>
            <a:pPr rt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(jzhang@njust.edu.cn)</a:t>
            </a:r>
          </a:p>
        </p:txBody>
      </p:sp>
      <p:pic>
        <p:nvPicPr>
          <p:cNvPr id="4" name="图片占位符 3" descr="桌上一本打开的书，书架在背景中模糊显示" title="示例图片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5" r="88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zh-CN" dirty="0" smtClean="0"/>
              <a:t>Code Generation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Issues in the Design of a Code Generator</a:t>
            </a:r>
          </a:p>
          <a:p>
            <a:r>
              <a:rPr lang="en-US" altLang="zh-CN" dirty="0" smtClean="0"/>
              <a:t>The Target Language</a:t>
            </a:r>
            <a:endParaRPr lang="en-US" altLang="zh-CN" dirty="0"/>
          </a:p>
          <a:p>
            <a:r>
              <a:rPr lang="en-US" altLang="zh-CN" dirty="0" smtClean="0"/>
              <a:t>Addresses in the Target Code</a:t>
            </a:r>
            <a:endParaRPr lang="en-US" altLang="zh-CN" dirty="0"/>
          </a:p>
          <a:p>
            <a:r>
              <a:rPr lang="en-US" altLang="zh-CN" dirty="0" smtClean="0"/>
              <a:t>Basic Blocks and Flow Graphs</a:t>
            </a:r>
            <a:endParaRPr lang="en-US" altLang="zh-CN" dirty="0"/>
          </a:p>
          <a:p>
            <a:r>
              <a:rPr lang="en-US" altLang="zh-CN" dirty="0" smtClean="0"/>
              <a:t>Optimization of Basic Blocks</a:t>
            </a:r>
          </a:p>
          <a:p>
            <a:r>
              <a:rPr lang="en-US" altLang="zh-CN" dirty="0" smtClean="0"/>
              <a:t>Peephole Optimization</a:t>
            </a:r>
          </a:p>
          <a:p>
            <a:r>
              <a:rPr lang="en-US" altLang="zh-CN" dirty="0" smtClean="0"/>
              <a:t>Register Allocation and Assignment</a:t>
            </a:r>
          </a:p>
          <a:p>
            <a:r>
              <a:rPr lang="en-US" altLang="zh-CN" dirty="0" smtClean="0"/>
              <a:t>Instruction Selection by Tree Rewriting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5570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9.1 Issues </a:t>
            </a:r>
            <a:r>
              <a:rPr lang="en-US" altLang="zh-CN" dirty="0"/>
              <a:t>in the Design of a Code </a:t>
            </a:r>
            <a:r>
              <a:rPr lang="en-US" altLang="zh-CN" dirty="0" smtClean="0"/>
              <a:t>Generator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199"/>
            <a:ext cx="7486650" cy="4501497"/>
          </a:xfrm>
        </p:spPr>
        <p:txBody>
          <a:bodyPr>
            <a:normAutofit/>
          </a:bodyPr>
          <a:lstStyle/>
          <a:p>
            <a:r>
              <a:rPr lang="en-US" altLang="zh-CN" dirty="0"/>
              <a:t>The final phase in our compiler model is the code generator. It takes as </a:t>
            </a:r>
            <a:r>
              <a:rPr lang="en-US" altLang="zh-CN" dirty="0" smtClean="0"/>
              <a:t>input the </a:t>
            </a:r>
            <a:r>
              <a:rPr lang="en-US" altLang="zh-CN" dirty="0"/>
              <a:t>intermediate representation (IR) produced by the front end of the </a:t>
            </a:r>
            <a:r>
              <a:rPr lang="en-US" altLang="zh-CN" dirty="0" smtClean="0"/>
              <a:t>compiler, along </a:t>
            </a:r>
            <a:r>
              <a:rPr lang="en-US" altLang="zh-CN" dirty="0"/>
              <a:t>with relevant symbol table information, and produces as output </a:t>
            </a:r>
            <a:r>
              <a:rPr lang="en-US" altLang="zh-CN" dirty="0" smtClean="0"/>
              <a:t>a semantically </a:t>
            </a:r>
            <a:r>
              <a:rPr lang="en-US" altLang="zh-CN" dirty="0"/>
              <a:t>equivalent target </a:t>
            </a:r>
            <a:r>
              <a:rPr lang="en-US" altLang="zh-CN" dirty="0" smtClean="0"/>
              <a:t>program.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en-US" altLang="zh-CN" dirty="0" smtClean="0"/>
          </a:p>
          <a:p>
            <a:r>
              <a:rPr lang="en-US" altLang="zh-CN" dirty="0"/>
              <a:t>The challenge is that, mathematically, the problem of generating an </a:t>
            </a:r>
            <a:r>
              <a:rPr lang="en-US" altLang="zh-CN" dirty="0" smtClean="0"/>
              <a:t>optimal target </a:t>
            </a:r>
            <a:r>
              <a:rPr lang="en-US" altLang="zh-CN" dirty="0"/>
              <a:t>program for a given source program is undecidable; many of the </a:t>
            </a:r>
            <a:r>
              <a:rPr lang="en-US" altLang="zh-CN" dirty="0" err="1" smtClean="0"/>
              <a:t>subproblems</a:t>
            </a:r>
            <a:r>
              <a:rPr lang="en-US" altLang="zh-CN" dirty="0" smtClean="0"/>
              <a:t> encountered in </a:t>
            </a:r>
            <a:r>
              <a:rPr lang="en-US" altLang="zh-CN" dirty="0"/>
              <a:t>code generation such as register allocation are </a:t>
            </a:r>
            <a:r>
              <a:rPr lang="en-US" altLang="zh-CN" dirty="0" smtClean="0"/>
              <a:t>computationally intractable</a:t>
            </a:r>
            <a:r>
              <a:rPr lang="en-US" altLang="zh-CN" dirty="0"/>
              <a:t>. In practice, we must be content with heuristic </a:t>
            </a:r>
            <a:r>
              <a:rPr lang="en-US" altLang="zh-CN" dirty="0" smtClean="0"/>
              <a:t>techniques that </a:t>
            </a:r>
            <a:r>
              <a:rPr lang="en-US" altLang="zh-CN" dirty="0"/>
              <a:t>generate good, but not necessarily optimal, code. Fortunately, </a:t>
            </a:r>
            <a:r>
              <a:rPr lang="en-US" altLang="zh-CN" dirty="0" smtClean="0"/>
              <a:t>heuristics have </a:t>
            </a:r>
            <a:r>
              <a:rPr lang="en-US" altLang="zh-CN" dirty="0"/>
              <a:t>matured enough that a carefully designed code generator can produce </a:t>
            </a:r>
            <a:r>
              <a:rPr lang="en-US" altLang="zh-CN" dirty="0" smtClean="0"/>
              <a:t>code that </a:t>
            </a:r>
            <a:r>
              <a:rPr lang="en-US" altLang="zh-CN" dirty="0"/>
              <a:t>is several times faster than code produced by a naive one.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76" y="2626629"/>
            <a:ext cx="61722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 Issues in the Design of a Code Generator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1600" dirty="0">
                <a:solidFill>
                  <a:srgbClr val="7030A0"/>
                </a:solidFill>
              </a:rPr>
              <a:t>Input to the Code </a:t>
            </a:r>
            <a:r>
              <a:rPr lang="en-US" altLang="zh-CN" sz="1600" dirty="0" smtClean="0">
                <a:solidFill>
                  <a:srgbClr val="7030A0"/>
                </a:solidFill>
              </a:rPr>
              <a:t>Generator</a:t>
            </a:r>
          </a:p>
          <a:p>
            <a:pPr lvl="1"/>
            <a:r>
              <a:rPr lang="en-US" altLang="zh-CN" sz="1400" dirty="0"/>
              <a:t>The many choices for the IR include three-address representations such </a:t>
            </a:r>
            <a:r>
              <a:rPr lang="en-US" altLang="zh-CN" sz="1400" dirty="0" smtClean="0"/>
              <a:t>as quadruples</a:t>
            </a:r>
            <a:r>
              <a:rPr lang="en-US" altLang="zh-CN" sz="1400" dirty="0"/>
              <a:t>, triples, indirect triples; virtual machine representations such </a:t>
            </a:r>
            <a:r>
              <a:rPr lang="en-US" altLang="zh-CN" sz="1400" dirty="0" smtClean="0"/>
              <a:t>as bytecodes </a:t>
            </a:r>
            <a:r>
              <a:rPr lang="en-US" altLang="zh-CN" sz="1400" dirty="0"/>
              <a:t>and stack-machine code; linear representations such as postfix </a:t>
            </a:r>
            <a:r>
              <a:rPr lang="en-US" altLang="zh-CN" sz="1400" dirty="0" smtClean="0"/>
              <a:t>notation; and </a:t>
            </a:r>
            <a:r>
              <a:rPr lang="en-US" altLang="zh-CN" sz="1400" dirty="0"/>
              <a:t>graphical representations such as syntax trees and DAG's. </a:t>
            </a:r>
            <a:r>
              <a:rPr lang="en-US" altLang="zh-CN" sz="1400" dirty="0" smtClean="0"/>
              <a:t>Many of </a:t>
            </a:r>
            <a:r>
              <a:rPr lang="en-US" altLang="zh-CN" sz="1400" dirty="0"/>
              <a:t>the algorithms in this chapter are couched in terms of the </a:t>
            </a:r>
            <a:r>
              <a:rPr lang="en-US" altLang="zh-CN" sz="1400" dirty="0" smtClean="0"/>
              <a:t>representations considered </a:t>
            </a:r>
            <a:r>
              <a:rPr lang="en-US" altLang="zh-CN" sz="1400" dirty="0"/>
              <a:t>in Chapter 6: three-address code, trees, and DAG 's</a:t>
            </a:r>
            <a:r>
              <a:rPr lang="en-US" altLang="zh-CN" sz="1400" dirty="0" smtClean="0"/>
              <a:t>.</a:t>
            </a:r>
          </a:p>
          <a:p>
            <a:r>
              <a:rPr lang="en-US" altLang="zh-CN" sz="1600" dirty="0">
                <a:solidFill>
                  <a:srgbClr val="7030A0"/>
                </a:solidFill>
              </a:rPr>
              <a:t>The </a:t>
            </a:r>
            <a:r>
              <a:rPr lang="en-US" altLang="zh-CN" sz="1600" dirty="0" smtClean="0">
                <a:solidFill>
                  <a:srgbClr val="7030A0"/>
                </a:solidFill>
              </a:rPr>
              <a:t>Target Program</a:t>
            </a:r>
          </a:p>
          <a:p>
            <a:pPr lvl="1"/>
            <a:r>
              <a:rPr lang="en-US" altLang="zh-CN" sz="1400" dirty="0">
                <a:solidFill>
                  <a:schemeClr val="tx2"/>
                </a:solidFill>
              </a:rPr>
              <a:t>The instruction-set architecture of the target machine has a significant </a:t>
            </a:r>
            <a:r>
              <a:rPr lang="en-US" altLang="zh-CN" sz="1400" dirty="0" smtClean="0">
                <a:solidFill>
                  <a:schemeClr val="tx2"/>
                </a:solidFill>
              </a:rPr>
              <a:t>impact on </a:t>
            </a:r>
            <a:r>
              <a:rPr lang="en-US" altLang="zh-CN" sz="1400" dirty="0">
                <a:solidFill>
                  <a:schemeClr val="tx2"/>
                </a:solidFill>
              </a:rPr>
              <a:t>the difficulty of constructing a good code generator that </a:t>
            </a:r>
            <a:r>
              <a:rPr lang="en-US" altLang="zh-CN" sz="1400" dirty="0" smtClean="0">
                <a:solidFill>
                  <a:schemeClr val="tx2"/>
                </a:solidFill>
              </a:rPr>
              <a:t>produces high-quality </a:t>
            </a:r>
            <a:r>
              <a:rPr lang="en-US" altLang="zh-CN" sz="1400" dirty="0">
                <a:solidFill>
                  <a:schemeClr val="tx2"/>
                </a:solidFill>
              </a:rPr>
              <a:t>machine code. The most common target-machine </a:t>
            </a:r>
            <a:r>
              <a:rPr lang="en-US" altLang="zh-CN" sz="1400" dirty="0" smtClean="0">
                <a:solidFill>
                  <a:schemeClr val="tx2"/>
                </a:solidFill>
              </a:rPr>
              <a:t>architectures are RISC </a:t>
            </a:r>
            <a:r>
              <a:rPr lang="en-US" altLang="zh-CN" sz="1400" dirty="0">
                <a:solidFill>
                  <a:schemeClr val="tx2"/>
                </a:solidFill>
              </a:rPr>
              <a:t>(reduced instruction set computer) , </a:t>
            </a:r>
            <a:r>
              <a:rPr lang="en-US" altLang="zh-CN" sz="1400" dirty="0" smtClean="0">
                <a:solidFill>
                  <a:schemeClr val="tx2"/>
                </a:solidFill>
              </a:rPr>
              <a:t>CISC (complex </a:t>
            </a:r>
            <a:r>
              <a:rPr lang="en-US" altLang="zh-CN" sz="1400" dirty="0">
                <a:solidFill>
                  <a:schemeClr val="tx2"/>
                </a:solidFill>
              </a:rPr>
              <a:t>instruction </a:t>
            </a:r>
            <a:r>
              <a:rPr lang="en-US" altLang="zh-CN" sz="1400" dirty="0" smtClean="0">
                <a:solidFill>
                  <a:schemeClr val="tx2"/>
                </a:solidFill>
              </a:rPr>
              <a:t>set computer</a:t>
            </a:r>
            <a:r>
              <a:rPr lang="en-US" altLang="zh-CN" sz="1400" dirty="0">
                <a:solidFill>
                  <a:schemeClr val="tx2"/>
                </a:solidFill>
              </a:rPr>
              <a:t>) , and stack based</a:t>
            </a:r>
            <a:r>
              <a:rPr lang="en-US" altLang="zh-CN" sz="1400" dirty="0" smtClean="0">
                <a:solidFill>
                  <a:schemeClr val="tx2"/>
                </a:solidFill>
              </a:rPr>
              <a:t>.</a:t>
            </a:r>
          </a:p>
          <a:p>
            <a:pPr lvl="1"/>
            <a:r>
              <a:rPr lang="en-US" altLang="zh-CN" sz="1400" dirty="0">
                <a:solidFill>
                  <a:schemeClr val="tx2"/>
                </a:solidFill>
              </a:rPr>
              <a:t>A </a:t>
            </a:r>
            <a:r>
              <a:rPr lang="en-US" altLang="zh-CN" sz="1400" dirty="0" smtClean="0">
                <a:solidFill>
                  <a:schemeClr val="tx2"/>
                </a:solidFill>
              </a:rPr>
              <a:t>RISC </a:t>
            </a:r>
            <a:r>
              <a:rPr lang="en-US" altLang="zh-CN" sz="1400" dirty="0">
                <a:solidFill>
                  <a:schemeClr val="tx2"/>
                </a:solidFill>
              </a:rPr>
              <a:t>machine typically has many registers, three-address </a:t>
            </a:r>
            <a:r>
              <a:rPr lang="en-US" altLang="zh-CN" sz="1400" dirty="0" smtClean="0">
                <a:solidFill>
                  <a:schemeClr val="tx2"/>
                </a:solidFill>
              </a:rPr>
              <a:t>instructions, simple </a:t>
            </a:r>
            <a:r>
              <a:rPr lang="en-US" altLang="zh-CN" sz="1400" dirty="0">
                <a:solidFill>
                  <a:schemeClr val="tx2"/>
                </a:solidFill>
              </a:rPr>
              <a:t>addressing modes, and a relatively simple instruction-set </a:t>
            </a:r>
            <a:r>
              <a:rPr lang="en-US" altLang="zh-CN" sz="1400" dirty="0" smtClean="0">
                <a:solidFill>
                  <a:schemeClr val="tx2"/>
                </a:solidFill>
              </a:rPr>
              <a:t>architecture. In </a:t>
            </a:r>
            <a:r>
              <a:rPr lang="en-US" altLang="zh-CN" sz="1400" dirty="0">
                <a:solidFill>
                  <a:schemeClr val="tx2"/>
                </a:solidFill>
              </a:rPr>
              <a:t>contrast, a </a:t>
            </a:r>
            <a:r>
              <a:rPr lang="en-US" altLang="zh-CN" sz="1400" dirty="0" smtClean="0">
                <a:solidFill>
                  <a:schemeClr val="tx2"/>
                </a:solidFill>
              </a:rPr>
              <a:t>CISC </a:t>
            </a:r>
            <a:r>
              <a:rPr lang="en-US" altLang="zh-CN" sz="1400" dirty="0">
                <a:solidFill>
                  <a:schemeClr val="tx2"/>
                </a:solidFill>
              </a:rPr>
              <a:t>machine typically has few registers, two-address </a:t>
            </a:r>
            <a:r>
              <a:rPr lang="en-US" altLang="zh-CN" sz="1400" dirty="0" smtClean="0">
                <a:solidFill>
                  <a:schemeClr val="tx2"/>
                </a:solidFill>
              </a:rPr>
              <a:t>instructions, </a:t>
            </a:r>
            <a:r>
              <a:rPr lang="en-US" altLang="zh-CN" sz="1400" dirty="0">
                <a:solidFill>
                  <a:schemeClr val="tx2"/>
                </a:solidFill>
              </a:rPr>
              <a:t>a variety of addressing modes , several register classes, </a:t>
            </a:r>
            <a:r>
              <a:rPr lang="en-US" altLang="zh-CN" sz="1400" dirty="0" smtClean="0">
                <a:solidFill>
                  <a:schemeClr val="tx2"/>
                </a:solidFill>
              </a:rPr>
              <a:t>variable-length instructions</a:t>
            </a:r>
            <a:r>
              <a:rPr lang="en-US" altLang="zh-CN" sz="1400" dirty="0">
                <a:solidFill>
                  <a:schemeClr val="tx2"/>
                </a:solidFill>
              </a:rPr>
              <a:t>, and instructions with side </a:t>
            </a:r>
            <a:r>
              <a:rPr lang="en-US" altLang="zh-CN" sz="1400" dirty="0" smtClean="0">
                <a:solidFill>
                  <a:schemeClr val="tx2"/>
                </a:solidFill>
              </a:rPr>
              <a:t>effects.</a:t>
            </a:r>
          </a:p>
          <a:p>
            <a:pPr lvl="1"/>
            <a:r>
              <a:rPr lang="en-US" altLang="zh-CN" sz="1400" dirty="0" smtClean="0">
                <a:solidFill>
                  <a:schemeClr val="tx2"/>
                </a:solidFill>
              </a:rPr>
              <a:t>We </a:t>
            </a:r>
            <a:r>
              <a:rPr lang="en-US" altLang="zh-CN" sz="1400" dirty="0">
                <a:solidFill>
                  <a:schemeClr val="tx2"/>
                </a:solidFill>
              </a:rPr>
              <a:t>shall use a very simple </a:t>
            </a:r>
            <a:r>
              <a:rPr lang="en-US" altLang="zh-CN" sz="1400" dirty="0" smtClean="0">
                <a:solidFill>
                  <a:schemeClr val="tx2"/>
                </a:solidFill>
              </a:rPr>
              <a:t>RISC-like </a:t>
            </a:r>
            <a:r>
              <a:rPr lang="en-US" altLang="zh-CN" sz="1400" dirty="0">
                <a:solidFill>
                  <a:schemeClr val="tx2"/>
                </a:solidFill>
              </a:rPr>
              <a:t>computer as our </a:t>
            </a:r>
            <a:r>
              <a:rPr lang="en-US" altLang="zh-CN" sz="1400" dirty="0" smtClean="0">
                <a:solidFill>
                  <a:schemeClr val="tx2"/>
                </a:solidFill>
              </a:rPr>
              <a:t>target machine</a:t>
            </a:r>
            <a:r>
              <a:rPr lang="en-US" altLang="zh-CN" sz="1400" dirty="0">
                <a:solidFill>
                  <a:schemeClr val="tx2"/>
                </a:solidFill>
              </a:rPr>
              <a:t>. We add to it some </a:t>
            </a:r>
            <a:r>
              <a:rPr lang="en-US" altLang="zh-CN" sz="1400" dirty="0" err="1" smtClean="0">
                <a:solidFill>
                  <a:schemeClr val="tx2"/>
                </a:solidFill>
              </a:rPr>
              <a:t>ClSC</a:t>
            </a:r>
            <a:r>
              <a:rPr lang="en-US" altLang="zh-CN" sz="1400" dirty="0" smtClean="0">
                <a:solidFill>
                  <a:schemeClr val="tx2"/>
                </a:solidFill>
              </a:rPr>
              <a:t>-like </a:t>
            </a:r>
            <a:r>
              <a:rPr lang="en-US" altLang="zh-CN" sz="1400" dirty="0">
                <a:solidFill>
                  <a:schemeClr val="tx2"/>
                </a:solidFill>
              </a:rPr>
              <a:t>addressing modes so that we can </a:t>
            </a:r>
            <a:r>
              <a:rPr lang="en-US" altLang="zh-CN" sz="1400" dirty="0" smtClean="0">
                <a:solidFill>
                  <a:schemeClr val="tx2"/>
                </a:solidFill>
              </a:rPr>
              <a:t>also discuss </a:t>
            </a:r>
            <a:r>
              <a:rPr lang="en-US" altLang="zh-CN" sz="1400" dirty="0">
                <a:solidFill>
                  <a:schemeClr val="tx2"/>
                </a:solidFill>
              </a:rPr>
              <a:t>code-generation techniques for </a:t>
            </a:r>
            <a:r>
              <a:rPr lang="en-US" altLang="zh-CN" sz="1400" dirty="0" smtClean="0">
                <a:solidFill>
                  <a:schemeClr val="tx2"/>
                </a:solidFill>
              </a:rPr>
              <a:t>CISC </a:t>
            </a:r>
            <a:r>
              <a:rPr lang="en-US" altLang="zh-CN" sz="1400" dirty="0">
                <a:solidFill>
                  <a:schemeClr val="tx2"/>
                </a:solidFill>
              </a:rPr>
              <a:t>machines. For readability, we </a:t>
            </a:r>
            <a:r>
              <a:rPr lang="en-US" altLang="zh-CN" sz="1400" dirty="0" smtClean="0">
                <a:solidFill>
                  <a:schemeClr val="tx2"/>
                </a:solidFill>
              </a:rPr>
              <a:t>use assembly </a:t>
            </a:r>
            <a:r>
              <a:rPr lang="en-US" altLang="zh-CN" sz="1400" dirty="0">
                <a:solidFill>
                  <a:schemeClr val="tx2"/>
                </a:solidFill>
              </a:rPr>
              <a:t>code as the target </a:t>
            </a:r>
            <a:r>
              <a:rPr lang="en-US" altLang="zh-CN" sz="1400" dirty="0" smtClean="0">
                <a:solidFill>
                  <a:schemeClr val="tx2"/>
                </a:solidFill>
              </a:rPr>
              <a:t>language.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84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 Issues in the Design of a Code Generator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199"/>
            <a:ext cx="7486650" cy="5176615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solidFill>
                  <a:srgbClr val="7030A0"/>
                </a:solidFill>
              </a:rPr>
              <a:t>Instruction </a:t>
            </a:r>
            <a:r>
              <a:rPr lang="en-US" altLang="zh-CN" sz="1600" dirty="0" smtClean="0">
                <a:solidFill>
                  <a:srgbClr val="7030A0"/>
                </a:solidFill>
              </a:rPr>
              <a:t>Selection</a:t>
            </a:r>
          </a:p>
          <a:p>
            <a:pPr lvl="1"/>
            <a:r>
              <a:rPr lang="en-US" altLang="zh-CN" sz="1300" dirty="0">
                <a:solidFill>
                  <a:schemeClr val="tx2"/>
                </a:solidFill>
              </a:rPr>
              <a:t>The code generator must map the </a:t>
            </a:r>
            <a:r>
              <a:rPr lang="en-US" altLang="zh-CN" sz="1300" dirty="0" err="1">
                <a:solidFill>
                  <a:schemeClr val="tx2"/>
                </a:solidFill>
              </a:rPr>
              <a:t>lR</a:t>
            </a:r>
            <a:r>
              <a:rPr lang="en-US" altLang="zh-CN" sz="1300" dirty="0">
                <a:solidFill>
                  <a:schemeClr val="tx2"/>
                </a:solidFill>
              </a:rPr>
              <a:t> program into a code sequence that can </a:t>
            </a:r>
            <a:r>
              <a:rPr lang="en-US" altLang="zh-CN" sz="1300" dirty="0" smtClean="0">
                <a:solidFill>
                  <a:schemeClr val="tx2"/>
                </a:solidFill>
              </a:rPr>
              <a:t>be executed </a:t>
            </a:r>
            <a:r>
              <a:rPr lang="en-US" altLang="zh-CN" sz="1300" dirty="0">
                <a:solidFill>
                  <a:schemeClr val="tx2"/>
                </a:solidFill>
              </a:rPr>
              <a:t>by the target machine. The complexity of performing this mapping </a:t>
            </a:r>
            <a:r>
              <a:rPr lang="en-US" altLang="zh-CN" sz="1300" dirty="0" smtClean="0">
                <a:solidFill>
                  <a:schemeClr val="tx2"/>
                </a:solidFill>
              </a:rPr>
              <a:t>is determined </a:t>
            </a:r>
            <a:r>
              <a:rPr lang="en-US" altLang="zh-CN" sz="1300" dirty="0">
                <a:solidFill>
                  <a:schemeClr val="tx2"/>
                </a:solidFill>
              </a:rPr>
              <a:t>by a factors such </a:t>
            </a:r>
            <a:r>
              <a:rPr lang="en-US" altLang="zh-CN" sz="1300" dirty="0" smtClean="0">
                <a:solidFill>
                  <a:schemeClr val="tx2"/>
                </a:solidFill>
              </a:rPr>
              <a:t>as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sz="1400" dirty="0">
                <a:solidFill>
                  <a:srgbClr val="00B0F0"/>
                </a:solidFill>
              </a:rPr>
              <a:t>the level of the </a:t>
            </a:r>
            <a:r>
              <a:rPr lang="en-US" altLang="zh-CN" sz="1400" dirty="0" smtClean="0">
                <a:solidFill>
                  <a:srgbClr val="00B0F0"/>
                </a:solidFill>
              </a:rPr>
              <a:t>IR</a:t>
            </a:r>
          </a:p>
          <a:p>
            <a:pPr marL="685800" lvl="2" indent="0">
              <a:buNone/>
            </a:pPr>
            <a:r>
              <a:rPr lang="en-US" altLang="zh-CN" sz="1150" dirty="0" smtClean="0">
                <a:solidFill>
                  <a:schemeClr val="tx2"/>
                </a:solidFill>
              </a:rPr>
              <a:t>If </a:t>
            </a:r>
            <a:r>
              <a:rPr lang="en-US" altLang="zh-CN" sz="1150" dirty="0">
                <a:solidFill>
                  <a:schemeClr val="tx2"/>
                </a:solidFill>
              </a:rPr>
              <a:t>the IR is high level, the code generator may translate each IR </a:t>
            </a:r>
            <a:r>
              <a:rPr lang="en-US" altLang="zh-CN" sz="1150" dirty="0" smtClean="0">
                <a:solidFill>
                  <a:schemeClr val="tx2"/>
                </a:solidFill>
              </a:rPr>
              <a:t>statement into </a:t>
            </a:r>
            <a:r>
              <a:rPr lang="en-US" altLang="zh-CN" sz="1150" dirty="0">
                <a:solidFill>
                  <a:schemeClr val="tx2"/>
                </a:solidFill>
              </a:rPr>
              <a:t>a sequence of machine instructions using code templates</a:t>
            </a:r>
            <a:r>
              <a:rPr lang="en-US" altLang="zh-CN" sz="1150" dirty="0" smtClean="0">
                <a:solidFill>
                  <a:schemeClr val="tx2"/>
                </a:solidFill>
              </a:rPr>
              <a:t>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sz="1400" dirty="0">
                <a:solidFill>
                  <a:srgbClr val="00B0F0"/>
                </a:solidFill>
              </a:rPr>
              <a:t>the nature of the instruction-set </a:t>
            </a:r>
            <a:r>
              <a:rPr lang="en-US" altLang="zh-CN" sz="1400" dirty="0" smtClean="0">
                <a:solidFill>
                  <a:srgbClr val="00B0F0"/>
                </a:solidFill>
              </a:rPr>
              <a:t>architecture</a:t>
            </a:r>
          </a:p>
          <a:p>
            <a:pPr marL="685800" lvl="2" indent="0">
              <a:buNone/>
            </a:pPr>
            <a:r>
              <a:rPr lang="en-US" altLang="zh-CN" sz="1150" dirty="0">
                <a:solidFill>
                  <a:schemeClr val="tx2"/>
                </a:solidFill>
              </a:rPr>
              <a:t>Instruction speeds and machine idioms are other important </a:t>
            </a:r>
            <a:r>
              <a:rPr lang="en-US" altLang="zh-CN" sz="1150" dirty="0" smtClean="0">
                <a:solidFill>
                  <a:schemeClr val="tx2"/>
                </a:solidFill>
              </a:rPr>
              <a:t>factors.</a:t>
            </a:r>
          </a:p>
          <a:p>
            <a:pPr marL="685800" lvl="2" indent="0">
              <a:buNone/>
            </a:pPr>
            <a:endParaRPr lang="en-US" altLang="zh-CN" sz="1150" dirty="0" smtClean="0">
              <a:solidFill>
                <a:schemeClr val="tx2"/>
              </a:solidFill>
            </a:endParaRPr>
          </a:p>
          <a:p>
            <a:pPr marL="685800" lvl="2" indent="0">
              <a:buNone/>
            </a:pPr>
            <a:endParaRPr lang="en-US" altLang="zh-CN" sz="1150" dirty="0">
              <a:solidFill>
                <a:schemeClr val="tx2"/>
              </a:solidFill>
            </a:endParaRPr>
          </a:p>
          <a:p>
            <a:pPr marL="685800" lvl="2" indent="0">
              <a:buNone/>
            </a:pPr>
            <a:r>
              <a:rPr lang="en-US" altLang="zh-CN" sz="1150" dirty="0" smtClean="0">
                <a:solidFill>
                  <a:schemeClr val="tx2"/>
                </a:solidFill>
              </a:rPr>
              <a:t>                              </a:t>
            </a:r>
          </a:p>
          <a:p>
            <a:pPr marL="685800" lvl="2" indent="0">
              <a:buNone/>
            </a:pPr>
            <a:endParaRPr lang="en-US" altLang="zh-CN" sz="1150" dirty="0">
              <a:solidFill>
                <a:schemeClr val="tx2"/>
              </a:solidFill>
            </a:endParaRPr>
          </a:p>
          <a:p>
            <a:pPr marL="685800" lvl="2" indent="0">
              <a:buNone/>
            </a:pPr>
            <a:endParaRPr lang="en-US" altLang="zh-CN" sz="1150" dirty="0" smtClean="0">
              <a:solidFill>
                <a:schemeClr val="tx2"/>
              </a:solidFill>
            </a:endParaRPr>
          </a:p>
          <a:p>
            <a:pPr marL="685800" lvl="2" indent="0">
              <a:buNone/>
            </a:pPr>
            <a:endParaRPr lang="en-US" altLang="zh-CN" sz="1150" dirty="0" smtClean="0">
              <a:solidFill>
                <a:schemeClr val="tx2"/>
              </a:solidFill>
            </a:endParaRPr>
          </a:p>
          <a:p>
            <a:pPr marL="685800" lvl="2" indent="0">
              <a:buNone/>
            </a:pPr>
            <a:endParaRPr lang="en-US" altLang="zh-CN" sz="1150" dirty="0">
              <a:solidFill>
                <a:schemeClr val="tx2"/>
              </a:solidFill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sz="1400" dirty="0">
                <a:solidFill>
                  <a:srgbClr val="00B0F0"/>
                </a:solidFill>
              </a:rPr>
              <a:t>the desired quality of the generated </a:t>
            </a:r>
            <a:r>
              <a:rPr lang="en-US" altLang="zh-CN" sz="1400" dirty="0" smtClean="0">
                <a:solidFill>
                  <a:srgbClr val="00B0F0"/>
                </a:solidFill>
              </a:rPr>
              <a:t>code</a:t>
            </a:r>
          </a:p>
          <a:p>
            <a:pPr marL="685800" lvl="2" indent="0">
              <a:lnSpc>
                <a:spcPct val="100000"/>
              </a:lnSpc>
              <a:buNone/>
            </a:pPr>
            <a:r>
              <a:rPr lang="en-US" altLang="zh-CN" sz="1150" dirty="0">
                <a:solidFill>
                  <a:schemeClr val="tx2"/>
                </a:solidFill>
              </a:rPr>
              <a:t>The quality of the generated code is usually determined by its speed and size. On most machines, a given IR program can be implemented by many different code sequences, with significant cost differences between the different implementations. A naive translation of the intermediate code may therefore lead to correct but unacceptably inefficient target code.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altLang="zh-CN" sz="1300" dirty="0">
              <a:solidFill>
                <a:schemeClr val="tx2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619" y="3743280"/>
            <a:ext cx="1133475" cy="619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017" y="3633550"/>
            <a:ext cx="3115110" cy="15051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743058" y="4170348"/>
            <a:ext cx="2768837" cy="427289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98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 Issues in the Design of a Code Generator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199"/>
            <a:ext cx="7486650" cy="4646777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solidFill>
                  <a:srgbClr val="7030A0"/>
                </a:solidFill>
              </a:rPr>
              <a:t>Register </a:t>
            </a:r>
            <a:r>
              <a:rPr lang="en-US" altLang="zh-CN" sz="1600" dirty="0" smtClean="0">
                <a:solidFill>
                  <a:srgbClr val="7030A0"/>
                </a:solidFill>
              </a:rPr>
              <a:t>Allocation</a:t>
            </a:r>
          </a:p>
          <a:p>
            <a:pPr lvl="1"/>
            <a:r>
              <a:rPr lang="en-US" altLang="zh-CN" sz="1600" dirty="0">
                <a:solidFill>
                  <a:schemeClr val="tx2"/>
                </a:solidFill>
              </a:rPr>
              <a:t>A key problem in code generation is deciding what values to hold in </a:t>
            </a:r>
            <a:r>
              <a:rPr lang="en-US" altLang="zh-CN" sz="1600" dirty="0" smtClean="0">
                <a:solidFill>
                  <a:schemeClr val="tx2"/>
                </a:solidFill>
              </a:rPr>
              <a:t>what registers</a:t>
            </a:r>
            <a:r>
              <a:rPr lang="en-US" altLang="zh-CN" sz="1600" dirty="0">
                <a:solidFill>
                  <a:schemeClr val="tx2"/>
                </a:solidFill>
              </a:rPr>
              <a:t>. Registers are the fastest computational unit on the target </a:t>
            </a:r>
            <a:r>
              <a:rPr lang="en-US" altLang="zh-CN" sz="1600" dirty="0" smtClean="0">
                <a:solidFill>
                  <a:schemeClr val="tx2"/>
                </a:solidFill>
              </a:rPr>
              <a:t>machine, but </a:t>
            </a:r>
            <a:r>
              <a:rPr lang="en-US" altLang="zh-CN" sz="1600" dirty="0">
                <a:solidFill>
                  <a:schemeClr val="tx2"/>
                </a:solidFill>
              </a:rPr>
              <a:t>we usually do not have enough of them to hold all values</a:t>
            </a:r>
            <a:r>
              <a:rPr lang="en-US" altLang="zh-CN" sz="1600" dirty="0" smtClean="0">
                <a:solidFill>
                  <a:schemeClr val="tx2"/>
                </a:solidFill>
              </a:rPr>
              <a:t>.</a:t>
            </a:r>
          </a:p>
          <a:p>
            <a:pPr lvl="1"/>
            <a:r>
              <a:rPr lang="en-US" altLang="zh-CN" sz="1600" dirty="0">
                <a:solidFill>
                  <a:schemeClr val="tx2"/>
                </a:solidFill>
              </a:rPr>
              <a:t>The use of registers is often subdivided into two </a:t>
            </a:r>
            <a:r>
              <a:rPr lang="en-US" altLang="zh-CN" sz="1600" dirty="0" err="1">
                <a:solidFill>
                  <a:schemeClr val="tx2"/>
                </a:solidFill>
              </a:rPr>
              <a:t>subproblems</a:t>
            </a:r>
            <a:r>
              <a:rPr lang="en-US" altLang="zh-CN" sz="1600" dirty="0">
                <a:solidFill>
                  <a:schemeClr val="tx2"/>
                </a:solidFill>
              </a:rPr>
              <a:t>:</a:t>
            </a:r>
          </a:p>
          <a:p>
            <a:pPr lvl="2"/>
            <a:r>
              <a:rPr lang="en-US" altLang="zh-CN" sz="1450" dirty="0">
                <a:solidFill>
                  <a:srgbClr val="00B050"/>
                </a:solidFill>
              </a:rPr>
              <a:t>1. Register allocation</a:t>
            </a:r>
            <a:r>
              <a:rPr lang="en-US" altLang="zh-CN" sz="1450" dirty="0">
                <a:solidFill>
                  <a:schemeClr val="tx2"/>
                </a:solidFill>
              </a:rPr>
              <a:t>, during which we select the set of variables that </a:t>
            </a:r>
            <a:r>
              <a:rPr lang="en-US" altLang="zh-CN" sz="1450" dirty="0" smtClean="0">
                <a:solidFill>
                  <a:schemeClr val="tx2"/>
                </a:solidFill>
              </a:rPr>
              <a:t>will </a:t>
            </a:r>
            <a:r>
              <a:rPr lang="en-US" altLang="zh-CN" sz="1600" dirty="0" smtClean="0">
                <a:solidFill>
                  <a:schemeClr val="tx2"/>
                </a:solidFill>
              </a:rPr>
              <a:t>reside </a:t>
            </a:r>
            <a:r>
              <a:rPr lang="en-US" altLang="zh-CN" sz="1600" dirty="0">
                <a:solidFill>
                  <a:schemeClr val="tx2"/>
                </a:solidFill>
              </a:rPr>
              <a:t>in registers at each point in the program.</a:t>
            </a:r>
          </a:p>
          <a:p>
            <a:pPr lvl="2"/>
            <a:r>
              <a:rPr lang="en-US" altLang="zh-CN" sz="1450" dirty="0">
                <a:solidFill>
                  <a:srgbClr val="00B050"/>
                </a:solidFill>
              </a:rPr>
              <a:t>2. Register assignment</a:t>
            </a:r>
            <a:r>
              <a:rPr lang="en-US" altLang="zh-CN" sz="1450" dirty="0">
                <a:solidFill>
                  <a:schemeClr val="tx2"/>
                </a:solidFill>
              </a:rPr>
              <a:t>, during which we pick the specific register that </a:t>
            </a:r>
            <a:r>
              <a:rPr lang="en-US" altLang="zh-CN" sz="1450" dirty="0" smtClean="0">
                <a:solidFill>
                  <a:schemeClr val="tx2"/>
                </a:solidFill>
              </a:rPr>
              <a:t>a </a:t>
            </a:r>
            <a:r>
              <a:rPr lang="en-US" altLang="zh-CN" sz="1600" dirty="0" smtClean="0">
                <a:solidFill>
                  <a:schemeClr val="tx2"/>
                </a:solidFill>
              </a:rPr>
              <a:t>variable </a:t>
            </a:r>
            <a:r>
              <a:rPr lang="en-US" altLang="zh-CN" sz="1600" dirty="0">
                <a:solidFill>
                  <a:schemeClr val="tx2"/>
                </a:solidFill>
              </a:rPr>
              <a:t>will reside in</a:t>
            </a:r>
            <a:r>
              <a:rPr lang="en-US" altLang="zh-CN" sz="1600" dirty="0" smtClean="0">
                <a:solidFill>
                  <a:schemeClr val="tx2"/>
                </a:solidFill>
              </a:rPr>
              <a:t>.</a:t>
            </a:r>
          </a:p>
          <a:p>
            <a:r>
              <a:rPr lang="en-US" altLang="zh-CN" sz="2050" dirty="0">
                <a:solidFill>
                  <a:srgbClr val="7030A0"/>
                </a:solidFill>
              </a:rPr>
              <a:t>Evaluation </a:t>
            </a:r>
            <a:r>
              <a:rPr lang="en-US" altLang="zh-CN" sz="2050" dirty="0" smtClean="0">
                <a:solidFill>
                  <a:srgbClr val="7030A0"/>
                </a:solidFill>
              </a:rPr>
              <a:t>Order</a:t>
            </a:r>
          </a:p>
          <a:p>
            <a:pPr lvl="1"/>
            <a:r>
              <a:rPr lang="en-US" altLang="zh-CN" sz="1750" dirty="0">
                <a:solidFill>
                  <a:schemeClr val="tx2"/>
                </a:solidFill>
              </a:rPr>
              <a:t>The order in which computations are </a:t>
            </a:r>
            <a:r>
              <a:rPr lang="en-US" altLang="zh-CN" sz="1750" dirty="0" smtClean="0">
                <a:solidFill>
                  <a:schemeClr val="tx2"/>
                </a:solidFill>
              </a:rPr>
              <a:t>performed </a:t>
            </a:r>
            <a:r>
              <a:rPr lang="en-US" altLang="zh-CN" sz="1750" dirty="0">
                <a:solidFill>
                  <a:schemeClr val="tx2"/>
                </a:solidFill>
              </a:rPr>
              <a:t>can affect the efficiency of </a:t>
            </a:r>
            <a:r>
              <a:rPr lang="en-US" altLang="zh-CN" sz="1750" dirty="0" smtClean="0">
                <a:solidFill>
                  <a:schemeClr val="tx2"/>
                </a:solidFill>
              </a:rPr>
              <a:t>the target </a:t>
            </a:r>
            <a:r>
              <a:rPr lang="en-US" altLang="zh-CN" sz="1750" dirty="0">
                <a:solidFill>
                  <a:schemeClr val="tx2"/>
                </a:solidFill>
              </a:rPr>
              <a:t>code. As we shall see, some computation orders require </a:t>
            </a:r>
            <a:r>
              <a:rPr lang="en-US" altLang="zh-CN" sz="1750" dirty="0" smtClean="0">
                <a:solidFill>
                  <a:schemeClr val="tx2"/>
                </a:solidFill>
              </a:rPr>
              <a:t>fewer registers to </a:t>
            </a:r>
            <a:r>
              <a:rPr lang="en-US" altLang="zh-CN" sz="1750" dirty="0">
                <a:solidFill>
                  <a:schemeClr val="tx2"/>
                </a:solidFill>
              </a:rPr>
              <a:t>hold intermediate results than others. However, picking a best order </a:t>
            </a:r>
            <a:r>
              <a:rPr lang="en-US" altLang="zh-CN" sz="1750" dirty="0" smtClean="0">
                <a:solidFill>
                  <a:schemeClr val="tx2"/>
                </a:solidFill>
              </a:rPr>
              <a:t>in the </a:t>
            </a:r>
            <a:r>
              <a:rPr lang="en-US" altLang="zh-CN" sz="1750" dirty="0">
                <a:solidFill>
                  <a:schemeClr val="tx2"/>
                </a:solidFill>
              </a:rPr>
              <a:t>general case is a difficult NP-complete problem.</a:t>
            </a:r>
            <a:endParaRPr lang="en-US" altLang="zh-CN" sz="175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30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 </a:t>
            </a:r>
            <a:r>
              <a:rPr lang="en-US" altLang="zh-CN" dirty="0" smtClean="0"/>
              <a:t>The </a:t>
            </a:r>
            <a:r>
              <a:rPr lang="en-US" altLang="zh-CN" dirty="0"/>
              <a:t>Target </a:t>
            </a:r>
            <a:r>
              <a:rPr lang="en-US" altLang="zh-CN" dirty="0" smtClean="0"/>
              <a:t>Language-instructions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The underlying </a:t>
            </a:r>
            <a:r>
              <a:rPr lang="en-US" altLang="zh-CN" dirty="0"/>
              <a:t>computer is a byte-addressable machine with n general-purpose </a:t>
            </a:r>
            <a:r>
              <a:rPr lang="en-US" altLang="zh-CN" dirty="0" smtClean="0"/>
              <a:t>registers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R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R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 . . ,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n-1</a:t>
            </a:r>
            <a:r>
              <a:rPr lang="en-US" altLang="zh-CN" dirty="0"/>
              <a:t>. We assume </a:t>
            </a:r>
            <a:r>
              <a:rPr lang="en-US" altLang="zh-CN" dirty="0" smtClean="0"/>
              <a:t>the following </a:t>
            </a:r>
            <a:r>
              <a:rPr lang="en-US" altLang="zh-CN" dirty="0"/>
              <a:t>kinds of instructions are available</a:t>
            </a:r>
            <a:r>
              <a:rPr lang="en-US" altLang="zh-CN" dirty="0" smtClean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0B0F0"/>
                </a:solidFill>
              </a:rPr>
              <a:t>Load</a:t>
            </a:r>
            <a:r>
              <a:rPr lang="en-US" altLang="zh-CN" dirty="0"/>
              <a:t> operations:  The instruction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LD </a:t>
            </a:r>
            <a:r>
              <a:rPr lang="en-US" altLang="zh-CN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dst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CN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addr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/>
              <a:t>loads the value in </a:t>
            </a:r>
            <a:r>
              <a:rPr lang="en-US" altLang="zh-CN" dirty="0" smtClean="0"/>
              <a:t>location </a:t>
            </a:r>
            <a:r>
              <a:rPr lang="en-US" altLang="zh-CN" dirty="0" err="1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addr</a:t>
            </a:r>
            <a:r>
              <a:rPr lang="en-US" altLang="zh-CN" dirty="0" smtClean="0"/>
              <a:t> </a:t>
            </a:r>
            <a:r>
              <a:rPr lang="en-US" altLang="zh-CN" dirty="0"/>
              <a:t>into location </a:t>
            </a:r>
            <a:r>
              <a:rPr lang="en-US" altLang="zh-CN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dst</a:t>
            </a:r>
            <a:r>
              <a:rPr lang="en-US" altLang="zh-CN" dirty="0"/>
              <a:t>. An instruction of the </a:t>
            </a:r>
            <a:r>
              <a:rPr lang="en-US" altLang="zh-CN" dirty="0" smtClean="0"/>
              <a:t>form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LD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/>
              <a:t>is </a:t>
            </a:r>
            <a:r>
              <a:rPr lang="en-US" altLang="zh-CN" dirty="0" smtClean="0"/>
              <a:t>a register-to-register </a:t>
            </a:r>
            <a:r>
              <a:rPr lang="en-US" altLang="zh-CN" dirty="0"/>
              <a:t>copy in which the contents of register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/>
              <a:t> </a:t>
            </a:r>
            <a:r>
              <a:rPr lang="en-US" altLang="zh-CN" dirty="0"/>
              <a:t>are </a:t>
            </a:r>
            <a:r>
              <a:rPr lang="en-US" altLang="zh-CN" dirty="0" smtClean="0"/>
              <a:t>copied into </a:t>
            </a:r>
            <a:r>
              <a:rPr lang="en-US" altLang="zh-CN" dirty="0"/>
              <a:t>register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0B0F0"/>
                </a:solidFill>
              </a:rPr>
              <a:t>Store</a:t>
            </a:r>
            <a:r>
              <a:rPr lang="en-US" altLang="zh-CN" dirty="0"/>
              <a:t> operations: The instruction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x, r </a:t>
            </a:r>
            <a:r>
              <a:rPr lang="en-US" altLang="zh-CN" dirty="0"/>
              <a:t>stores the value in register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dirty="0"/>
              <a:t> </a:t>
            </a:r>
            <a:r>
              <a:rPr lang="en-US" altLang="zh-CN" dirty="0" smtClean="0"/>
              <a:t>into the </a:t>
            </a:r>
            <a:r>
              <a:rPr lang="en-US" altLang="zh-CN" dirty="0"/>
              <a:t>location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altLang="zh-CN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0B0F0"/>
                </a:solidFill>
              </a:rPr>
              <a:t>Computation</a:t>
            </a:r>
            <a:r>
              <a:rPr lang="en-US" altLang="zh-CN" dirty="0"/>
              <a:t> operations of the form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OP </a:t>
            </a:r>
            <a:r>
              <a:rPr lang="en-US" altLang="zh-CN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dst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src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src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/>
              <a:t>, where 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OP</a:t>
            </a:r>
            <a:r>
              <a:rPr lang="en-US" altLang="zh-CN" dirty="0" smtClean="0"/>
              <a:t> </a:t>
            </a:r>
            <a:r>
              <a:rPr lang="en-US" altLang="zh-CN" dirty="0"/>
              <a:t>is a </a:t>
            </a:r>
            <a:r>
              <a:rPr lang="en-US" altLang="zh-CN" dirty="0" smtClean="0"/>
              <a:t>operator like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US" altLang="zh-CN" dirty="0"/>
              <a:t> or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SUB</a:t>
            </a:r>
            <a:r>
              <a:rPr lang="en-US" altLang="zh-CN" dirty="0"/>
              <a:t>, and </a:t>
            </a:r>
            <a:r>
              <a:rPr lang="en-US" altLang="zh-CN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dst</a:t>
            </a:r>
            <a:r>
              <a:rPr lang="en-US" altLang="zh-CN" dirty="0" smtClean="0">
                <a:solidFill>
                  <a:srgbClr val="7030A0"/>
                </a:solidFill>
              </a:rPr>
              <a:t>,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src</a:t>
            </a:r>
            <a:r>
              <a:rPr lang="en-US" altLang="zh-CN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 smtClean="0"/>
              <a:t>,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src</a:t>
            </a:r>
            <a:r>
              <a:rPr lang="en-US" altLang="zh-CN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 smtClean="0"/>
              <a:t>are locations. The </a:t>
            </a:r>
            <a:r>
              <a:rPr lang="en-US" altLang="zh-CN" dirty="0"/>
              <a:t>effect of this machine instruction is to apply the </a:t>
            </a:r>
            <a:r>
              <a:rPr lang="en-US" altLang="zh-CN" dirty="0" smtClean="0"/>
              <a:t>operation represented </a:t>
            </a:r>
            <a:r>
              <a:rPr lang="en-US" altLang="zh-CN" dirty="0"/>
              <a:t>by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OP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 smtClean="0"/>
              <a:t>to </a:t>
            </a:r>
            <a:r>
              <a:rPr lang="en-US" altLang="zh-CN" dirty="0"/>
              <a:t>the values in locations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src</a:t>
            </a:r>
            <a:r>
              <a:rPr lang="en-US" altLang="zh-CN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 smtClean="0"/>
              <a:t>and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src</a:t>
            </a:r>
            <a:r>
              <a:rPr lang="en-US" altLang="zh-CN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 smtClean="0"/>
              <a:t>, </a:t>
            </a:r>
            <a:r>
              <a:rPr lang="en-US" altLang="zh-CN" dirty="0"/>
              <a:t>and place </a:t>
            </a:r>
            <a:r>
              <a:rPr lang="en-US" altLang="zh-CN" dirty="0" smtClean="0"/>
              <a:t>the result </a:t>
            </a:r>
            <a:r>
              <a:rPr lang="en-US" altLang="zh-CN" dirty="0"/>
              <a:t>of this operation in location </a:t>
            </a:r>
            <a:r>
              <a:rPr lang="en-US" altLang="zh-CN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dst</a:t>
            </a:r>
            <a:r>
              <a:rPr lang="en-US" altLang="zh-CN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0B0F0"/>
                </a:solidFill>
              </a:rPr>
              <a:t>Unconditional jumps</a:t>
            </a:r>
            <a:r>
              <a:rPr lang="en-US" altLang="zh-CN" dirty="0"/>
              <a:t>: The instruction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/>
              <a:t>causes control to branch </a:t>
            </a:r>
            <a:r>
              <a:rPr lang="en-US" altLang="zh-CN" dirty="0" smtClean="0"/>
              <a:t>to the </a:t>
            </a:r>
            <a:r>
              <a:rPr lang="en-US" altLang="zh-CN" dirty="0"/>
              <a:t>machine instruction with label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altLang="zh-CN" dirty="0"/>
              <a:t>. (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en-US" altLang="zh-CN" dirty="0"/>
              <a:t>stands for branch.)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0B0F0"/>
                </a:solidFill>
              </a:rPr>
              <a:t>Conditional jumps </a:t>
            </a:r>
            <a:r>
              <a:rPr lang="en-US" altLang="zh-CN" dirty="0"/>
              <a:t>of the form </a:t>
            </a:r>
            <a:r>
              <a:rPr lang="en-US" altLang="zh-CN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Bcond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r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altLang="zh-CN" dirty="0"/>
              <a:t>, where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en-US" altLang="zh-CN" dirty="0"/>
              <a:t>is a register,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en-US" altLang="zh-CN" dirty="0"/>
              <a:t>is a </a:t>
            </a:r>
            <a:r>
              <a:rPr lang="en-US" altLang="zh-CN" dirty="0" smtClean="0"/>
              <a:t>label, and </a:t>
            </a:r>
            <a:r>
              <a:rPr lang="en-US" altLang="zh-CN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cond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en-US" altLang="zh-CN" dirty="0"/>
              <a:t>stands for any of the common tests on values in the register 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dirty="0" smtClean="0"/>
              <a:t>. For </a:t>
            </a:r>
            <a:r>
              <a:rPr lang="en-US" altLang="zh-CN" dirty="0"/>
              <a:t>example,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BLTZ</a:t>
            </a:r>
            <a:r>
              <a:rPr lang="en-US" altLang="zh-CN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/>
              <a:t>causes a jump to label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/>
              <a:t>if the value in register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en-US" altLang="zh-CN" dirty="0" smtClean="0"/>
              <a:t>is less </a:t>
            </a:r>
            <a:r>
              <a:rPr lang="en-US" altLang="zh-CN" dirty="0"/>
              <a:t>than zero, and allows control to pass to the next machine </a:t>
            </a:r>
            <a:r>
              <a:rPr lang="en-US" altLang="zh-CN" dirty="0" smtClean="0"/>
              <a:t>instruction if </a:t>
            </a:r>
            <a:r>
              <a:rPr lang="en-US" altLang="zh-CN" dirty="0"/>
              <a:t>not.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90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 </a:t>
            </a:r>
            <a:r>
              <a:rPr lang="en-US" altLang="zh-CN" dirty="0" smtClean="0"/>
              <a:t>The </a:t>
            </a:r>
            <a:r>
              <a:rPr lang="en-US" altLang="zh-CN" dirty="0"/>
              <a:t>Target </a:t>
            </a:r>
            <a:r>
              <a:rPr lang="en-US" altLang="zh-CN" dirty="0" smtClean="0"/>
              <a:t>Language-addressing modes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0129" y="1600200"/>
            <a:ext cx="7486650" cy="52578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Assume </a:t>
            </a:r>
            <a:r>
              <a:rPr lang="en-US" altLang="zh-CN" dirty="0"/>
              <a:t>our target machine has a variety of addressing modes</a:t>
            </a:r>
            <a:r>
              <a:rPr lang="en-US" altLang="zh-CN" dirty="0" smtClean="0"/>
              <a:t>: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In instructions, a location can be a variable name x referring to the </a:t>
            </a:r>
            <a:r>
              <a:rPr lang="en-US" altLang="zh-CN" dirty="0" smtClean="0"/>
              <a:t>memory location </a:t>
            </a:r>
            <a:r>
              <a:rPr lang="en-US" altLang="zh-CN" dirty="0"/>
              <a:t>that is reserved for x (that is, the I-value of x</a:t>
            </a:r>
            <a:r>
              <a:rPr lang="en-US" altLang="zh-CN" dirty="0" smtClean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A location can also be an indexed address of the form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a(r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), </a:t>
            </a:r>
            <a:r>
              <a:rPr lang="en-US" altLang="zh-CN" dirty="0"/>
              <a:t>where a </a:t>
            </a:r>
            <a:r>
              <a:rPr lang="en-US" altLang="zh-CN" dirty="0" smtClean="0"/>
              <a:t>is a </a:t>
            </a:r>
            <a:r>
              <a:rPr lang="en-US" altLang="zh-CN" dirty="0"/>
              <a:t>variable and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dirty="0"/>
              <a:t> is a </a:t>
            </a:r>
            <a:r>
              <a:rPr lang="en-US" altLang="zh-CN" dirty="0" smtClean="0"/>
              <a:t>register. Instruction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LD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a(R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US" altLang="zh-CN" dirty="0"/>
              <a:t>has the effect of </a:t>
            </a:r>
            <a:r>
              <a:rPr lang="en-US" altLang="zh-CN" dirty="0" smtClean="0"/>
              <a:t>setting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/>
              <a:t> </a:t>
            </a:r>
            <a:r>
              <a:rPr lang="en-US" altLang="zh-CN" dirty="0"/>
              <a:t>= contents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a+contents</a:t>
            </a:r>
            <a:r>
              <a:rPr lang="en-US" altLang="zh-CN" dirty="0" smtClean="0"/>
              <a:t> (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 smtClean="0"/>
              <a:t>)), where </a:t>
            </a:r>
            <a:r>
              <a:rPr lang="en-US" altLang="zh-CN" dirty="0" smtClean="0"/>
              <a:t> contents(x</a:t>
            </a:r>
            <a:r>
              <a:rPr lang="en-US" altLang="zh-CN" dirty="0"/>
              <a:t>) denotes the </a:t>
            </a:r>
            <a:r>
              <a:rPr lang="en-US" altLang="zh-CN" dirty="0" smtClean="0"/>
              <a:t>contents of </a:t>
            </a:r>
            <a:r>
              <a:rPr lang="en-US" altLang="zh-CN" dirty="0"/>
              <a:t>the register or memory location represented by x</a:t>
            </a:r>
            <a:r>
              <a:rPr lang="en-US" altLang="zh-CN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A memory location can be an integer indexed by a register. For </a:t>
            </a:r>
            <a:r>
              <a:rPr lang="en-US" altLang="zh-CN" dirty="0" smtClean="0"/>
              <a:t>example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LD R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100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US" altLang="zh-CN" dirty="0"/>
              <a:t>has the effect of setting 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= </a:t>
            </a:r>
            <a:r>
              <a:rPr lang="en-US" altLang="zh-CN" dirty="0"/>
              <a:t>contents (</a:t>
            </a:r>
            <a:r>
              <a:rPr lang="en-US" altLang="zh-CN" dirty="0" smtClean="0"/>
              <a:t>100+contents </a:t>
            </a:r>
            <a:r>
              <a:rPr lang="en-US" altLang="zh-CN" dirty="0"/>
              <a:t>(R</a:t>
            </a:r>
            <a:r>
              <a:rPr lang="en-US" altLang="zh-CN" baseline="-25000" dirty="0"/>
              <a:t>2</a:t>
            </a:r>
            <a:r>
              <a:rPr lang="en-US" altLang="zh-CN" dirty="0" smtClean="0"/>
              <a:t>)).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We also allow two indirect addressing modes: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*r </a:t>
            </a:r>
            <a:r>
              <a:rPr lang="en-US" altLang="zh-CN" dirty="0"/>
              <a:t>means the memory </a:t>
            </a:r>
            <a:r>
              <a:rPr lang="en-US" altLang="zh-CN" dirty="0" smtClean="0"/>
              <a:t>location found </a:t>
            </a:r>
            <a:r>
              <a:rPr lang="en-US" altLang="zh-CN" dirty="0"/>
              <a:t>in the location </a:t>
            </a:r>
            <a:r>
              <a:rPr lang="en-US" altLang="zh-CN" dirty="0" smtClean="0"/>
              <a:t>represented </a:t>
            </a:r>
            <a:r>
              <a:rPr lang="en-US" altLang="zh-CN" dirty="0"/>
              <a:t>by the contents of register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dirty="0"/>
              <a:t> </a:t>
            </a:r>
            <a:r>
              <a:rPr lang="en-US" altLang="zh-CN" dirty="0" smtClean="0"/>
              <a:t>and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*100(r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US" altLang="zh-CN" dirty="0"/>
              <a:t>means the memory location found in the location obtained </a:t>
            </a:r>
            <a:r>
              <a:rPr lang="en-US" altLang="zh-CN" dirty="0" smtClean="0"/>
              <a:t>by adding </a:t>
            </a:r>
            <a:r>
              <a:rPr lang="en-US" altLang="zh-CN" dirty="0"/>
              <a:t>100 to the contents of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dirty="0"/>
              <a:t>. For example, 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LD </a:t>
            </a:r>
            <a:r>
              <a:rPr lang="en-US" altLang="zh-CN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*100(R</a:t>
            </a:r>
            <a:r>
              <a:rPr lang="en-US" altLang="zh-CN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US" altLang="zh-CN" dirty="0"/>
              <a:t>has </a:t>
            </a:r>
            <a:r>
              <a:rPr lang="en-US" altLang="zh-CN" dirty="0" smtClean="0"/>
              <a:t>the effect </a:t>
            </a:r>
            <a:r>
              <a:rPr lang="en-US" altLang="zh-CN" dirty="0"/>
              <a:t>of setting </a:t>
            </a:r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l</a:t>
            </a:r>
            <a:r>
              <a:rPr lang="en-US" altLang="zh-CN" dirty="0" smtClean="0"/>
              <a:t>=contents(contents </a:t>
            </a:r>
            <a:r>
              <a:rPr lang="en-US" altLang="zh-CN" dirty="0"/>
              <a:t>(</a:t>
            </a:r>
            <a:r>
              <a:rPr lang="en-US" altLang="zh-CN" dirty="0" smtClean="0"/>
              <a:t>100+contents </a:t>
            </a:r>
            <a:r>
              <a:rPr lang="en-US" altLang="zh-CN" dirty="0"/>
              <a:t>(R</a:t>
            </a:r>
            <a:r>
              <a:rPr lang="en-US" altLang="zh-CN" baseline="-25000" dirty="0"/>
              <a:t>2</a:t>
            </a:r>
            <a:r>
              <a:rPr lang="en-US" altLang="zh-CN" dirty="0"/>
              <a:t>) ) </a:t>
            </a:r>
            <a:r>
              <a:rPr lang="en-US" altLang="zh-CN" dirty="0" smtClean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Finally, we allow an immediate constant addressing mode. The </a:t>
            </a:r>
            <a:r>
              <a:rPr lang="en-US" altLang="zh-CN" dirty="0" smtClean="0"/>
              <a:t>constant is </a:t>
            </a:r>
            <a:r>
              <a:rPr lang="en-US" altLang="zh-CN" dirty="0"/>
              <a:t>prefixed by #. The instruction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LD 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#100 </a:t>
            </a:r>
            <a:r>
              <a:rPr lang="en-US" altLang="zh-CN" dirty="0"/>
              <a:t>loads the integer 100 </a:t>
            </a:r>
            <a:r>
              <a:rPr lang="en-US" altLang="zh-CN" dirty="0" smtClean="0"/>
              <a:t>into register R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,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 R</a:t>
            </a:r>
            <a:r>
              <a:rPr lang="en-US" altLang="zh-CN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zh-CN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 100 </a:t>
            </a:r>
            <a:r>
              <a:rPr lang="en-US" altLang="zh-CN" dirty="0"/>
              <a:t>adds the integer 100 into register 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885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 </a:t>
            </a:r>
            <a:r>
              <a:rPr lang="en-US" altLang="zh-CN" dirty="0" smtClean="0"/>
              <a:t>The </a:t>
            </a:r>
            <a:r>
              <a:rPr lang="en-US" altLang="zh-CN" dirty="0"/>
              <a:t>Target </a:t>
            </a:r>
            <a:r>
              <a:rPr lang="en-US" altLang="zh-CN" dirty="0" smtClean="0"/>
              <a:t>Language – Examples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45" y="1538813"/>
            <a:ext cx="7504762" cy="4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2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 </a:t>
            </a:r>
            <a:r>
              <a:rPr lang="en-US" altLang="zh-CN" dirty="0" smtClean="0"/>
              <a:t>The </a:t>
            </a:r>
            <a:r>
              <a:rPr lang="en-US" altLang="zh-CN" dirty="0"/>
              <a:t>Target </a:t>
            </a:r>
            <a:r>
              <a:rPr lang="en-US" altLang="zh-CN" dirty="0" smtClean="0"/>
              <a:t>Language – Examples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72" y="1342739"/>
            <a:ext cx="7561905" cy="326666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83" y="4562481"/>
            <a:ext cx="6285714" cy="8095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49" y="5315143"/>
            <a:ext cx="5257143" cy="1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7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 </a:t>
            </a:r>
            <a:r>
              <a:rPr lang="en-US" altLang="zh-CN" dirty="0"/>
              <a:t>The Target Language – Instruction Cost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We assume </a:t>
            </a:r>
            <a:r>
              <a:rPr lang="en-US" altLang="zh-CN" dirty="0"/>
              <a:t>each </a:t>
            </a:r>
            <a:r>
              <a:rPr lang="en-US" altLang="zh-CN" dirty="0" smtClean="0"/>
              <a:t>target-language instruction </a:t>
            </a:r>
            <a:r>
              <a:rPr lang="en-US" altLang="zh-CN" dirty="0"/>
              <a:t>has an associated cost. For simplicity, we take the cost of an </a:t>
            </a:r>
            <a:r>
              <a:rPr lang="en-US" altLang="zh-CN" dirty="0" smtClean="0"/>
              <a:t>instruction to </a:t>
            </a:r>
            <a:r>
              <a:rPr lang="en-US" altLang="zh-CN" dirty="0"/>
              <a:t>be one plus the costs associated with the addressing modes of </a:t>
            </a:r>
            <a:r>
              <a:rPr lang="en-US" altLang="zh-CN" dirty="0" smtClean="0"/>
              <a:t>the operands</a:t>
            </a:r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33" y="2465556"/>
            <a:ext cx="7190476" cy="2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1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</a:t>
            </a:r>
            <a:r>
              <a:rPr lang="en-US" altLang="zh-CN" dirty="0"/>
              <a:t>Addresses in the Target Code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989176"/>
          </a:xfrm>
        </p:spPr>
        <p:txBody>
          <a:bodyPr/>
          <a:lstStyle/>
          <a:p>
            <a:r>
              <a:rPr lang="en-US" altLang="zh-CN" dirty="0" smtClean="0"/>
              <a:t>In the last chapter, we </a:t>
            </a:r>
            <a:r>
              <a:rPr lang="en-US" altLang="zh-CN" dirty="0"/>
              <a:t>described how </a:t>
            </a:r>
            <a:r>
              <a:rPr lang="en-US" altLang="zh-CN" dirty="0" smtClean="0"/>
              <a:t>each executing </a:t>
            </a:r>
            <a:r>
              <a:rPr lang="en-US" altLang="zh-CN" dirty="0"/>
              <a:t>program runs in its own logical address space that was </a:t>
            </a:r>
            <a:r>
              <a:rPr lang="en-US" altLang="zh-CN" dirty="0" smtClean="0"/>
              <a:t>partitioned into </a:t>
            </a:r>
            <a:r>
              <a:rPr lang="en-US" altLang="zh-CN" dirty="0"/>
              <a:t>four code and data areas: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49" y="2432561"/>
            <a:ext cx="7266667" cy="3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</a:t>
            </a:r>
            <a:r>
              <a:rPr lang="en-US" altLang="zh-CN" dirty="0"/>
              <a:t>Addresses in the Target Code-Static Allocation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28675" y="1600199"/>
            <a:ext cx="7486650" cy="4672413"/>
          </a:xfrm>
        </p:spPr>
        <p:txBody>
          <a:bodyPr/>
          <a:lstStyle/>
          <a:p>
            <a:r>
              <a:rPr lang="en-US" altLang="zh-CN" dirty="0"/>
              <a:t>code generation for simplified procedure calls and returns, three-address statements</a:t>
            </a:r>
            <a:r>
              <a:rPr lang="en-US" altLang="zh-CN" dirty="0" smtClean="0"/>
              <a:t>: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/>
              <a:t>Here, a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call </a:t>
            </a:r>
            <a:r>
              <a:rPr lang="en-US" altLang="zh-CN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callee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/>
              <a:t>statement in the intermediate code can be </a:t>
            </a:r>
            <a:r>
              <a:rPr lang="en-US" altLang="zh-CN" dirty="0" smtClean="0"/>
              <a:t>implemented by </a:t>
            </a:r>
            <a:r>
              <a:rPr lang="en-US" altLang="zh-CN" dirty="0"/>
              <a:t>a sequence of two target-machine </a:t>
            </a:r>
            <a:r>
              <a:rPr lang="en-US" altLang="zh-CN" dirty="0" smtClean="0"/>
              <a:t>instructions</a:t>
            </a:r>
            <a:r>
              <a:rPr lang="en-US" altLang="zh-CN" dirty="0"/>
              <a:t>: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385" y="1880754"/>
            <a:ext cx="4557339" cy="10940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329" y="3484139"/>
            <a:ext cx="3226892" cy="55574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48" y="4142015"/>
            <a:ext cx="7647619" cy="2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24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</a:t>
            </a:r>
            <a:r>
              <a:rPr lang="en-US" altLang="zh-CN" dirty="0"/>
              <a:t>Addresses in the Target Code-Static Allocation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28675" y="1600199"/>
            <a:ext cx="7486650" cy="4672413"/>
          </a:xfrm>
        </p:spPr>
        <p:txBody>
          <a:bodyPr/>
          <a:lstStyle/>
          <a:p>
            <a:r>
              <a:rPr lang="en-US" altLang="zh-CN" dirty="0"/>
              <a:t>A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US" altLang="zh-CN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callee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dirty="0"/>
              <a:t>statement can </a:t>
            </a:r>
            <a:r>
              <a:rPr lang="en-US" altLang="zh-CN" dirty="0" smtClean="0"/>
              <a:t>be implemented </a:t>
            </a:r>
            <a:r>
              <a:rPr lang="en-US" altLang="zh-CN" dirty="0"/>
              <a:t>by a simple jump instruction</a:t>
            </a:r>
          </a:p>
          <a:p>
            <a:endParaRPr lang="en-US" altLang="zh-CN" dirty="0" smtClean="0"/>
          </a:p>
          <a:p>
            <a:r>
              <a:rPr lang="en-US" altLang="zh-CN" dirty="0"/>
              <a:t>which transfers control to the address saved at the beginning of the </a:t>
            </a:r>
            <a:r>
              <a:rPr lang="en-US" altLang="zh-CN" dirty="0" smtClean="0"/>
              <a:t>activation record </a:t>
            </a:r>
            <a:r>
              <a:rPr lang="en-US" altLang="zh-CN" dirty="0"/>
              <a:t>for </a:t>
            </a:r>
            <a:r>
              <a:rPr lang="en-US" altLang="zh-CN" dirty="0" err="1"/>
              <a:t>callee</a:t>
            </a:r>
            <a:r>
              <a:rPr lang="en-US" altLang="zh-CN" dirty="0" smtClean="0"/>
              <a:t>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Example</a:t>
            </a:r>
            <a:r>
              <a:rPr lang="zh-CN" altLang="en-US" dirty="0" smtClean="0"/>
              <a:t>： 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405" y="1968134"/>
            <a:ext cx="2333333" cy="3238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67" y="3741864"/>
            <a:ext cx="2530948" cy="195818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043" y="3119215"/>
            <a:ext cx="4310801" cy="3129506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3469593" y="4221622"/>
            <a:ext cx="709300" cy="393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49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</a:t>
            </a:r>
            <a:r>
              <a:rPr lang="en-US" altLang="zh-CN" dirty="0"/>
              <a:t>Addresses in the Target Code-Stack Allocation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3467456"/>
          </a:xfrm>
        </p:spPr>
        <p:txBody>
          <a:bodyPr/>
          <a:lstStyle/>
          <a:p>
            <a:r>
              <a:rPr lang="en-US" altLang="zh-CN" sz="1800" dirty="0"/>
              <a:t>Static allocation can become stack allocation by using relative addresses </a:t>
            </a:r>
            <a:r>
              <a:rPr lang="en-US" altLang="zh-CN" sz="1800" dirty="0" smtClean="0"/>
              <a:t>for storage </a:t>
            </a:r>
            <a:r>
              <a:rPr lang="en-US" altLang="zh-CN" sz="1800" dirty="0"/>
              <a:t>in activation records. In stack allocation, however , the position of </a:t>
            </a:r>
            <a:r>
              <a:rPr lang="en-US" altLang="zh-CN" sz="1800" dirty="0" smtClean="0"/>
              <a:t>an activation </a:t>
            </a:r>
            <a:r>
              <a:rPr lang="en-US" altLang="zh-CN" sz="1800" dirty="0"/>
              <a:t>record for a procedure is not known until run time. This position </a:t>
            </a:r>
            <a:r>
              <a:rPr lang="en-US" altLang="zh-CN" sz="1800" dirty="0" smtClean="0"/>
              <a:t>is usually </a:t>
            </a:r>
            <a:r>
              <a:rPr lang="en-US" altLang="zh-CN" sz="1800" dirty="0"/>
              <a:t>stored in a register, so words in the activation record can be accessed </a:t>
            </a:r>
            <a:r>
              <a:rPr lang="en-US" altLang="zh-CN" sz="1800" dirty="0" smtClean="0"/>
              <a:t>as offsets </a:t>
            </a:r>
            <a:r>
              <a:rPr lang="en-US" altLang="zh-CN" sz="1800" dirty="0"/>
              <a:t>from the value in this register</a:t>
            </a:r>
            <a:r>
              <a:rPr lang="en-US" altLang="zh-CN" sz="1800" dirty="0" smtClean="0"/>
              <a:t>.</a:t>
            </a:r>
          </a:p>
          <a:p>
            <a:r>
              <a:rPr lang="en-US" altLang="zh-CN" sz="1800" dirty="0" smtClean="0"/>
              <a:t>We </a:t>
            </a:r>
            <a:r>
              <a:rPr lang="en-US" altLang="zh-CN" sz="1800" dirty="0"/>
              <a:t>shall use positive offsets by maintaining in a register SP a pointer </a:t>
            </a:r>
            <a:r>
              <a:rPr lang="en-US" altLang="zh-CN" sz="1800" dirty="0" smtClean="0"/>
              <a:t>to the </a:t>
            </a:r>
            <a:r>
              <a:rPr lang="en-US" altLang="zh-CN" sz="1800" dirty="0"/>
              <a:t>beginning of the activation record on top of the stack. When a </a:t>
            </a:r>
            <a:r>
              <a:rPr lang="en-US" altLang="zh-CN" sz="1800" dirty="0" smtClean="0"/>
              <a:t>procedure call </a:t>
            </a:r>
            <a:r>
              <a:rPr lang="en-US" altLang="zh-CN" sz="1800" dirty="0"/>
              <a:t>occurs, the calling procedure increments SP and transfers control to </a:t>
            </a:r>
            <a:r>
              <a:rPr lang="en-US" altLang="zh-CN" sz="1800" dirty="0" smtClean="0"/>
              <a:t>the called </a:t>
            </a:r>
            <a:r>
              <a:rPr lang="en-US" altLang="zh-CN" sz="1800" dirty="0"/>
              <a:t>procedure. After control returns to the caller, we decrement SP, </a:t>
            </a:r>
            <a:r>
              <a:rPr lang="en-US" altLang="zh-CN" sz="1800" dirty="0" smtClean="0"/>
              <a:t>thereby deallocating </a:t>
            </a:r>
            <a:r>
              <a:rPr lang="en-US" altLang="zh-CN" sz="1800" dirty="0"/>
              <a:t>the activation record of the called procedure.</a:t>
            </a:r>
          </a:p>
        </p:txBody>
      </p:sp>
    </p:spTree>
    <p:extLst>
      <p:ext uri="{BB962C8B-B14F-4D97-AF65-F5344CB8AC3E}">
        <p14:creationId xmlns:p14="http://schemas.microsoft.com/office/powerpoint/2010/main" val="282038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</a:t>
            </a:r>
            <a:r>
              <a:rPr lang="en-US" altLang="zh-CN" dirty="0"/>
              <a:t>Addresses in the Target Code-Stack Allocation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68" y="1461994"/>
            <a:ext cx="6225306" cy="525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4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</a:t>
            </a:r>
            <a:r>
              <a:rPr lang="en-US" altLang="zh-CN" dirty="0"/>
              <a:t>Addresses in the Target Code-Stack Allocation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850" y="1561922"/>
            <a:ext cx="7030652" cy="1318804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5819686" y="1845892"/>
            <a:ext cx="4785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812849" y="2970868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Run-Time Addresses for Names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8942" y="3455445"/>
            <a:ext cx="734083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Names in symbol table must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eventually be replaced by code to access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 locations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thus consider some elaborations of the simple three-address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copy statement </a:t>
            </a:r>
            <a:r>
              <a:rPr lang="en-US" altLang="zh-CN" sz="14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x=0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declarations in a procedure are processed,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the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symbol-table entry for </a:t>
            </a:r>
            <a:r>
              <a:rPr lang="en-US" altLang="zh-CN" sz="1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 relative address 12 for </a:t>
            </a:r>
            <a:r>
              <a:rPr lang="en-US" altLang="zh-CN" sz="1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in which </a:t>
            </a:r>
            <a:r>
              <a:rPr lang="en-US" altLang="zh-CN" sz="1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 a statically allocated area beginning at address static.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actual run-time address of x is </a:t>
            </a:r>
            <a:r>
              <a:rPr lang="en-US" altLang="zh-CN" sz="1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static + 12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Although the compiler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eventually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value of </a:t>
            </a:r>
            <a:r>
              <a:rPr lang="en-US" altLang="zh-CN" sz="1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static + 12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compile time, the position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area may not be known when intermediate code to access the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is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generated. In that case, it makes sense to generate three-address code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sz="1400" dirty="0" smtClean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"compute</a:t>
            </a:r>
            <a:r>
              <a:rPr lang="en-US" altLang="zh-CN" sz="1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" static + 12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the understanding that this computation will be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during the code generation phase, or possibly by the loader,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runs. The assignment </a:t>
            </a:r>
            <a:r>
              <a:rPr lang="en-US" altLang="zh-CN" sz="1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 = 0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translates into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76" y="5682730"/>
            <a:ext cx="1752600" cy="2952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24669" y="6003036"/>
            <a:ext cx="62427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static area starts at address 100, the target code for this statement is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735" y="6381393"/>
            <a:ext cx="1235413" cy="36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</a:t>
            </a:r>
            <a:r>
              <a:rPr lang="en-US" altLang="zh-CN" dirty="0"/>
              <a:t>Addresses in the Target Code-Stack Allocation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4312" y="1378010"/>
            <a:ext cx="7486650" cy="647343"/>
          </a:xfrm>
        </p:spPr>
        <p:txBody>
          <a:bodyPr/>
          <a:lstStyle/>
          <a:p>
            <a:r>
              <a:rPr lang="en-US" altLang="zh-CN" dirty="0" smtClean="0"/>
              <a:t>An </a:t>
            </a:r>
            <a:r>
              <a:rPr lang="en-US" altLang="zh-CN" dirty="0"/>
              <a:t>abstraction of the </a:t>
            </a:r>
            <a:r>
              <a:rPr lang="en-US" altLang="zh-CN" dirty="0" smtClean="0"/>
              <a:t>quicksort program </a:t>
            </a:r>
            <a:r>
              <a:rPr lang="en-US" altLang="zh-CN" dirty="0"/>
              <a:t>in the previous chapter. Procedure </a:t>
            </a:r>
            <a:r>
              <a:rPr lang="en-US" altLang="zh-CN" i="1" dirty="0"/>
              <a:t>q</a:t>
            </a:r>
            <a:r>
              <a:rPr lang="en-US" altLang="zh-CN" dirty="0"/>
              <a:t> is recursive, so more than </a:t>
            </a:r>
            <a:r>
              <a:rPr lang="en-US" altLang="zh-CN" dirty="0" smtClean="0"/>
              <a:t>one activation </a:t>
            </a:r>
            <a:r>
              <a:rPr lang="en-US" altLang="zh-CN" dirty="0"/>
              <a:t>of </a:t>
            </a:r>
            <a:r>
              <a:rPr lang="en-US" altLang="zh-CN" i="1" dirty="0"/>
              <a:t>q</a:t>
            </a:r>
            <a:r>
              <a:rPr lang="en-US" altLang="zh-CN" dirty="0"/>
              <a:t> can be alive at the same time</a:t>
            </a:r>
            <a:r>
              <a:rPr lang="en-US" altLang="zh-CN" dirty="0" smtClean="0"/>
              <a:t>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50337" y="1949154"/>
            <a:ext cx="3291825" cy="21015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en-US" altLang="zh-CN" dirty="0"/>
              <a:t>Suppose that the sizes of the activation records for procedures </a:t>
            </a:r>
            <a:r>
              <a:rPr lang="en-US" altLang="zh-CN" i="1" dirty="0" smtClean="0"/>
              <a:t>m</a:t>
            </a:r>
            <a:r>
              <a:rPr lang="en-US" altLang="zh-CN" dirty="0" smtClean="0"/>
              <a:t>, </a:t>
            </a:r>
            <a:r>
              <a:rPr lang="en-US" altLang="zh-CN" i="1" dirty="0"/>
              <a:t>p</a:t>
            </a:r>
            <a:r>
              <a:rPr lang="en-US" altLang="zh-CN" dirty="0"/>
              <a:t>, and </a:t>
            </a:r>
            <a:r>
              <a:rPr lang="en-US" altLang="zh-CN" i="1" dirty="0" smtClean="0"/>
              <a:t>q</a:t>
            </a:r>
            <a:r>
              <a:rPr lang="en-US" altLang="zh-CN" dirty="0" smtClean="0"/>
              <a:t> have </a:t>
            </a:r>
            <a:r>
              <a:rPr lang="en-US" altLang="zh-CN" dirty="0"/>
              <a:t>been determined to be </a:t>
            </a:r>
            <a:r>
              <a:rPr lang="en-US" altLang="zh-CN" i="1" dirty="0" err="1"/>
              <a:t>msize</a:t>
            </a:r>
            <a:r>
              <a:rPr lang="en-US" altLang="zh-CN" dirty="0"/>
              <a:t>, </a:t>
            </a:r>
            <a:r>
              <a:rPr lang="en-US" altLang="zh-CN" i="1" dirty="0" err="1"/>
              <a:t>psize</a:t>
            </a:r>
            <a:r>
              <a:rPr lang="en-US" altLang="zh-CN" dirty="0"/>
              <a:t>, and </a:t>
            </a:r>
            <a:r>
              <a:rPr lang="en-US" altLang="zh-CN" i="1" dirty="0" err="1"/>
              <a:t>qsize</a:t>
            </a:r>
            <a:r>
              <a:rPr lang="en-US" altLang="zh-CN" dirty="0"/>
              <a:t>, respectively. The first </a:t>
            </a:r>
            <a:r>
              <a:rPr lang="en-US" altLang="zh-CN" dirty="0" smtClean="0"/>
              <a:t>word in </a:t>
            </a:r>
            <a:r>
              <a:rPr lang="en-US" altLang="zh-CN" dirty="0"/>
              <a:t>each activation record will hold a return address. We arbitrarily assume </a:t>
            </a:r>
            <a:r>
              <a:rPr lang="en-US" altLang="zh-CN" dirty="0" smtClean="0"/>
              <a:t>that the </a:t>
            </a:r>
            <a:r>
              <a:rPr lang="en-US" altLang="zh-CN" dirty="0"/>
              <a:t>code for these procedures starts at addresses 100, 200 , and 300, respectively, and that the stack starts at address </a:t>
            </a:r>
            <a:r>
              <a:rPr lang="en-US" altLang="zh-CN" dirty="0" smtClean="0"/>
              <a:t>600.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67" y="3962399"/>
            <a:ext cx="2536722" cy="26212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774" y="1897165"/>
            <a:ext cx="4088662" cy="4964803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3819970" y="4794191"/>
            <a:ext cx="435836" cy="2478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97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Basic Blocks and </a:t>
            </a:r>
            <a:r>
              <a:rPr lang="en-US" altLang="zh-CN" dirty="0" smtClean="0"/>
              <a:t>Flow </a:t>
            </a:r>
            <a:r>
              <a:rPr lang="en-US" altLang="zh-CN" dirty="0"/>
              <a:t>Graphs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200"/>
            <a:ext cx="7486650" cy="1630110"/>
          </a:xfrm>
        </p:spPr>
        <p:txBody>
          <a:bodyPr/>
          <a:lstStyle/>
          <a:p>
            <a:r>
              <a:rPr lang="en-US" altLang="zh-CN" dirty="0"/>
              <a:t>This section introduces a graph representation of intermediate code that is </a:t>
            </a:r>
            <a:r>
              <a:rPr lang="en-US" altLang="zh-CN" dirty="0" smtClean="0"/>
              <a:t>helpful for </a:t>
            </a:r>
            <a:r>
              <a:rPr lang="en-US" altLang="zh-CN" dirty="0"/>
              <a:t>discussing code generation even if the graph is not constructed </a:t>
            </a:r>
            <a:r>
              <a:rPr lang="en-US" altLang="zh-CN" dirty="0" smtClean="0"/>
              <a:t>explicitly by </a:t>
            </a:r>
            <a:r>
              <a:rPr lang="en-US" altLang="zh-CN" dirty="0"/>
              <a:t>a code-generation algorithm. Code generation benefits from context. </a:t>
            </a:r>
            <a:r>
              <a:rPr lang="en-US" altLang="zh-CN" dirty="0" smtClean="0"/>
              <a:t>We can </a:t>
            </a:r>
            <a:r>
              <a:rPr lang="en-US" altLang="zh-CN" dirty="0"/>
              <a:t>do a better job of register allocation if we know how values are </a:t>
            </a:r>
            <a:r>
              <a:rPr lang="en-US" altLang="zh-CN" dirty="0" smtClean="0"/>
              <a:t>defined and used.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23" y="2979747"/>
            <a:ext cx="7304762" cy="3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0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Basic Blocks and </a:t>
            </a:r>
            <a:r>
              <a:rPr lang="en-US" altLang="zh-CN" dirty="0" smtClean="0"/>
              <a:t>Flow Graphs-Basic Blocks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28675" y="1403646"/>
            <a:ext cx="7486650" cy="1271187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Our first job is to partition a sequence of three-address instructions into 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basic blocks</a:t>
            </a:r>
            <a:r>
              <a:rPr lang="en-US" altLang="zh-CN" sz="1600" dirty="0"/>
              <a:t>. We begin a new basic block with the first instruction and keep </a:t>
            </a:r>
            <a:r>
              <a:rPr lang="en-US" altLang="zh-CN" sz="1600" dirty="0" smtClean="0"/>
              <a:t>adding instructions </a:t>
            </a:r>
            <a:r>
              <a:rPr lang="en-US" altLang="zh-CN" sz="1600" dirty="0"/>
              <a:t>until we meet either a jump, a conditional jump, or a label </a:t>
            </a:r>
            <a:r>
              <a:rPr lang="en-US" altLang="zh-CN" sz="1600" dirty="0" smtClean="0"/>
              <a:t>on the </a:t>
            </a:r>
            <a:r>
              <a:rPr lang="en-US" altLang="zh-CN" sz="1600" dirty="0"/>
              <a:t>following instruction.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779" y="2333664"/>
            <a:ext cx="6413798" cy="392568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077" y="6264067"/>
            <a:ext cx="6137127" cy="49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2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Basic Blocks and Flow Graphs-Basic Blocks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58" y="1552664"/>
            <a:ext cx="4752835" cy="381409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037887" y="1577424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200" b="1" dirty="0">
                <a:latin typeface="Fd2399443-Identity-H"/>
              </a:rPr>
              <a:t>First, instruction 1 is a leader by rule (1</a:t>
            </a:r>
            <a:r>
              <a:rPr lang="en-US" altLang="zh-CN" sz="1200" b="1" dirty="0" smtClean="0">
                <a:latin typeface="Fd2399443-Identity-H"/>
              </a:rPr>
              <a:t>). </a:t>
            </a:r>
            <a:r>
              <a:rPr lang="en-US" altLang="zh-CN" sz="1200" b="1" dirty="0">
                <a:latin typeface="Fd2399443-Identity-H"/>
              </a:rPr>
              <a:t>To find the</a:t>
            </a:r>
          </a:p>
          <a:p>
            <a:r>
              <a:rPr lang="en-US" altLang="zh-CN" sz="1200" b="1" dirty="0">
                <a:latin typeface="Fd2399443-Identity-H"/>
              </a:rPr>
              <a:t>other leaders, we first need to find the jumps. In this example, there are </a:t>
            </a:r>
            <a:r>
              <a:rPr lang="en-US" altLang="zh-CN" sz="1200" b="1" dirty="0" smtClean="0">
                <a:latin typeface="Fd2399443-Identity-H"/>
              </a:rPr>
              <a:t>three jumps</a:t>
            </a:r>
            <a:r>
              <a:rPr lang="en-US" altLang="zh-CN" sz="1200" b="1" dirty="0">
                <a:latin typeface="Fd2399443-Identity-H"/>
              </a:rPr>
              <a:t>, all conditional, </a:t>
            </a:r>
            <a:r>
              <a:rPr lang="en-US" altLang="zh-CN" sz="1200" b="1" dirty="0" smtClean="0">
                <a:latin typeface="Fd2399443-Identity-H"/>
              </a:rPr>
              <a:t>at instructions </a:t>
            </a:r>
            <a:r>
              <a:rPr lang="en-US" altLang="zh-CN" sz="1200" b="1" dirty="0">
                <a:latin typeface="Fd2550547-Identity-H"/>
              </a:rPr>
              <a:t>9, </a:t>
            </a:r>
            <a:r>
              <a:rPr lang="en-US" altLang="zh-CN" sz="1200" b="1" dirty="0" smtClean="0">
                <a:latin typeface="Fd2399443-Identity-H"/>
              </a:rPr>
              <a:t>11, </a:t>
            </a:r>
            <a:r>
              <a:rPr lang="en-US" altLang="zh-CN" sz="1200" b="1" dirty="0">
                <a:latin typeface="Fd2399443-Identity-H"/>
              </a:rPr>
              <a:t>and 17. By rule (2</a:t>
            </a:r>
            <a:r>
              <a:rPr lang="en-US" altLang="zh-CN" sz="1200" b="1" dirty="0" smtClean="0">
                <a:latin typeface="Fd2399443-Identity-H"/>
              </a:rPr>
              <a:t>), </a:t>
            </a:r>
            <a:r>
              <a:rPr lang="en-US" altLang="zh-CN" sz="1200" b="1" dirty="0">
                <a:latin typeface="Fd2399443-Identity-H"/>
              </a:rPr>
              <a:t>the targets </a:t>
            </a:r>
            <a:r>
              <a:rPr lang="en-US" altLang="zh-CN" sz="1200" b="1" dirty="0" smtClean="0">
                <a:latin typeface="Fd2399443-Identity-H"/>
              </a:rPr>
              <a:t>of these </a:t>
            </a:r>
            <a:r>
              <a:rPr lang="en-US" altLang="zh-CN" sz="1200" b="1" dirty="0">
                <a:latin typeface="Fd2399443-Identity-H"/>
              </a:rPr>
              <a:t>jumps are leaders; they are instructions 3, 2, and 13, respectively. </a:t>
            </a:r>
            <a:r>
              <a:rPr lang="en-US" altLang="zh-CN" sz="1200" b="1" dirty="0" smtClean="0">
                <a:latin typeface="Fd2399443-Identity-H"/>
              </a:rPr>
              <a:t>Then, by </a:t>
            </a:r>
            <a:r>
              <a:rPr lang="en-US" altLang="zh-CN" sz="1200" b="1" dirty="0">
                <a:latin typeface="Fd2399443-Identity-H"/>
              </a:rPr>
              <a:t>rule (3</a:t>
            </a:r>
            <a:r>
              <a:rPr lang="en-US" altLang="zh-CN" sz="1200" b="1" dirty="0" smtClean="0">
                <a:latin typeface="Fd2399443-Identity-H"/>
              </a:rPr>
              <a:t>), </a:t>
            </a:r>
            <a:r>
              <a:rPr lang="en-US" altLang="zh-CN" sz="1200" b="1" dirty="0">
                <a:latin typeface="Fd2399443-Identity-H"/>
              </a:rPr>
              <a:t>each instruction following a jump is a leader; those are instructions</a:t>
            </a:r>
          </a:p>
          <a:p>
            <a:r>
              <a:rPr lang="en-US" altLang="zh-CN" sz="1200" b="1" dirty="0">
                <a:latin typeface="Fd2399443-Identity-H"/>
              </a:rPr>
              <a:t>10 and 12. Note that no instruction follows 17 in this code, but if there </a:t>
            </a:r>
            <a:r>
              <a:rPr lang="en-US" altLang="zh-CN" sz="1200" b="1" dirty="0" smtClean="0">
                <a:latin typeface="Fd2399443-Identity-H"/>
              </a:rPr>
              <a:t>were code </a:t>
            </a:r>
            <a:r>
              <a:rPr lang="en-US" altLang="zh-CN" sz="1200" b="1" dirty="0">
                <a:latin typeface="Fd2399443-Identity-H"/>
              </a:rPr>
              <a:t>following, the 18th instruction would also be a leader.</a:t>
            </a:r>
            <a:endParaRPr lang="zh-CN" altLang="en-US" b="1" dirty="0"/>
          </a:p>
        </p:txBody>
      </p:sp>
      <p:sp>
        <p:nvSpPr>
          <p:cNvPr id="7" name="椭圆 6"/>
          <p:cNvSpPr/>
          <p:nvPr/>
        </p:nvSpPr>
        <p:spPr>
          <a:xfrm>
            <a:off x="1536820" y="1630822"/>
            <a:ext cx="51274" cy="683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536821" y="1827375"/>
            <a:ext cx="51274" cy="683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536821" y="2041020"/>
            <a:ext cx="51274" cy="683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519729" y="3451076"/>
            <a:ext cx="51274" cy="683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528274" y="3861274"/>
            <a:ext cx="51274" cy="683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519729" y="4074919"/>
            <a:ext cx="51274" cy="683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73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Basic Blocks and Flow </a:t>
            </a:r>
            <a:r>
              <a:rPr lang="en-US" altLang="zh-CN" dirty="0" smtClean="0"/>
              <a:t>Graphs-Next-Use Information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87" y="1348190"/>
            <a:ext cx="7590476" cy="21619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19" y="3547487"/>
            <a:ext cx="7504762" cy="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6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Basic Blocks and Flow </a:t>
            </a:r>
            <a:r>
              <a:rPr lang="en-US" altLang="zh-CN" dirty="0" smtClean="0"/>
              <a:t>Graphs-Next-Use Information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21" y="1733906"/>
            <a:ext cx="75628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Basic Blocks and Flow </a:t>
            </a:r>
            <a:r>
              <a:rPr lang="en-US" altLang="zh-CN" dirty="0" smtClean="0"/>
              <a:t>Graphs-Flow Graphs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53" y="1400476"/>
            <a:ext cx="7780952" cy="3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4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Basic Blocks and Flow </a:t>
            </a:r>
            <a:r>
              <a:rPr lang="en-US" altLang="zh-CN" dirty="0" smtClean="0"/>
              <a:t>Graphs-Flow Graphs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48" y="1663760"/>
            <a:ext cx="4752835" cy="38140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571" y="1468917"/>
            <a:ext cx="2803761" cy="4765241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4862557" y="2991028"/>
            <a:ext cx="461473" cy="4016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76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6862" y="2087311"/>
            <a:ext cx="7204372" cy="157883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 smtClean="0"/>
              <a:t>The rest content in this chapter is related to Code Optimization, which is out of the scope in this 48-instruction-hour course. If you interested in that content, please read it by yourselves.</a:t>
            </a:r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518749" y="5059823"/>
            <a:ext cx="1104100" cy="42657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 smtClean="0"/>
              <a:t>END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7135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9411639_TF03431380_TF03431380" id="{9AE2BD50-F2AD-48C6-8A81-F7D7390F9E40}" vid="{822244C9-F44A-41EE-AAAB-DAE7A533DA64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terms/"/>
    <ds:schemaRef ds:uri="http://www.w3.org/XML/1998/namespace"/>
    <ds:schemaRef ds:uri="http://schemas.microsoft.com/office/2006/documentManagement/types"/>
    <ds:schemaRef ds:uri="4873beb7-5857-4685-be1f-d57550cc96cc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2120</Words>
  <Application>Microsoft Office PowerPoint</Application>
  <PresentationFormat>全屏显示(4:3)</PresentationFormat>
  <Paragraphs>120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Euphemia</vt:lpstr>
      <vt:lpstr>Fd2399443-Identity-H</vt:lpstr>
      <vt:lpstr>Fd2550547-Identity-H</vt:lpstr>
      <vt:lpstr>微软雅黑</vt:lpstr>
      <vt:lpstr>Arial</vt:lpstr>
      <vt:lpstr>Cambria Math</vt:lpstr>
      <vt:lpstr>Times New Roman</vt:lpstr>
      <vt:lpstr>Wingdings</vt:lpstr>
      <vt:lpstr>学术文献 16x9</vt:lpstr>
      <vt:lpstr>Compilers</vt:lpstr>
      <vt:lpstr>Code Generation</vt:lpstr>
      <vt:lpstr>Outlines</vt:lpstr>
      <vt:lpstr>9.1 Issues in the Design of a Code Generator</vt:lpstr>
      <vt:lpstr>9.1 Issues in the Design of a Code Generator</vt:lpstr>
      <vt:lpstr>9.1 Issues in the Design of a Code Generator</vt:lpstr>
      <vt:lpstr>9.1 Issues in the Design of a Code Generator</vt:lpstr>
      <vt:lpstr>9.2 The Target Language-instructions</vt:lpstr>
      <vt:lpstr>9.2 The Target Language-addressing modes</vt:lpstr>
      <vt:lpstr>9.2 The Target Language – Examples</vt:lpstr>
      <vt:lpstr>9.2 The Target Language – Examples</vt:lpstr>
      <vt:lpstr>9.2 The Target Language – Instruction Cost</vt:lpstr>
      <vt:lpstr>9.3 Addresses in the Target Code</vt:lpstr>
      <vt:lpstr>9.3 Addresses in the Target Code-Static Allocation</vt:lpstr>
      <vt:lpstr>9.3 Addresses in the Target Code-Static Allocation</vt:lpstr>
      <vt:lpstr>9.3 Addresses in the Target Code-Stack Allocation</vt:lpstr>
      <vt:lpstr>9.3 Addresses in the Target Code-Stack Allocation</vt:lpstr>
      <vt:lpstr>9.3 Addresses in the Target Code-Stack Allocation</vt:lpstr>
      <vt:lpstr>9.3 Addresses in the Target Code-Stack Allocation</vt:lpstr>
      <vt:lpstr>9.4 Basic Blocks and Flow Graphs</vt:lpstr>
      <vt:lpstr>9.4 Basic Blocks and Flow Graphs-Basic Blocks</vt:lpstr>
      <vt:lpstr>9.4 Basic Blocks and Flow Graphs-Basic Blocks</vt:lpstr>
      <vt:lpstr>9.4 Basic Blocks and Flow Graphs-Next-Use Information</vt:lpstr>
      <vt:lpstr>9.4 Basic Blocks and Flow Graphs-Next-Use Information</vt:lpstr>
      <vt:lpstr>9.4 Basic Blocks and Flow Graphs-Flow Graphs</vt:lpstr>
      <vt:lpstr>9.4 Basic Blocks and Flow Graphs-Flow Graphs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2017-04-09T02:54:44Z</dcterms:created>
  <dcterms:modified xsi:type="dcterms:W3CDTF">2020-05-27T07:33:04Z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