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20"/>
  </p:notesMasterIdLst>
  <p:handoutMasterIdLst>
    <p:handoutMasterId r:id="rId21"/>
  </p:handoutMasterIdLst>
  <p:sldIdLst>
    <p:sldId id="256" r:id="rId5"/>
    <p:sldId id="261" r:id="rId6"/>
    <p:sldId id="274" r:id="rId7"/>
    <p:sldId id="262" r:id="rId8"/>
    <p:sldId id="263" r:id="rId9"/>
    <p:sldId id="264" r:id="rId10"/>
    <p:sldId id="266" r:id="rId11"/>
    <p:sldId id="267" r:id="rId12"/>
    <p:sldId id="265" r:id="rId13"/>
    <p:sldId id="268" r:id="rId14"/>
    <p:sldId id="269" r:id="rId15"/>
    <p:sldId id="271" r:id="rId16"/>
    <p:sldId id="272" r:id="rId17"/>
    <p:sldId id="270" r:id="rId18"/>
    <p:sldId id="273" r:id="rId19"/>
  </p:sldIdLst>
  <p:sldSz cx="9144000" cy="6858000" type="screen4x3"/>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2" d="100"/>
          <a:sy n="82" d="100"/>
        </p:scale>
        <p:origin x="1430" y="77"/>
      </p:cViewPr>
      <p:guideLst>
        <p:guide orient="horz" pos="2160"/>
        <p:guide pos="2880"/>
      </p:guideLst>
    </p:cSldViewPr>
  </p:slideViewPr>
  <p:notesTextViewPr>
    <p:cViewPr>
      <p:scale>
        <a:sx n="1" d="1"/>
        <a:sy n="1" d="1"/>
      </p:scale>
      <p:origin x="0" y="0"/>
    </p:cViewPr>
  </p:notesTextViewPr>
  <p:notesViewPr>
    <p:cSldViewPr snapToGrid="0" showGuides="1">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9"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30.wmf"/><Relationship Id="rId13" Type="http://schemas.openxmlformats.org/officeDocument/2006/relationships/image" Target="../media/image35.wmf"/><Relationship Id="rId3" Type="http://schemas.openxmlformats.org/officeDocument/2006/relationships/image" Target="../media/image25.wmf"/><Relationship Id="rId7" Type="http://schemas.openxmlformats.org/officeDocument/2006/relationships/image" Target="../media/image29.wmf"/><Relationship Id="rId12" Type="http://schemas.openxmlformats.org/officeDocument/2006/relationships/image" Target="../media/image34.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11" Type="http://schemas.openxmlformats.org/officeDocument/2006/relationships/image" Target="../media/image33.wmf"/><Relationship Id="rId5" Type="http://schemas.openxmlformats.org/officeDocument/2006/relationships/image" Target="../media/image27.wmf"/><Relationship Id="rId10" Type="http://schemas.openxmlformats.org/officeDocument/2006/relationships/image" Target="../media/image32.wmf"/><Relationship Id="rId4" Type="http://schemas.openxmlformats.org/officeDocument/2006/relationships/image" Target="../media/image26.wmf"/><Relationship Id="rId9"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4" Type="http://schemas.openxmlformats.org/officeDocument/2006/relationships/image" Target="../media/image4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5" Type="http://schemas.openxmlformats.org/officeDocument/2006/relationships/image" Target="../media/image46.wmf"/><Relationship Id="rId4" Type="http://schemas.openxmlformats.org/officeDocument/2006/relationships/image" Target="../media/image45.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50.wmf"/><Relationship Id="rId7" Type="http://schemas.openxmlformats.org/officeDocument/2006/relationships/image" Target="../media/image54.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5" Type="http://schemas.openxmlformats.org/officeDocument/2006/relationships/image" Target="../media/image52.wmf"/><Relationship Id="rId4" Type="http://schemas.openxmlformats.org/officeDocument/2006/relationships/image" Target="../media/image51.wmf"/><Relationship Id="rId9" Type="http://schemas.openxmlformats.org/officeDocument/2006/relationships/image" Target="../media/image5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9.wmf"/><Relationship Id="rId1" Type="http://schemas.openxmlformats.org/officeDocument/2006/relationships/image" Target="../media/image5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2020/4/6</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2020/4/6</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1</a:t>
            </a:fld>
            <a:endParaRPr lang="en-US" altLang="zh-CN" dirty="0"/>
          </a:p>
        </p:txBody>
      </p:sp>
    </p:spTree>
    <p:extLst>
      <p:ext uri="{BB962C8B-B14F-4D97-AF65-F5344CB8AC3E}">
        <p14:creationId xmlns:p14="http://schemas.microsoft.com/office/powerpoint/2010/main" val="84905719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p>
        </p:txBody>
      </p:sp>
      <p:sp>
        <p:nvSpPr>
          <p:cNvPr id="2" name="标题 1"/>
          <p:cNvSpPr>
            <a:spLocks noGrp="1"/>
          </p:cNvSpPr>
          <p:nvPr>
            <p:ph type="ctrTitle"/>
          </p:nvPr>
        </p:nvSpPr>
        <p:spPr>
          <a:xfrm>
            <a:off x="828675" y="2292095"/>
            <a:ext cx="7572375" cy="2219691"/>
          </a:xfrm>
        </p:spPr>
        <p:txBody>
          <a:bodyPr rtlCol="0" anchor="ctr">
            <a:normAutofit/>
          </a:bodyPr>
          <a:lstStyle>
            <a:lvl1pPr algn="l" rtl="0">
              <a:defRPr sz="33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4" y="4511785"/>
            <a:ext cx="7572376" cy="955565"/>
          </a:xfrm>
        </p:spPr>
        <p:txBody>
          <a:bodyPr rtlCol="0">
            <a:normAutofit/>
          </a:bodyPr>
          <a:lstStyle>
            <a:lvl1pPr marL="0" indent="0" algn="l" rtl="0">
              <a:spcBef>
                <a:spcPts val="0"/>
              </a:spcBef>
              <a:buNone/>
              <a:defRPr sz="1350"/>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2020/4/6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3334" y="0"/>
            <a:ext cx="1310643"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2020/4/6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1"/>
            <a:ext cx="9144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1"/>
            <a:ext cx="9144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9144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828675" y="2292095"/>
            <a:ext cx="4300538" cy="2219691"/>
          </a:xfrm>
        </p:spPr>
        <p:txBody>
          <a:bodyPr rtlCol="0" anchor="ctr">
            <a:normAutofit/>
          </a:bodyPr>
          <a:lstStyle>
            <a:lvl1pPr algn="l" rtl="0">
              <a:defRPr sz="33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828675" y="4511785"/>
            <a:ext cx="4300538" cy="955565"/>
          </a:xfrm>
        </p:spPr>
        <p:txBody>
          <a:bodyPr rtlCol="0">
            <a:normAutofit/>
          </a:bodyPr>
          <a:lstStyle>
            <a:lvl1pPr marL="0" indent="0" algn="l" rtl="0">
              <a:spcBef>
                <a:spcPts val="0"/>
              </a:spcBef>
              <a:buNone/>
              <a:defRPr sz="1350">
                <a:latin typeface="微软雅黑" panose="020B0503020204020204" pitchFamily="34" charset="-122"/>
                <a:ea typeface="微软雅黑" panose="020B0503020204020204" pitchFamily="34" charset="-122"/>
              </a:defRPr>
            </a:lvl1pPr>
            <a:lvl2pPr marL="342900" indent="0" algn="ctr" rtl="0">
              <a:buNone/>
              <a:defRPr sz="1500"/>
            </a:lvl2pPr>
            <a:lvl3pPr marL="685800" indent="0" algn="ctr" rtl="0">
              <a:buNone/>
              <a:defRPr sz="1350"/>
            </a:lvl3pPr>
            <a:lvl4pPr marL="1028700" indent="0" algn="ctr" rtl="0">
              <a:buNone/>
              <a:defRPr sz="1200"/>
            </a:lvl4pPr>
            <a:lvl5pPr marL="1371600" indent="0" algn="ctr" rtl="0">
              <a:buNone/>
              <a:defRPr sz="1200"/>
            </a:lvl5pPr>
            <a:lvl6pPr marL="1714500" indent="0" algn="ctr" rtl="0">
              <a:buNone/>
              <a:defRPr sz="1200"/>
            </a:lvl6pPr>
            <a:lvl7pPr marL="2057400" indent="0" algn="ctr" rtl="0">
              <a:buNone/>
              <a:defRPr sz="1200"/>
            </a:lvl7pPr>
            <a:lvl8pPr marL="2400300" indent="0" algn="ctr" rtl="0">
              <a:buNone/>
              <a:defRPr sz="1200"/>
            </a:lvl8pPr>
            <a:lvl9pPr marL="2743200" indent="0" algn="ctr" rtl="0">
              <a:buNone/>
              <a:defRPr sz="1200"/>
            </a:lvl9pPr>
          </a:lstStyle>
          <a:p>
            <a:pPr rtl="0"/>
            <a:r>
              <a:rPr lang="zh-CN" altLang="en-US" noProof="0"/>
              <a:t>单击以编辑母版副标题样式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994410" y="0"/>
            <a:ext cx="1310643" cy="2292094"/>
          </a:xfrm>
          <a:prstGeom prst="rect">
            <a:avLst/>
          </a:prstGeom>
        </p:spPr>
      </p:pic>
      <p:sp>
        <p:nvSpPr>
          <p:cNvPr id="11" name="图片占位符 10"/>
          <p:cNvSpPr>
            <a:spLocks noGrp="1"/>
          </p:cNvSpPr>
          <p:nvPr>
            <p:ph type="pic" sz="quarter" idx="13"/>
          </p:nvPr>
        </p:nvSpPr>
        <p:spPr>
          <a:xfrm>
            <a:off x="5235798" y="1310656"/>
            <a:ext cx="3908203"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9258300" y="0"/>
            <a:ext cx="97155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pPr rtl="0"/>
            <a:r>
              <a:rPr lang="zh-CN" altLang="en-US" sz="9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9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1"/>
            <a:ext cx="9144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sz="1350"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828675" y="2971806"/>
            <a:ext cx="7553324" cy="1684150"/>
          </a:xfrm>
        </p:spPr>
        <p:txBody>
          <a:bodyPr rtlCol="0" anchor="ctr">
            <a:normAutofit/>
          </a:bodyPr>
          <a:lstStyle>
            <a:lvl1pPr algn="l" rtl="0">
              <a:defRPr sz="33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4655956"/>
            <a:ext cx="7553324" cy="509750"/>
          </a:xfrm>
        </p:spPr>
        <p:txBody>
          <a:bodyPr rtlCol="0">
            <a:normAutofit/>
          </a:bodyPr>
          <a:lstStyle>
            <a:lvl1pPr marL="0" indent="0" algn="l" rtl="0">
              <a:spcBef>
                <a:spcPts val="0"/>
              </a:spcBef>
              <a:buNone/>
              <a:defRPr sz="1200">
                <a:solidFill>
                  <a:schemeClr val="bg1"/>
                </a:solidFill>
                <a:latin typeface="微软雅黑" panose="020B0503020204020204" pitchFamily="34" charset="-122"/>
                <a:ea typeface="微软雅黑" panose="020B0503020204020204" pitchFamily="34" charset="-122"/>
              </a:defRPr>
            </a:lvl1pPr>
            <a:lvl2pPr marL="342900" indent="0" algn="l" rtl="0">
              <a:buNone/>
              <a:defRPr sz="1500">
                <a:solidFill>
                  <a:schemeClr val="tx1">
                    <a:tint val="75000"/>
                  </a:schemeClr>
                </a:solidFill>
              </a:defRPr>
            </a:lvl2pPr>
            <a:lvl3pPr marL="685800" indent="0" algn="l" rtl="0">
              <a:buNone/>
              <a:defRPr sz="1350">
                <a:solidFill>
                  <a:schemeClr val="tx1">
                    <a:tint val="75000"/>
                  </a:schemeClr>
                </a:solidFill>
              </a:defRPr>
            </a:lvl3pPr>
            <a:lvl4pPr marL="1028700" indent="0" algn="l" rtl="0">
              <a:buNone/>
              <a:defRPr sz="1200">
                <a:solidFill>
                  <a:schemeClr val="tx1">
                    <a:tint val="75000"/>
                  </a:schemeClr>
                </a:solidFill>
              </a:defRPr>
            </a:lvl4pPr>
            <a:lvl5pPr marL="1371600" indent="0" algn="l" rtl="0">
              <a:buNone/>
              <a:defRPr sz="1200">
                <a:solidFill>
                  <a:schemeClr val="tx1">
                    <a:tint val="75000"/>
                  </a:schemeClr>
                </a:solidFill>
              </a:defRPr>
            </a:lvl5pPr>
            <a:lvl6pPr marL="1714500" indent="0" algn="l" rtl="0">
              <a:buNone/>
              <a:defRPr sz="1200">
                <a:solidFill>
                  <a:schemeClr val="tx1">
                    <a:tint val="75000"/>
                  </a:schemeClr>
                </a:solidFill>
              </a:defRPr>
            </a:lvl6pPr>
            <a:lvl7pPr marL="2057400" indent="0" algn="l" rtl="0">
              <a:buNone/>
              <a:defRPr sz="1200">
                <a:solidFill>
                  <a:schemeClr val="tx1">
                    <a:tint val="75000"/>
                  </a:schemeClr>
                </a:solidFill>
              </a:defRPr>
            </a:lvl7pPr>
            <a:lvl8pPr marL="2400300" indent="0" algn="l" rtl="0">
              <a:buNone/>
              <a:defRPr sz="1200">
                <a:solidFill>
                  <a:schemeClr val="tx1">
                    <a:tint val="75000"/>
                  </a:schemeClr>
                </a:solidFill>
              </a:defRPr>
            </a:lvl8pPr>
            <a:lvl9pPr marL="2743200" indent="0" algn="l" rtl="0">
              <a:buNone/>
              <a:defRPr sz="1200">
                <a:solidFill>
                  <a:schemeClr val="tx1">
                    <a:tint val="75000"/>
                  </a:schemeClr>
                </a:solidFill>
              </a:defRPr>
            </a:lvl9pPr>
          </a:lstStyle>
          <a:p>
            <a:pPr lvl="0" rtl="0"/>
            <a:r>
              <a:rPr lang="zh-CN" altLang="en-US" noProof="0"/>
              <a:t>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2020/4/6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994410" y="0"/>
            <a:ext cx="1337391"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828675"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4629150" y="1600201"/>
            <a:ext cx="3686175"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smtClean="0"/>
              <a:pPr/>
              <a:t>2020/4/6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828675"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4" name="内容占位符 3"/>
          <p:cNvSpPr>
            <a:spLocks noGrp="1"/>
          </p:cNvSpPr>
          <p:nvPr>
            <p:ph sz="half" idx="2"/>
          </p:nvPr>
        </p:nvSpPr>
        <p:spPr>
          <a:xfrm>
            <a:off x="828675"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4624583" y="1600201"/>
            <a:ext cx="3689604" cy="823911"/>
          </a:xfrm>
        </p:spPr>
        <p:txBody>
          <a:bodyPr rtlCol="0" anchor="ctr"/>
          <a:lstStyle>
            <a:lvl1pPr marL="0" indent="0" algn="l" rtl="0">
              <a:spcBef>
                <a:spcPts val="0"/>
              </a:spcBef>
              <a:buNone/>
              <a:defRPr sz="1800" b="1">
                <a:latin typeface="微软雅黑" panose="020B0503020204020204" pitchFamily="34" charset="-122"/>
                <a:ea typeface="微软雅黑" panose="020B0503020204020204" pitchFamily="34" charset="-122"/>
              </a:defRPr>
            </a:lvl1pPr>
            <a:lvl2pPr marL="342900" indent="0" algn="l" rtl="0">
              <a:buNone/>
              <a:defRPr sz="1500" b="1"/>
            </a:lvl2pPr>
            <a:lvl3pPr marL="685800" indent="0" algn="l" rtl="0">
              <a:buNone/>
              <a:defRPr sz="1350" b="1"/>
            </a:lvl3pPr>
            <a:lvl4pPr marL="1028700" indent="0" algn="l" rtl="0">
              <a:buNone/>
              <a:defRPr sz="1200" b="1"/>
            </a:lvl4pPr>
            <a:lvl5pPr marL="1371600" indent="0" algn="l" rtl="0">
              <a:buNone/>
              <a:defRPr sz="1200" b="1"/>
            </a:lvl5pPr>
            <a:lvl6pPr marL="1714500" indent="0" algn="l" rtl="0">
              <a:buNone/>
              <a:defRPr sz="1200" b="1"/>
            </a:lvl6pPr>
            <a:lvl7pPr marL="2057400" indent="0" algn="l" rtl="0">
              <a:buNone/>
              <a:defRPr sz="1200" b="1"/>
            </a:lvl7pPr>
            <a:lvl8pPr marL="2400300" indent="0" algn="l" rtl="0">
              <a:buNone/>
              <a:defRPr sz="1200" b="1"/>
            </a:lvl8pPr>
            <a:lvl9pPr marL="2743200" indent="0" algn="l" rtl="0">
              <a:buNone/>
              <a:defRPr sz="1200" b="1"/>
            </a:lvl9pPr>
          </a:lstStyle>
          <a:p>
            <a:pPr lvl="0" rtl="0"/>
            <a:r>
              <a:rPr lang="zh-CN" altLang="en-US" noProof="0"/>
              <a:t>编辑母版文本样式</a:t>
            </a:r>
          </a:p>
        </p:txBody>
      </p:sp>
      <p:sp>
        <p:nvSpPr>
          <p:cNvPr id="6" name="内容占位符 5"/>
          <p:cNvSpPr>
            <a:spLocks noGrp="1"/>
          </p:cNvSpPr>
          <p:nvPr>
            <p:ph sz="quarter" idx="4"/>
          </p:nvPr>
        </p:nvSpPr>
        <p:spPr>
          <a:xfrm>
            <a:off x="4624583" y="2424112"/>
            <a:ext cx="3689604"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2020/4/6</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2020/4/6</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2020/4/6</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4231386" y="1600200"/>
            <a:ext cx="4083939" cy="4572001"/>
          </a:xfrm>
        </p:spPr>
        <p:txBody>
          <a:bodyPr rtlCol="0">
            <a:normAutofit/>
          </a:bodyPr>
          <a:lstStyle>
            <a:lvl1pPr algn="l" rtl="0">
              <a:defRPr sz="1500"/>
            </a:lvl1pPr>
            <a:lvl2pPr algn="l" rtl="0">
              <a:defRPr sz="1200"/>
            </a:lvl2pPr>
            <a:lvl3pPr algn="l" rtl="0">
              <a:defRPr sz="1200"/>
            </a:lvl3pPr>
            <a:lvl4pPr algn="l" rtl="0">
              <a:defRPr sz="1050"/>
            </a:lvl4pPr>
            <a:lvl5pPr algn="l" rtl="0">
              <a:defRPr sz="1050"/>
            </a:lvl5pPr>
            <a:lvl6pPr algn="l" rtl="0">
              <a:defRPr sz="1050"/>
            </a:lvl6pPr>
            <a:lvl7pPr algn="l" rtl="0">
              <a:defRPr sz="1050"/>
            </a:lvl7pPr>
            <a:lvl8pPr algn="l" rtl="0">
              <a:defRPr sz="1050"/>
            </a:lvl8pPr>
            <a:lvl9pPr algn="l" rtl="0">
              <a:defRPr sz="105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828675" y="1600200"/>
            <a:ext cx="3288411" cy="4572000"/>
          </a:xfrm>
        </p:spPr>
        <p:txBody>
          <a:bodyPr rtlCol="0">
            <a:normAutofit/>
          </a:bodyPr>
          <a:lstStyle>
            <a:lvl1pPr marL="0" indent="0" algn="l" rtl="0">
              <a:spcBef>
                <a:spcPts val="900"/>
              </a:spcBef>
              <a:buNone/>
              <a:defRPr sz="1350"/>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2020/4/6</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24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3491003" y="1600200"/>
            <a:ext cx="4823184" cy="4572001"/>
          </a:xfrm>
        </p:spPr>
        <p:txBody>
          <a:bodyPr tIns="1188720" rtlCol="0">
            <a:normAutofit/>
          </a:bodyPr>
          <a:lstStyle>
            <a:lvl1pPr marL="0" indent="0" algn="ctr" rtl="0">
              <a:buNone/>
              <a:defRPr sz="1500">
                <a:latin typeface="微软雅黑" panose="020B0503020204020204" pitchFamily="34" charset="-122"/>
                <a:ea typeface="微软雅黑" panose="020B0503020204020204" pitchFamily="34" charset="-122"/>
              </a:defRPr>
            </a:lvl1pPr>
            <a:lvl2pPr marL="342900" indent="0" algn="l" rtl="0">
              <a:buNone/>
              <a:defRPr sz="2100"/>
            </a:lvl2pPr>
            <a:lvl3pPr marL="685800" indent="0" algn="l" rtl="0">
              <a:buNone/>
              <a:defRPr sz="1800"/>
            </a:lvl3pPr>
            <a:lvl4pPr marL="1028700" indent="0" algn="l" rtl="0">
              <a:buNone/>
              <a:defRPr sz="1500"/>
            </a:lvl4pPr>
            <a:lvl5pPr marL="1371600" indent="0" algn="l" rtl="0">
              <a:buNone/>
              <a:defRPr sz="1500"/>
            </a:lvl5pPr>
            <a:lvl6pPr marL="1714500" indent="0" algn="l" rtl="0">
              <a:buNone/>
              <a:defRPr sz="1500"/>
            </a:lvl6pPr>
            <a:lvl7pPr marL="2057400" indent="0" algn="l" rtl="0">
              <a:buNone/>
              <a:defRPr sz="1500"/>
            </a:lvl7pPr>
            <a:lvl8pPr marL="2400300" indent="0" algn="l" rtl="0">
              <a:buNone/>
              <a:defRPr sz="1500"/>
            </a:lvl8pPr>
            <a:lvl9pPr marL="2743200" indent="0" algn="l" rtl="0">
              <a:buNone/>
              <a:defRPr sz="15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828675" y="1600200"/>
            <a:ext cx="2547747" cy="4572000"/>
          </a:xfrm>
        </p:spPr>
        <p:txBody>
          <a:bodyPr rtlCol="0">
            <a:normAutofit/>
          </a:bodyPr>
          <a:lstStyle>
            <a:lvl1pPr marL="0" indent="0" algn="l" rtl="0">
              <a:spcBef>
                <a:spcPts val="900"/>
              </a:spcBef>
              <a:buNone/>
              <a:defRPr sz="1350">
                <a:latin typeface="微软雅黑" panose="020B0503020204020204" pitchFamily="34" charset="-122"/>
                <a:ea typeface="微软雅黑" panose="020B0503020204020204" pitchFamily="34" charset="-122"/>
              </a:defRPr>
            </a:lvl1pPr>
            <a:lvl2pPr marL="342900" indent="0" algn="l" rtl="0">
              <a:buNone/>
              <a:defRPr sz="1050"/>
            </a:lvl2pPr>
            <a:lvl3pPr marL="685800" indent="0" algn="l" rtl="0">
              <a:buNone/>
              <a:defRPr sz="900"/>
            </a:lvl3pPr>
            <a:lvl4pPr marL="1028700" indent="0" algn="l" rtl="0">
              <a:buNone/>
              <a:defRPr sz="750"/>
            </a:lvl4pPr>
            <a:lvl5pPr marL="1371600" indent="0" algn="l" rtl="0">
              <a:buNone/>
              <a:defRPr sz="750"/>
            </a:lvl5pPr>
            <a:lvl6pPr marL="1714500" indent="0" algn="l" rtl="0">
              <a:buNone/>
              <a:defRPr sz="750"/>
            </a:lvl6pPr>
            <a:lvl7pPr marL="2057400" indent="0" algn="l" rtl="0">
              <a:buNone/>
              <a:defRPr sz="750"/>
            </a:lvl7pPr>
            <a:lvl8pPr marL="2400300" indent="0" algn="l" rtl="0">
              <a:buNone/>
              <a:defRPr sz="750"/>
            </a:lvl8pPr>
            <a:lvl9pPr marL="2743200" indent="0" algn="l" rtl="0">
              <a:buNone/>
              <a:defRPr sz="750"/>
            </a:lvl9pPr>
          </a:lstStyle>
          <a:p>
            <a:pPr lvl="0" rtl="0"/>
            <a:r>
              <a:rPr lang="zh-CN" altLang="en-US" noProof="0"/>
              <a:t>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2020/4/6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2020/4/6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7029450" y="365125"/>
            <a:ext cx="1285875"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828675" y="365125"/>
            <a:ext cx="6074172" cy="5811838"/>
          </a:xfrm>
        </p:spPr>
        <p:txBody>
          <a:bodyPr vert="eaVert" rtlCol="0"/>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2020/4/6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4181447" y="3239394"/>
            <a:ext cx="5632704" cy="63302"/>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28675" y="76200"/>
            <a:ext cx="748551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828675" y="1600200"/>
            <a:ext cx="748665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828675" y="6356352"/>
            <a:ext cx="1372169"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smtClean="0"/>
              <a:pPr/>
              <a:t>2020/4/6</a:t>
            </a:fld>
            <a:r>
              <a:rPr lang="zh-CN" altLang="en-US" dirty="0"/>
              <a:t>​</a:t>
            </a:r>
          </a:p>
        </p:txBody>
      </p:sp>
      <p:sp>
        <p:nvSpPr>
          <p:cNvPr id="5" name="页脚占位符 4"/>
          <p:cNvSpPr>
            <a:spLocks noGrp="1"/>
          </p:cNvSpPr>
          <p:nvPr>
            <p:ph type="ftr" sz="quarter" idx="3"/>
          </p:nvPr>
        </p:nvSpPr>
        <p:spPr>
          <a:xfrm>
            <a:off x="2200844" y="6356350"/>
            <a:ext cx="4742312" cy="365126"/>
          </a:xfrm>
          <a:prstGeom prst="rect">
            <a:avLst/>
          </a:prstGeom>
        </p:spPr>
        <p:txBody>
          <a:bodyPr vert="horz" lIns="0" tIns="45720" rIns="0" bIns="45720" rtlCol="0" anchor="ctr"/>
          <a:lstStyle>
            <a:lvl1pPr algn="ctr"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6942587" y="6356352"/>
            <a:ext cx="1371600" cy="365125"/>
          </a:xfrm>
          <a:prstGeom prst="rect">
            <a:avLst/>
          </a:prstGeom>
        </p:spPr>
        <p:txBody>
          <a:bodyPr vert="horz" lIns="0" tIns="45720" rIns="0" bIns="45720" rtlCol="0" anchor="ctr"/>
          <a:lstStyle>
            <a:lvl1pPr algn="l" rtl="0">
              <a:defRPr sz="9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827532" y="1219202"/>
            <a:ext cx="7488936"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685800" rtl="0" eaLnBrk="1" latinLnBrk="0" hangingPunct="1">
        <a:lnSpc>
          <a:spcPct val="90000"/>
        </a:lnSpc>
        <a:spcBef>
          <a:spcPct val="0"/>
        </a:spcBef>
        <a:buNone/>
        <a:defRPr sz="2100" kern="1200">
          <a:solidFill>
            <a:schemeClr val="tx1"/>
          </a:solidFill>
          <a:latin typeface="微软雅黑" panose="020B0503020204020204" pitchFamily="34" charset="-122"/>
          <a:ea typeface="微软雅黑" panose="020B0503020204020204" pitchFamily="34" charset="-122"/>
          <a:cs typeface="+mj-cs"/>
        </a:defRPr>
      </a:lvl1pPr>
    </p:titleStyle>
    <p:body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22" userDrawn="1">
          <p15:clr>
            <a:srgbClr val="F26B43"/>
          </p15:clr>
        </p15:guide>
        <p15:guide id="2" pos="5238" userDrawn="1">
          <p15:clr>
            <a:srgbClr val="F26B43"/>
          </p15:clr>
        </p15:guide>
        <p15:guide id="3" orient="horz" pos="1008" userDrawn="1">
          <p15:clr>
            <a:srgbClr val="F26B43"/>
          </p15:clr>
        </p15:guide>
        <p15:guide id="4"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wmf"/><Relationship Id="rId18" Type="http://schemas.openxmlformats.org/officeDocument/2006/relationships/oleObject" Target="../embeddings/oleObject9.bin"/><Relationship Id="rId3" Type="http://schemas.openxmlformats.org/officeDocument/2006/relationships/oleObject" Target="../embeddings/oleObject1.bin"/><Relationship Id="rId21" Type="http://schemas.openxmlformats.org/officeDocument/2006/relationships/image" Target="../media/image11.wmf"/><Relationship Id="rId7" Type="http://schemas.openxmlformats.org/officeDocument/2006/relationships/oleObject" Target="../embeddings/oleObject3.bin"/><Relationship Id="rId12" Type="http://schemas.openxmlformats.org/officeDocument/2006/relationships/oleObject" Target="../embeddings/oleObject6.bin"/><Relationship Id="rId17" Type="http://schemas.openxmlformats.org/officeDocument/2006/relationships/image" Target="../media/image9.wmf"/><Relationship Id="rId2" Type="http://schemas.openxmlformats.org/officeDocument/2006/relationships/slideLayout" Target="../slideLayouts/slideLayout2.xml"/><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vmlDrawing" Target="../drawings/vmlDrawing1.vml"/><Relationship Id="rId6" Type="http://schemas.openxmlformats.org/officeDocument/2006/relationships/image" Target="../media/image4.wmf"/><Relationship Id="rId11" Type="http://schemas.openxmlformats.org/officeDocument/2006/relationships/image" Target="../media/image6.wmf"/><Relationship Id="rId5" Type="http://schemas.openxmlformats.org/officeDocument/2006/relationships/oleObject" Target="../embeddings/oleObject2.bin"/><Relationship Id="rId15" Type="http://schemas.openxmlformats.org/officeDocument/2006/relationships/image" Target="../media/image8.wmf"/><Relationship Id="rId10" Type="http://schemas.openxmlformats.org/officeDocument/2006/relationships/oleObject" Target="../embeddings/oleObject5.bin"/><Relationship Id="rId19" Type="http://schemas.openxmlformats.org/officeDocument/2006/relationships/image" Target="../media/image10.wmf"/><Relationship Id="rId4" Type="http://schemas.openxmlformats.org/officeDocument/2006/relationships/image" Target="../media/image3.wmf"/><Relationship Id="rId9" Type="http://schemas.openxmlformats.org/officeDocument/2006/relationships/image" Target="../media/image5.wmf"/><Relationship Id="rId1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2.wmf"/></Relationships>
</file>

<file path=ppt/slides/_rels/slide6.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7.bin"/><Relationship Id="rId18" Type="http://schemas.openxmlformats.org/officeDocument/2006/relationships/image" Target="../media/image20.wmf"/><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17.wmf"/><Relationship Id="rId17" Type="http://schemas.openxmlformats.org/officeDocument/2006/relationships/oleObject" Target="../embeddings/oleObject19.bin"/><Relationship Id="rId2" Type="http://schemas.openxmlformats.org/officeDocument/2006/relationships/slideLayout" Target="../slideLayouts/slideLayout2.xml"/><Relationship Id="rId16" Type="http://schemas.openxmlformats.org/officeDocument/2006/relationships/image" Target="../media/image19.wmf"/><Relationship Id="rId1" Type="http://schemas.openxmlformats.org/officeDocument/2006/relationships/vmlDrawing" Target="../drawings/vmlDrawing3.vml"/><Relationship Id="rId6" Type="http://schemas.openxmlformats.org/officeDocument/2006/relationships/image" Target="../media/image14.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16.wmf"/><Relationship Id="rId4" Type="http://schemas.openxmlformats.org/officeDocument/2006/relationships/image" Target="../media/image13.wmf"/><Relationship Id="rId9" Type="http://schemas.openxmlformats.org/officeDocument/2006/relationships/oleObject" Target="../embeddings/oleObject15.bin"/><Relationship Id="rId14" Type="http://schemas.openxmlformats.org/officeDocument/2006/relationships/image" Target="../media/image18.wmf"/></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25.bin"/><Relationship Id="rId18" Type="http://schemas.openxmlformats.org/officeDocument/2006/relationships/image" Target="../media/image30.wmf"/><Relationship Id="rId26" Type="http://schemas.openxmlformats.org/officeDocument/2006/relationships/image" Target="../media/image34.wmf"/><Relationship Id="rId3" Type="http://schemas.openxmlformats.org/officeDocument/2006/relationships/oleObject" Target="../embeddings/oleObject20.bin"/><Relationship Id="rId21" Type="http://schemas.openxmlformats.org/officeDocument/2006/relationships/oleObject" Target="../embeddings/oleObject29.bin"/><Relationship Id="rId7" Type="http://schemas.openxmlformats.org/officeDocument/2006/relationships/oleObject" Target="../embeddings/oleObject22.bin"/><Relationship Id="rId12" Type="http://schemas.openxmlformats.org/officeDocument/2006/relationships/image" Target="../media/image27.wmf"/><Relationship Id="rId17" Type="http://schemas.openxmlformats.org/officeDocument/2006/relationships/oleObject" Target="../embeddings/oleObject27.bin"/><Relationship Id="rId25" Type="http://schemas.openxmlformats.org/officeDocument/2006/relationships/oleObject" Target="../embeddings/oleObject31.bin"/><Relationship Id="rId2" Type="http://schemas.openxmlformats.org/officeDocument/2006/relationships/slideLayout" Target="../slideLayouts/slideLayout2.xml"/><Relationship Id="rId16" Type="http://schemas.openxmlformats.org/officeDocument/2006/relationships/image" Target="../media/image29.wmf"/><Relationship Id="rId20" Type="http://schemas.openxmlformats.org/officeDocument/2006/relationships/image" Target="../media/image31.wmf"/><Relationship Id="rId1" Type="http://schemas.openxmlformats.org/officeDocument/2006/relationships/vmlDrawing" Target="../drawings/vmlDrawing4.vml"/><Relationship Id="rId6" Type="http://schemas.openxmlformats.org/officeDocument/2006/relationships/image" Target="../media/image24.wmf"/><Relationship Id="rId11" Type="http://schemas.openxmlformats.org/officeDocument/2006/relationships/oleObject" Target="../embeddings/oleObject24.bin"/><Relationship Id="rId24" Type="http://schemas.openxmlformats.org/officeDocument/2006/relationships/image" Target="../media/image33.wmf"/><Relationship Id="rId5" Type="http://schemas.openxmlformats.org/officeDocument/2006/relationships/oleObject" Target="../embeddings/oleObject21.bin"/><Relationship Id="rId15" Type="http://schemas.openxmlformats.org/officeDocument/2006/relationships/oleObject" Target="../embeddings/oleObject26.bin"/><Relationship Id="rId23" Type="http://schemas.openxmlformats.org/officeDocument/2006/relationships/oleObject" Target="../embeddings/oleObject30.bin"/><Relationship Id="rId28" Type="http://schemas.openxmlformats.org/officeDocument/2006/relationships/image" Target="../media/image35.wmf"/><Relationship Id="rId10" Type="http://schemas.openxmlformats.org/officeDocument/2006/relationships/image" Target="../media/image26.wmf"/><Relationship Id="rId19" Type="http://schemas.openxmlformats.org/officeDocument/2006/relationships/oleObject" Target="../embeddings/oleObject28.bin"/><Relationship Id="rId4" Type="http://schemas.openxmlformats.org/officeDocument/2006/relationships/image" Target="../media/image23.wmf"/><Relationship Id="rId9" Type="http://schemas.openxmlformats.org/officeDocument/2006/relationships/oleObject" Target="../embeddings/oleObject23.bin"/><Relationship Id="rId14" Type="http://schemas.openxmlformats.org/officeDocument/2006/relationships/image" Target="../media/image28.wmf"/><Relationship Id="rId22" Type="http://schemas.openxmlformats.org/officeDocument/2006/relationships/image" Target="../media/image32.wmf"/><Relationship Id="rId27" Type="http://schemas.openxmlformats.org/officeDocument/2006/relationships/oleObject" Target="../embeddings/oleObject32.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37.wmf"/><Relationship Id="rId5" Type="http://schemas.openxmlformats.org/officeDocument/2006/relationships/oleObject" Target="../embeddings/oleObject34.bin"/><Relationship Id="rId4" Type="http://schemas.openxmlformats.org/officeDocument/2006/relationships/image" Target="../media/image36.wmf"/></Relationships>
</file>

<file path=ppt/slides/_rels/slide11.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9.wmf"/><Relationship Id="rId5" Type="http://schemas.openxmlformats.org/officeDocument/2006/relationships/oleObject" Target="../embeddings/oleObject36.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38.bin"/></Relationships>
</file>

<file path=ppt/slides/_rels/slide12.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46.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43.wmf"/><Relationship Id="rId11" Type="http://schemas.openxmlformats.org/officeDocument/2006/relationships/oleObject" Target="../embeddings/oleObject43.bin"/><Relationship Id="rId5" Type="http://schemas.openxmlformats.org/officeDocument/2006/relationships/oleObject" Target="../embeddings/oleObject40.bin"/><Relationship Id="rId10" Type="http://schemas.openxmlformats.org/officeDocument/2006/relationships/image" Target="../media/image45.wmf"/><Relationship Id="rId4" Type="http://schemas.openxmlformats.org/officeDocument/2006/relationships/image" Target="../media/image42.wmf"/><Relationship Id="rId9" Type="http://schemas.openxmlformats.org/officeDocument/2006/relationships/oleObject" Target="../embeddings/oleObject42.bin"/></Relationships>
</file>

<file path=ppt/slides/_rels/slide1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oleObject" Target="../embeddings/oleObject49.bin"/><Relationship Id="rId18" Type="http://schemas.openxmlformats.org/officeDocument/2006/relationships/image" Target="../media/image54.wmf"/><Relationship Id="rId3" Type="http://schemas.openxmlformats.org/officeDocument/2006/relationships/image" Target="../media/image57.png"/><Relationship Id="rId21" Type="http://schemas.openxmlformats.org/officeDocument/2006/relationships/oleObject" Target="../embeddings/oleObject53.bin"/><Relationship Id="rId7" Type="http://schemas.openxmlformats.org/officeDocument/2006/relationships/image" Target="../media/image49.wmf"/><Relationship Id="rId12" Type="http://schemas.openxmlformats.org/officeDocument/2006/relationships/oleObject" Target="../embeddings/oleObject48.bin"/><Relationship Id="rId17" Type="http://schemas.openxmlformats.org/officeDocument/2006/relationships/oleObject" Target="../embeddings/oleObject51.bin"/><Relationship Id="rId2" Type="http://schemas.openxmlformats.org/officeDocument/2006/relationships/slideLayout" Target="../slideLayouts/slideLayout2.xml"/><Relationship Id="rId16" Type="http://schemas.openxmlformats.org/officeDocument/2006/relationships/image" Target="../media/image53.wmf"/><Relationship Id="rId20" Type="http://schemas.openxmlformats.org/officeDocument/2006/relationships/image" Target="../media/image55.wmf"/><Relationship Id="rId1" Type="http://schemas.openxmlformats.org/officeDocument/2006/relationships/vmlDrawing" Target="../drawings/vmlDrawing8.vml"/><Relationship Id="rId6" Type="http://schemas.openxmlformats.org/officeDocument/2006/relationships/oleObject" Target="../embeddings/oleObject45.bin"/><Relationship Id="rId11" Type="http://schemas.openxmlformats.org/officeDocument/2006/relationships/image" Target="../media/image51.wmf"/><Relationship Id="rId5" Type="http://schemas.openxmlformats.org/officeDocument/2006/relationships/image" Target="../media/image48.wmf"/><Relationship Id="rId15" Type="http://schemas.openxmlformats.org/officeDocument/2006/relationships/oleObject" Target="../embeddings/oleObject50.bin"/><Relationship Id="rId10" Type="http://schemas.openxmlformats.org/officeDocument/2006/relationships/oleObject" Target="../embeddings/oleObject47.bin"/><Relationship Id="rId19" Type="http://schemas.openxmlformats.org/officeDocument/2006/relationships/oleObject" Target="../embeddings/oleObject52.bin"/><Relationship Id="rId4" Type="http://schemas.openxmlformats.org/officeDocument/2006/relationships/oleObject" Target="../embeddings/oleObject44.bin"/><Relationship Id="rId9" Type="http://schemas.openxmlformats.org/officeDocument/2006/relationships/image" Target="../media/image50.wmf"/><Relationship Id="rId14" Type="http://schemas.openxmlformats.org/officeDocument/2006/relationships/image" Target="../media/image52.wmf"/><Relationship Id="rId22" Type="http://schemas.openxmlformats.org/officeDocument/2006/relationships/image" Target="../media/image56.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59.wmf"/><Relationship Id="rId5" Type="http://schemas.openxmlformats.org/officeDocument/2006/relationships/oleObject" Target="../embeddings/oleObject55.bin"/><Relationship Id="rId4" Type="http://schemas.openxmlformats.org/officeDocument/2006/relationships/image" Target="../media/image58.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828675" y="2576321"/>
            <a:ext cx="4300538" cy="1664768"/>
          </a:xfrm>
        </p:spPr>
        <p:txBody>
          <a:bodyPr rtlCol="0" anchor="ctr"/>
          <a:lstStyle/>
          <a:p>
            <a:pPr rtl="0"/>
            <a:r>
              <a:rPr lang="en-US" altLang="zh-CN" dirty="0"/>
              <a:t>Compilers</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828675" y="3879543"/>
            <a:ext cx="4300538" cy="1473692"/>
          </a:xfrm>
        </p:spPr>
        <p:txBody>
          <a:bodyPr rtlCol="0">
            <a:normAutofit/>
          </a:bodyPr>
          <a:lstStyle/>
          <a:p>
            <a:pPr rtl="0"/>
            <a:r>
              <a:rPr lang="en-US" sz="2000" dirty="0"/>
              <a:t>Principles, Techniques, &amp; Tools</a:t>
            </a:r>
          </a:p>
          <a:p>
            <a:pPr rtl="0"/>
            <a:endParaRPr lang="en-US" sz="2000" dirty="0">
              <a:latin typeface="微软雅黑" panose="020B0503020204020204" pitchFamily="34" charset="-122"/>
              <a:ea typeface="微软雅黑" panose="020B0503020204020204" pitchFamily="34" charset="-122"/>
            </a:endParaRPr>
          </a:p>
          <a:p>
            <a:pPr rtl="0"/>
            <a:endParaRPr lang="en-US" sz="2000" dirty="0">
              <a:latin typeface="微软雅黑" panose="020B0503020204020204" pitchFamily="34" charset="-122"/>
              <a:ea typeface="微软雅黑" panose="020B0503020204020204" pitchFamily="34" charset="-122"/>
            </a:endParaRPr>
          </a:p>
          <a:p>
            <a:pPr rtl="0"/>
            <a:r>
              <a:rPr lang="en-US" sz="2000" dirty="0">
                <a:latin typeface="微软雅黑" panose="020B0503020204020204" pitchFamily="34" charset="-122"/>
                <a:ea typeface="微软雅黑" panose="020B0503020204020204" pitchFamily="34" charset="-122"/>
              </a:rPr>
              <a:t>Taught by Jing Zhang </a:t>
            </a:r>
          </a:p>
          <a:p>
            <a:pPr rtl="0"/>
            <a:r>
              <a:rPr lang="en-US" sz="2000" dirty="0">
                <a:latin typeface="微软雅黑" panose="020B0503020204020204" pitchFamily="34" charset="-122"/>
                <a:ea typeface="微软雅黑" panose="020B0503020204020204" pitchFamily="34" charset="-122"/>
              </a:rPr>
              <a:t>(jzhang@njust.edu.cn)</a:t>
            </a:r>
          </a:p>
        </p:txBody>
      </p:sp>
      <p:pic>
        <p:nvPicPr>
          <p:cNvPr id="4" name="图片占位符 3" descr="桌上一本打开的书，书架在背景中模糊显示" title="示例图片"/>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05" r="8805"/>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en-US" dirty="0"/>
              <a:t>Grammar Description</a:t>
            </a:r>
          </a:p>
        </p:txBody>
      </p:sp>
      <p:sp>
        <p:nvSpPr>
          <p:cNvPr id="3" name="文本占位符 2"/>
          <p:cNvSpPr>
            <a:spLocks noGrp="1"/>
          </p:cNvSpPr>
          <p:nvPr>
            <p:ph type="body" idx="1"/>
          </p:nvPr>
        </p:nvSpPr>
        <p:spPr/>
        <p:txBody>
          <a:bodyPr rtlCol="0"/>
          <a:lstStyle/>
          <a:p>
            <a:pPr rtl="0"/>
            <a:endParaRPr lang="en-US"/>
          </a:p>
        </p:txBody>
      </p:sp>
    </p:spTree>
    <p:extLst>
      <p:ext uri="{BB962C8B-B14F-4D97-AF65-F5344CB8AC3E}">
        <p14:creationId xmlns:p14="http://schemas.microsoft.com/office/powerpoint/2010/main" val="13288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BF94A34-36A9-4492-BE54-AD37711511C7}"/>
              </a:ext>
            </a:extLst>
          </p:cNvPr>
          <p:cNvSpPr>
            <a:spLocks noGrp="1"/>
          </p:cNvSpPr>
          <p:nvPr>
            <p:ph type="title"/>
          </p:nvPr>
        </p:nvSpPr>
        <p:spPr/>
        <p:txBody>
          <a:bodyPr/>
          <a:lstStyle/>
          <a:p>
            <a:r>
              <a:rPr lang="en-US" altLang="zh-CN" dirty="0"/>
              <a:t>2.0 Why We Need Grammar</a:t>
            </a:r>
            <a:endParaRPr lang="zh-CN" altLang="en-US" dirty="0"/>
          </a:p>
        </p:txBody>
      </p:sp>
      <p:sp>
        <p:nvSpPr>
          <p:cNvPr id="6" name="内容占位符 5">
            <a:extLst>
              <a:ext uri="{FF2B5EF4-FFF2-40B4-BE49-F238E27FC236}">
                <a16:creationId xmlns:a16="http://schemas.microsoft.com/office/drawing/2014/main" id="{CE888588-40FD-4008-9B2C-6C3C3F05C2DB}"/>
              </a:ext>
            </a:extLst>
          </p:cNvPr>
          <p:cNvSpPr>
            <a:spLocks noGrp="1"/>
          </p:cNvSpPr>
          <p:nvPr>
            <p:ph idx="1"/>
          </p:nvPr>
        </p:nvSpPr>
        <p:spPr>
          <a:xfrm>
            <a:off x="827537" y="1506762"/>
            <a:ext cx="7486650" cy="1702969"/>
          </a:xfrm>
        </p:spPr>
        <p:txBody>
          <a:bodyPr>
            <a:normAutofit/>
          </a:bodyPr>
          <a:lstStyle/>
          <a:p>
            <a:r>
              <a:rPr lang="en-US" altLang="zh-CN" dirty="0"/>
              <a:t>Example 1:</a:t>
            </a:r>
            <a:r>
              <a:rPr lang="zh-CN" altLang="en-US" dirty="0"/>
              <a:t> </a:t>
            </a:r>
            <a:r>
              <a:rPr lang="en-US" altLang="zh-CN" dirty="0"/>
              <a:t>Choose an account name for your email</a:t>
            </a:r>
          </a:p>
          <a:p>
            <a:pPr lvl="1"/>
            <a:r>
              <a:rPr lang="en-US" altLang="zh-CN" dirty="0"/>
              <a:t>Valid name: </a:t>
            </a:r>
            <a:r>
              <a:rPr lang="en-US" altLang="zh-CN" dirty="0" err="1"/>
              <a:t>jingzhang</a:t>
            </a:r>
            <a:r>
              <a:rPr lang="en-US" altLang="zh-CN" dirty="0"/>
              <a:t>, jzhang81, </a:t>
            </a:r>
            <a:r>
              <a:rPr lang="en-US" altLang="zh-CN" dirty="0" err="1"/>
              <a:t>jingzhang_cs</a:t>
            </a:r>
            <a:r>
              <a:rPr lang="en-US" altLang="zh-CN" dirty="0"/>
              <a:t>, </a:t>
            </a:r>
            <a:r>
              <a:rPr lang="en-US" altLang="zh-CN" dirty="0" err="1"/>
              <a:t>jinzhang.cs</a:t>
            </a:r>
            <a:r>
              <a:rPr lang="en-US" altLang="zh-CN" dirty="0"/>
              <a:t>, ….</a:t>
            </a:r>
          </a:p>
          <a:p>
            <a:pPr lvl="1"/>
            <a:r>
              <a:rPr lang="en-US" altLang="zh-CN" dirty="0"/>
              <a:t>Invalid name: 81jingzhang, </a:t>
            </a:r>
            <a:r>
              <a:rPr lang="en-US" altLang="zh-CN" dirty="0" err="1"/>
              <a:t>jing</a:t>
            </a:r>
            <a:r>
              <a:rPr lang="en-US" altLang="zh-CN" dirty="0"/>
              <a:t>*</a:t>
            </a:r>
            <a:r>
              <a:rPr lang="en-US" altLang="zh-CN" dirty="0" err="1"/>
              <a:t>zhang</a:t>
            </a:r>
            <a:r>
              <a:rPr lang="en-US" altLang="zh-CN" dirty="0"/>
              <a:t>, </a:t>
            </a:r>
            <a:r>
              <a:rPr lang="en-US" altLang="zh-CN" dirty="0" err="1"/>
              <a:t>jing</a:t>
            </a:r>
            <a:r>
              <a:rPr lang="en-US" altLang="zh-CN" dirty="0"/>
              <a:t>\</a:t>
            </a:r>
            <a:r>
              <a:rPr lang="en-US" altLang="zh-CN" dirty="0" err="1"/>
              <a:t>zhang</a:t>
            </a:r>
            <a:r>
              <a:rPr lang="en-US" altLang="zh-CN" dirty="0"/>
              <a:t>, …</a:t>
            </a:r>
          </a:p>
          <a:p>
            <a:pPr marL="0" indent="0">
              <a:buNone/>
            </a:pPr>
            <a:r>
              <a:rPr lang="en-US" altLang="zh-CN" dirty="0">
                <a:solidFill>
                  <a:srgbClr val="FF0000"/>
                </a:solidFill>
              </a:rPr>
              <a:t>How do you write a program to check the correctness of an account name?</a:t>
            </a:r>
          </a:p>
          <a:p>
            <a:r>
              <a:rPr lang="en-US" altLang="zh-CN" dirty="0"/>
              <a:t>Example 2: Natural English language processing</a:t>
            </a:r>
          </a:p>
        </p:txBody>
      </p:sp>
      <p:sp>
        <p:nvSpPr>
          <p:cNvPr id="7" name="矩形 6">
            <a:extLst>
              <a:ext uri="{FF2B5EF4-FFF2-40B4-BE49-F238E27FC236}">
                <a16:creationId xmlns:a16="http://schemas.microsoft.com/office/drawing/2014/main" id="{4DCC2DFE-BDDE-45D4-8710-3C8D0B0A9C90}"/>
              </a:ext>
            </a:extLst>
          </p:cNvPr>
          <p:cNvSpPr/>
          <p:nvPr/>
        </p:nvSpPr>
        <p:spPr>
          <a:xfrm>
            <a:off x="2947332" y="3058108"/>
            <a:ext cx="2164702" cy="303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sentence</a:t>
            </a:r>
            <a:endParaRPr lang="zh-CN" altLang="en-US" dirty="0"/>
          </a:p>
        </p:txBody>
      </p:sp>
      <p:cxnSp>
        <p:nvCxnSpPr>
          <p:cNvPr id="8" name="直接连接符 7">
            <a:extLst>
              <a:ext uri="{FF2B5EF4-FFF2-40B4-BE49-F238E27FC236}">
                <a16:creationId xmlns:a16="http://schemas.microsoft.com/office/drawing/2014/main" id="{0402C5F8-A269-49B8-AD91-1D3FD0D35A05}"/>
              </a:ext>
            </a:extLst>
          </p:cNvPr>
          <p:cNvCxnSpPr>
            <a:cxnSpLocks/>
          </p:cNvCxnSpPr>
          <p:nvPr/>
        </p:nvCxnSpPr>
        <p:spPr>
          <a:xfrm flipH="1">
            <a:off x="2220682" y="3429000"/>
            <a:ext cx="933062" cy="40588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F66CA69-975F-4FCF-AB44-242C79D62DCA}"/>
              </a:ext>
            </a:extLst>
          </p:cNvPr>
          <p:cNvCxnSpPr>
            <a:cxnSpLocks/>
            <a:endCxn id="13" idx="0"/>
          </p:cNvCxnSpPr>
          <p:nvPr/>
        </p:nvCxnSpPr>
        <p:spPr>
          <a:xfrm flipH="1">
            <a:off x="3236990" y="3387012"/>
            <a:ext cx="81686" cy="41288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422D2DD-D763-4589-B88C-6902167D4791}"/>
              </a:ext>
            </a:extLst>
          </p:cNvPr>
          <p:cNvCxnSpPr>
            <a:cxnSpLocks/>
          </p:cNvCxnSpPr>
          <p:nvPr/>
        </p:nvCxnSpPr>
        <p:spPr>
          <a:xfrm>
            <a:off x="4506682" y="3396342"/>
            <a:ext cx="130628" cy="43854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3077D65E-55D0-4EF5-AA48-56FF55073A30}"/>
              </a:ext>
            </a:extLst>
          </p:cNvPr>
          <p:cNvCxnSpPr>
            <a:cxnSpLocks/>
          </p:cNvCxnSpPr>
          <p:nvPr/>
        </p:nvCxnSpPr>
        <p:spPr>
          <a:xfrm>
            <a:off x="4884002" y="3354354"/>
            <a:ext cx="1343006" cy="480528"/>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文本框 11">
            <a:extLst>
              <a:ext uri="{FF2B5EF4-FFF2-40B4-BE49-F238E27FC236}">
                <a16:creationId xmlns:a16="http://schemas.microsoft.com/office/drawing/2014/main" id="{15988BF6-D905-4800-9387-180D87FA29FC}"/>
              </a:ext>
            </a:extLst>
          </p:cNvPr>
          <p:cNvSpPr txBox="1"/>
          <p:nvPr/>
        </p:nvSpPr>
        <p:spPr>
          <a:xfrm>
            <a:off x="1400274" y="3825565"/>
            <a:ext cx="1165704" cy="369332"/>
          </a:xfrm>
          <a:prstGeom prst="rect">
            <a:avLst/>
          </a:prstGeom>
          <a:noFill/>
        </p:spPr>
        <p:txBody>
          <a:bodyPr wrap="none" rtlCol="0">
            <a:spAutoFit/>
          </a:bodyPr>
          <a:lstStyle/>
          <a:p>
            <a:r>
              <a:rPr lang="en-US" altLang="zh-CN" dirty="0"/>
              <a:t>&lt;subject&gt;</a:t>
            </a:r>
            <a:endParaRPr lang="zh-CN" altLang="en-US" dirty="0"/>
          </a:p>
        </p:txBody>
      </p:sp>
      <p:sp>
        <p:nvSpPr>
          <p:cNvPr id="13" name="矩形 12">
            <a:extLst>
              <a:ext uri="{FF2B5EF4-FFF2-40B4-BE49-F238E27FC236}">
                <a16:creationId xmlns:a16="http://schemas.microsoft.com/office/drawing/2014/main" id="{5197F81D-9769-4AFF-8854-62D86DF537CC}"/>
              </a:ext>
            </a:extLst>
          </p:cNvPr>
          <p:cNvSpPr/>
          <p:nvPr/>
        </p:nvSpPr>
        <p:spPr>
          <a:xfrm>
            <a:off x="2540613" y="3799893"/>
            <a:ext cx="1392754" cy="369332"/>
          </a:xfrm>
          <a:prstGeom prst="rect">
            <a:avLst/>
          </a:prstGeom>
        </p:spPr>
        <p:txBody>
          <a:bodyPr wrap="none">
            <a:spAutoFit/>
          </a:bodyPr>
          <a:lstStyle/>
          <a:p>
            <a:r>
              <a:rPr lang="en-GB" altLang="zh-CN" dirty="0"/>
              <a:t>&lt;predicate&gt;</a:t>
            </a:r>
            <a:endParaRPr lang="zh-CN" altLang="en-US" dirty="0"/>
          </a:p>
        </p:txBody>
      </p:sp>
      <p:sp>
        <p:nvSpPr>
          <p:cNvPr id="14" name="矩形 13">
            <a:extLst>
              <a:ext uri="{FF2B5EF4-FFF2-40B4-BE49-F238E27FC236}">
                <a16:creationId xmlns:a16="http://schemas.microsoft.com/office/drawing/2014/main" id="{26B3053F-0FEA-4DD4-A023-71B5D4336BE5}"/>
              </a:ext>
            </a:extLst>
          </p:cNvPr>
          <p:cNvSpPr/>
          <p:nvPr/>
        </p:nvSpPr>
        <p:spPr>
          <a:xfrm>
            <a:off x="3928131" y="3778905"/>
            <a:ext cx="1911742" cy="369332"/>
          </a:xfrm>
          <a:prstGeom prst="rect">
            <a:avLst/>
          </a:prstGeom>
        </p:spPr>
        <p:txBody>
          <a:bodyPr wrap="none">
            <a:spAutoFit/>
          </a:bodyPr>
          <a:lstStyle/>
          <a:p>
            <a:r>
              <a:rPr lang="en-US" altLang="zh-CN" dirty="0"/>
              <a:t>&lt;Indirect object&gt;</a:t>
            </a:r>
            <a:endParaRPr lang="zh-CN" altLang="en-US" dirty="0"/>
          </a:p>
        </p:txBody>
      </p:sp>
      <p:sp>
        <p:nvSpPr>
          <p:cNvPr id="15" name="矩形 14">
            <a:extLst>
              <a:ext uri="{FF2B5EF4-FFF2-40B4-BE49-F238E27FC236}">
                <a16:creationId xmlns:a16="http://schemas.microsoft.com/office/drawing/2014/main" id="{08DD8931-6CF1-4B4B-BEA1-42070031ABF5}"/>
              </a:ext>
            </a:extLst>
          </p:cNvPr>
          <p:cNvSpPr/>
          <p:nvPr/>
        </p:nvSpPr>
        <p:spPr>
          <a:xfrm>
            <a:off x="5752284" y="3792136"/>
            <a:ext cx="1780296" cy="369332"/>
          </a:xfrm>
          <a:prstGeom prst="rect">
            <a:avLst/>
          </a:prstGeom>
        </p:spPr>
        <p:txBody>
          <a:bodyPr wrap="none">
            <a:spAutoFit/>
          </a:bodyPr>
          <a:lstStyle/>
          <a:p>
            <a:r>
              <a:rPr lang="en-US" altLang="zh-CN" dirty="0"/>
              <a:t>&lt;direct object&gt;</a:t>
            </a:r>
            <a:endParaRPr lang="zh-CN" altLang="en-US" dirty="0"/>
          </a:p>
        </p:txBody>
      </p:sp>
      <p:cxnSp>
        <p:nvCxnSpPr>
          <p:cNvPr id="16" name="直接连接符 15">
            <a:extLst>
              <a:ext uri="{FF2B5EF4-FFF2-40B4-BE49-F238E27FC236}">
                <a16:creationId xmlns:a16="http://schemas.microsoft.com/office/drawing/2014/main" id="{B46BEDCB-8723-42E7-A76F-87A3982CBADB}"/>
              </a:ext>
            </a:extLst>
          </p:cNvPr>
          <p:cNvCxnSpPr>
            <a:cxnSpLocks/>
            <a:stCxn id="12" idx="2"/>
          </p:cNvCxnSpPr>
          <p:nvPr/>
        </p:nvCxnSpPr>
        <p:spPr>
          <a:xfrm>
            <a:off x="1983126" y="4194897"/>
            <a:ext cx="0" cy="34522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F5A30DF-F254-4F62-AB3D-51FB30AF0FB4}"/>
              </a:ext>
            </a:extLst>
          </p:cNvPr>
          <p:cNvCxnSpPr>
            <a:cxnSpLocks/>
          </p:cNvCxnSpPr>
          <p:nvPr/>
        </p:nvCxnSpPr>
        <p:spPr>
          <a:xfrm>
            <a:off x="3171225" y="4148237"/>
            <a:ext cx="0" cy="39188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006B2C76-2C44-4550-B0EC-3198344A5D70}"/>
              </a:ext>
            </a:extLst>
          </p:cNvPr>
          <p:cNvCxnSpPr>
            <a:cxnSpLocks/>
          </p:cNvCxnSpPr>
          <p:nvPr/>
        </p:nvCxnSpPr>
        <p:spPr>
          <a:xfrm>
            <a:off x="4673452" y="4133471"/>
            <a:ext cx="0" cy="40664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E7E063D-F550-48EB-999A-530ECCFCB6BD}"/>
              </a:ext>
            </a:extLst>
          </p:cNvPr>
          <p:cNvCxnSpPr>
            <a:cxnSpLocks/>
          </p:cNvCxnSpPr>
          <p:nvPr/>
        </p:nvCxnSpPr>
        <p:spPr>
          <a:xfrm flipH="1">
            <a:off x="5915618" y="4105474"/>
            <a:ext cx="428016" cy="49377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C21E994-392A-479C-BC72-6AF4DC7E635A}"/>
              </a:ext>
            </a:extLst>
          </p:cNvPr>
          <p:cNvCxnSpPr>
            <a:cxnSpLocks/>
          </p:cNvCxnSpPr>
          <p:nvPr/>
        </p:nvCxnSpPr>
        <p:spPr>
          <a:xfrm>
            <a:off x="6494102" y="4133471"/>
            <a:ext cx="609615" cy="465779"/>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D3086297-2F55-4D39-9B7C-7FCE25159371}"/>
              </a:ext>
            </a:extLst>
          </p:cNvPr>
          <p:cNvSpPr txBox="1"/>
          <p:nvPr/>
        </p:nvSpPr>
        <p:spPr>
          <a:xfrm>
            <a:off x="1400274" y="4540118"/>
            <a:ext cx="1289264" cy="369332"/>
          </a:xfrm>
          <a:prstGeom prst="rect">
            <a:avLst/>
          </a:prstGeom>
          <a:noFill/>
        </p:spPr>
        <p:txBody>
          <a:bodyPr wrap="none" rtlCol="0">
            <a:spAutoFit/>
          </a:bodyPr>
          <a:lstStyle/>
          <a:p>
            <a:r>
              <a:rPr lang="en-US" altLang="zh-CN"/>
              <a:t>&lt;pronoun&gt;</a:t>
            </a:r>
            <a:endParaRPr lang="zh-CN" altLang="en-US" dirty="0"/>
          </a:p>
        </p:txBody>
      </p:sp>
      <p:sp>
        <p:nvSpPr>
          <p:cNvPr id="22" name="文本框 21">
            <a:extLst>
              <a:ext uri="{FF2B5EF4-FFF2-40B4-BE49-F238E27FC236}">
                <a16:creationId xmlns:a16="http://schemas.microsoft.com/office/drawing/2014/main" id="{1F52F804-5F7F-4CD4-8C0F-4AAB648F48BF}"/>
              </a:ext>
            </a:extLst>
          </p:cNvPr>
          <p:cNvSpPr txBox="1"/>
          <p:nvPr/>
        </p:nvSpPr>
        <p:spPr>
          <a:xfrm>
            <a:off x="4167063" y="4528861"/>
            <a:ext cx="1289264" cy="369332"/>
          </a:xfrm>
          <a:prstGeom prst="rect">
            <a:avLst/>
          </a:prstGeom>
          <a:noFill/>
        </p:spPr>
        <p:txBody>
          <a:bodyPr wrap="none" rtlCol="0">
            <a:spAutoFit/>
          </a:bodyPr>
          <a:lstStyle/>
          <a:p>
            <a:r>
              <a:rPr lang="en-US" altLang="zh-CN" dirty="0"/>
              <a:t>&lt;pronoun&gt;</a:t>
            </a:r>
            <a:endParaRPr lang="zh-CN" altLang="en-US" dirty="0"/>
          </a:p>
        </p:txBody>
      </p:sp>
      <p:sp>
        <p:nvSpPr>
          <p:cNvPr id="23" name="矩形 22">
            <a:extLst>
              <a:ext uri="{FF2B5EF4-FFF2-40B4-BE49-F238E27FC236}">
                <a16:creationId xmlns:a16="http://schemas.microsoft.com/office/drawing/2014/main" id="{6832593F-04B2-4E7E-8813-A39DA4270E0E}"/>
              </a:ext>
            </a:extLst>
          </p:cNvPr>
          <p:cNvSpPr/>
          <p:nvPr/>
        </p:nvSpPr>
        <p:spPr>
          <a:xfrm>
            <a:off x="2740658" y="4551001"/>
            <a:ext cx="861133" cy="369332"/>
          </a:xfrm>
          <a:prstGeom prst="rect">
            <a:avLst/>
          </a:prstGeom>
        </p:spPr>
        <p:txBody>
          <a:bodyPr wrap="none">
            <a:spAutoFit/>
          </a:bodyPr>
          <a:lstStyle/>
          <a:p>
            <a:r>
              <a:rPr lang="en-GB" altLang="zh-CN" dirty="0"/>
              <a:t>&lt;verb&gt;</a:t>
            </a:r>
            <a:endParaRPr lang="zh-CN" altLang="en-US" dirty="0"/>
          </a:p>
        </p:txBody>
      </p:sp>
      <p:sp>
        <p:nvSpPr>
          <p:cNvPr id="24" name="文本框 23">
            <a:extLst>
              <a:ext uri="{FF2B5EF4-FFF2-40B4-BE49-F238E27FC236}">
                <a16:creationId xmlns:a16="http://schemas.microsoft.com/office/drawing/2014/main" id="{532FBC28-D725-4387-AC95-0E5BA53B4684}"/>
              </a:ext>
            </a:extLst>
          </p:cNvPr>
          <p:cNvSpPr txBox="1"/>
          <p:nvPr/>
        </p:nvSpPr>
        <p:spPr>
          <a:xfrm>
            <a:off x="5531278" y="4540118"/>
            <a:ext cx="1067921" cy="369332"/>
          </a:xfrm>
          <a:prstGeom prst="rect">
            <a:avLst/>
          </a:prstGeom>
          <a:noFill/>
        </p:spPr>
        <p:txBody>
          <a:bodyPr wrap="none" rtlCol="0">
            <a:spAutoFit/>
          </a:bodyPr>
          <a:lstStyle/>
          <a:p>
            <a:r>
              <a:rPr lang="en-US" altLang="zh-CN" dirty="0"/>
              <a:t>&lt;article&gt;</a:t>
            </a:r>
            <a:endParaRPr lang="zh-CN" altLang="en-US" dirty="0"/>
          </a:p>
        </p:txBody>
      </p:sp>
      <p:sp>
        <p:nvSpPr>
          <p:cNvPr id="25" name="文本框 24">
            <a:extLst>
              <a:ext uri="{FF2B5EF4-FFF2-40B4-BE49-F238E27FC236}">
                <a16:creationId xmlns:a16="http://schemas.microsoft.com/office/drawing/2014/main" id="{661B5581-6124-426B-A36D-381CD152C037}"/>
              </a:ext>
            </a:extLst>
          </p:cNvPr>
          <p:cNvSpPr txBox="1"/>
          <p:nvPr/>
        </p:nvSpPr>
        <p:spPr>
          <a:xfrm>
            <a:off x="6693876" y="4528861"/>
            <a:ext cx="942887" cy="369332"/>
          </a:xfrm>
          <a:prstGeom prst="rect">
            <a:avLst/>
          </a:prstGeom>
          <a:noFill/>
        </p:spPr>
        <p:txBody>
          <a:bodyPr wrap="none" rtlCol="0">
            <a:spAutoFit/>
          </a:bodyPr>
          <a:lstStyle/>
          <a:p>
            <a:r>
              <a:rPr lang="en-US" altLang="zh-CN" dirty="0"/>
              <a:t>&lt;noun&gt;</a:t>
            </a:r>
            <a:endParaRPr lang="zh-CN" altLang="en-US" dirty="0"/>
          </a:p>
        </p:txBody>
      </p:sp>
      <p:cxnSp>
        <p:nvCxnSpPr>
          <p:cNvPr id="26" name="直接连接符 25">
            <a:extLst>
              <a:ext uri="{FF2B5EF4-FFF2-40B4-BE49-F238E27FC236}">
                <a16:creationId xmlns:a16="http://schemas.microsoft.com/office/drawing/2014/main" id="{3465E625-98BF-4CA9-B8CC-EBC54CA94FAA}"/>
              </a:ext>
            </a:extLst>
          </p:cNvPr>
          <p:cNvCxnSpPr>
            <a:cxnSpLocks/>
          </p:cNvCxnSpPr>
          <p:nvPr/>
        </p:nvCxnSpPr>
        <p:spPr>
          <a:xfrm>
            <a:off x="1983126" y="4898193"/>
            <a:ext cx="0" cy="34522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C029FE6D-60CA-4624-86B2-7D8E92003E5C}"/>
              </a:ext>
            </a:extLst>
          </p:cNvPr>
          <p:cNvCxnSpPr>
            <a:cxnSpLocks/>
          </p:cNvCxnSpPr>
          <p:nvPr/>
        </p:nvCxnSpPr>
        <p:spPr>
          <a:xfrm>
            <a:off x="3171224" y="4883422"/>
            <a:ext cx="0" cy="34522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82E3C62D-2564-4AEC-AC10-58EC27EF9627}"/>
              </a:ext>
            </a:extLst>
          </p:cNvPr>
          <p:cNvCxnSpPr>
            <a:cxnSpLocks/>
          </p:cNvCxnSpPr>
          <p:nvPr/>
        </p:nvCxnSpPr>
        <p:spPr>
          <a:xfrm>
            <a:off x="4681602" y="4883421"/>
            <a:ext cx="0" cy="34522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2A38574-7FF9-4F94-B021-962E8EBA39BB}"/>
              </a:ext>
            </a:extLst>
          </p:cNvPr>
          <p:cNvCxnSpPr>
            <a:cxnSpLocks/>
          </p:cNvCxnSpPr>
          <p:nvPr/>
        </p:nvCxnSpPr>
        <p:spPr>
          <a:xfrm>
            <a:off x="6064058" y="4877981"/>
            <a:ext cx="0" cy="34522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ECB33C9-D28A-446B-ADCE-4950835E23FF}"/>
              </a:ext>
            </a:extLst>
          </p:cNvPr>
          <p:cNvCxnSpPr>
            <a:cxnSpLocks/>
          </p:cNvCxnSpPr>
          <p:nvPr/>
        </p:nvCxnSpPr>
        <p:spPr>
          <a:xfrm>
            <a:off x="7165319" y="4877980"/>
            <a:ext cx="0" cy="34522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66F9A326-2622-49FE-B5E9-3289601DDADC}"/>
              </a:ext>
            </a:extLst>
          </p:cNvPr>
          <p:cNvSpPr txBox="1"/>
          <p:nvPr/>
        </p:nvSpPr>
        <p:spPr>
          <a:xfrm>
            <a:off x="1772591" y="5166572"/>
            <a:ext cx="471604" cy="369332"/>
          </a:xfrm>
          <a:prstGeom prst="rect">
            <a:avLst/>
          </a:prstGeom>
          <a:noFill/>
        </p:spPr>
        <p:txBody>
          <a:bodyPr wrap="none" rtlCol="0">
            <a:spAutoFit/>
          </a:bodyPr>
          <a:lstStyle/>
          <a:p>
            <a:r>
              <a:rPr lang="en-US" altLang="zh-CN" dirty="0">
                <a:solidFill>
                  <a:srgbClr val="0070C0"/>
                </a:solidFill>
              </a:rPr>
              <a:t>He</a:t>
            </a:r>
            <a:endParaRPr lang="zh-CN" altLang="en-US" dirty="0">
              <a:solidFill>
                <a:srgbClr val="0070C0"/>
              </a:solidFill>
            </a:endParaRPr>
          </a:p>
        </p:txBody>
      </p:sp>
      <p:sp>
        <p:nvSpPr>
          <p:cNvPr id="32" name="文本框 31">
            <a:extLst>
              <a:ext uri="{FF2B5EF4-FFF2-40B4-BE49-F238E27FC236}">
                <a16:creationId xmlns:a16="http://schemas.microsoft.com/office/drawing/2014/main" id="{F4BA45D3-932F-410D-804E-F505D225A465}"/>
              </a:ext>
            </a:extLst>
          </p:cNvPr>
          <p:cNvSpPr txBox="1"/>
          <p:nvPr/>
        </p:nvSpPr>
        <p:spPr>
          <a:xfrm>
            <a:off x="2941860" y="5163985"/>
            <a:ext cx="716863" cy="369332"/>
          </a:xfrm>
          <a:prstGeom prst="rect">
            <a:avLst/>
          </a:prstGeom>
          <a:noFill/>
        </p:spPr>
        <p:txBody>
          <a:bodyPr wrap="none" rtlCol="0">
            <a:spAutoFit/>
          </a:bodyPr>
          <a:lstStyle/>
          <a:p>
            <a:r>
              <a:rPr lang="en-US" altLang="zh-CN" dirty="0">
                <a:solidFill>
                  <a:srgbClr val="0070C0"/>
                </a:solidFill>
              </a:rPr>
              <a:t>gives</a:t>
            </a:r>
            <a:endParaRPr lang="zh-CN" altLang="en-US" dirty="0">
              <a:solidFill>
                <a:srgbClr val="0070C0"/>
              </a:solidFill>
            </a:endParaRPr>
          </a:p>
        </p:txBody>
      </p:sp>
      <p:sp>
        <p:nvSpPr>
          <p:cNvPr id="33" name="文本框 32">
            <a:extLst>
              <a:ext uri="{FF2B5EF4-FFF2-40B4-BE49-F238E27FC236}">
                <a16:creationId xmlns:a16="http://schemas.microsoft.com/office/drawing/2014/main" id="{0B2FCF66-7425-4531-B69F-1B10E48B3F91}"/>
              </a:ext>
            </a:extLst>
          </p:cNvPr>
          <p:cNvSpPr txBox="1"/>
          <p:nvPr/>
        </p:nvSpPr>
        <p:spPr>
          <a:xfrm>
            <a:off x="4392608" y="5156865"/>
            <a:ext cx="506870" cy="369332"/>
          </a:xfrm>
          <a:prstGeom prst="rect">
            <a:avLst/>
          </a:prstGeom>
          <a:noFill/>
        </p:spPr>
        <p:txBody>
          <a:bodyPr wrap="none" rtlCol="0">
            <a:spAutoFit/>
          </a:bodyPr>
          <a:lstStyle/>
          <a:p>
            <a:r>
              <a:rPr lang="en-US" altLang="zh-CN" dirty="0">
                <a:solidFill>
                  <a:srgbClr val="0070C0"/>
                </a:solidFill>
              </a:rPr>
              <a:t>me</a:t>
            </a:r>
            <a:endParaRPr lang="zh-CN" altLang="en-US" dirty="0">
              <a:solidFill>
                <a:srgbClr val="0070C0"/>
              </a:solidFill>
            </a:endParaRPr>
          </a:p>
        </p:txBody>
      </p:sp>
      <p:sp>
        <p:nvSpPr>
          <p:cNvPr id="34" name="文本框 33">
            <a:extLst>
              <a:ext uri="{FF2B5EF4-FFF2-40B4-BE49-F238E27FC236}">
                <a16:creationId xmlns:a16="http://schemas.microsoft.com/office/drawing/2014/main" id="{5FEDC8DF-AC35-4298-84A8-A71CFB787587}"/>
              </a:ext>
            </a:extLst>
          </p:cNvPr>
          <p:cNvSpPr txBox="1"/>
          <p:nvPr/>
        </p:nvSpPr>
        <p:spPr>
          <a:xfrm>
            <a:off x="5906002" y="5156865"/>
            <a:ext cx="316112" cy="369332"/>
          </a:xfrm>
          <a:prstGeom prst="rect">
            <a:avLst/>
          </a:prstGeom>
          <a:noFill/>
        </p:spPr>
        <p:txBody>
          <a:bodyPr wrap="none" rtlCol="0">
            <a:spAutoFit/>
          </a:bodyPr>
          <a:lstStyle/>
          <a:p>
            <a:r>
              <a:rPr lang="en-US" altLang="zh-CN" dirty="0">
                <a:solidFill>
                  <a:srgbClr val="0070C0"/>
                </a:solidFill>
              </a:rPr>
              <a:t>a</a:t>
            </a:r>
            <a:endParaRPr lang="zh-CN" altLang="en-US" dirty="0">
              <a:solidFill>
                <a:srgbClr val="0070C0"/>
              </a:solidFill>
            </a:endParaRPr>
          </a:p>
        </p:txBody>
      </p:sp>
      <p:sp>
        <p:nvSpPr>
          <p:cNvPr id="35" name="文本框 34">
            <a:extLst>
              <a:ext uri="{FF2B5EF4-FFF2-40B4-BE49-F238E27FC236}">
                <a16:creationId xmlns:a16="http://schemas.microsoft.com/office/drawing/2014/main" id="{70F5384C-DF7D-449F-8C12-3F5734F17082}"/>
              </a:ext>
            </a:extLst>
          </p:cNvPr>
          <p:cNvSpPr txBox="1"/>
          <p:nvPr/>
        </p:nvSpPr>
        <p:spPr>
          <a:xfrm>
            <a:off x="6880777" y="5163985"/>
            <a:ext cx="710451" cy="369332"/>
          </a:xfrm>
          <a:prstGeom prst="rect">
            <a:avLst/>
          </a:prstGeom>
          <a:noFill/>
        </p:spPr>
        <p:txBody>
          <a:bodyPr wrap="none" rtlCol="0">
            <a:spAutoFit/>
          </a:bodyPr>
          <a:lstStyle/>
          <a:p>
            <a:r>
              <a:rPr lang="en-US" altLang="zh-CN" dirty="0">
                <a:solidFill>
                  <a:srgbClr val="0070C0"/>
                </a:solidFill>
              </a:rPr>
              <a:t>book</a:t>
            </a:r>
            <a:endParaRPr lang="zh-CN" altLang="en-US" dirty="0">
              <a:solidFill>
                <a:srgbClr val="0070C0"/>
              </a:solidFill>
            </a:endParaRPr>
          </a:p>
        </p:txBody>
      </p:sp>
      <p:sp>
        <p:nvSpPr>
          <p:cNvPr id="36" name="矩形 35">
            <a:extLst>
              <a:ext uri="{FF2B5EF4-FFF2-40B4-BE49-F238E27FC236}">
                <a16:creationId xmlns:a16="http://schemas.microsoft.com/office/drawing/2014/main" id="{71D3CF8D-6B92-4806-9CC4-C5490E939448}"/>
              </a:ext>
            </a:extLst>
          </p:cNvPr>
          <p:cNvSpPr/>
          <p:nvPr/>
        </p:nvSpPr>
        <p:spPr>
          <a:xfrm>
            <a:off x="763926" y="5674582"/>
            <a:ext cx="7485511" cy="369332"/>
          </a:xfrm>
          <a:prstGeom prst="rect">
            <a:avLst/>
          </a:prstGeom>
        </p:spPr>
        <p:txBody>
          <a:bodyPr wrap="square">
            <a:spAutoFit/>
          </a:bodyPr>
          <a:lstStyle/>
          <a:p>
            <a:r>
              <a:rPr lang="en-US" altLang="zh-CN" dirty="0">
                <a:solidFill>
                  <a:srgbClr val="FF0000"/>
                </a:solidFill>
              </a:rPr>
              <a:t>How do you write a program to check the correctness of a sentence?</a:t>
            </a:r>
          </a:p>
        </p:txBody>
      </p:sp>
    </p:spTree>
    <p:extLst>
      <p:ext uri="{BB962C8B-B14F-4D97-AF65-F5344CB8AC3E}">
        <p14:creationId xmlns:p14="http://schemas.microsoft.com/office/powerpoint/2010/main" val="1482629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2.1 Some Concepts</a:t>
            </a:r>
            <a:endParaRPr lang="zh-CN" altLang="en-US" dirty="0"/>
          </a:p>
        </p:txBody>
      </p:sp>
      <p:sp>
        <p:nvSpPr>
          <p:cNvPr id="3" name="内容占位符 2"/>
          <p:cNvSpPr>
            <a:spLocks noGrp="1"/>
          </p:cNvSpPr>
          <p:nvPr>
            <p:ph idx="1"/>
          </p:nvPr>
        </p:nvSpPr>
        <p:spPr>
          <a:xfrm>
            <a:off x="828675" y="1600199"/>
            <a:ext cx="7486650" cy="5185065"/>
          </a:xfrm>
        </p:spPr>
        <p:txBody>
          <a:bodyPr>
            <a:normAutofit lnSpcReduction="10000"/>
          </a:bodyPr>
          <a:lstStyle/>
          <a:p>
            <a:pPr>
              <a:lnSpc>
                <a:spcPct val="100000"/>
              </a:lnSpc>
            </a:pPr>
            <a:r>
              <a:rPr lang="en-US" altLang="zh-CN" sz="2000" dirty="0"/>
              <a:t>Let      be an </a:t>
            </a:r>
            <a:r>
              <a:rPr lang="en-US" altLang="zh-CN" sz="2000" i="1" dirty="0"/>
              <a:t>alphabet</a:t>
            </a:r>
            <a:r>
              <a:rPr lang="zh-CN" altLang="en-US" sz="2000" i="1" dirty="0"/>
              <a:t>，</a:t>
            </a:r>
            <a:r>
              <a:rPr lang="en-US" altLang="zh-CN" sz="2000" dirty="0"/>
              <a:t>where each element is called a </a:t>
            </a:r>
            <a:r>
              <a:rPr lang="en-US" altLang="zh-CN" sz="2000" i="1" dirty="0">
                <a:solidFill>
                  <a:srgbClr val="FF0000"/>
                </a:solidFill>
              </a:rPr>
              <a:t>symbol</a:t>
            </a:r>
            <a:r>
              <a:rPr lang="en-US" altLang="zh-CN" sz="2000" dirty="0"/>
              <a:t>. A </a:t>
            </a:r>
            <a:r>
              <a:rPr lang="en-US" altLang="zh-CN" sz="2000" i="1" dirty="0">
                <a:solidFill>
                  <a:srgbClr val="FF0000"/>
                </a:solidFill>
              </a:rPr>
              <a:t>string</a:t>
            </a:r>
            <a:r>
              <a:rPr lang="en-US" altLang="zh-CN" sz="2000" dirty="0"/>
              <a:t> on      is a finite sequence which is composed of symbols in     . The string that contains NO symbol is called an </a:t>
            </a:r>
            <a:r>
              <a:rPr lang="el-GR" altLang="zh-CN" sz="2000" i="1" dirty="0">
                <a:solidFill>
                  <a:srgbClr val="FF0000"/>
                </a:solidFill>
              </a:rPr>
              <a:t>ε</a:t>
            </a:r>
            <a:r>
              <a:rPr lang="en-US" altLang="zh-CN" sz="2000" i="1" dirty="0"/>
              <a:t>-string (or  </a:t>
            </a:r>
            <a:r>
              <a:rPr lang="el-GR" altLang="zh-CN" sz="2000" i="1" dirty="0">
                <a:solidFill>
                  <a:srgbClr val="FF0000"/>
                </a:solidFill>
              </a:rPr>
              <a:t>ε</a:t>
            </a:r>
            <a:r>
              <a:rPr lang="en-US" altLang="zh-CN" sz="2000" i="1" dirty="0"/>
              <a:t>). </a:t>
            </a:r>
          </a:p>
          <a:p>
            <a:pPr>
              <a:lnSpc>
                <a:spcPct val="100000"/>
              </a:lnSpc>
            </a:pPr>
            <a:r>
              <a:rPr lang="en-US" altLang="zh-CN" sz="2000" dirty="0"/>
              <a:t>Let        be the full set of all strings on     , including </a:t>
            </a:r>
            <a:r>
              <a:rPr lang="el-GR" altLang="zh-CN" sz="2000" i="1" dirty="0">
                <a:solidFill>
                  <a:srgbClr val="FF0000"/>
                </a:solidFill>
              </a:rPr>
              <a:t>ε</a:t>
            </a:r>
            <a:r>
              <a:rPr lang="en-US" altLang="zh-CN" sz="2000" i="1" dirty="0"/>
              <a:t> .</a:t>
            </a:r>
            <a:endParaRPr lang="en-US" altLang="zh-CN" sz="1700" dirty="0"/>
          </a:p>
          <a:p>
            <a:pPr>
              <a:lnSpc>
                <a:spcPct val="100000"/>
              </a:lnSpc>
            </a:pPr>
            <a:r>
              <a:rPr lang="en-US" altLang="zh-CN" sz="2000" dirty="0"/>
              <a:t>Let </a:t>
            </a:r>
            <a:r>
              <a:rPr lang="el-GR" altLang="zh-CN" sz="2000" i="1" dirty="0"/>
              <a:t>φ</a:t>
            </a:r>
            <a:r>
              <a:rPr lang="en-US" altLang="zh-CN" sz="2000" dirty="0"/>
              <a:t> be an </a:t>
            </a:r>
            <a:r>
              <a:rPr lang="en-US" altLang="zh-CN" sz="2000" i="1" dirty="0">
                <a:solidFill>
                  <a:srgbClr val="FF0000"/>
                </a:solidFill>
              </a:rPr>
              <a:t>empty set </a:t>
            </a:r>
            <a:r>
              <a:rPr lang="en-US" altLang="zh-CN" sz="2000" dirty="0"/>
              <a:t>{}.</a:t>
            </a:r>
          </a:p>
          <a:p>
            <a:endParaRPr lang="en-US" altLang="zh-CN" dirty="0"/>
          </a:p>
          <a:p>
            <a:r>
              <a:rPr lang="en-US" altLang="zh-CN" sz="2000" dirty="0"/>
              <a:t>Concatenation of U and V is defined as </a:t>
            </a:r>
          </a:p>
          <a:p>
            <a:endParaRPr lang="en-US" altLang="zh-CN" dirty="0"/>
          </a:p>
          <a:p>
            <a:r>
              <a:rPr lang="en-US" altLang="zh-CN" sz="2000" dirty="0"/>
              <a:t>Self-concatenation:                             , </a:t>
            </a:r>
          </a:p>
          <a:p>
            <a:endParaRPr lang="en-US" altLang="zh-CN" sz="2000" dirty="0"/>
          </a:p>
          <a:p>
            <a:r>
              <a:rPr lang="en-US" altLang="zh-CN" sz="2000" dirty="0"/>
              <a:t>The </a:t>
            </a:r>
            <a:r>
              <a:rPr lang="en-US" altLang="zh-CN" sz="2000" i="1" dirty="0"/>
              <a:t>closure</a:t>
            </a:r>
            <a:r>
              <a:rPr lang="en-US" altLang="zh-CN" sz="2000" dirty="0"/>
              <a:t> of V is denoted by</a:t>
            </a:r>
          </a:p>
          <a:p>
            <a:r>
              <a:rPr lang="en-US" altLang="zh-CN" sz="2000" dirty="0"/>
              <a:t> The regular closure: </a:t>
            </a:r>
            <a:endParaRPr lang="zh-CN" altLang="en-US" sz="2000" dirty="0"/>
          </a:p>
        </p:txBody>
      </p:sp>
      <p:graphicFrame>
        <p:nvGraphicFramePr>
          <p:cNvPr id="5" name="对象 4"/>
          <p:cNvGraphicFramePr>
            <a:graphicFrameLocks noChangeAspect="1"/>
          </p:cNvGraphicFramePr>
          <p:nvPr>
            <p:extLst>
              <p:ext uri="{D42A27DB-BD31-4B8C-83A1-F6EECF244321}">
                <p14:modId xmlns:p14="http://schemas.microsoft.com/office/powerpoint/2010/main" val="1073615877"/>
              </p:ext>
            </p:extLst>
          </p:nvPr>
        </p:nvGraphicFramePr>
        <p:xfrm>
          <a:off x="1424774" y="1550299"/>
          <a:ext cx="400050" cy="436418"/>
        </p:xfrm>
        <a:graphic>
          <a:graphicData uri="http://schemas.openxmlformats.org/presentationml/2006/ole">
            <mc:AlternateContent xmlns:mc="http://schemas.openxmlformats.org/markup-compatibility/2006">
              <mc:Choice xmlns:v="urn:schemas-microsoft-com:vml" Requires="v">
                <p:oleObj spid="_x0000_s2742" name="Equation" r:id="rId3" imgW="139680" imgH="152280" progId="Equation.DSMT4">
                  <p:embed/>
                </p:oleObj>
              </mc:Choice>
              <mc:Fallback>
                <p:oleObj name="Equation" r:id="rId3" imgW="139680" imgH="152280" progId="Equation.DSMT4">
                  <p:embed/>
                  <p:pic>
                    <p:nvPicPr>
                      <p:cNvPr id="0" name=""/>
                      <p:cNvPicPr/>
                      <p:nvPr/>
                    </p:nvPicPr>
                    <p:blipFill>
                      <a:blip r:embed="rId4"/>
                      <a:stretch>
                        <a:fillRect/>
                      </a:stretch>
                    </p:blipFill>
                    <p:spPr>
                      <a:xfrm>
                        <a:off x="1424774" y="1550299"/>
                        <a:ext cx="400050" cy="436418"/>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708435331"/>
              </p:ext>
            </p:extLst>
          </p:nvPr>
        </p:nvGraphicFramePr>
        <p:xfrm>
          <a:off x="3414890" y="1851422"/>
          <a:ext cx="400050" cy="436418"/>
        </p:xfrm>
        <a:graphic>
          <a:graphicData uri="http://schemas.openxmlformats.org/presentationml/2006/ole">
            <mc:AlternateContent xmlns:mc="http://schemas.openxmlformats.org/markup-compatibility/2006">
              <mc:Choice xmlns:v="urn:schemas-microsoft-com:vml" Requires="v">
                <p:oleObj spid="_x0000_s2743" name="Equation" r:id="rId5" imgW="139680" imgH="152280" progId="Equation.DSMT4">
                  <p:embed/>
                </p:oleObj>
              </mc:Choice>
              <mc:Fallback>
                <p:oleObj name="Equation" r:id="rId5" imgW="139680" imgH="152280" progId="Equation.DSMT4">
                  <p:embed/>
                  <p:pic>
                    <p:nvPicPr>
                      <p:cNvPr id="0" name=""/>
                      <p:cNvPicPr/>
                      <p:nvPr/>
                    </p:nvPicPr>
                    <p:blipFill>
                      <a:blip r:embed="rId6"/>
                      <a:stretch>
                        <a:fillRect/>
                      </a:stretch>
                    </p:blipFill>
                    <p:spPr>
                      <a:xfrm>
                        <a:off x="3414890" y="1851422"/>
                        <a:ext cx="400050" cy="436418"/>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136498054"/>
              </p:ext>
            </p:extLst>
          </p:nvPr>
        </p:nvGraphicFramePr>
        <p:xfrm>
          <a:off x="3935044" y="2128791"/>
          <a:ext cx="400050" cy="426800"/>
        </p:xfrm>
        <a:graphic>
          <a:graphicData uri="http://schemas.openxmlformats.org/presentationml/2006/ole">
            <mc:AlternateContent xmlns:mc="http://schemas.openxmlformats.org/markup-compatibility/2006">
              <mc:Choice xmlns:v="urn:schemas-microsoft-com:vml" Requires="v">
                <p:oleObj spid="_x0000_s2744" name="Equation" r:id="rId7" imgW="139680" imgH="152280" progId="Equation.DSMT4">
                  <p:embed/>
                </p:oleObj>
              </mc:Choice>
              <mc:Fallback>
                <p:oleObj name="Equation" r:id="rId7" imgW="139680" imgH="152280" progId="Equation.DSMT4">
                  <p:embed/>
                  <p:pic>
                    <p:nvPicPr>
                      <p:cNvPr id="0" name=""/>
                      <p:cNvPicPr/>
                      <p:nvPr/>
                    </p:nvPicPr>
                    <p:blipFill>
                      <a:blip r:embed="rId6"/>
                      <a:stretch>
                        <a:fillRect/>
                      </a:stretch>
                    </p:blipFill>
                    <p:spPr>
                      <a:xfrm>
                        <a:off x="3935044" y="2128791"/>
                        <a:ext cx="400050" cy="426800"/>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714729011"/>
              </p:ext>
            </p:extLst>
          </p:nvPr>
        </p:nvGraphicFramePr>
        <p:xfrm>
          <a:off x="1334287" y="2809652"/>
          <a:ext cx="581025" cy="473075"/>
        </p:xfrm>
        <a:graphic>
          <a:graphicData uri="http://schemas.openxmlformats.org/presentationml/2006/ole">
            <mc:AlternateContent xmlns:mc="http://schemas.openxmlformats.org/markup-compatibility/2006">
              <mc:Choice xmlns:v="urn:schemas-microsoft-com:vml" Requires="v">
                <p:oleObj spid="_x0000_s2745" name="Equation" r:id="rId8" imgW="203040" imgH="164880" progId="Equation.DSMT4">
                  <p:embed/>
                </p:oleObj>
              </mc:Choice>
              <mc:Fallback>
                <p:oleObj name="Equation" r:id="rId8" imgW="203040" imgH="164880" progId="Equation.DSMT4">
                  <p:embed/>
                  <p:pic>
                    <p:nvPicPr>
                      <p:cNvPr id="0" name=""/>
                      <p:cNvPicPr/>
                      <p:nvPr/>
                    </p:nvPicPr>
                    <p:blipFill>
                      <a:blip r:embed="rId9"/>
                      <a:stretch>
                        <a:fillRect/>
                      </a:stretch>
                    </p:blipFill>
                    <p:spPr>
                      <a:xfrm>
                        <a:off x="1334287" y="2809652"/>
                        <a:ext cx="581025" cy="473075"/>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4129095481"/>
              </p:ext>
            </p:extLst>
          </p:nvPr>
        </p:nvGraphicFramePr>
        <p:xfrm>
          <a:off x="5587273" y="2846309"/>
          <a:ext cx="400050" cy="436418"/>
        </p:xfrm>
        <a:graphic>
          <a:graphicData uri="http://schemas.openxmlformats.org/presentationml/2006/ole">
            <mc:AlternateContent xmlns:mc="http://schemas.openxmlformats.org/markup-compatibility/2006">
              <mc:Choice xmlns:v="urn:schemas-microsoft-com:vml" Requires="v">
                <p:oleObj spid="_x0000_s2746" name="Equation" r:id="rId10" imgW="139680" imgH="152280" progId="Equation.DSMT4">
                  <p:embed/>
                </p:oleObj>
              </mc:Choice>
              <mc:Fallback>
                <p:oleObj name="Equation" r:id="rId10" imgW="139680" imgH="152280" progId="Equation.DSMT4">
                  <p:embed/>
                  <p:pic>
                    <p:nvPicPr>
                      <p:cNvPr id="0" name=""/>
                      <p:cNvPicPr/>
                      <p:nvPr/>
                    </p:nvPicPr>
                    <p:blipFill>
                      <a:blip r:embed="rId11"/>
                      <a:stretch>
                        <a:fillRect/>
                      </a:stretch>
                    </p:blipFill>
                    <p:spPr>
                      <a:xfrm>
                        <a:off x="5587273" y="2846309"/>
                        <a:ext cx="400050" cy="43641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80353585"/>
              </p:ext>
            </p:extLst>
          </p:nvPr>
        </p:nvGraphicFramePr>
        <p:xfrm>
          <a:off x="2668705" y="4488511"/>
          <a:ext cx="3642119" cy="441469"/>
        </p:xfrm>
        <a:graphic>
          <a:graphicData uri="http://schemas.openxmlformats.org/presentationml/2006/ole">
            <mc:AlternateContent xmlns:mc="http://schemas.openxmlformats.org/markup-compatibility/2006">
              <mc:Choice xmlns:v="urn:schemas-microsoft-com:vml" Requires="v">
                <p:oleObj spid="_x0000_s2747" name="Equation" r:id="rId12" imgW="1676160" imgH="203040" progId="Equation.DSMT4">
                  <p:embed/>
                </p:oleObj>
              </mc:Choice>
              <mc:Fallback>
                <p:oleObj name="Equation" r:id="rId12" imgW="1676160" imgH="203040" progId="Equation.DSMT4">
                  <p:embed/>
                  <p:pic>
                    <p:nvPicPr>
                      <p:cNvPr id="0" name=""/>
                      <p:cNvPicPr/>
                      <p:nvPr/>
                    </p:nvPicPr>
                    <p:blipFill>
                      <a:blip r:embed="rId13"/>
                      <a:stretch>
                        <a:fillRect/>
                      </a:stretch>
                    </p:blipFill>
                    <p:spPr>
                      <a:xfrm>
                        <a:off x="2668705" y="4488511"/>
                        <a:ext cx="3642119" cy="441469"/>
                      </a:xfrm>
                      <a:prstGeom prst="rect">
                        <a:avLst/>
                      </a:prstGeom>
                    </p:spPr>
                  </p:pic>
                </p:oleObj>
              </mc:Fallback>
            </mc:AlternateContent>
          </a:graphicData>
        </a:graphic>
      </p:graphicFrame>
      <p:graphicFrame>
        <p:nvGraphicFramePr>
          <p:cNvPr id="23" name="对象 22"/>
          <p:cNvGraphicFramePr>
            <a:graphicFrameLocks noChangeAspect="1"/>
          </p:cNvGraphicFramePr>
          <p:nvPr>
            <p:extLst>
              <p:ext uri="{D42A27DB-BD31-4B8C-83A1-F6EECF244321}">
                <p14:modId xmlns:p14="http://schemas.microsoft.com/office/powerpoint/2010/main" val="1990406844"/>
              </p:ext>
            </p:extLst>
          </p:nvPr>
        </p:nvGraphicFramePr>
        <p:xfrm>
          <a:off x="3547402" y="4911586"/>
          <a:ext cx="1849438" cy="854075"/>
        </p:xfrm>
        <a:graphic>
          <a:graphicData uri="http://schemas.openxmlformats.org/presentationml/2006/ole">
            <mc:AlternateContent xmlns:mc="http://schemas.openxmlformats.org/markup-compatibility/2006">
              <mc:Choice xmlns:v="urn:schemas-microsoft-com:vml" Requires="v">
                <p:oleObj spid="_x0000_s2748" name="Equation" r:id="rId14" imgW="850680" imgH="393480" progId="Equation.DSMT4">
                  <p:embed/>
                </p:oleObj>
              </mc:Choice>
              <mc:Fallback>
                <p:oleObj name="Equation" r:id="rId14" imgW="850680" imgH="393480" progId="Equation.DSMT4">
                  <p:embed/>
                  <p:pic>
                    <p:nvPicPr>
                      <p:cNvPr id="0" name=""/>
                      <p:cNvPicPr/>
                      <p:nvPr/>
                    </p:nvPicPr>
                    <p:blipFill>
                      <a:blip r:embed="rId15"/>
                      <a:stretch>
                        <a:fillRect/>
                      </a:stretch>
                    </p:blipFill>
                    <p:spPr>
                      <a:xfrm>
                        <a:off x="3547402" y="4911586"/>
                        <a:ext cx="1849438" cy="854075"/>
                      </a:xfrm>
                      <a:prstGeom prst="rect">
                        <a:avLst/>
                      </a:prstGeom>
                    </p:spPr>
                  </p:pic>
                </p:oleObj>
              </mc:Fallback>
            </mc:AlternateContent>
          </a:graphicData>
        </a:graphic>
      </p:graphicFrame>
      <p:graphicFrame>
        <p:nvGraphicFramePr>
          <p:cNvPr id="24" name="对象 23"/>
          <p:cNvGraphicFramePr>
            <a:graphicFrameLocks noChangeAspect="1"/>
          </p:cNvGraphicFramePr>
          <p:nvPr>
            <p:extLst>
              <p:ext uri="{D42A27DB-BD31-4B8C-83A1-F6EECF244321}">
                <p14:modId xmlns:p14="http://schemas.microsoft.com/office/powerpoint/2010/main" val="2045828117"/>
              </p:ext>
            </p:extLst>
          </p:nvPr>
        </p:nvGraphicFramePr>
        <p:xfrm>
          <a:off x="5787298" y="4922910"/>
          <a:ext cx="1212850" cy="496887"/>
        </p:xfrm>
        <a:graphic>
          <a:graphicData uri="http://schemas.openxmlformats.org/presentationml/2006/ole">
            <mc:AlternateContent xmlns:mc="http://schemas.openxmlformats.org/markup-compatibility/2006">
              <mc:Choice xmlns:v="urn:schemas-microsoft-com:vml" Requires="v">
                <p:oleObj spid="_x0000_s2749" name="Equation" r:id="rId16" imgW="558720" imgH="228600" progId="Equation.DSMT4">
                  <p:embed/>
                </p:oleObj>
              </mc:Choice>
              <mc:Fallback>
                <p:oleObj name="Equation" r:id="rId16" imgW="558720" imgH="228600" progId="Equation.DSMT4">
                  <p:embed/>
                  <p:pic>
                    <p:nvPicPr>
                      <p:cNvPr id="0" name=""/>
                      <p:cNvPicPr/>
                      <p:nvPr/>
                    </p:nvPicPr>
                    <p:blipFill>
                      <a:blip r:embed="rId17"/>
                      <a:stretch>
                        <a:fillRect/>
                      </a:stretch>
                    </p:blipFill>
                    <p:spPr>
                      <a:xfrm>
                        <a:off x="5787298" y="4922910"/>
                        <a:ext cx="1212850" cy="496887"/>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968229878"/>
              </p:ext>
            </p:extLst>
          </p:nvPr>
        </p:nvGraphicFramePr>
        <p:xfrm>
          <a:off x="4951379" y="5661205"/>
          <a:ext cx="3559175" cy="441325"/>
        </p:xfrm>
        <a:graphic>
          <a:graphicData uri="http://schemas.openxmlformats.org/presentationml/2006/ole">
            <mc:AlternateContent xmlns:mc="http://schemas.openxmlformats.org/markup-compatibility/2006">
              <mc:Choice xmlns:v="urn:schemas-microsoft-com:vml" Requires="v">
                <p:oleObj spid="_x0000_s2750" name="Equation" r:id="rId18" imgW="1638000" imgH="203040" progId="Equation.DSMT4">
                  <p:embed/>
                </p:oleObj>
              </mc:Choice>
              <mc:Fallback>
                <p:oleObj name="Equation" r:id="rId18" imgW="1638000" imgH="203040" progId="Equation.DSMT4">
                  <p:embed/>
                  <p:pic>
                    <p:nvPicPr>
                      <p:cNvPr id="0" name=""/>
                      <p:cNvPicPr/>
                      <p:nvPr/>
                    </p:nvPicPr>
                    <p:blipFill>
                      <a:blip r:embed="rId19"/>
                      <a:stretch>
                        <a:fillRect/>
                      </a:stretch>
                    </p:blipFill>
                    <p:spPr>
                      <a:xfrm>
                        <a:off x="4951379" y="5661205"/>
                        <a:ext cx="3559175" cy="441325"/>
                      </a:xfrm>
                      <a:prstGeom prst="rect">
                        <a:avLst/>
                      </a:prstGeom>
                    </p:spPr>
                  </p:pic>
                </p:oleObj>
              </mc:Fallback>
            </mc:AlternateContent>
          </a:graphicData>
        </a:graphic>
      </p:graphicFrame>
      <p:graphicFrame>
        <p:nvGraphicFramePr>
          <p:cNvPr id="26" name="对象 25"/>
          <p:cNvGraphicFramePr>
            <a:graphicFrameLocks noChangeAspect="1"/>
          </p:cNvGraphicFramePr>
          <p:nvPr>
            <p:extLst>
              <p:ext uri="{D42A27DB-BD31-4B8C-83A1-F6EECF244321}">
                <p14:modId xmlns:p14="http://schemas.microsoft.com/office/powerpoint/2010/main" val="137651522"/>
              </p:ext>
            </p:extLst>
          </p:nvPr>
        </p:nvGraphicFramePr>
        <p:xfrm>
          <a:off x="3627404" y="6088242"/>
          <a:ext cx="1323975" cy="441325"/>
        </p:xfrm>
        <a:graphic>
          <a:graphicData uri="http://schemas.openxmlformats.org/presentationml/2006/ole">
            <mc:AlternateContent xmlns:mc="http://schemas.openxmlformats.org/markup-compatibility/2006">
              <mc:Choice xmlns:v="urn:schemas-microsoft-com:vml" Requires="v">
                <p:oleObj spid="_x0000_s2751" name="Equation" r:id="rId20" imgW="609480" imgH="203040" progId="Equation.DSMT4">
                  <p:embed/>
                </p:oleObj>
              </mc:Choice>
              <mc:Fallback>
                <p:oleObj name="Equation" r:id="rId20" imgW="609480" imgH="203040" progId="Equation.DSMT4">
                  <p:embed/>
                  <p:pic>
                    <p:nvPicPr>
                      <p:cNvPr id="0" name=""/>
                      <p:cNvPicPr/>
                      <p:nvPr/>
                    </p:nvPicPr>
                    <p:blipFill>
                      <a:blip r:embed="rId21"/>
                      <a:stretch>
                        <a:fillRect/>
                      </a:stretch>
                    </p:blipFill>
                    <p:spPr>
                      <a:xfrm>
                        <a:off x="3627404" y="6088242"/>
                        <a:ext cx="1323975" cy="441325"/>
                      </a:xfrm>
                      <a:prstGeom prst="rect">
                        <a:avLst/>
                      </a:prstGeom>
                    </p:spPr>
                  </p:pic>
                </p:oleObj>
              </mc:Fallback>
            </mc:AlternateContent>
          </a:graphicData>
        </a:graphic>
      </p:graphicFrame>
    </p:spTree>
    <p:extLst>
      <p:ext uri="{BB962C8B-B14F-4D97-AF65-F5344CB8AC3E}">
        <p14:creationId xmlns:p14="http://schemas.microsoft.com/office/powerpoint/2010/main" val="3751904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a:t>
            </a:r>
            <a:endParaRPr lang="zh-CN" altLang="en-US" dirty="0"/>
          </a:p>
        </p:txBody>
      </p:sp>
      <p:sp>
        <p:nvSpPr>
          <p:cNvPr id="3" name="内容占位符 2"/>
          <p:cNvSpPr>
            <a:spLocks noGrp="1"/>
          </p:cNvSpPr>
          <p:nvPr>
            <p:ph idx="1"/>
          </p:nvPr>
        </p:nvSpPr>
        <p:spPr/>
        <p:txBody>
          <a:bodyPr>
            <a:normAutofit lnSpcReduction="10000"/>
          </a:bodyPr>
          <a:lstStyle/>
          <a:p>
            <a:r>
              <a:rPr lang="en-US" altLang="zh-CN" sz="2000" dirty="0"/>
              <a:t>A </a:t>
            </a:r>
            <a:r>
              <a:rPr lang="en-US" altLang="zh-CN" sz="2000" i="1" dirty="0">
                <a:solidFill>
                  <a:srgbClr val="FF0000"/>
                </a:solidFill>
              </a:rPr>
              <a:t>grammar</a:t>
            </a:r>
            <a:r>
              <a:rPr lang="en-US" altLang="zh-CN" sz="2000" dirty="0">
                <a:solidFill>
                  <a:srgbClr val="FF0000"/>
                </a:solidFill>
              </a:rPr>
              <a:t> </a:t>
            </a:r>
            <a:r>
              <a:rPr lang="en-US" altLang="zh-CN" sz="2000" dirty="0"/>
              <a:t>is a set of </a:t>
            </a:r>
            <a:r>
              <a:rPr lang="en-US" altLang="zh-CN" sz="2000" i="1" dirty="0">
                <a:solidFill>
                  <a:srgbClr val="FF0000"/>
                </a:solidFill>
              </a:rPr>
              <a:t>formal regulations </a:t>
            </a:r>
            <a:r>
              <a:rPr lang="en-US" altLang="zh-CN" sz="2000" dirty="0"/>
              <a:t>that describes the syntax structures of a language.</a:t>
            </a:r>
          </a:p>
          <a:p>
            <a:r>
              <a:rPr lang="en-US" altLang="zh-CN" sz="2000" dirty="0"/>
              <a:t>A </a:t>
            </a:r>
            <a:r>
              <a:rPr lang="en-US" altLang="zh-CN" sz="2000" i="1" dirty="0">
                <a:solidFill>
                  <a:srgbClr val="FF0000"/>
                </a:solidFill>
              </a:rPr>
              <a:t>context-free </a:t>
            </a:r>
            <a:r>
              <a:rPr lang="en-US" altLang="zh-CN" sz="2000" dirty="0"/>
              <a:t>grammar has four components</a:t>
            </a:r>
          </a:p>
          <a:p>
            <a:pPr lvl="1"/>
            <a:r>
              <a:rPr lang="en-US" altLang="zh-CN" sz="1700" dirty="0"/>
              <a:t>(1) A set of terminal symbols, sometimes referred to as "tokens." The </a:t>
            </a:r>
            <a:r>
              <a:rPr lang="en-US" altLang="zh-CN" sz="1700" b="1" dirty="0">
                <a:solidFill>
                  <a:srgbClr val="7030A0"/>
                </a:solidFill>
              </a:rPr>
              <a:t>terminals</a:t>
            </a:r>
            <a:r>
              <a:rPr lang="en-US" altLang="zh-CN" sz="1700" dirty="0"/>
              <a:t> are the elementary symbols of the language defined by the grammar.</a:t>
            </a:r>
          </a:p>
          <a:p>
            <a:pPr lvl="1"/>
            <a:r>
              <a:rPr lang="en-US" altLang="zh-CN" sz="1700" dirty="0"/>
              <a:t>(2) A set of </a:t>
            </a:r>
            <a:r>
              <a:rPr lang="en-US" altLang="zh-CN" sz="1700" b="1" dirty="0" err="1">
                <a:solidFill>
                  <a:srgbClr val="7030A0"/>
                </a:solidFill>
              </a:rPr>
              <a:t>nonterminals</a:t>
            </a:r>
            <a:r>
              <a:rPr lang="en-US" altLang="zh-CN" sz="1700" dirty="0"/>
              <a:t>, sometimes called "syntactic variables." Each nonterminal represents </a:t>
            </a:r>
            <a:r>
              <a:rPr lang="en-US" altLang="zh-CN" sz="1700" i="1" dirty="0">
                <a:solidFill>
                  <a:srgbClr val="FF0000"/>
                </a:solidFill>
              </a:rPr>
              <a:t>a set of strings of terminals</a:t>
            </a:r>
            <a:r>
              <a:rPr lang="en-US" altLang="zh-CN" sz="1700" dirty="0"/>
              <a:t>.</a:t>
            </a:r>
          </a:p>
          <a:p>
            <a:pPr lvl="1"/>
            <a:r>
              <a:rPr lang="en-US" altLang="zh-CN" sz="1700" dirty="0"/>
              <a:t>(3) A set of productions, where each production consists of a nonterminal, called the </a:t>
            </a:r>
            <a:r>
              <a:rPr lang="en-US" altLang="zh-CN" sz="1700" i="1" dirty="0"/>
              <a:t>head</a:t>
            </a:r>
            <a:r>
              <a:rPr lang="en-US" altLang="zh-CN" sz="1700" dirty="0"/>
              <a:t> or </a:t>
            </a:r>
            <a:r>
              <a:rPr lang="en-US" altLang="zh-CN" sz="1700" i="1" dirty="0"/>
              <a:t>left</a:t>
            </a:r>
            <a:r>
              <a:rPr lang="en-US" altLang="zh-CN" sz="1700" dirty="0"/>
              <a:t> </a:t>
            </a:r>
            <a:r>
              <a:rPr lang="en-US" altLang="zh-CN" sz="1700" i="1" dirty="0"/>
              <a:t>side</a:t>
            </a:r>
            <a:r>
              <a:rPr lang="en-US" altLang="zh-CN" sz="1700" dirty="0"/>
              <a:t> of the production, an arrow, and a sequence of terminals and/or </a:t>
            </a:r>
            <a:r>
              <a:rPr lang="en-US" altLang="zh-CN" sz="1700" dirty="0" err="1"/>
              <a:t>nonterminals</a:t>
            </a:r>
            <a:r>
              <a:rPr lang="en-US" altLang="zh-CN" sz="1700" dirty="0"/>
              <a:t> , called the </a:t>
            </a:r>
            <a:r>
              <a:rPr lang="en-US" altLang="zh-CN" sz="1700" i="1" dirty="0"/>
              <a:t>body</a:t>
            </a:r>
            <a:r>
              <a:rPr lang="en-US" altLang="zh-CN" sz="1700" dirty="0"/>
              <a:t> or </a:t>
            </a:r>
            <a:r>
              <a:rPr lang="en-US" altLang="zh-CN" sz="1700" i="1" dirty="0"/>
              <a:t>right</a:t>
            </a:r>
            <a:r>
              <a:rPr lang="en-US" altLang="zh-CN" sz="1700" dirty="0"/>
              <a:t> side of the production. The intuitive intent of a production is to specify one of the written forms of a construct; if the head nonterminal represents a construct, then the body represents a written form of the construct .</a:t>
            </a:r>
          </a:p>
          <a:p>
            <a:pPr lvl="1"/>
            <a:endParaRPr lang="en-US" altLang="zh-CN" sz="1700" dirty="0"/>
          </a:p>
          <a:p>
            <a:pPr lvl="1"/>
            <a:r>
              <a:rPr lang="en-US" altLang="zh-CN" sz="1700" dirty="0"/>
              <a:t>(4) A designation of one of the </a:t>
            </a:r>
            <a:r>
              <a:rPr lang="en-US" altLang="zh-CN" sz="1700" dirty="0" err="1"/>
              <a:t>nonterminals</a:t>
            </a:r>
            <a:r>
              <a:rPr lang="en-US" altLang="zh-CN" sz="1700" dirty="0"/>
              <a:t> as the </a:t>
            </a:r>
            <a:r>
              <a:rPr lang="en-US" altLang="zh-CN" sz="1700" i="1" dirty="0">
                <a:solidFill>
                  <a:srgbClr val="7030A0"/>
                </a:solidFill>
              </a:rPr>
              <a:t>start</a:t>
            </a:r>
            <a:r>
              <a:rPr lang="en-US" altLang="zh-CN" sz="1700" dirty="0">
                <a:solidFill>
                  <a:srgbClr val="7030A0"/>
                </a:solidFill>
              </a:rPr>
              <a:t> </a:t>
            </a:r>
            <a:r>
              <a:rPr lang="en-US" altLang="zh-CN" sz="1700" dirty="0"/>
              <a:t>symbol</a:t>
            </a:r>
            <a:endParaRPr lang="zh-CN" altLang="en-US" sz="1700" dirty="0"/>
          </a:p>
        </p:txBody>
      </p:sp>
      <p:graphicFrame>
        <p:nvGraphicFramePr>
          <p:cNvPr id="4" name="对象 3"/>
          <p:cNvGraphicFramePr>
            <a:graphicFrameLocks noChangeAspect="1"/>
          </p:cNvGraphicFramePr>
          <p:nvPr>
            <p:extLst>
              <p:ext uri="{D42A27DB-BD31-4B8C-83A1-F6EECF244321}">
                <p14:modId xmlns:p14="http://schemas.microsoft.com/office/powerpoint/2010/main" val="1071593705"/>
              </p:ext>
            </p:extLst>
          </p:nvPr>
        </p:nvGraphicFramePr>
        <p:xfrm>
          <a:off x="1961286" y="5220947"/>
          <a:ext cx="4751242" cy="300235"/>
        </p:xfrm>
        <a:graphic>
          <a:graphicData uri="http://schemas.openxmlformats.org/presentationml/2006/ole">
            <mc:AlternateContent xmlns:mc="http://schemas.openxmlformats.org/markup-compatibility/2006">
              <mc:Choice xmlns:v="urn:schemas-microsoft-com:vml" Requires="v">
                <p:oleObj spid="_x0000_s3130" name="Equation" r:id="rId3" imgW="3022560" imgH="190440" progId="Equation.DSMT4">
                  <p:embed/>
                </p:oleObj>
              </mc:Choice>
              <mc:Fallback>
                <p:oleObj name="Equation" r:id="rId3" imgW="3022560" imgH="190440" progId="Equation.DSMT4">
                  <p:embed/>
                  <p:pic>
                    <p:nvPicPr>
                      <p:cNvPr id="0" name=""/>
                      <p:cNvPicPr/>
                      <p:nvPr/>
                    </p:nvPicPr>
                    <p:blipFill>
                      <a:blip r:embed="rId4"/>
                      <a:stretch>
                        <a:fillRect/>
                      </a:stretch>
                    </p:blipFill>
                    <p:spPr>
                      <a:xfrm>
                        <a:off x="1961286" y="5220947"/>
                        <a:ext cx="4751242" cy="300235"/>
                      </a:xfrm>
                      <a:prstGeom prst="rect">
                        <a:avLst/>
                      </a:prstGeom>
                    </p:spPr>
                  </p:pic>
                </p:oleObj>
              </mc:Fallback>
            </mc:AlternateContent>
          </a:graphicData>
        </a:graphic>
      </p:graphicFrame>
    </p:spTree>
    <p:extLst>
      <p:ext uri="{BB962C8B-B14F-4D97-AF65-F5344CB8AC3E}">
        <p14:creationId xmlns:p14="http://schemas.microsoft.com/office/powerpoint/2010/main" val="257379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Formal Definition</a:t>
            </a:r>
            <a:endParaRPr lang="zh-CN" altLang="en-US" dirty="0"/>
          </a:p>
        </p:txBody>
      </p:sp>
      <p:sp>
        <p:nvSpPr>
          <p:cNvPr id="3" name="内容占位符 2"/>
          <p:cNvSpPr>
            <a:spLocks noGrp="1"/>
          </p:cNvSpPr>
          <p:nvPr>
            <p:ph idx="1"/>
          </p:nvPr>
        </p:nvSpPr>
        <p:spPr>
          <a:xfrm>
            <a:off x="828675" y="1600200"/>
            <a:ext cx="7486650" cy="2576945"/>
          </a:xfrm>
        </p:spPr>
        <p:txBody>
          <a:bodyPr>
            <a:normAutofit/>
          </a:bodyPr>
          <a:lstStyle/>
          <a:p>
            <a:r>
              <a:rPr lang="en-US" altLang="zh-CN" sz="2000" dirty="0"/>
              <a:t>The context-free grammar G is a 4-tuple</a:t>
            </a:r>
          </a:p>
          <a:p>
            <a:pPr lvl="1"/>
            <a:r>
              <a:rPr lang="en-US" altLang="zh-CN" sz="1700" i="1" dirty="0"/>
              <a:t>V</a:t>
            </a:r>
            <a:r>
              <a:rPr lang="en-US" altLang="zh-CN" sz="1700" i="1" baseline="-25000" dirty="0"/>
              <a:t>T </a:t>
            </a:r>
            <a:r>
              <a:rPr lang="en-US" altLang="zh-CN" sz="1700" dirty="0"/>
              <a:t>is a non-empty finite set, where each element is a terminal.</a:t>
            </a:r>
          </a:p>
          <a:p>
            <a:pPr lvl="1"/>
            <a:r>
              <a:rPr lang="en-US" altLang="zh-CN" sz="1700" i="1" dirty="0"/>
              <a:t>V</a:t>
            </a:r>
            <a:r>
              <a:rPr lang="en-US" altLang="zh-CN" sz="1700" i="1" baseline="-25000" dirty="0"/>
              <a:t>N </a:t>
            </a:r>
            <a:r>
              <a:rPr lang="en-US" altLang="zh-CN" sz="1700" dirty="0"/>
              <a:t>is a non-empty finite set, where each element is a nonterminal,</a:t>
            </a:r>
          </a:p>
          <a:p>
            <a:pPr lvl="1"/>
            <a:endParaRPr lang="en-US" altLang="zh-CN" sz="1700" baseline="-25000" dirty="0"/>
          </a:p>
          <a:p>
            <a:pPr lvl="1"/>
            <a:r>
              <a:rPr lang="en-US" altLang="zh-CN" sz="1700" i="1" dirty="0"/>
              <a:t>S</a:t>
            </a:r>
            <a:r>
              <a:rPr lang="en-US" altLang="zh-CN" sz="1700" dirty="0"/>
              <a:t> is a nonterminal, called start symbol</a:t>
            </a:r>
          </a:p>
          <a:p>
            <a:pPr lvl="1"/>
            <a:r>
              <a:rPr lang="en-US" altLang="zh-CN" sz="1700" dirty="0"/>
              <a:t>     is as finite set of productions, where each production has the form             .                                  . </a:t>
            </a:r>
            <a:r>
              <a:rPr lang="en-US" altLang="zh-CN" sz="1700" i="1" dirty="0"/>
              <a:t>S</a:t>
            </a:r>
            <a:r>
              <a:rPr lang="en-US" altLang="zh-CN" sz="1700" dirty="0"/>
              <a:t> must appear in the left part of a production at least once. </a:t>
            </a:r>
          </a:p>
          <a:p>
            <a:pPr lvl="1"/>
            <a:endParaRPr lang="en-US" altLang="zh-CN" sz="1700" dirty="0"/>
          </a:p>
        </p:txBody>
      </p:sp>
      <p:graphicFrame>
        <p:nvGraphicFramePr>
          <p:cNvPr id="4" name="对象 3"/>
          <p:cNvGraphicFramePr>
            <a:graphicFrameLocks noChangeAspect="1"/>
          </p:cNvGraphicFramePr>
          <p:nvPr>
            <p:extLst>
              <p:ext uri="{D42A27DB-BD31-4B8C-83A1-F6EECF244321}">
                <p14:modId xmlns:p14="http://schemas.microsoft.com/office/powerpoint/2010/main" val="818328855"/>
              </p:ext>
            </p:extLst>
          </p:nvPr>
        </p:nvGraphicFramePr>
        <p:xfrm>
          <a:off x="5962651" y="1600199"/>
          <a:ext cx="1392382" cy="374073"/>
        </p:xfrm>
        <a:graphic>
          <a:graphicData uri="http://schemas.openxmlformats.org/presentationml/2006/ole">
            <mc:AlternateContent xmlns:mc="http://schemas.openxmlformats.org/markup-compatibility/2006">
              <mc:Choice xmlns:v="urn:schemas-microsoft-com:vml" Requires="v">
                <p:oleObj spid="_x0000_s4507" name="Equation" r:id="rId3" imgW="850680" imgH="228600" progId="Equation.DSMT4">
                  <p:embed/>
                </p:oleObj>
              </mc:Choice>
              <mc:Fallback>
                <p:oleObj name="Equation" r:id="rId3" imgW="850680" imgH="228600" progId="Equation.DSMT4">
                  <p:embed/>
                  <p:pic>
                    <p:nvPicPr>
                      <p:cNvPr id="0" name=""/>
                      <p:cNvPicPr/>
                      <p:nvPr/>
                    </p:nvPicPr>
                    <p:blipFill>
                      <a:blip r:embed="rId4"/>
                      <a:stretch>
                        <a:fillRect/>
                      </a:stretch>
                    </p:blipFill>
                    <p:spPr>
                      <a:xfrm>
                        <a:off x="5962651" y="1600199"/>
                        <a:ext cx="1392382" cy="37407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021932787"/>
              </p:ext>
            </p:extLst>
          </p:nvPr>
        </p:nvGraphicFramePr>
        <p:xfrm>
          <a:off x="1344901" y="3040206"/>
          <a:ext cx="292100" cy="292100"/>
        </p:xfrm>
        <a:graphic>
          <a:graphicData uri="http://schemas.openxmlformats.org/presentationml/2006/ole">
            <mc:AlternateContent xmlns:mc="http://schemas.openxmlformats.org/markup-compatibility/2006">
              <mc:Choice xmlns:v="urn:schemas-microsoft-com:vml" Requires="v">
                <p:oleObj spid="_x0000_s4508" name="Equation" r:id="rId5" imgW="177480" imgH="177480" progId="Equation.DSMT4">
                  <p:embed/>
                </p:oleObj>
              </mc:Choice>
              <mc:Fallback>
                <p:oleObj name="Equation" r:id="rId5" imgW="177480" imgH="177480" progId="Equation.DSMT4">
                  <p:embed/>
                  <p:pic>
                    <p:nvPicPr>
                      <p:cNvPr id="0" name=""/>
                      <p:cNvPicPr/>
                      <p:nvPr/>
                    </p:nvPicPr>
                    <p:blipFill>
                      <a:blip r:embed="rId6"/>
                      <a:stretch>
                        <a:fillRect/>
                      </a:stretch>
                    </p:blipFill>
                    <p:spPr>
                      <a:xfrm>
                        <a:off x="1344901" y="3040206"/>
                        <a:ext cx="292100" cy="292100"/>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612966328"/>
              </p:ext>
            </p:extLst>
          </p:nvPr>
        </p:nvGraphicFramePr>
        <p:xfrm>
          <a:off x="1966190" y="3294350"/>
          <a:ext cx="740096" cy="280123"/>
        </p:xfrm>
        <a:graphic>
          <a:graphicData uri="http://schemas.openxmlformats.org/presentationml/2006/ole">
            <mc:AlternateContent xmlns:mc="http://schemas.openxmlformats.org/markup-compatibility/2006">
              <mc:Choice xmlns:v="urn:schemas-microsoft-com:vml" Requires="v">
                <p:oleObj spid="_x0000_s4509" name="Equation" r:id="rId7" imgW="469800" imgH="177480" progId="Equation.DSMT4">
                  <p:embed/>
                </p:oleObj>
              </mc:Choice>
              <mc:Fallback>
                <p:oleObj name="Equation" r:id="rId7" imgW="469800" imgH="177480" progId="Equation.DSMT4">
                  <p:embed/>
                  <p:pic>
                    <p:nvPicPr>
                      <p:cNvPr id="0" name=""/>
                      <p:cNvPicPr/>
                      <p:nvPr/>
                    </p:nvPicPr>
                    <p:blipFill>
                      <a:blip r:embed="rId8"/>
                      <a:stretch>
                        <a:fillRect/>
                      </a:stretch>
                    </p:blipFill>
                    <p:spPr>
                      <a:xfrm>
                        <a:off x="1966190" y="3294350"/>
                        <a:ext cx="740096" cy="280123"/>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722154359"/>
              </p:ext>
            </p:extLst>
          </p:nvPr>
        </p:nvGraphicFramePr>
        <p:xfrm>
          <a:off x="2792319" y="3294350"/>
          <a:ext cx="2102963" cy="366426"/>
        </p:xfrm>
        <a:graphic>
          <a:graphicData uri="http://schemas.openxmlformats.org/presentationml/2006/ole">
            <mc:AlternateContent xmlns:mc="http://schemas.openxmlformats.org/markup-compatibility/2006">
              <mc:Choice xmlns:v="urn:schemas-microsoft-com:vml" Requires="v">
                <p:oleObj spid="_x0000_s4510" name="Equation" r:id="rId9" imgW="1384200" imgH="241200" progId="Equation.DSMT4">
                  <p:embed/>
                </p:oleObj>
              </mc:Choice>
              <mc:Fallback>
                <p:oleObj name="Equation" r:id="rId9" imgW="1384200" imgH="241200" progId="Equation.DSMT4">
                  <p:embed/>
                  <p:pic>
                    <p:nvPicPr>
                      <p:cNvPr id="0" name=""/>
                      <p:cNvPicPr/>
                      <p:nvPr/>
                    </p:nvPicPr>
                    <p:blipFill>
                      <a:blip r:embed="rId10"/>
                      <a:stretch>
                        <a:fillRect/>
                      </a:stretch>
                    </p:blipFill>
                    <p:spPr>
                      <a:xfrm>
                        <a:off x="2792319" y="3294350"/>
                        <a:ext cx="2102963" cy="366426"/>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203384996"/>
              </p:ext>
            </p:extLst>
          </p:nvPr>
        </p:nvGraphicFramePr>
        <p:xfrm>
          <a:off x="1490951" y="2479024"/>
          <a:ext cx="1081087" cy="347663"/>
        </p:xfrm>
        <a:graphic>
          <a:graphicData uri="http://schemas.openxmlformats.org/presentationml/2006/ole">
            <mc:AlternateContent xmlns:mc="http://schemas.openxmlformats.org/markup-compatibility/2006">
              <mc:Choice xmlns:v="urn:schemas-microsoft-com:vml" Requires="v">
                <p:oleObj spid="_x0000_s4511" name="Equation" r:id="rId11" imgW="711000" imgH="228600" progId="Equation.DSMT4">
                  <p:embed/>
                </p:oleObj>
              </mc:Choice>
              <mc:Fallback>
                <p:oleObj name="Equation" r:id="rId11" imgW="711000" imgH="228600" progId="Equation.DSMT4">
                  <p:embed/>
                  <p:pic>
                    <p:nvPicPr>
                      <p:cNvPr id="0" name=""/>
                      <p:cNvPicPr/>
                      <p:nvPr/>
                    </p:nvPicPr>
                    <p:blipFill>
                      <a:blip r:embed="rId12"/>
                      <a:stretch>
                        <a:fillRect/>
                      </a:stretch>
                    </p:blipFill>
                    <p:spPr>
                      <a:xfrm>
                        <a:off x="1490951" y="2479024"/>
                        <a:ext cx="1081087" cy="347663"/>
                      </a:xfrm>
                      <a:prstGeom prst="rect">
                        <a:avLst/>
                      </a:prstGeom>
                    </p:spPr>
                  </p:pic>
                </p:oleObj>
              </mc:Fallback>
            </mc:AlternateContent>
          </a:graphicData>
        </a:graphic>
      </p:graphicFrame>
      <p:sp>
        <p:nvSpPr>
          <p:cNvPr id="10" name="内容占位符 2"/>
          <p:cNvSpPr txBox="1">
            <a:spLocks/>
          </p:cNvSpPr>
          <p:nvPr/>
        </p:nvSpPr>
        <p:spPr>
          <a:xfrm>
            <a:off x="828675" y="3995882"/>
            <a:ext cx="7486650" cy="2576945"/>
          </a:xfrm>
          <a:prstGeom prst="rect">
            <a:avLst/>
          </a:prstGeom>
        </p:spPr>
        <p:txBody>
          <a:bodyPr vert="horz" lIns="0" tIns="45720" rIns="0" bIns="45720" rtlCol="0">
            <a:normAutofit/>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lvl="1"/>
            <a:endParaRPr lang="en-US" altLang="zh-CN" sz="1700" dirty="0"/>
          </a:p>
        </p:txBody>
      </p:sp>
      <p:graphicFrame>
        <p:nvGraphicFramePr>
          <p:cNvPr id="12" name="对象 11"/>
          <p:cNvGraphicFramePr>
            <a:graphicFrameLocks noChangeAspect="1"/>
          </p:cNvGraphicFramePr>
          <p:nvPr>
            <p:extLst>
              <p:ext uri="{D42A27DB-BD31-4B8C-83A1-F6EECF244321}">
                <p14:modId xmlns:p14="http://schemas.microsoft.com/office/powerpoint/2010/main" val="4203723767"/>
              </p:ext>
            </p:extLst>
          </p:nvPr>
        </p:nvGraphicFramePr>
        <p:xfrm>
          <a:off x="1557946" y="4163753"/>
          <a:ext cx="1210541" cy="2117231"/>
        </p:xfrm>
        <a:graphic>
          <a:graphicData uri="http://schemas.openxmlformats.org/presentationml/2006/ole">
            <mc:AlternateContent xmlns:mc="http://schemas.openxmlformats.org/markup-compatibility/2006">
              <mc:Choice xmlns:v="urn:schemas-microsoft-com:vml" Requires="v">
                <p:oleObj spid="_x0000_s4512" name="Equation" r:id="rId13" imgW="520560" imgH="914400" progId="Equation.DSMT4">
                  <p:embed/>
                </p:oleObj>
              </mc:Choice>
              <mc:Fallback>
                <p:oleObj name="Equation" r:id="rId13" imgW="520560" imgH="914400" progId="Equation.DSMT4">
                  <p:embed/>
                  <p:pic>
                    <p:nvPicPr>
                      <p:cNvPr id="0" name=""/>
                      <p:cNvPicPr/>
                      <p:nvPr/>
                    </p:nvPicPr>
                    <p:blipFill>
                      <a:blip r:embed="rId14"/>
                      <a:stretch>
                        <a:fillRect/>
                      </a:stretch>
                    </p:blipFill>
                    <p:spPr>
                      <a:xfrm>
                        <a:off x="1557946" y="4163753"/>
                        <a:ext cx="1210541" cy="2117231"/>
                      </a:xfrm>
                      <a:prstGeom prst="rect">
                        <a:avLst/>
                      </a:prstGeom>
                    </p:spPr>
                  </p:pic>
                </p:oleObj>
              </mc:Fallback>
            </mc:AlternateContent>
          </a:graphicData>
        </a:graphic>
      </p:graphicFrame>
      <p:sp>
        <p:nvSpPr>
          <p:cNvPr id="13" name="右箭头 12"/>
          <p:cNvSpPr/>
          <p:nvPr/>
        </p:nvSpPr>
        <p:spPr>
          <a:xfrm>
            <a:off x="3335482" y="5143500"/>
            <a:ext cx="768927" cy="405245"/>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graphicFrame>
        <p:nvGraphicFramePr>
          <p:cNvPr id="14" name="对象 13"/>
          <p:cNvGraphicFramePr>
            <a:graphicFrameLocks noChangeAspect="1"/>
          </p:cNvGraphicFramePr>
          <p:nvPr>
            <p:extLst>
              <p:ext uri="{D42A27DB-BD31-4B8C-83A1-F6EECF244321}">
                <p14:modId xmlns:p14="http://schemas.microsoft.com/office/powerpoint/2010/main" val="3004457314"/>
              </p:ext>
            </p:extLst>
          </p:nvPr>
        </p:nvGraphicFramePr>
        <p:xfrm>
          <a:off x="4273550" y="5110163"/>
          <a:ext cx="2536825" cy="528637"/>
        </p:xfrm>
        <a:graphic>
          <a:graphicData uri="http://schemas.openxmlformats.org/presentationml/2006/ole">
            <mc:AlternateContent xmlns:mc="http://schemas.openxmlformats.org/markup-compatibility/2006">
              <mc:Choice xmlns:v="urn:schemas-microsoft-com:vml" Requires="v">
                <p:oleObj spid="_x0000_s4513" name="Equation" r:id="rId15" imgW="1091880" imgH="228600" progId="Equation.DSMT4">
                  <p:embed/>
                </p:oleObj>
              </mc:Choice>
              <mc:Fallback>
                <p:oleObj name="Equation" r:id="rId15" imgW="1091880" imgH="228600" progId="Equation.DSMT4">
                  <p:embed/>
                  <p:pic>
                    <p:nvPicPr>
                      <p:cNvPr id="0" name=""/>
                      <p:cNvPicPr/>
                      <p:nvPr/>
                    </p:nvPicPr>
                    <p:blipFill>
                      <a:blip r:embed="rId16"/>
                      <a:stretch>
                        <a:fillRect/>
                      </a:stretch>
                    </p:blipFill>
                    <p:spPr>
                      <a:xfrm>
                        <a:off x="4273550" y="5110163"/>
                        <a:ext cx="2536825" cy="528637"/>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836431682"/>
              </p:ext>
            </p:extLst>
          </p:nvPr>
        </p:nvGraphicFramePr>
        <p:xfrm>
          <a:off x="4273550" y="5817898"/>
          <a:ext cx="3759200" cy="398793"/>
        </p:xfrm>
        <a:graphic>
          <a:graphicData uri="http://schemas.openxmlformats.org/presentationml/2006/ole">
            <mc:AlternateContent xmlns:mc="http://schemas.openxmlformats.org/markup-compatibility/2006">
              <mc:Choice xmlns:v="urn:schemas-microsoft-com:vml" Requires="v">
                <p:oleObj spid="_x0000_s4514" name="Equation" r:id="rId17" imgW="2145960" imgH="228600" progId="Equation.DSMT4">
                  <p:embed/>
                </p:oleObj>
              </mc:Choice>
              <mc:Fallback>
                <p:oleObj name="Equation" r:id="rId17" imgW="2145960" imgH="228600" progId="Equation.DSMT4">
                  <p:embed/>
                  <p:pic>
                    <p:nvPicPr>
                      <p:cNvPr id="0" name=""/>
                      <p:cNvPicPr/>
                      <p:nvPr/>
                    </p:nvPicPr>
                    <p:blipFill>
                      <a:blip r:embed="rId18"/>
                      <a:stretch>
                        <a:fillRect/>
                      </a:stretch>
                    </p:blipFill>
                    <p:spPr>
                      <a:xfrm>
                        <a:off x="4273550" y="5817898"/>
                        <a:ext cx="3759200" cy="398793"/>
                      </a:xfrm>
                      <a:prstGeom prst="rect">
                        <a:avLst/>
                      </a:prstGeom>
                    </p:spPr>
                  </p:pic>
                </p:oleObj>
              </mc:Fallback>
            </mc:AlternateContent>
          </a:graphicData>
        </a:graphic>
      </p:graphicFrame>
    </p:spTree>
    <p:extLst>
      <p:ext uri="{BB962C8B-B14F-4D97-AF65-F5344CB8AC3E}">
        <p14:creationId xmlns:p14="http://schemas.microsoft.com/office/powerpoint/2010/main" val="3516506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Notational Conventions</a:t>
            </a:r>
            <a:endParaRPr lang="zh-CN" altLang="en-US" dirty="0"/>
          </a:p>
        </p:txBody>
      </p:sp>
      <p:pic>
        <p:nvPicPr>
          <p:cNvPr id="4" name="图片 3"/>
          <p:cNvPicPr>
            <a:picLocks noChangeAspect="1"/>
          </p:cNvPicPr>
          <p:nvPr/>
        </p:nvPicPr>
        <p:blipFill>
          <a:blip r:embed="rId2"/>
          <a:stretch>
            <a:fillRect/>
          </a:stretch>
        </p:blipFill>
        <p:spPr>
          <a:xfrm>
            <a:off x="928118" y="1570326"/>
            <a:ext cx="7286625" cy="4943475"/>
          </a:xfrm>
          <a:prstGeom prst="rect">
            <a:avLst/>
          </a:prstGeom>
        </p:spPr>
      </p:pic>
    </p:spTree>
    <p:extLst>
      <p:ext uri="{BB962C8B-B14F-4D97-AF65-F5344CB8AC3E}">
        <p14:creationId xmlns:p14="http://schemas.microsoft.com/office/powerpoint/2010/main" val="194207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Notational Conventions</a:t>
            </a:r>
            <a:endParaRPr lang="zh-CN" altLang="en-US" dirty="0"/>
          </a:p>
        </p:txBody>
      </p:sp>
      <p:pic>
        <p:nvPicPr>
          <p:cNvPr id="3" name="图片 2"/>
          <p:cNvPicPr>
            <a:picLocks noChangeAspect="1"/>
          </p:cNvPicPr>
          <p:nvPr/>
        </p:nvPicPr>
        <p:blipFill>
          <a:blip r:embed="rId2"/>
          <a:stretch>
            <a:fillRect/>
          </a:stretch>
        </p:blipFill>
        <p:spPr>
          <a:xfrm>
            <a:off x="866206" y="1619682"/>
            <a:ext cx="7410450" cy="3971925"/>
          </a:xfrm>
          <a:prstGeom prst="rect">
            <a:avLst/>
          </a:prstGeom>
        </p:spPr>
      </p:pic>
    </p:spTree>
    <p:extLst>
      <p:ext uri="{BB962C8B-B14F-4D97-AF65-F5344CB8AC3E}">
        <p14:creationId xmlns:p14="http://schemas.microsoft.com/office/powerpoint/2010/main" val="3607169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normAutofit/>
          </a:bodyPr>
          <a:lstStyle/>
          <a:p>
            <a:r>
              <a:rPr lang="en-US" altLang="zh-CN" sz="2000" dirty="0"/>
              <a:t>A grammar derives strings by beginning with the start symbol and repeatedly replacing a nonterminal by the body of a production for that nonterminal. </a:t>
            </a:r>
          </a:p>
          <a:p>
            <a:r>
              <a:rPr lang="en-US" altLang="zh-CN" sz="2000" dirty="0"/>
              <a:t>Strictly, we call that          derives        in one step, i.e.,</a:t>
            </a:r>
          </a:p>
          <a:p>
            <a:pPr marL="0" indent="0">
              <a:buNone/>
            </a:pPr>
            <a:r>
              <a:rPr lang="en-US" altLang="zh-CN" sz="2000" dirty="0"/>
              <a:t>   if and only if            is a production, and                           . </a:t>
            </a:r>
          </a:p>
          <a:p>
            <a:pPr marL="0" indent="0">
              <a:buNone/>
            </a:pPr>
            <a:r>
              <a:rPr lang="en-US" altLang="zh-CN" sz="2000" dirty="0"/>
              <a:t>       means “derives in one step”. When a sequence of derivation steps                               rewrites             , we say </a:t>
            </a:r>
          </a:p>
          <a:p>
            <a:pPr marL="0" indent="0">
              <a:buNone/>
            </a:pPr>
            <a:r>
              <a:rPr lang="en-US" altLang="zh-CN" sz="2000" dirty="0"/>
              <a:t>                     . We use symbol”    and symbol to represent “derives in zero or more steps” and symbol        to represent “derives in one or more steps”.</a:t>
            </a:r>
          </a:p>
          <a:p>
            <a:pPr marL="0" indent="0">
              <a:buNone/>
            </a:pPr>
            <a:r>
              <a:rPr lang="en-US" altLang="zh-CN" sz="2000" dirty="0"/>
              <a:t>If            , where </a:t>
            </a:r>
            <a:r>
              <a:rPr lang="en-US" altLang="zh-CN" sz="2000" i="1" dirty="0"/>
              <a:t>S</a:t>
            </a:r>
            <a:r>
              <a:rPr lang="en-US" altLang="zh-CN" sz="2000" dirty="0"/>
              <a:t> is the start symbol of a grammar </a:t>
            </a:r>
            <a:r>
              <a:rPr lang="en-US" altLang="zh-CN" sz="2000" i="1" dirty="0"/>
              <a:t>G</a:t>
            </a:r>
            <a:r>
              <a:rPr lang="en-US" altLang="zh-CN" sz="2000" dirty="0"/>
              <a:t>, we say that    is a </a:t>
            </a:r>
            <a:r>
              <a:rPr lang="en-US" altLang="zh-CN" sz="2000" i="1" dirty="0">
                <a:solidFill>
                  <a:srgbClr val="FF0000"/>
                </a:solidFill>
              </a:rPr>
              <a:t>sentential form </a:t>
            </a:r>
            <a:r>
              <a:rPr lang="en-US" altLang="zh-CN" sz="2000" dirty="0"/>
              <a:t>of G.</a:t>
            </a:r>
            <a:endParaRPr lang="zh-CN" altLang="en-US" sz="2000" dirty="0"/>
          </a:p>
        </p:txBody>
      </p:sp>
      <p:graphicFrame>
        <p:nvGraphicFramePr>
          <p:cNvPr id="4" name="对象 3"/>
          <p:cNvGraphicFramePr>
            <a:graphicFrameLocks noChangeAspect="1"/>
          </p:cNvGraphicFramePr>
          <p:nvPr>
            <p:extLst>
              <p:ext uri="{D42A27DB-BD31-4B8C-83A1-F6EECF244321}">
                <p14:modId xmlns:p14="http://schemas.microsoft.com/office/powerpoint/2010/main" val="858350697"/>
              </p:ext>
            </p:extLst>
          </p:nvPr>
        </p:nvGraphicFramePr>
        <p:xfrm>
          <a:off x="2623053" y="3039555"/>
          <a:ext cx="780403" cy="356756"/>
        </p:xfrm>
        <a:graphic>
          <a:graphicData uri="http://schemas.openxmlformats.org/presentationml/2006/ole">
            <mc:AlternateContent xmlns:mc="http://schemas.openxmlformats.org/markup-compatibility/2006">
              <mc:Choice xmlns:v="urn:schemas-microsoft-com:vml" Requires="v">
                <p:oleObj spid="_x0000_s5642" name="Equation" r:id="rId3" imgW="444240" imgH="203040" progId="Equation.DSMT4">
                  <p:embed/>
                </p:oleObj>
              </mc:Choice>
              <mc:Fallback>
                <p:oleObj name="Equation" r:id="rId3" imgW="444240" imgH="203040" progId="Equation.DSMT4">
                  <p:embed/>
                  <p:pic>
                    <p:nvPicPr>
                      <p:cNvPr id="0" name=""/>
                      <p:cNvPicPr/>
                      <p:nvPr/>
                    </p:nvPicPr>
                    <p:blipFill>
                      <a:blip r:embed="rId4"/>
                      <a:stretch>
                        <a:fillRect/>
                      </a:stretch>
                    </p:blipFill>
                    <p:spPr>
                      <a:xfrm>
                        <a:off x="2623053" y="3039555"/>
                        <a:ext cx="780403" cy="356756"/>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621028891"/>
              </p:ext>
            </p:extLst>
          </p:nvPr>
        </p:nvGraphicFramePr>
        <p:xfrm>
          <a:off x="3403456" y="2591304"/>
          <a:ext cx="625475" cy="357187"/>
        </p:xfrm>
        <a:graphic>
          <a:graphicData uri="http://schemas.openxmlformats.org/presentationml/2006/ole">
            <mc:AlternateContent xmlns:mc="http://schemas.openxmlformats.org/markup-compatibility/2006">
              <mc:Choice xmlns:v="urn:schemas-microsoft-com:vml" Requires="v">
                <p:oleObj spid="_x0000_s5643" name="Equation" r:id="rId5" imgW="355320" imgH="203040" progId="Equation.DSMT4">
                  <p:embed/>
                </p:oleObj>
              </mc:Choice>
              <mc:Fallback>
                <p:oleObj name="Equation" r:id="rId5" imgW="355320" imgH="203040" progId="Equation.DSMT4">
                  <p:embed/>
                  <p:pic>
                    <p:nvPicPr>
                      <p:cNvPr id="0" name=""/>
                      <p:cNvPicPr/>
                      <p:nvPr/>
                    </p:nvPicPr>
                    <p:blipFill>
                      <a:blip r:embed="rId6"/>
                      <a:stretch>
                        <a:fillRect/>
                      </a:stretch>
                    </p:blipFill>
                    <p:spPr>
                      <a:xfrm>
                        <a:off x="3403456" y="2591304"/>
                        <a:ext cx="625475" cy="35718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976469456"/>
              </p:ext>
            </p:extLst>
          </p:nvPr>
        </p:nvGraphicFramePr>
        <p:xfrm>
          <a:off x="5023716" y="2586827"/>
          <a:ext cx="536575" cy="357188"/>
        </p:xfrm>
        <a:graphic>
          <a:graphicData uri="http://schemas.openxmlformats.org/presentationml/2006/ole">
            <mc:AlternateContent xmlns:mc="http://schemas.openxmlformats.org/markup-compatibility/2006">
              <mc:Choice xmlns:v="urn:schemas-microsoft-com:vml" Requires="v">
                <p:oleObj spid="_x0000_s5644" name="Equation" r:id="rId7" imgW="304560" imgH="203040" progId="Equation.DSMT4">
                  <p:embed/>
                </p:oleObj>
              </mc:Choice>
              <mc:Fallback>
                <p:oleObj name="Equation" r:id="rId7" imgW="304560" imgH="203040" progId="Equation.DSMT4">
                  <p:embed/>
                  <p:pic>
                    <p:nvPicPr>
                      <p:cNvPr id="0" name=""/>
                      <p:cNvPicPr/>
                      <p:nvPr/>
                    </p:nvPicPr>
                    <p:blipFill>
                      <a:blip r:embed="rId8"/>
                      <a:stretch>
                        <a:fillRect/>
                      </a:stretch>
                    </p:blipFill>
                    <p:spPr>
                      <a:xfrm>
                        <a:off x="5023716" y="2586827"/>
                        <a:ext cx="536575" cy="357188"/>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3393820360"/>
              </p:ext>
            </p:extLst>
          </p:nvPr>
        </p:nvGraphicFramePr>
        <p:xfrm>
          <a:off x="7497690" y="2586827"/>
          <a:ext cx="1452563" cy="357188"/>
        </p:xfrm>
        <a:graphic>
          <a:graphicData uri="http://schemas.openxmlformats.org/presentationml/2006/ole">
            <mc:AlternateContent xmlns:mc="http://schemas.openxmlformats.org/markup-compatibility/2006">
              <mc:Choice xmlns:v="urn:schemas-microsoft-com:vml" Requires="v">
                <p:oleObj spid="_x0000_s5645" name="Equation" r:id="rId9" imgW="825480" imgH="203040" progId="Equation.DSMT4">
                  <p:embed/>
                </p:oleObj>
              </mc:Choice>
              <mc:Fallback>
                <p:oleObj name="Equation" r:id="rId9" imgW="825480" imgH="203040" progId="Equation.DSMT4">
                  <p:embed/>
                  <p:pic>
                    <p:nvPicPr>
                      <p:cNvPr id="0" name=""/>
                      <p:cNvPicPr/>
                      <p:nvPr/>
                    </p:nvPicPr>
                    <p:blipFill>
                      <a:blip r:embed="rId10"/>
                      <a:stretch>
                        <a:fillRect/>
                      </a:stretch>
                    </p:blipFill>
                    <p:spPr>
                      <a:xfrm>
                        <a:off x="7497690" y="2586827"/>
                        <a:ext cx="1452563" cy="357188"/>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518602015"/>
              </p:ext>
            </p:extLst>
          </p:nvPr>
        </p:nvGraphicFramePr>
        <p:xfrm>
          <a:off x="5990936" y="3006001"/>
          <a:ext cx="1900238" cy="423863"/>
        </p:xfrm>
        <a:graphic>
          <a:graphicData uri="http://schemas.openxmlformats.org/presentationml/2006/ole">
            <mc:AlternateContent xmlns:mc="http://schemas.openxmlformats.org/markup-compatibility/2006">
              <mc:Choice xmlns:v="urn:schemas-microsoft-com:vml" Requires="v">
                <p:oleObj spid="_x0000_s5646" name="Equation" r:id="rId11" imgW="1079280" imgH="241200" progId="Equation.DSMT4">
                  <p:embed/>
                </p:oleObj>
              </mc:Choice>
              <mc:Fallback>
                <p:oleObj name="Equation" r:id="rId11" imgW="1079280" imgH="241200" progId="Equation.DSMT4">
                  <p:embed/>
                  <p:pic>
                    <p:nvPicPr>
                      <p:cNvPr id="0" name=""/>
                      <p:cNvPicPr/>
                      <p:nvPr/>
                    </p:nvPicPr>
                    <p:blipFill>
                      <a:blip r:embed="rId12"/>
                      <a:stretch>
                        <a:fillRect/>
                      </a:stretch>
                    </p:blipFill>
                    <p:spPr>
                      <a:xfrm>
                        <a:off x="5990936" y="3006001"/>
                        <a:ext cx="1900238" cy="42386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271129948"/>
              </p:ext>
            </p:extLst>
          </p:nvPr>
        </p:nvGraphicFramePr>
        <p:xfrm>
          <a:off x="986558" y="3503613"/>
          <a:ext cx="334963" cy="268287"/>
        </p:xfrm>
        <a:graphic>
          <a:graphicData uri="http://schemas.openxmlformats.org/presentationml/2006/ole">
            <mc:AlternateContent xmlns:mc="http://schemas.openxmlformats.org/markup-compatibility/2006">
              <mc:Choice xmlns:v="urn:schemas-microsoft-com:vml" Requires="v">
                <p:oleObj spid="_x0000_s5647" name="Equation" r:id="rId13" imgW="190440" imgH="152280" progId="Equation.DSMT4">
                  <p:embed/>
                </p:oleObj>
              </mc:Choice>
              <mc:Fallback>
                <p:oleObj name="Equation" r:id="rId13" imgW="190440" imgH="152280" progId="Equation.DSMT4">
                  <p:embed/>
                  <p:pic>
                    <p:nvPicPr>
                      <p:cNvPr id="0" name=""/>
                      <p:cNvPicPr/>
                      <p:nvPr/>
                    </p:nvPicPr>
                    <p:blipFill>
                      <a:blip r:embed="rId14"/>
                      <a:stretch>
                        <a:fillRect/>
                      </a:stretch>
                    </p:blipFill>
                    <p:spPr>
                      <a:xfrm>
                        <a:off x="986558" y="3503613"/>
                        <a:ext cx="334963" cy="26828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247292188"/>
              </p:ext>
            </p:extLst>
          </p:nvPr>
        </p:nvGraphicFramePr>
        <p:xfrm>
          <a:off x="2810741" y="3771900"/>
          <a:ext cx="2212975" cy="401637"/>
        </p:xfrm>
        <a:graphic>
          <a:graphicData uri="http://schemas.openxmlformats.org/presentationml/2006/ole">
            <mc:AlternateContent xmlns:mc="http://schemas.openxmlformats.org/markup-compatibility/2006">
              <mc:Choice xmlns:v="urn:schemas-microsoft-com:vml" Requires="v">
                <p:oleObj spid="_x0000_s5648" name="Equation" r:id="rId15" imgW="1257120" imgH="228600" progId="Equation.DSMT4">
                  <p:embed/>
                </p:oleObj>
              </mc:Choice>
              <mc:Fallback>
                <p:oleObj name="Equation" r:id="rId15" imgW="1257120" imgH="228600" progId="Equation.DSMT4">
                  <p:embed/>
                  <p:pic>
                    <p:nvPicPr>
                      <p:cNvPr id="0" name=""/>
                      <p:cNvPicPr/>
                      <p:nvPr/>
                    </p:nvPicPr>
                    <p:blipFill>
                      <a:blip r:embed="rId16"/>
                      <a:stretch>
                        <a:fillRect/>
                      </a:stretch>
                    </p:blipFill>
                    <p:spPr>
                      <a:xfrm>
                        <a:off x="2810741" y="3771900"/>
                        <a:ext cx="2212975" cy="401637"/>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148682133"/>
              </p:ext>
            </p:extLst>
          </p:nvPr>
        </p:nvGraphicFramePr>
        <p:xfrm>
          <a:off x="6031923" y="3771899"/>
          <a:ext cx="962025" cy="401638"/>
        </p:xfrm>
        <a:graphic>
          <a:graphicData uri="http://schemas.openxmlformats.org/presentationml/2006/ole">
            <mc:AlternateContent xmlns:mc="http://schemas.openxmlformats.org/markup-compatibility/2006">
              <mc:Choice xmlns:v="urn:schemas-microsoft-com:vml" Requires="v">
                <p:oleObj spid="_x0000_s5649" name="Equation" r:id="rId17" imgW="545760" imgH="228600" progId="Equation.DSMT4">
                  <p:embed/>
                </p:oleObj>
              </mc:Choice>
              <mc:Fallback>
                <p:oleObj name="Equation" r:id="rId17" imgW="545760" imgH="228600" progId="Equation.DSMT4">
                  <p:embed/>
                  <p:pic>
                    <p:nvPicPr>
                      <p:cNvPr id="0" name=""/>
                      <p:cNvPicPr/>
                      <p:nvPr/>
                    </p:nvPicPr>
                    <p:blipFill>
                      <a:blip r:embed="rId18"/>
                      <a:stretch>
                        <a:fillRect/>
                      </a:stretch>
                    </p:blipFill>
                    <p:spPr>
                      <a:xfrm>
                        <a:off x="6031923" y="3771899"/>
                        <a:ext cx="962025" cy="401638"/>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721640264"/>
              </p:ext>
            </p:extLst>
          </p:nvPr>
        </p:nvGraphicFramePr>
        <p:xfrm>
          <a:off x="828675" y="4173537"/>
          <a:ext cx="1522413" cy="401637"/>
        </p:xfrm>
        <a:graphic>
          <a:graphicData uri="http://schemas.openxmlformats.org/presentationml/2006/ole">
            <mc:AlternateContent xmlns:mc="http://schemas.openxmlformats.org/markup-compatibility/2006">
              <mc:Choice xmlns:v="urn:schemas-microsoft-com:vml" Requires="v">
                <p:oleObj spid="_x0000_s5650" name="Equation" r:id="rId19" imgW="863280" imgH="228600" progId="Equation.DSMT4">
                  <p:embed/>
                </p:oleObj>
              </mc:Choice>
              <mc:Fallback>
                <p:oleObj name="Equation" r:id="rId19" imgW="863280" imgH="228600" progId="Equation.DSMT4">
                  <p:embed/>
                  <p:pic>
                    <p:nvPicPr>
                      <p:cNvPr id="0" name=""/>
                      <p:cNvPicPr/>
                      <p:nvPr/>
                    </p:nvPicPr>
                    <p:blipFill>
                      <a:blip r:embed="rId20"/>
                      <a:stretch>
                        <a:fillRect/>
                      </a:stretch>
                    </p:blipFill>
                    <p:spPr>
                      <a:xfrm>
                        <a:off x="828675" y="4173537"/>
                        <a:ext cx="1522413" cy="401637"/>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506269446"/>
              </p:ext>
            </p:extLst>
          </p:nvPr>
        </p:nvGraphicFramePr>
        <p:xfrm>
          <a:off x="4495800" y="4195763"/>
          <a:ext cx="423863" cy="357187"/>
        </p:xfrm>
        <a:graphic>
          <a:graphicData uri="http://schemas.openxmlformats.org/presentationml/2006/ole">
            <mc:AlternateContent xmlns:mc="http://schemas.openxmlformats.org/markup-compatibility/2006">
              <mc:Choice xmlns:v="urn:schemas-microsoft-com:vml" Requires="v">
                <p:oleObj spid="_x0000_s5651" name="Equation" r:id="rId21" imgW="241200" imgH="203040" progId="Equation.DSMT4">
                  <p:embed/>
                </p:oleObj>
              </mc:Choice>
              <mc:Fallback>
                <p:oleObj name="Equation" r:id="rId21" imgW="241200" imgH="203040" progId="Equation.DSMT4">
                  <p:embed/>
                  <p:pic>
                    <p:nvPicPr>
                      <p:cNvPr id="0" name=""/>
                      <p:cNvPicPr/>
                      <p:nvPr/>
                    </p:nvPicPr>
                    <p:blipFill>
                      <a:blip r:embed="rId22"/>
                      <a:stretch>
                        <a:fillRect/>
                      </a:stretch>
                    </p:blipFill>
                    <p:spPr>
                      <a:xfrm>
                        <a:off x="4495800" y="4195763"/>
                        <a:ext cx="423863" cy="357187"/>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0125807"/>
              </p:ext>
            </p:extLst>
          </p:nvPr>
        </p:nvGraphicFramePr>
        <p:xfrm>
          <a:off x="6447559" y="4478478"/>
          <a:ext cx="446088" cy="357187"/>
        </p:xfrm>
        <a:graphic>
          <a:graphicData uri="http://schemas.openxmlformats.org/presentationml/2006/ole">
            <mc:AlternateContent xmlns:mc="http://schemas.openxmlformats.org/markup-compatibility/2006">
              <mc:Choice xmlns:v="urn:schemas-microsoft-com:vml" Requires="v">
                <p:oleObj spid="_x0000_s5652" name="Equation" r:id="rId23" imgW="253800" imgH="203040" progId="Equation.DSMT4">
                  <p:embed/>
                </p:oleObj>
              </mc:Choice>
              <mc:Fallback>
                <p:oleObj name="Equation" r:id="rId23" imgW="253800" imgH="203040" progId="Equation.DSMT4">
                  <p:embed/>
                  <p:pic>
                    <p:nvPicPr>
                      <p:cNvPr id="0" name=""/>
                      <p:cNvPicPr/>
                      <p:nvPr/>
                    </p:nvPicPr>
                    <p:blipFill>
                      <a:blip r:embed="rId24"/>
                      <a:stretch>
                        <a:fillRect/>
                      </a:stretch>
                    </p:blipFill>
                    <p:spPr>
                      <a:xfrm>
                        <a:off x="6447559" y="4478478"/>
                        <a:ext cx="446088" cy="357187"/>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91251627"/>
              </p:ext>
            </p:extLst>
          </p:nvPr>
        </p:nvGraphicFramePr>
        <p:xfrm>
          <a:off x="1030864" y="5195093"/>
          <a:ext cx="893762" cy="357187"/>
        </p:xfrm>
        <a:graphic>
          <a:graphicData uri="http://schemas.openxmlformats.org/presentationml/2006/ole">
            <mc:AlternateContent xmlns:mc="http://schemas.openxmlformats.org/markup-compatibility/2006">
              <mc:Choice xmlns:v="urn:schemas-microsoft-com:vml" Requires="v">
                <p:oleObj spid="_x0000_s5653" name="Equation" r:id="rId25" imgW="507960" imgH="203040" progId="Equation.DSMT4">
                  <p:embed/>
                </p:oleObj>
              </mc:Choice>
              <mc:Fallback>
                <p:oleObj name="Equation" r:id="rId25" imgW="507960" imgH="203040" progId="Equation.DSMT4">
                  <p:embed/>
                  <p:pic>
                    <p:nvPicPr>
                      <p:cNvPr id="0" name=""/>
                      <p:cNvPicPr/>
                      <p:nvPr/>
                    </p:nvPicPr>
                    <p:blipFill>
                      <a:blip r:embed="rId26"/>
                      <a:stretch>
                        <a:fillRect/>
                      </a:stretch>
                    </p:blipFill>
                    <p:spPr>
                      <a:xfrm>
                        <a:off x="1030864" y="5195093"/>
                        <a:ext cx="893762" cy="357187"/>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164667484"/>
              </p:ext>
            </p:extLst>
          </p:nvPr>
        </p:nvGraphicFramePr>
        <p:xfrm>
          <a:off x="1353413" y="5573857"/>
          <a:ext cx="266700" cy="244475"/>
        </p:xfrm>
        <a:graphic>
          <a:graphicData uri="http://schemas.openxmlformats.org/presentationml/2006/ole">
            <mc:AlternateContent xmlns:mc="http://schemas.openxmlformats.org/markup-compatibility/2006">
              <mc:Choice xmlns:v="urn:schemas-microsoft-com:vml" Requires="v">
                <p:oleObj spid="_x0000_s5654" name="Equation" r:id="rId27" imgW="152280" imgH="139680" progId="Equation.DSMT4">
                  <p:embed/>
                </p:oleObj>
              </mc:Choice>
              <mc:Fallback>
                <p:oleObj name="Equation" r:id="rId27" imgW="152280" imgH="139680" progId="Equation.DSMT4">
                  <p:embed/>
                  <p:pic>
                    <p:nvPicPr>
                      <p:cNvPr id="0" name=""/>
                      <p:cNvPicPr/>
                      <p:nvPr/>
                    </p:nvPicPr>
                    <p:blipFill>
                      <a:blip r:embed="rId28"/>
                      <a:stretch>
                        <a:fillRect/>
                      </a:stretch>
                    </p:blipFill>
                    <p:spPr>
                      <a:xfrm>
                        <a:off x="1353413" y="5573857"/>
                        <a:ext cx="266700" cy="244475"/>
                      </a:xfrm>
                      <a:prstGeom prst="rect">
                        <a:avLst/>
                      </a:prstGeom>
                    </p:spPr>
                  </p:pic>
                </p:oleObj>
              </mc:Fallback>
            </mc:AlternateContent>
          </a:graphicData>
        </a:graphic>
      </p:graphicFrame>
    </p:spTree>
    <p:extLst>
      <p:ext uri="{BB962C8B-B14F-4D97-AF65-F5344CB8AC3E}">
        <p14:creationId xmlns:p14="http://schemas.microsoft.com/office/powerpoint/2010/main" val="4000202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normAutofit/>
          </a:bodyPr>
          <a:lstStyle/>
          <a:p>
            <a:r>
              <a:rPr lang="en-US" altLang="zh-CN" sz="2000" dirty="0"/>
              <a:t>Note that a </a:t>
            </a:r>
            <a:r>
              <a:rPr lang="en-US" altLang="zh-CN" sz="2000" i="1" dirty="0">
                <a:solidFill>
                  <a:srgbClr val="FF0000"/>
                </a:solidFill>
              </a:rPr>
              <a:t>sentential form </a:t>
            </a:r>
            <a:r>
              <a:rPr lang="en-US" altLang="zh-CN" sz="2000" dirty="0"/>
              <a:t>may contain both </a:t>
            </a:r>
            <a:r>
              <a:rPr lang="en-US" altLang="zh-CN" sz="2000" dirty="0">
                <a:solidFill>
                  <a:srgbClr val="7030A0"/>
                </a:solidFill>
              </a:rPr>
              <a:t>terminals</a:t>
            </a:r>
            <a:r>
              <a:rPr lang="en-US" altLang="zh-CN" sz="2000" dirty="0"/>
              <a:t> and </a:t>
            </a:r>
            <a:r>
              <a:rPr lang="en-US" altLang="zh-CN" sz="2000" dirty="0" err="1">
                <a:solidFill>
                  <a:srgbClr val="7030A0"/>
                </a:solidFill>
              </a:rPr>
              <a:t>nonterminals</a:t>
            </a:r>
            <a:r>
              <a:rPr lang="en-US" altLang="zh-CN" sz="2000" dirty="0"/>
              <a:t>, and may be empty. A </a:t>
            </a:r>
            <a:r>
              <a:rPr lang="en-US" altLang="zh-CN" sz="2000" i="1" dirty="0">
                <a:solidFill>
                  <a:srgbClr val="FF0000"/>
                </a:solidFill>
              </a:rPr>
              <a:t>sentence</a:t>
            </a:r>
            <a:r>
              <a:rPr lang="en-US" altLang="zh-CN" sz="2000" dirty="0"/>
              <a:t> of </a:t>
            </a:r>
            <a:r>
              <a:rPr lang="en-US" altLang="zh-CN" sz="2000" i="1" dirty="0"/>
              <a:t>G</a:t>
            </a:r>
            <a:r>
              <a:rPr lang="en-US" altLang="zh-CN" sz="2000" dirty="0"/>
              <a:t> is a sentential form with no </a:t>
            </a:r>
            <a:r>
              <a:rPr lang="en-US" altLang="zh-CN" sz="2000" dirty="0" err="1"/>
              <a:t>nonterminals</a:t>
            </a:r>
            <a:r>
              <a:rPr lang="en-US" altLang="zh-CN" sz="2000" dirty="0"/>
              <a:t>. The language generated by a grammar </a:t>
            </a:r>
            <a:r>
              <a:rPr lang="en-US" altLang="zh-CN" sz="2000" i="1" dirty="0"/>
              <a:t>G</a:t>
            </a:r>
            <a:r>
              <a:rPr lang="en-US" altLang="zh-CN" sz="2000" dirty="0"/>
              <a:t> is its set of sentences, denoted by </a:t>
            </a:r>
            <a:r>
              <a:rPr lang="en-US" altLang="zh-CN" sz="2000" i="1" dirty="0"/>
              <a:t>L(G) </a:t>
            </a:r>
            <a:r>
              <a:rPr lang="en-US" altLang="zh-CN" sz="2000" dirty="0"/>
              <a:t>.</a:t>
            </a:r>
          </a:p>
          <a:p>
            <a:pPr marL="0" indent="0">
              <a:buNone/>
            </a:pPr>
            <a:endParaRPr lang="en-US" altLang="zh-CN" sz="2000" dirty="0"/>
          </a:p>
          <a:p>
            <a:r>
              <a:rPr lang="en-US" altLang="zh-CN" sz="2000" dirty="0"/>
              <a:t> Thus, a string of terminals </a:t>
            </a:r>
            <a:r>
              <a:rPr lang="en-US" altLang="zh-CN" sz="2000" i="1" dirty="0"/>
              <a:t>w</a:t>
            </a:r>
            <a:r>
              <a:rPr lang="en-US" altLang="zh-CN" sz="2000" dirty="0"/>
              <a:t> is in </a:t>
            </a:r>
            <a:r>
              <a:rPr lang="en-US" altLang="zh-CN" sz="2000" i="1" dirty="0"/>
              <a:t>L(G) </a:t>
            </a:r>
            <a:r>
              <a:rPr lang="en-US" altLang="zh-CN" sz="2000" dirty="0"/>
              <a:t>, if and only if </a:t>
            </a:r>
            <a:r>
              <a:rPr lang="en-US" altLang="zh-CN" sz="2000" i="1" dirty="0"/>
              <a:t>w</a:t>
            </a:r>
            <a:r>
              <a:rPr lang="en-US" altLang="zh-CN" sz="2000" dirty="0"/>
              <a:t> is a sentence of </a:t>
            </a:r>
            <a:r>
              <a:rPr lang="en-US" altLang="zh-CN" sz="2000" i="1" dirty="0"/>
              <a:t>G</a:t>
            </a:r>
            <a:r>
              <a:rPr lang="en-US" altLang="zh-CN" sz="2000" dirty="0"/>
              <a:t> (or             ). If two grammars generate the same language, the grammars are said to be equivalent.</a:t>
            </a:r>
            <a:endParaRPr lang="zh-CN" altLang="en-US" sz="2000" dirty="0"/>
          </a:p>
        </p:txBody>
      </p:sp>
      <p:graphicFrame>
        <p:nvGraphicFramePr>
          <p:cNvPr id="4" name="对象 3"/>
          <p:cNvGraphicFramePr>
            <a:graphicFrameLocks noChangeAspect="1"/>
          </p:cNvGraphicFramePr>
          <p:nvPr>
            <p:extLst>
              <p:ext uri="{D42A27DB-BD31-4B8C-83A1-F6EECF244321}">
                <p14:modId xmlns:p14="http://schemas.microsoft.com/office/powerpoint/2010/main" val="1942493482"/>
              </p:ext>
            </p:extLst>
          </p:nvPr>
        </p:nvGraphicFramePr>
        <p:xfrm>
          <a:off x="3168587" y="3864480"/>
          <a:ext cx="893762" cy="357187"/>
        </p:xfrm>
        <a:graphic>
          <a:graphicData uri="http://schemas.openxmlformats.org/presentationml/2006/ole">
            <mc:AlternateContent xmlns:mc="http://schemas.openxmlformats.org/markup-compatibility/2006">
              <mc:Choice xmlns:v="urn:schemas-microsoft-com:vml" Requires="v">
                <p:oleObj spid="_x0000_s6211" name="Equation" r:id="rId3" imgW="507960" imgH="203040" progId="Equation.DSMT4">
                  <p:embed/>
                </p:oleObj>
              </mc:Choice>
              <mc:Fallback>
                <p:oleObj name="Equation" r:id="rId3" imgW="507960" imgH="203040" progId="Equation.DSMT4">
                  <p:embed/>
                  <p:pic>
                    <p:nvPicPr>
                      <p:cNvPr id="0" name=""/>
                      <p:cNvPicPr/>
                      <p:nvPr/>
                    </p:nvPicPr>
                    <p:blipFill>
                      <a:blip r:embed="rId4"/>
                      <a:stretch>
                        <a:fillRect/>
                      </a:stretch>
                    </p:blipFill>
                    <p:spPr>
                      <a:xfrm>
                        <a:off x="3168587" y="3864480"/>
                        <a:ext cx="893762" cy="35718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859823461"/>
              </p:ext>
            </p:extLst>
          </p:nvPr>
        </p:nvGraphicFramePr>
        <p:xfrm>
          <a:off x="2459616" y="3049443"/>
          <a:ext cx="4121057" cy="566593"/>
        </p:xfrm>
        <a:graphic>
          <a:graphicData uri="http://schemas.openxmlformats.org/presentationml/2006/ole">
            <mc:AlternateContent xmlns:mc="http://schemas.openxmlformats.org/markup-compatibility/2006">
              <mc:Choice xmlns:v="urn:schemas-microsoft-com:vml" Requires="v">
                <p:oleObj spid="_x0000_s6212" name="Equation" r:id="rId5" imgW="1752480" imgH="241200" progId="Equation.DSMT4">
                  <p:embed/>
                </p:oleObj>
              </mc:Choice>
              <mc:Fallback>
                <p:oleObj name="Equation" r:id="rId5" imgW="1752480" imgH="241200" progId="Equation.DSMT4">
                  <p:embed/>
                  <p:pic>
                    <p:nvPicPr>
                      <p:cNvPr id="0" name=""/>
                      <p:cNvPicPr/>
                      <p:nvPr/>
                    </p:nvPicPr>
                    <p:blipFill>
                      <a:blip r:embed="rId6"/>
                      <a:stretch>
                        <a:fillRect/>
                      </a:stretch>
                    </p:blipFill>
                    <p:spPr>
                      <a:xfrm>
                        <a:off x="2459616" y="3049443"/>
                        <a:ext cx="4121057" cy="566593"/>
                      </a:xfrm>
                      <a:prstGeom prst="rect">
                        <a:avLst/>
                      </a:prstGeom>
                    </p:spPr>
                  </p:pic>
                </p:oleObj>
              </mc:Fallback>
            </mc:AlternateContent>
          </a:graphicData>
        </a:graphic>
      </p:graphicFrame>
    </p:spTree>
    <p:extLst>
      <p:ext uri="{BB962C8B-B14F-4D97-AF65-F5344CB8AC3E}">
        <p14:creationId xmlns:p14="http://schemas.microsoft.com/office/powerpoint/2010/main" val="230585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2.2 Context-free Grammar – Derivations</a:t>
            </a:r>
            <a:endParaRPr lang="zh-CN" altLang="en-US" dirty="0"/>
          </a:p>
        </p:txBody>
      </p:sp>
      <p:sp>
        <p:nvSpPr>
          <p:cNvPr id="3" name="内容占位符 2"/>
          <p:cNvSpPr>
            <a:spLocks noGrp="1"/>
          </p:cNvSpPr>
          <p:nvPr>
            <p:ph idx="1"/>
          </p:nvPr>
        </p:nvSpPr>
        <p:spPr/>
        <p:txBody>
          <a:bodyPr/>
          <a:lstStyle/>
          <a:p>
            <a:r>
              <a:rPr lang="en-US" altLang="zh-CN" sz="2000" dirty="0"/>
              <a:t>We consider derivations in which the nonterminal to be replaced at each step is chosen as follows:</a:t>
            </a:r>
          </a:p>
          <a:p>
            <a:r>
              <a:rPr lang="en-US" altLang="zh-CN" sz="1600" dirty="0"/>
              <a:t>1. In </a:t>
            </a:r>
            <a:r>
              <a:rPr lang="en-US" altLang="zh-CN" sz="1600" i="1" dirty="0">
                <a:solidFill>
                  <a:srgbClr val="7030A0"/>
                </a:solidFill>
              </a:rPr>
              <a:t>leftmost</a:t>
            </a:r>
            <a:r>
              <a:rPr lang="en-US" altLang="zh-CN" sz="1600" dirty="0">
                <a:solidFill>
                  <a:srgbClr val="7030A0"/>
                </a:solidFill>
              </a:rPr>
              <a:t> </a:t>
            </a:r>
            <a:r>
              <a:rPr lang="en-US" altLang="zh-CN" sz="1600" dirty="0"/>
              <a:t>derivations, the leftmost nonterminal in each sentential is always chosen. If            is a step in which the </a:t>
            </a:r>
            <a:r>
              <a:rPr lang="en-US" altLang="zh-CN" sz="1600" b="1" dirty="0">
                <a:solidFill>
                  <a:srgbClr val="7030A0"/>
                </a:solidFill>
              </a:rPr>
              <a:t>leftmost</a:t>
            </a:r>
            <a:r>
              <a:rPr lang="en-US" altLang="zh-CN" sz="1600" dirty="0">
                <a:solidFill>
                  <a:srgbClr val="7030A0"/>
                </a:solidFill>
              </a:rPr>
              <a:t> </a:t>
            </a:r>
            <a:r>
              <a:rPr lang="en-US" altLang="zh-CN" sz="1600" dirty="0"/>
              <a:t>nonterminal in    is replaced, we write </a:t>
            </a:r>
          </a:p>
          <a:p>
            <a:r>
              <a:rPr lang="en-US" altLang="zh-CN" sz="1600" dirty="0"/>
              <a:t>2. In </a:t>
            </a:r>
            <a:r>
              <a:rPr lang="en-US" altLang="zh-CN" sz="1600" i="1" dirty="0">
                <a:solidFill>
                  <a:srgbClr val="7030A0"/>
                </a:solidFill>
              </a:rPr>
              <a:t>rightmost</a:t>
            </a:r>
            <a:r>
              <a:rPr lang="en-US" altLang="zh-CN" sz="1600" dirty="0">
                <a:solidFill>
                  <a:srgbClr val="7030A0"/>
                </a:solidFill>
              </a:rPr>
              <a:t> </a:t>
            </a:r>
            <a:r>
              <a:rPr lang="en-US" altLang="zh-CN" sz="1600" dirty="0"/>
              <a:t>derivations, the rightmost nonterminal is always chosen; we write                 in this case.</a:t>
            </a:r>
          </a:p>
          <a:p>
            <a:r>
              <a:rPr lang="en-US" altLang="zh-CN" sz="1600" dirty="0"/>
              <a:t>Rightmost derivations are sometimes called </a:t>
            </a:r>
            <a:r>
              <a:rPr lang="en-US" altLang="zh-CN" sz="1600" i="1" dirty="0">
                <a:solidFill>
                  <a:srgbClr val="00B050"/>
                </a:solidFill>
              </a:rPr>
              <a:t>canonical</a:t>
            </a:r>
            <a:r>
              <a:rPr lang="en-US" altLang="zh-CN" sz="1600" dirty="0">
                <a:solidFill>
                  <a:srgbClr val="00B050"/>
                </a:solidFill>
              </a:rPr>
              <a:t> </a:t>
            </a:r>
            <a:r>
              <a:rPr lang="en-US" altLang="zh-CN" sz="1600" dirty="0"/>
              <a:t>derivations.</a:t>
            </a:r>
          </a:p>
        </p:txBody>
      </p:sp>
      <p:graphicFrame>
        <p:nvGraphicFramePr>
          <p:cNvPr id="4" name="对象 3"/>
          <p:cNvGraphicFramePr>
            <a:graphicFrameLocks noChangeAspect="1"/>
          </p:cNvGraphicFramePr>
          <p:nvPr>
            <p:extLst>
              <p:ext uri="{D42A27DB-BD31-4B8C-83A1-F6EECF244321}">
                <p14:modId xmlns:p14="http://schemas.microsoft.com/office/powerpoint/2010/main" val="1858248700"/>
              </p:ext>
            </p:extLst>
          </p:nvPr>
        </p:nvGraphicFramePr>
        <p:xfrm>
          <a:off x="2668299" y="2553712"/>
          <a:ext cx="677573" cy="292057"/>
        </p:xfrm>
        <a:graphic>
          <a:graphicData uri="http://schemas.openxmlformats.org/presentationml/2006/ole">
            <mc:AlternateContent xmlns:mc="http://schemas.openxmlformats.org/markup-compatibility/2006">
              <mc:Choice xmlns:v="urn:schemas-microsoft-com:vml" Requires="v">
                <p:oleObj spid="_x0000_s7290" name="Equation" r:id="rId3" imgW="469800" imgH="203040" progId="Equation.DSMT4">
                  <p:embed/>
                </p:oleObj>
              </mc:Choice>
              <mc:Fallback>
                <p:oleObj name="Equation" r:id="rId3" imgW="469800" imgH="203040" progId="Equation.DSMT4">
                  <p:embed/>
                  <p:pic>
                    <p:nvPicPr>
                      <p:cNvPr id="0" name=""/>
                      <p:cNvPicPr/>
                      <p:nvPr/>
                    </p:nvPicPr>
                    <p:blipFill>
                      <a:blip r:embed="rId4"/>
                      <a:stretch>
                        <a:fillRect/>
                      </a:stretch>
                    </p:blipFill>
                    <p:spPr>
                      <a:xfrm>
                        <a:off x="2668299" y="2553712"/>
                        <a:ext cx="677573" cy="29205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399166737"/>
              </p:ext>
            </p:extLst>
          </p:nvPr>
        </p:nvGraphicFramePr>
        <p:xfrm>
          <a:off x="7819015" y="2589336"/>
          <a:ext cx="219075" cy="200025"/>
        </p:xfrm>
        <a:graphic>
          <a:graphicData uri="http://schemas.openxmlformats.org/presentationml/2006/ole">
            <mc:AlternateContent xmlns:mc="http://schemas.openxmlformats.org/markup-compatibility/2006">
              <mc:Choice xmlns:v="urn:schemas-microsoft-com:vml" Requires="v">
                <p:oleObj spid="_x0000_s7291" name="Equation" r:id="rId5" imgW="152280" imgH="139680" progId="Equation.DSMT4">
                  <p:embed/>
                </p:oleObj>
              </mc:Choice>
              <mc:Fallback>
                <p:oleObj name="Equation" r:id="rId5" imgW="152280" imgH="139680" progId="Equation.DSMT4">
                  <p:embed/>
                  <p:pic>
                    <p:nvPicPr>
                      <p:cNvPr id="0" name=""/>
                      <p:cNvPicPr/>
                      <p:nvPr/>
                    </p:nvPicPr>
                    <p:blipFill>
                      <a:blip r:embed="rId6"/>
                      <a:stretch>
                        <a:fillRect/>
                      </a:stretch>
                    </p:blipFill>
                    <p:spPr>
                      <a:xfrm>
                        <a:off x="7819015" y="2589336"/>
                        <a:ext cx="219075" cy="200025"/>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935007499"/>
              </p:ext>
            </p:extLst>
          </p:nvPr>
        </p:nvGraphicFramePr>
        <p:xfrm>
          <a:off x="2828060" y="2761384"/>
          <a:ext cx="842963" cy="328613"/>
        </p:xfrm>
        <a:graphic>
          <a:graphicData uri="http://schemas.openxmlformats.org/presentationml/2006/ole">
            <mc:AlternateContent xmlns:mc="http://schemas.openxmlformats.org/markup-compatibility/2006">
              <mc:Choice xmlns:v="urn:schemas-microsoft-com:vml" Requires="v">
                <p:oleObj spid="_x0000_s7292" name="Equation" r:id="rId7" imgW="583920" imgH="228600" progId="Equation.DSMT4">
                  <p:embed/>
                </p:oleObj>
              </mc:Choice>
              <mc:Fallback>
                <p:oleObj name="Equation" r:id="rId7" imgW="583920" imgH="228600" progId="Equation.DSMT4">
                  <p:embed/>
                  <p:pic>
                    <p:nvPicPr>
                      <p:cNvPr id="0" name=""/>
                      <p:cNvPicPr/>
                      <p:nvPr/>
                    </p:nvPicPr>
                    <p:blipFill>
                      <a:blip r:embed="rId8"/>
                      <a:stretch>
                        <a:fillRect/>
                      </a:stretch>
                    </p:blipFill>
                    <p:spPr>
                      <a:xfrm>
                        <a:off x="2828060" y="2761384"/>
                        <a:ext cx="842963" cy="328613"/>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304854569"/>
              </p:ext>
            </p:extLst>
          </p:nvPr>
        </p:nvGraphicFramePr>
        <p:xfrm>
          <a:off x="1620838" y="3370263"/>
          <a:ext cx="862012" cy="328612"/>
        </p:xfrm>
        <a:graphic>
          <a:graphicData uri="http://schemas.openxmlformats.org/presentationml/2006/ole">
            <mc:AlternateContent xmlns:mc="http://schemas.openxmlformats.org/markup-compatibility/2006">
              <mc:Choice xmlns:v="urn:schemas-microsoft-com:vml" Requires="v">
                <p:oleObj spid="_x0000_s7293" name="Equation" r:id="rId9" imgW="596880" imgH="228600" progId="Equation.DSMT4">
                  <p:embed/>
                </p:oleObj>
              </mc:Choice>
              <mc:Fallback>
                <p:oleObj name="Equation" r:id="rId9" imgW="596880" imgH="228600" progId="Equation.DSMT4">
                  <p:embed/>
                  <p:pic>
                    <p:nvPicPr>
                      <p:cNvPr id="0" name=""/>
                      <p:cNvPicPr/>
                      <p:nvPr/>
                    </p:nvPicPr>
                    <p:blipFill>
                      <a:blip r:embed="rId10"/>
                      <a:stretch>
                        <a:fillRect/>
                      </a:stretch>
                    </p:blipFill>
                    <p:spPr>
                      <a:xfrm>
                        <a:off x="1620838" y="3370263"/>
                        <a:ext cx="862012" cy="328612"/>
                      </a:xfrm>
                      <a:prstGeom prst="rect">
                        <a:avLst/>
                      </a:prstGeom>
                    </p:spPr>
                  </p:pic>
                </p:oleObj>
              </mc:Fallback>
            </mc:AlternateContent>
          </a:graphicData>
        </a:graphic>
      </p:graphicFrame>
    </p:spTree>
    <p:extLst>
      <p:ext uri="{BB962C8B-B14F-4D97-AF65-F5344CB8AC3E}">
        <p14:creationId xmlns:p14="http://schemas.microsoft.com/office/powerpoint/2010/main" val="2938339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Parse Tree</a:t>
            </a:r>
            <a:endParaRPr lang="zh-CN" altLang="en-US" dirty="0"/>
          </a:p>
        </p:txBody>
      </p:sp>
      <p:sp>
        <p:nvSpPr>
          <p:cNvPr id="3" name="内容占位符 2"/>
          <p:cNvSpPr>
            <a:spLocks noGrp="1"/>
          </p:cNvSpPr>
          <p:nvPr>
            <p:ph idx="1"/>
          </p:nvPr>
        </p:nvSpPr>
        <p:spPr>
          <a:xfrm>
            <a:off x="828675" y="1600200"/>
            <a:ext cx="7486650" cy="997527"/>
          </a:xfrm>
        </p:spPr>
        <p:txBody>
          <a:bodyPr/>
          <a:lstStyle/>
          <a:p>
            <a:r>
              <a:rPr lang="en-US" altLang="zh-CN" dirty="0"/>
              <a:t>A parse tree pictorially shows how the start symbol of a grammar derives a string in the language. If nonterminal </a:t>
            </a:r>
            <a:r>
              <a:rPr lang="en-US" altLang="zh-CN" i="1" dirty="0"/>
              <a:t>A</a:t>
            </a:r>
            <a:r>
              <a:rPr lang="en-US" altLang="zh-CN" dirty="0"/>
              <a:t> has a production              , then a parse tree may have an interior node labeled A with three children labeled X, Y, and Z, from left to right:</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541159955"/>
              </p:ext>
            </p:extLst>
          </p:nvPr>
        </p:nvGraphicFramePr>
        <p:xfrm>
          <a:off x="6192982" y="1839638"/>
          <a:ext cx="755424" cy="207371"/>
        </p:xfrm>
        <a:graphic>
          <a:graphicData uri="http://schemas.openxmlformats.org/presentationml/2006/ole">
            <mc:AlternateContent xmlns:mc="http://schemas.openxmlformats.org/markup-compatibility/2006">
              <mc:Choice xmlns:v="urn:schemas-microsoft-com:vml" Requires="v">
                <p:oleObj spid="_x0000_s9286" name="Equation" r:id="rId3" imgW="647640" imgH="177480" progId="Equation.DSMT4">
                  <p:embed/>
                </p:oleObj>
              </mc:Choice>
              <mc:Fallback>
                <p:oleObj name="Equation" r:id="rId3" imgW="647640" imgH="177480" progId="Equation.DSMT4">
                  <p:embed/>
                  <p:pic>
                    <p:nvPicPr>
                      <p:cNvPr id="0" name=""/>
                      <p:cNvPicPr/>
                      <p:nvPr/>
                    </p:nvPicPr>
                    <p:blipFill>
                      <a:blip r:embed="rId4"/>
                      <a:stretch>
                        <a:fillRect/>
                      </a:stretch>
                    </p:blipFill>
                    <p:spPr>
                      <a:xfrm>
                        <a:off x="6192982" y="1839638"/>
                        <a:ext cx="755424" cy="207371"/>
                      </a:xfrm>
                      <a:prstGeom prst="rect">
                        <a:avLst/>
                      </a:prstGeom>
                    </p:spPr>
                  </p:pic>
                </p:oleObj>
              </mc:Fallback>
            </mc:AlternateContent>
          </a:graphicData>
        </a:graphic>
      </p:graphicFrame>
      <p:sp>
        <p:nvSpPr>
          <p:cNvPr id="5" name="文本框 4"/>
          <p:cNvSpPr txBox="1"/>
          <p:nvPr/>
        </p:nvSpPr>
        <p:spPr>
          <a:xfrm>
            <a:off x="4571431" y="2306782"/>
            <a:ext cx="300082" cy="369332"/>
          </a:xfrm>
          <a:prstGeom prst="rect">
            <a:avLst/>
          </a:prstGeom>
          <a:noFill/>
        </p:spPr>
        <p:txBody>
          <a:bodyPr wrap="none" rtlCol="0">
            <a:spAutoFit/>
          </a:bodyPr>
          <a:lstStyle/>
          <a:p>
            <a:r>
              <a:rPr lang="en-US" altLang="zh-CN" dirty="0"/>
              <a:t>A</a:t>
            </a:r>
            <a:endParaRPr lang="zh-CN" altLang="en-US" dirty="0"/>
          </a:p>
        </p:txBody>
      </p:sp>
      <p:sp>
        <p:nvSpPr>
          <p:cNvPr id="6" name="文本框 5"/>
          <p:cNvSpPr txBox="1"/>
          <p:nvPr/>
        </p:nvSpPr>
        <p:spPr>
          <a:xfrm>
            <a:off x="4121159" y="2816240"/>
            <a:ext cx="300082" cy="369332"/>
          </a:xfrm>
          <a:prstGeom prst="rect">
            <a:avLst/>
          </a:prstGeom>
          <a:noFill/>
        </p:spPr>
        <p:txBody>
          <a:bodyPr wrap="none" rtlCol="0">
            <a:spAutoFit/>
          </a:bodyPr>
          <a:lstStyle/>
          <a:p>
            <a:r>
              <a:rPr lang="en-US" altLang="zh-CN" dirty="0"/>
              <a:t>X</a:t>
            </a:r>
            <a:endParaRPr lang="zh-CN" altLang="en-US" dirty="0"/>
          </a:p>
        </p:txBody>
      </p:sp>
      <p:sp>
        <p:nvSpPr>
          <p:cNvPr id="7" name="文本框 6"/>
          <p:cNvSpPr txBox="1"/>
          <p:nvPr/>
        </p:nvSpPr>
        <p:spPr>
          <a:xfrm>
            <a:off x="4571282" y="2789587"/>
            <a:ext cx="300082" cy="369332"/>
          </a:xfrm>
          <a:prstGeom prst="rect">
            <a:avLst/>
          </a:prstGeom>
          <a:noFill/>
        </p:spPr>
        <p:txBody>
          <a:bodyPr wrap="none" rtlCol="0">
            <a:spAutoFit/>
          </a:bodyPr>
          <a:lstStyle/>
          <a:p>
            <a:r>
              <a:rPr lang="en-US" altLang="zh-CN" dirty="0"/>
              <a:t>Y</a:t>
            </a:r>
            <a:endParaRPr lang="zh-CN" altLang="en-US" dirty="0"/>
          </a:p>
        </p:txBody>
      </p:sp>
      <p:sp>
        <p:nvSpPr>
          <p:cNvPr id="8" name="文本框 7"/>
          <p:cNvSpPr txBox="1"/>
          <p:nvPr/>
        </p:nvSpPr>
        <p:spPr>
          <a:xfrm>
            <a:off x="5021554" y="2801467"/>
            <a:ext cx="300082" cy="369332"/>
          </a:xfrm>
          <a:prstGeom prst="rect">
            <a:avLst/>
          </a:prstGeom>
          <a:noFill/>
        </p:spPr>
        <p:txBody>
          <a:bodyPr wrap="none" rtlCol="0">
            <a:spAutoFit/>
          </a:bodyPr>
          <a:lstStyle/>
          <a:p>
            <a:r>
              <a:rPr lang="en-US" altLang="zh-CN" dirty="0"/>
              <a:t>Z</a:t>
            </a:r>
            <a:endParaRPr lang="zh-CN" altLang="en-US" dirty="0"/>
          </a:p>
        </p:txBody>
      </p:sp>
      <p:cxnSp>
        <p:nvCxnSpPr>
          <p:cNvPr id="10" name="直接连接符 9"/>
          <p:cNvCxnSpPr>
            <a:stCxn id="5" idx="2"/>
          </p:cNvCxnSpPr>
          <p:nvPr/>
        </p:nvCxnSpPr>
        <p:spPr>
          <a:xfrm flipH="1">
            <a:off x="4271200" y="2676114"/>
            <a:ext cx="450272" cy="20580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721472" y="2697254"/>
            <a:ext cx="0" cy="18466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721323" y="2676114"/>
            <a:ext cx="450272" cy="22694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828675" y="3444905"/>
            <a:ext cx="7485512" cy="2320635"/>
          </a:xfrm>
          <a:prstGeom prst="rect">
            <a:avLst/>
          </a:prstGeom>
        </p:spPr>
        <p:txBody>
          <a:bodyPr wrap="square">
            <a:spAutoFit/>
          </a:bodyPr>
          <a:lstStyle/>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The root is labeled by the start symbol</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Each leaf is labeled by a terminal or by   </a:t>
            </a:r>
            <a:r>
              <a:rPr lang="en-US" altLang="zh-CN" sz="1600" dirty="0"/>
              <a:t>.</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Each interior node is labeled by a nonterminal</a:t>
            </a:r>
          </a:p>
          <a:p>
            <a:pPr marL="171450" indent="-171450" defTabSz="685800">
              <a:lnSpc>
                <a:spcPct val="90000"/>
              </a:lnSpc>
              <a:spcBef>
                <a:spcPts val="1350"/>
              </a:spcBef>
              <a:buFont typeface="Wingdings" panose="05000000000000000000" pitchFamily="2" charset="2"/>
              <a:buChar char="§"/>
            </a:pPr>
            <a:r>
              <a:rPr lang="en-US" altLang="zh-CN" sz="1500" dirty="0">
                <a:latin typeface="微软雅黑" panose="020B0503020204020204" pitchFamily="34" charset="-122"/>
                <a:ea typeface="微软雅黑" panose="020B0503020204020204" pitchFamily="34" charset="-122"/>
              </a:rPr>
              <a:t>If A is the nonterminal labeling some interior node and </a:t>
            </a:r>
            <a:r>
              <a:rPr lang="en-US" altLang="zh-CN" sz="1500" i="1" dirty="0">
                <a:latin typeface="微软雅黑" panose="020B0503020204020204" pitchFamily="34" charset="-122"/>
                <a:ea typeface="微软雅黑" panose="020B0503020204020204" pitchFamily="34" charset="-122"/>
              </a:rPr>
              <a:t>X</a:t>
            </a:r>
            <a:r>
              <a:rPr lang="en-US" altLang="zh-CN" sz="1500" i="1" baseline="-25000" dirty="0">
                <a:latin typeface="微软雅黑" panose="020B0503020204020204" pitchFamily="34" charset="-122"/>
                <a:ea typeface="微软雅黑" panose="020B0503020204020204" pitchFamily="34" charset="-122"/>
              </a:rPr>
              <a:t>l</a:t>
            </a:r>
            <a:r>
              <a:rPr lang="en-US" altLang="zh-CN" sz="1500" i="1" dirty="0">
                <a:latin typeface="微软雅黑" panose="020B0503020204020204" pitchFamily="34" charset="-122"/>
                <a:ea typeface="微软雅黑" panose="020B0503020204020204" pitchFamily="34" charset="-122"/>
              </a:rPr>
              <a:t> , X</a:t>
            </a:r>
            <a:r>
              <a:rPr lang="en-US" altLang="zh-CN" sz="1500" i="1" baseline="-25000" dirty="0">
                <a:latin typeface="微软雅黑" panose="020B0503020204020204" pitchFamily="34" charset="-122"/>
                <a:ea typeface="微软雅黑" panose="020B0503020204020204" pitchFamily="34" charset="-122"/>
              </a:rPr>
              <a:t>2</a:t>
            </a:r>
            <a:r>
              <a:rPr lang="en-US" altLang="zh-CN" sz="1500" i="1" dirty="0">
                <a:latin typeface="微软雅黑" panose="020B0503020204020204" pitchFamily="34" charset="-122"/>
                <a:ea typeface="微软雅黑" panose="020B0503020204020204" pitchFamily="34" charset="-122"/>
              </a:rPr>
              <a:t>, • • • , </a:t>
            </a:r>
            <a:r>
              <a:rPr lang="en-US" altLang="zh-CN" sz="1500" i="1" dirty="0" err="1">
                <a:latin typeface="微软雅黑" panose="020B0503020204020204" pitchFamily="34" charset="-122"/>
                <a:ea typeface="微软雅黑" panose="020B0503020204020204" pitchFamily="34" charset="-122"/>
              </a:rPr>
              <a:t>X</a:t>
            </a:r>
            <a:r>
              <a:rPr lang="en-US" altLang="zh-CN" sz="1500" i="1" baseline="-25000" dirty="0" err="1">
                <a:latin typeface="微软雅黑" panose="020B0503020204020204" pitchFamily="34" charset="-122"/>
                <a:ea typeface="微软雅黑" panose="020B0503020204020204" pitchFamily="34" charset="-122"/>
              </a:rPr>
              <a:t>n</a:t>
            </a:r>
            <a:r>
              <a:rPr lang="en-US" altLang="zh-CN" sz="1500" i="1"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are the labels of the children of that node from left to right, then there must be a production                            . Here, </a:t>
            </a:r>
            <a:r>
              <a:rPr lang="en-US" altLang="zh-CN" sz="1500" i="1" dirty="0">
                <a:latin typeface="微软雅黑" panose="020B0503020204020204" pitchFamily="34" charset="-122"/>
                <a:ea typeface="微软雅黑" panose="020B0503020204020204" pitchFamily="34" charset="-122"/>
              </a:rPr>
              <a:t>X</a:t>
            </a:r>
            <a:r>
              <a:rPr lang="en-US" altLang="zh-CN" sz="1500" i="1" baseline="-25000" dirty="0">
                <a:latin typeface="微软雅黑" panose="020B0503020204020204" pitchFamily="34" charset="-122"/>
                <a:ea typeface="微软雅黑" panose="020B0503020204020204" pitchFamily="34" charset="-122"/>
              </a:rPr>
              <a:t>I</a:t>
            </a:r>
            <a:r>
              <a:rPr lang="en-US" altLang="zh-CN" sz="1500" i="1" dirty="0">
                <a:latin typeface="微软雅黑" panose="020B0503020204020204" pitchFamily="34" charset="-122"/>
                <a:ea typeface="微软雅黑" panose="020B0503020204020204" pitchFamily="34" charset="-122"/>
              </a:rPr>
              <a:t> , X</a:t>
            </a:r>
            <a:r>
              <a:rPr lang="en-US" altLang="zh-CN" sz="1500" i="1" baseline="-25000" dirty="0">
                <a:latin typeface="微软雅黑" panose="020B0503020204020204" pitchFamily="34" charset="-122"/>
                <a:ea typeface="微软雅黑" panose="020B0503020204020204" pitchFamily="34" charset="-122"/>
              </a:rPr>
              <a:t>2 </a:t>
            </a:r>
            <a:r>
              <a:rPr lang="en-US" altLang="zh-CN" sz="1500" i="1" dirty="0">
                <a:latin typeface="微软雅黑" panose="020B0503020204020204" pitchFamily="34" charset="-122"/>
                <a:ea typeface="微软雅黑" panose="020B0503020204020204" pitchFamily="34" charset="-122"/>
              </a:rPr>
              <a:t>, . . . , </a:t>
            </a:r>
            <a:r>
              <a:rPr lang="en-US" altLang="zh-CN" sz="1500" i="1" dirty="0" err="1">
                <a:latin typeface="微软雅黑" panose="020B0503020204020204" pitchFamily="34" charset="-122"/>
                <a:ea typeface="微软雅黑" panose="020B0503020204020204" pitchFamily="34" charset="-122"/>
              </a:rPr>
              <a:t>X</a:t>
            </a:r>
            <a:r>
              <a:rPr lang="en-US" altLang="zh-CN" sz="1500" i="1" baseline="-25000" dirty="0" err="1">
                <a:latin typeface="微软雅黑" panose="020B0503020204020204" pitchFamily="34" charset="-122"/>
                <a:ea typeface="微软雅黑" panose="020B0503020204020204" pitchFamily="34" charset="-122"/>
              </a:rPr>
              <a:t>n</a:t>
            </a:r>
            <a:r>
              <a:rPr lang="en-US" altLang="zh-CN" sz="1500" i="1" dirty="0">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each stand for </a:t>
            </a:r>
            <a:r>
              <a:rPr lang="en-US" altLang="zh-CN" sz="1500" dirty="0" err="1">
                <a:latin typeface="微软雅黑" panose="020B0503020204020204" pitchFamily="34" charset="-122"/>
                <a:ea typeface="微软雅黑" panose="020B0503020204020204" pitchFamily="34" charset="-122"/>
              </a:rPr>
              <a:t>for</a:t>
            </a:r>
            <a:r>
              <a:rPr lang="en-US" altLang="zh-CN" sz="1500" dirty="0">
                <a:latin typeface="微软雅黑" panose="020B0503020204020204" pitchFamily="34" charset="-122"/>
                <a:ea typeface="微软雅黑" panose="020B0503020204020204" pitchFamily="34" charset="-122"/>
              </a:rPr>
              <a:t> a symbol that is either a terminal or a nonterminal . As a special case,  if             is a production, then a node labeled </a:t>
            </a:r>
            <a:r>
              <a:rPr lang="en-US" altLang="zh-CN" sz="1500" i="1" dirty="0">
                <a:latin typeface="微软雅黑" panose="020B0503020204020204" pitchFamily="34" charset="-122"/>
                <a:ea typeface="微软雅黑" panose="020B0503020204020204" pitchFamily="34" charset="-122"/>
              </a:rPr>
              <a:t>A</a:t>
            </a:r>
            <a:r>
              <a:rPr lang="en-US" altLang="zh-CN" sz="1500" dirty="0">
                <a:latin typeface="微软雅黑" panose="020B0503020204020204" pitchFamily="34" charset="-122"/>
                <a:ea typeface="微软雅黑" panose="020B0503020204020204" pitchFamily="34" charset="-122"/>
              </a:rPr>
              <a:t> may have a single child labeled      .</a:t>
            </a:r>
            <a:endParaRPr lang="zh-CN" altLang="en-US" sz="1500" dirty="0">
              <a:latin typeface="微软雅黑" panose="020B0503020204020204" pitchFamily="34" charset="-122"/>
              <a:ea typeface="微软雅黑" panose="020B0503020204020204" pitchFamily="34" charset="-122"/>
            </a:endParaRPr>
          </a:p>
        </p:txBody>
      </p:sp>
      <p:graphicFrame>
        <p:nvGraphicFramePr>
          <p:cNvPr id="17" name="对象 16"/>
          <p:cNvGraphicFramePr>
            <a:graphicFrameLocks noChangeAspect="1"/>
          </p:cNvGraphicFramePr>
          <p:nvPr>
            <p:extLst>
              <p:ext uri="{D42A27DB-BD31-4B8C-83A1-F6EECF244321}">
                <p14:modId xmlns:p14="http://schemas.microsoft.com/office/powerpoint/2010/main" val="1967933993"/>
              </p:ext>
            </p:extLst>
          </p:nvPr>
        </p:nvGraphicFramePr>
        <p:xfrm>
          <a:off x="4623645" y="3898651"/>
          <a:ext cx="195355" cy="214891"/>
        </p:xfrm>
        <a:graphic>
          <a:graphicData uri="http://schemas.openxmlformats.org/presentationml/2006/ole">
            <mc:AlternateContent xmlns:mc="http://schemas.openxmlformats.org/markup-compatibility/2006">
              <mc:Choice xmlns:v="urn:schemas-microsoft-com:vml" Requires="v">
                <p:oleObj spid="_x0000_s9287" name="Equation" r:id="rId5" imgW="126720" imgH="139680" progId="Equation.DSMT4">
                  <p:embed/>
                </p:oleObj>
              </mc:Choice>
              <mc:Fallback>
                <p:oleObj name="Equation" r:id="rId5" imgW="126720" imgH="139680" progId="Equation.DSMT4">
                  <p:embed/>
                  <p:pic>
                    <p:nvPicPr>
                      <p:cNvPr id="0" name=""/>
                      <p:cNvPicPr/>
                      <p:nvPr/>
                    </p:nvPicPr>
                    <p:blipFill>
                      <a:blip r:embed="rId6"/>
                      <a:stretch>
                        <a:fillRect/>
                      </a:stretch>
                    </p:blipFill>
                    <p:spPr>
                      <a:xfrm>
                        <a:off x="4623645" y="3898651"/>
                        <a:ext cx="195355" cy="214891"/>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99346350"/>
              </p:ext>
            </p:extLst>
          </p:nvPr>
        </p:nvGraphicFramePr>
        <p:xfrm>
          <a:off x="2157846" y="5007142"/>
          <a:ext cx="1562100" cy="342900"/>
        </p:xfrm>
        <a:graphic>
          <a:graphicData uri="http://schemas.openxmlformats.org/presentationml/2006/ole">
            <mc:AlternateContent xmlns:mc="http://schemas.openxmlformats.org/markup-compatibility/2006">
              <mc:Choice xmlns:v="urn:schemas-microsoft-com:vml" Requires="v">
                <p:oleObj spid="_x0000_s9288" name="Equation" r:id="rId7" imgW="1041120" imgH="228600" progId="Equation.DSMT4">
                  <p:embed/>
                </p:oleObj>
              </mc:Choice>
              <mc:Fallback>
                <p:oleObj name="Equation" r:id="rId7" imgW="1041120" imgH="228600" progId="Equation.DSMT4">
                  <p:embed/>
                  <p:pic>
                    <p:nvPicPr>
                      <p:cNvPr id="0" name=""/>
                      <p:cNvPicPr/>
                      <p:nvPr/>
                    </p:nvPicPr>
                    <p:blipFill>
                      <a:blip r:embed="rId8"/>
                      <a:stretch>
                        <a:fillRect/>
                      </a:stretch>
                    </p:blipFill>
                    <p:spPr>
                      <a:xfrm>
                        <a:off x="2157846" y="5007142"/>
                        <a:ext cx="1562100" cy="342900"/>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592650621"/>
              </p:ext>
            </p:extLst>
          </p:nvPr>
        </p:nvGraphicFramePr>
        <p:xfrm>
          <a:off x="6747597" y="5237474"/>
          <a:ext cx="666750" cy="266700"/>
        </p:xfrm>
        <a:graphic>
          <a:graphicData uri="http://schemas.openxmlformats.org/presentationml/2006/ole">
            <mc:AlternateContent xmlns:mc="http://schemas.openxmlformats.org/markup-compatibility/2006">
              <mc:Choice xmlns:v="urn:schemas-microsoft-com:vml" Requires="v">
                <p:oleObj spid="_x0000_s9289" name="Equation" r:id="rId9" imgW="444240" imgH="177480" progId="Equation.DSMT4">
                  <p:embed/>
                </p:oleObj>
              </mc:Choice>
              <mc:Fallback>
                <p:oleObj name="Equation" r:id="rId9" imgW="444240" imgH="177480" progId="Equation.DSMT4">
                  <p:embed/>
                  <p:pic>
                    <p:nvPicPr>
                      <p:cNvPr id="0" name=""/>
                      <p:cNvPicPr/>
                      <p:nvPr/>
                    </p:nvPicPr>
                    <p:blipFill>
                      <a:blip r:embed="rId10"/>
                      <a:stretch>
                        <a:fillRect/>
                      </a:stretch>
                    </p:blipFill>
                    <p:spPr>
                      <a:xfrm>
                        <a:off x="6747597" y="5237474"/>
                        <a:ext cx="666750" cy="266700"/>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4073609913"/>
              </p:ext>
            </p:extLst>
          </p:nvPr>
        </p:nvGraphicFramePr>
        <p:xfrm>
          <a:off x="7223847" y="5501166"/>
          <a:ext cx="190500" cy="209550"/>
        </p:xfrm>
        <a:graphic>
          <a:graphicData uri="http://schemas.openxmlformats.org/presentationml/2006/ole">
            <mc:AlternateContent xmlns:mc="http://schemas.openxmlformats.org/markup-compatibility/2006">
              <mc:Choice xmlns:v="urn:schemas-microsoft-com:vml" Requires="v">
                <p:oleObj spid="_x0000_s9290" name="Equation" r:id="rId11" imgW="126720" imgH="139680" progId="Equation.DSMT4">
                  <p:embed/>
                </p:oleObj>
              </mc:Choice>
              <mc:Fallback>
                <p:oleObj name="Equation" r:id="rId11" imgW="126720" imgH="139680" progId="Equation.DSMT4">
                  <p:embed/>
                  <p:pic>
                    <p:nvPicPr>
                      <p:cNvPr id="0" name=""/>
                      <p:cNvPicPr/>
                      <p:nvPr/>
                    </p:nvPicPr>
                    <p:blipFill>
                      <a:blip r:embed="rId12"/>
                      <a:stretch>
                        <a:fillRect/>
                      </a:stretch>
                    </p:blipFill>
                    <p:spPr>
                      <a:xfrm>
                        <a:off x="7223847" y="5501166"/>
                        <a:ext cx="190500" cy="209550"/>
                      </a:xfrm>
                      <a:prstGeom prst="rect">
                        <a:avLst/>
                      </a:prstGeom>
                    </p:spPr>
                  </p:pic>
                </p:oleObj>
              </mc:Fallback>
            </mc:AlternateContent>
          </a:graphicData>
        </a:graphic>
      </p:graphicFrame>
      <p:sp>
        <p:nvSpPr>
          <p:cNvPr id="22" name="矩形 21"/>
          <p:cNvSpPr/>
          <p:nvPr/>
        </p:nvSpPr>
        <p:spPr>
          <a:xfrm>
            <a:off x="1014651" y="5765540"/>
            <a:ext cx="6963369" cy="1015663"/>
          </a:xfrm>
          <a:prstGeom prst="rect">
            <a:avLst/>
          </a:prstGeom>
        </p:spPr>
        <p:style>
          <a:lnRef idx="1">
            <a:schemeClr val="accent3"/>
          </a:lnRef>
          <a:fillRef idx="3">
            <a:schemeClr val="accent3"/>
          </a:fillRef>
          <a:effectRef idx="2">
            <a:schemeClr val="accent3"/>
          </a:effectRef>
          <a:fontRef idx="minor">
            <a:schemeClr val="lt1"/>
          </a:fontRef>
        </p:style>
        <p:txBody>
          <a:bodyPr wrap="square">
            <a:spAutoFit/>
          </a:bodyPr>
          <a:lstStyle/>
          <a:p>
            <a:r>
              <a:rPr lang="en-US" altLang="zh-CN" sz="1500" dirty="0">
                <a:latin typeface="微软雅黑" panose="020B0503020204020204" pitchFamily="34" charset="-122"/>
                <a:ea typeface="微软雅黑" panose="020B0503020204020204" pitchFamily="34" charset="-122"/>
              </a:rPr>
              <a:t>From left to right , the leaves of a parse tree form the </a:t>
            </a:r>
            <a:r>
              <a:rPr lang="en-US" altLang="zh-CN" sz="1500" b="1" i="1" dirty="0">
                <a:solidFill>
                  <a:srgbClr val="00B050"/>
                </a:solidFill>
                <a:latin typeface="微软雅黑" panose="020B0503020204020204" pitchFamily="34" charset="-122"/>
                <a:ea typeface="微软雅黑" panose="020B0503020204020204" pitchFamily="34" charset="-122"/>
              </a:rPr>
              <a:t>yield</a:t>
            </a:r>
            <a:r>
              <a:rPr lang="en-US" altLang="zh-CN" sz="1500" dirty="0">
                <a:latin typeface="微软雅黑" panose="020B0503020204020204" pitchFamily="34" charset="-122"/>
                <a:ea typeface="微软雅黑" panose="020B0503020204020204" pitchFamily="34" charset="-122"/>
              </a:rPr>
              <a:t> of the tree , which is the string </a:t>
            </a:r>
            <a:r>
              <a:rPr lang="en-US" altLang="zh-CN" sz="1500" b="1" i="1" dirty="0">
                <a:solidFill>
                  <a:srgbClr val="00B050"/>
                </a:solidFill>
                <a:latin typeface="微软雅黑" panose="020B0503020204020204" pitchFamily="34" charset="-122"/>
                <a:ea typeface="微软雅黑" panose="020B0503020204020204" pitchFamily="34" charset="-122"/>
              </a:rPr>
              <a:t>generated</a:t>
            </a:r>
            <a:r>
              <a:rPr lang="en-US" altLang="zh-CN" sz="1500" dirty="0">
                <a:solidFill>
                  <a:srgbClr val="00B050"/>
                </a:solidFill>
                <a:latin typeface="微软雅黑" panose="020B0503020204020204" pitchFamily="34" charset="-122"/>
                <a:ea typeface="微软雅黑" panose="020B0503020204020204" pitchFamily="34" charset="-122"/>
              </a:rPr>
              <a:t> </a:t>
            </a:r>
            <a:r>
              <a:rPr lang="en-US" altLang="zh-CN" sz="1500" dirty="0">
                <a:latin typeface="微软雅黑" panose="020B0503020204020204" pitchFamily="34" charset="-122"/>
                <a:ea typeface="微软雅黑" panose="020B0503020204020204" pitchFamily="34" charset="-122"/>
              </a:rPr>
              <a:t>or </a:t>
            </a:r>
            <a:r>
              <a:rPr lang="en-US" altLang="zh-CN" sz="1500" b="1" i="1" dirty="0">
                <a:solidFill>
                  <a:srgbClr val="00B050"/>
                </a:solidFill>
                <a:latin typeface="微软雅黑" panose="020B0503020204020204" pitchFamily="34" charset="-122"/>
                <a:ea typeface="微软雅黑" panose="020B0503020204020204" pitchFamily="34" charset="-122"/>
              </a:rPr>
              <a:t>derived</a:t>
            </a:r>
            <a:r>
              <a:rPr lang="en-US" altLang="zh-CN" sz="1500" dirty="0">
                <a:latin typeface="微软雅黑" panose="020B0503020204020204" pitchFamily="34" charset="-122"/>
                <a:ea typeface="微软雅黑" panose="020B0503020204020204" pitchFamily="34" charset="-122"/>
              </a:rPr>
              <a:t> from the nonterminal at the root of the parse tree. The process of finding a parse tree for a given string of terminals is called </a:t>
            </a:r>
            <a:r>
              <a:rPr lang="en-US" altLang="zh-CN" sz="1500" b="1" i="1" dirty="0">
                <a:solidFill>
                  <a:srgbClr val="00B050"/>
                </a:solidFill>
                <a:latin typeface="微软雅黑" panose="020B0503020204020204" pitchFamily="34" charset="-122"/>
                <a:ea typeface="微软雅黑" panose="020B0503020204020204" pitchFamily="34" charset="-122"/>
              </a:rPr>
              <a:t>parsing</a:t>
            </a:r>
            <a:r>
              <a:rPr lang="en-US" altLang="zh-CN" sz="1500" dirty="0">
                <a:latin typeface="微软雅黑" panose="020B0503020204020204" pitchFamily="34" charset="-122"/>
                <a:ea typeface="微软雅黑" panose="020B0503020204020204" pitchFamily="34" charset="-122"/>
              </a:rPr>
              <a:t> that string.</a:t>
            </a:r>
            <a:endParaRPr lang="zh-CN" altLang="en-US" sz="1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36536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Ambiguity</a:t>
            </a:r>
            <a:endParaRPr lang="zh-CN" altLang="en-US" dirty="0"/>
          </a:p>
        </p:txBody>
      </p:sp>
      <p:sp>
        <p:nvSpPr>
          <p:cNvPr id="3" name="内容占位符 2"/>
          <p:cNvSpPr>
            <a:spLocks noGrp="1"/>
          </p:cNvSpPr>
          <p:nvPr>
            <p:ph idx="1"/>
          </p:nvPr>
        </p:nvSpPr>
        <p:spPr>
          <a:xfrm>
            <a:off x="828675" y="1600200"/>
            <a:ext cx="7486650" cy="852055"/>
          </a:xfrm>
        </p:spPr>
        <p:txBody>
          <a:bodyPr>
            <a:normAutofit lnSpcReduction="10000"/>
          </a:bodyPr>
          <a:lstStyle/>
          <a:p>
            <a:r>
              <a:rPr lang="en-US" altLang="zh-CN" sz="2000" dirty="0"/>
              <a:t>A grammar can have </a:t>
            </a:r>
            <a:r>
              <a:rPr lang="en-US" altLang="zh-CN" sz="2000" dirty="0">
                <a:solidFill>
                  <a:srgbClr val="FF0000"/>
                </a:solidFill>
              </a:rPr>
              <a:t>more than one </a:t>
            </a:r>
            <a:r>
              <a:rPr lang="en-US" altLang="zh-CN" sz="2000" dirty="0"/>
              <a:t>parse tree generating a given string of terminals. Such a grammar is said to be ambiguous. </a:t>
            </a:r>
            <a:endParaRPr lang="zh-CN" altLang="en-US" sz="2000" dirty="0"/>
          </a:p>
        </p:txBody>
      </p:sp>
      <p:pic>
        <p:nvPicPr>
          <p:cNvPr id="4" name="图片 3"/>
          <p:cNvPicPr>
            <a:picLocks noChangeAspect="1"/>
          </p:cNvPicPr>
          <p:nvPr/>
        </p:nvPicPr>
        <p:blipFill>
          <a:blip r:embed="rId2"/>
          <a:stretch>
            <a:fillRect/>
          </a:stretch>
        </p:blipFill>
        <p:spPr>
          <a:xfrm>
            <a:off x="923711" y="2654629"/>
            <a:ext cx="7390476" cy="2961905"/>
          </a:xfrm>
          <a:prstGeom prst="rect">
            <a:avLst/>
          </a:prstGeom>
        </p:spPr>
      </p:pic>
      <p:sp>
        <p:nvSpPr>
          <p:cNvPr id="5" name="内容占位符 2"/>
          <p:cNvSpPr txBox="1">
            <a:spLocks/>
          </p:cNvSpPr>
          <p:nvPr/>
        </p:nvSpPr>
        <p:spPr>
          <a:xfrm>
            <a:off x="827537" y="5616534"/>
            <a:ext cx="7486650" cy="1054429"/>
          </a:xfrm>
          <a:prstGeom prst="rect">
            <a:avLst/>
          </a:prstGeom>
        </p:spPr>
        <p:txBody>
          <a:bodyPr vert="horz" lIns="0" tIns="45720" rIns="0" bIns="45720" rtlCol="0">
            <a:normAutofit fontScale="92500" lnSpcReduction="10000"/>
          </a:bodyPr>
          <a:lstStyle>
            <a:lvl1pPr marL="171450" indent="-171450" algn="l" defTabSz="685800" rtl="0" eaLnBrk="1" latinLnBrk="0" hangingPunct="1">
              <a:lnSpc>
                <a:spcPct val="90000"/>
              </a:lnSpc>
              <a:spcBef>
                <a:spcPts val="1350"/>
              </a:spcBef>
              <a:buFont typeface="Wingdings" panose="05000000000000000000" pitchFamily="2" charset="2"/>
              <a:buChar char="§"/>
              <a:defRPr sz="1500" kern="1200">
                <a:solidFill>
                  <a:schemeClr val="tx1"/>
                </a:solidFill>
                <a:latin typeface="微软雅黑" panose="020B0503020204020204" pitchFamily="34" charset="-122"/>
                <a:ea typeface="微软雅黑" panose="020B0503020204020204" pitchFamily="34" charset="-122"/>
                <a:cs typeface="+mn-cs"/>
              </a:defRPr>
            </a:lvl1pPr>
            <a:lvl2pPr marL="514350" indent="-171450" algn="l" defTabSz="685800" rtl="0" eaLnBrk="1" latinLnBrk="0" hangingPunct="1">
              <a:lnSpc>
                <a:spcPct val="90000"/>
              </a:lnSpc>
              <a:spcBef>
                <a:spcPts val="450"/>
              </a:spcBef>
              <a:buFont typeface="Wingdings" panose="05000000000000000000" pitchFamily="2" charset="2"/>
              <a:buChar char="§"/>
              <a:defRPr sz="12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685800" rtl="0" eaLnBrk="1" latinLnBrk="0" hangingPunct="1">
              <a:lnSpc>
                <a:spcPct val="90000"/>
              </a:lnSpc>
              <a:spcBef>
                <a:spcPts val="450"/>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6pPr>
            <a:lvl7pPr marL="22288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7pPr>
            <a:lvl8pPr marL="25717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8pPr>
            <a:lvl9pPr marL="2914650" indent="-171450" algn="l" defTabSz="685800" rtl="0" eaLnBrk="1" latinLnBrk="0" hangingPunct="1">
              <a:lnSpc>
                <a:spcPct val="90000"/>
              </a:lnSpc>
              <a:spcBef>
                <a:spcPts val="375"/>
              </a:spcBef>
              <a:buFont typeface="Wingdings" panose="05000000000000000000" pitchFamily="2" charset="2"/>
              <a:buChar char="§"/>
              <a:defRPr sz="1050" kern="1200">
                <a:solidFill>
                  <a:schemeClr val="tx1"/>
                </a:solidFill>
                <a:latin typeface="微软雅黑" panose="020B0503020204020204" pitchFamily="34" charset="-122"/>
                <a:ea typeface="微软雅黑" panose="020B0503020204020204" pitchFamily="34" charset="-122"/>
                <a:cs typeface="+mn-cs"/>
              </a:defRPr>
            </a:lvl9pPr>
          </a:lstStyle>
          <a:p>
            <a:pPr marL="0" indent="0">
              <a:buNone/>
            </a:pPr>
            <a:r>
              <a:rPr lang="en-US" altLang="zh-CN" sz="2000" dirty="0"/>
              <a:t>Since a string with more than one parse tree usually has more than one meaning, we need to design unambiguous grammars for compiling applications, or to use ambiguous grammars with additional rules to resolve the ambiguities.</a:t>
            </a:r>
            <a:endParaRPr lang="zh-CN" altLang="en-US" sz="2000" dirty="0"/>
          </a:p>
        </p:txBody>
      </p:sp>
    </p:spTree>
    <p:extLst>
      <p:ext uri="{BB962C8B-B14F-4D97-AF65-F5344CB8AC3E}">
        <p14:creationId xmlns:p14="http://schemas.microsoft.com/office/powerpoint/2010/main" val="259715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An overview of formal languages</a:t>
            </a:r>
            <a:endParaRPr lang="zh-CN" altLang="en-US" dirty="0"/>
          </a:p>
        </p:txBody>
      </p:sp>
      <p:sp>
        <p:nvSpPr>
          <p:cNvPr id="3" name="内容占位符 2"/>
          <p:cNvSpPr>
            <a:spLocks noGrp="1"/>
          </p:cNvSpPr>
          <p:nvPr>
            <p:ph idx="1"/>
          </p:nvPr>
        </p:nvSpPr>
        <p:spPr/>
        <p:txBody>
          <a:bodyPr>
            <a:normAutofit/>
          </a:bodyPr>
          <a:lstStyle/>
          <a:p>
            <a:r>
              <a:rPr lang="en-US" altLang="zh-CN" sz="2000" dirty="0"/>
              <a:t>Chomsky Hierarchy</a:t>
            </a:r>
          </a:p>
          <a:p>
            <a:r>
              <a:rPr lang="en-US" altLang="zh-CN" sz="1600" dirty="0"/>
              <a:t>Type-0 grammar (Recursively enumerable) &gt; Type-1 grammar (Context-sensitive) &gt; Type-2 grammar(Context-free) &gt; Type-3 grammar (Regular)</a:t>
            </a:r>
          </a:p>
          <a:p>
            <a:r>
              <a:rPr lang="en-US" altLang="zh-CN" sz="1600" dirty="0"/>
              <a:t>                         is a type-0 grammar, if each production has  the form</a:t>
            </a:r>
          </a:p>
          <a:p>
            <a:pPr marL="0" indent="0">
              <a:buNone/>
            </a:pPr>
            <a:r>
              <a:rPr lang="en-US" altLang="zh-CN" sz="1600" dirty="0"/>
              <a:t>              ,                          and at least has one nonterminal, </a:t>
            </a:r>
          </a:p>
          <a:p>
            <a:pPr marL="0" indent="0">
              <a:buNone/>
            </a:pPr>
            <a:r>
              <a:rPr lang="en-US" altLang="zh-CN" sz="1600" dirty="0"/>
              <a:t>If we applied the following </a:t>
            </a:r>
            <a:r>
              <a:rPr lang="en-US" altLang="zh-CN" sz="1600" dirty="0" err="1"/>
              <a:t>i-th</a:t>
            </a:r>
            <a:r>
              <a:rPr lang="en-US" altLang="zh-CN" sz="1600" dirty="0"/>
              <a:t> constraint to G we have </a:t>
            </a:r>
            <a:r>
              <a:rPr lang="en-US" altLang="zh-CN" sz="1600" dirty="0" err="1"/>
              <a:t>i</a:t>
            </a:r>
            <a:r>
              <a:rPr lang="en-US" altLang="zh-CN" sz="1600" dirty="0"/>
              <a:t>-type grammar</a:t>
            </a:r>
          </a:p>
          <a:p>
            <a:pPr marL="342900" indent="-342900">
              <a:buAutoNum type="arabicParenBoth"/>
            </a:pPr>
            <a:r>
              <a:rPr lang="en-US" altLang="zh-CN" sz="1600" dirty="0"/>
              <a:t>Any production           satisfies             with an exception </a:t>
            </a:r>
          </a:p>
          <a:p>
            <a:pPr marL="342900" indent="-342900">
              <a:buAutoNum type="arabicParenBoth"/>
            </a:pPr>
            <a:r>
              <a:rPr lang="en-US" altLang="zh-CN" sz="1600" dirty="0"/>
              <a:t>Any production has the form</a:t>
            </a:r>
          </a:p>
          <a:p>
            <a:pPr marL="342900" indent="-342900">
              <a:buFont typeface="Wingdings" panose="05000000000000000000" pitchFamily="2" charset="2"/>
              <a:buAutoNum type="arabicParenBoth"/>
            </a:pPr>
            <a:r>
              <a:rPr lang="en-US" altLang="zh-CN" sz="1600" dirty="0"/>
              <a:t> Any production has the form</a:t>
            </a:r>
          </a:p>
          <a:p>
            <a:pPr marL="0" indent="0">
              <a:buNone/>
            </a:pPr>
            <a:r>
              <a:rPr lang="en-US" altLang="zh-CN" sz="1600" dirty="0"/>
              <a:t>                                                           (right linear grammar)</a:t>
            </a:r>
          </a:p>
          <a:p>
            <a:pPr marL="0" indent="0">
              <a:buNone/>
            </a:pPr>
            <a:r>
              <a:rPr lang="en-US" altLang="zh-CN" sz="1600" dirty="0"/>
              <a:t>                                                            (left linear grammar)</a:t>
            </a:r>
          </a:p>
          <a:p>
            <a:pPr marL="342900" indent="-342900">
              <a:buAutoNum type="arabicParenBoth"/>
            </a:pPr>
            <a:endParaRPr lang="zh-CN" altLang="en-US" sz="1600" dirty="0"/>
          </a:p>
        </p:txBody>
      </p:sp>
      <p:pic>
        <p:nvPicPr>
          <p:cNvPr id="4" name="图片 3"/>
          <p:cNvPicPr>
            <a:picLocks noChangeAspect="1"/>
          </p:cNvPicPr>
          <p:nvPr/>
        </p:nvPicPr>
        <p:blipFill>
          <a:blip r:embed="rId3"/>
          <a:stretch>
            <a:fillRect/>
          </a:stretch>
        </p:blipFill>
        <p:spPr>
          <a:xfrm>
            <a:off x="6784992" y="4364830"/>
            <a:ext cx="2152650" cy="2009775"/>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2520798860"/>
              </p:ext>
            </p:extLst>
          </p:nvPr>
        </p:nvGraphicFramePr>
        <p:xfrm>
          <a:off x="997528" y="2652710"/>
          <a:ext cx="1458390" cy="298307"/>
        </p:xfrm>
        <a:graphic>
          <a:graphicData uri="http://schemas.openxmlformats.org/presentationml/2006/ole">
            <mc:AlternateContent xmlns:mc="http://schemas.openxmlformats.org/markup-compatibility/2006">
              <mc:Choice xmlns:v="urn:schemas-microsoft-com:vml" Requires="v">
                <p:oleObj spid="_x0000_s8408" name="Equation" r:id="rId4" imgW="1117440" imgH="228600" progId="Equation.DSMT4">
                  <p:embed/>
                </p:oleObj>
              </mc:Choice>
              <mc:Fallback>
                <p:oleObj name="Equation" r:id="rId4" imgW="1117440" imgH="228600" progId="Equation.DSMT4">
                  <p:embed/>
                  <p:pic>
                    <p:nvPicPr>
                      <p:cNvPr id="0" name=""/>
                      <p:cNvPicPr/>
                      <p:nvPr/>
                    </p:nvPicPr>
                    <p:blipFill>
                      <a:blip r:embed="rId5"/>
                      <a:stretch>
                        <a:fillRect/>
                      </a:stretch>
                    </p:blipFill>
                    <p:spPr>
                      <a:xfrm>
                        <a:off x="997528" y="2652710"/>
                        <a:ext cx="1458390" cy="29830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596505814"/>
              </p:ext>
            </p:extLst>
          </p:nvPr>
        </p:nvGraphicFramePr>
        <p:xfrm>
          <a:off x="1042755" y="3076528"/>
          <a:ext cx="612775" cy="265112"/>
        </p:xfrm>
        <a:graphic>
          <a:graphicData uri="http://schemas.openxmlformats.org/presentationml/2006/ole">
            <mc:AlternateContent xmlns:mc="http://schemas.openxmlformats.org/markup-compatibility/2006">
              <mc:Choice xmlns:v="urn:schemas-microsoft-com:vml" Requires="v">
                <p:oleObj spid="_x0000_s8409" name="Equation" r:id="rId6" imgW="469800" imgH="203040" progId="Equation.DSMT4">
                  <p:embed/>
                </p:oleObj>
              </mc:Choice>
              <mc:Fallback>
                <p:oleObj name="Equation" r:id="rId6" imgW="469800" imgH="203040" progId="Equation.DSMT4">
                  <p:embed/>
                  <p:pic>
                    <p:nvPicPr>
                      <p:cNvPr id="0" name=""/>
                      <p:cNvPicPr/>
                      <p:nvPr/>
                    </p:nvPicPr>
                    <p:blipFill>
                      <a:blip r:embed="rId7"/>
                      <a:stretch>
                        <a:fillRect/>
                      </a:stretch>
                    </p:blipFill>
                    <p:spPr>
                      <a:xfrm>
                        <a:off x="1042755" y="3076528"/>
                        <a:ext cx="612775" cy="265112"/>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4240863528"/>
              </p:ext>
            </p:extLst>
          </p:nvPr>
        </p:nvGraphicFramePr>
        <p:xfrm>
          <a:off x="1869610" y="2991480"/>
          <a:ext cx="1464913" cy="386575"/>
        </p:xfrm>
        <a:graphic>
          <a:graphicData uri="http://schemas.openxmlformats.org/presentationml/2006/ole">
            <mc:AlternateContent xmlns:mc="http://schemas.openxmlformats.org/markup-compatibility/2006">
              <mc:Choice xmlns:v="urn:schemas-microsoft-com:vml" Requires="v">
                <p:oleObj spid="_x0000_s8410" name="Equation" r:id="rId8" imgW="914400" imgH="241200" progId="Equation.DSMT4">
                  <p:embed/>
                </p:oleObj>
              </mc:Choice>
              <mc:Fallback>
                <p:oleObj name="Equation" r:id="rId8" imgW="914400" imgH="241200" progId="Equation.DSMT4">
                  <p:embed/>
                  <p:pic>
                    <p:nvPicPr>
                      <p:cNvPr id="0" name=""/>
                      <p:cNvPicPr/>
                      <p:nvPr/>
                    </p:nvPicPr>
                    <p:blipFill>
                      <a:blip r:embed="rId9"/>
                      <a:stretch>
                        <a:fillRect/>
                      </a:stretch>
                    </p:blipFill>
                    <p:spPr>
                      <a:xfrm>
                        <a:off x="1869610" y="2991480"/>
                        <a:ext cx="1464913" cy="386575"/>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043715273"/>
              </p:ext>
            </p:extLst>
          </p:nvPr>
        </p:nvGraphicFramePr>
        <p:xfrm>
          <a:off x="6645964" y="3015796"/>
          <a:ext cx="1464913" cy="386575"/>
        </p:xfrm>
        <a:graphic>
          <a:graphicData uri="http://schemas.openxmlformats.org/presentationml/2006/ole">
            <mc:AlternateContent xmlns:mc="http://schemas.openxmlformats.org/markup-compatibility/2006">
              <mc:Choice xmlns:v="urn:schemas-microsoft-com:vml" Requires="v">
                <p:oleObj spid="_x0000_s8411" name="Equation" r:id="rId10" imgW="914400" imgH="241200" progId="Equation.DSMT4">
                  <p:embed/>
                </p:oleObj>
              </mc:Choice>
              <mc:Fallback>
                <p:oleObj name="Equation" r:id="rId10" imgW="914400" imgH="241200" progId="Equation.DSMT4">
                  <p:embed/>
                  <p:pic>
                    <p:nvPicPr>
                      <p:cNvPr id="0" name=""/>
                      <p:cNvPicPr/>
                      <p:nvPr/>
                    </p:nvPicPr>
                    <p:blipFill>
                      <a:blip r:embed="rId11"/>
                      <a:stretch>
                        <a:fillRect/>
                      </a:stretch>
                    </p:blipFill>
                    <p:spPr>
                      <a:xfrm>
                        <a:off x="6645964" y="3015796"/>
                        <a:ext cx="1464913" cy="38657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720322749"/>
              </p:ext>
            </p:extLst>
          </p:nvPr>
        </p:nvGraphicFramePr>
        <p:xfrm>
          <a:off x="2656042" y="3886200"/>
          <a:ext cx="612775" cy="265112"/>
        </p:xfrm>
        <a:graphic>
          <a:graphicData uri="http://schemas.openxmlformats.org/presentationml/2006/ole">
            <mc:AlternateContent xmlns:mc="http://schemas.openxmlformats.org/markup-compatibility/2006">
              <mc:Choice xmlns:v="urn:schemas-microsoft-com:vml" Requires="v">
                <p:oleObj spid="_x0000_s8412" name="Equation" r:id="rId12" imgW="469800" imgH="203040" progId="Equation.DSMT4">
                  <p:embed/>
                </p:oleObj>
              </mc:Choice>
              <mc:Fallback>
                <p:oleObj name="Equation" r:id="rId12" imgW="469800" imgH="203040" progId="Equation.DSMT4">
                  <p:embed/>
                  <p:pic>
                    <p:nvPicPr>
                      <p:cNvPr id="0" name=""/>
                      <p:cNvPicPr/>
                      <p:nvPr/>
                    </p:nvPicPr>
                    <p:blipFill>
                      <a:blip r:embed="rId7"/>
                      <a:stretch>
                        <a:fillRect/>
                      </a:stretch>
                    </p:blipFill>
                    <p:spPr>
                      <a:xfrm>
                        <a:off x="2656042" y="3886200"/>
                        <a:ext cx="612775" cy="265112"/>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24139296"/>
              </p:ext>
            </p:extLst>
          </p:nvPr>
        </p:nvGraphicFramePr>
        <p:xfrm>
          <a:off x="4090988" y="3852863"/>
          <a:ext cx="728662" cy="331787"/>
        </p:xfrm>
        <a:graphic>
          <a:graphicData uri="http://schemas.openxmlformats.org/presentationml/2006/ole">
            <mc:AlternateContent xmlns:mc="http://schemas.openxmlformats.org/markup-compatibility/2006">
              <mc:Choice xmlns:v="urn:schemas-microsoft-com:vml" Requires="v">
                <p:oleObj spid="_x0000_s8413" name="Equation" r:id="rId13" imgW="558720" imgH="253800" progId="Equation.DSMT4">
                  <p:embed/>
                </p:oleObj>
              </mc:Choice>
              <mc:Fallback>
                <p:oleObj name="Equation" r:id="rId13" imgW="558720" imgH="253800" progId="Equation.DSMT4">
                  <p:embed/>
                  <p:pic>
                    <p:nvPicPr>
                      <p:cNvPr id="0" name=""/>
                      <p:cNvPicPr/>
                      <p:nvPr/>
                    </p:nvPicPr>
                    <p:blipFill>
                      <a:blip r:embed="rId14"/>
                      <a:stretch>
                        <a:fillRect/>
                      </a:stretch>
                    </p:blipFill>
                    <p:spPr>
                      <a:xfrm>
                        <a:off x="4090988" y="3852863"/>
                        <a:ext cx="728662" cy="33178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1791835923"/>
              </p:ext>
            </p:extLst>
          </p:nvPr>
        </p:nvGraphicFramePr>
        <p:xfrm>
          <a:off x="6645964" y="3877503"/>
          <a:ext cx="665769" cy="273809"/>
        </p:xfrm>
        <a:graphic>
          <a:graphicData uri="http://schemas.openxmlformats.org/presentationml/2006/ole">
            <mc:AlternateContent xmlns:mc="http://schemas.openxmlformats.org/markup-compatibility/2006">
              <mc:Choice xmlns:v="urn:schemas-microsoft-com:vml" Requires="v">
                <p:oleObj spid="_x0000_s8414" name="Equation" r:id="rId15" imgW="431640" imgH="177480" progId="Equation.DSMT4">
                  <p:embed/>
                </p:oleObj>
              </mc:Choice>
              <mc:Fallback>
                <p:oleObj name="Equation" r:id="rId15" imgW="431640" imgH="177480" progId="Equation.DSMT4">
                  <p:embed/>
                  <p:pic>
                    <p:nvPicPr>
                      <p:cNvPr id="0" name=""/>
                      <p:cNvPicPr/>
                      <p:nvPr/>
                    </p:nvPicPr>
                    <p:blipFill>
                      <a:blip r:embed="rId16"/>
                      <a:stretch>
                        <a:fillRect/>
                      </a:stretch>
                    </p:blipFill>
                    <p:spPr>
                      <a:xfrm>
                        <a:off x="6645964" y="3877503"/>
                        <a:ext cx="665769" cy="273809"/>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148129096"/>
              </p:ext>
            </p:extLst>
          </p:nvPr>
        </p:nvGraphicFramePr>
        <p:xfrm>
          <a:off x="4090988" y="4218925"/>
          <a:ext cx="2566987" cy="333375"/>
        </p:xfrm>
        <a:graphic>
          <a:graphicData uri="http://schemas.openxmlformats.org/presentationml/2006/ole">
            <mc:AlternateContent xmlns:mc="http://schemas.openxmlformats.org/markup-compatibility/2006">
              <mc:Choice xmlns:v="urn:schemas-microsoft-com:vml" Requires="v">
                <p:oleObj spid="_x0000_s8415" name="Equation" r:id="rId17" imgW="1866600" imgH="241200" progId="Equation.DSMT4">
                  <p:embed/>
                </p:oleObj>
              </mc:Choice>
              <mc:Fallback>
                <p:oleObj name="Equation" r:id="rId17" imgW="1866600" imgH="241200" progId="Equation.DSMT4">
                  <p:embed/>
                  <p:pic>
                    <p:nvPicPr>
                      <p:cNvPr id="0" name=""/>
                      <p:cNvPicPr/>
                      <p:nvPr/>
                    </p:nvPicPr>
                    <p:blipFill>
                      <a:blip r:embed="rId18"/>
                      <a:stretch>
                        <a:fillRect/>
                      </a:stretch>
                    </p:blipFill>
                    <p:spPr>
                      <a:xfrm>
                        <a:off x="4090988" y="4218925"/>
                        <a:ext cx="2566987" cy="333375"/>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1274812847"/>
              </p:ext>
            </p:extLst>
          </p:nvPr>
        </p:nvGraphicFramePr>
        <p:xfrm>
          <a:off x="1232478" y="5036992"/>
          <a:ext cx="3090863" cy="333375"/>
        </p:xfrm>
        <a:graphic>
          <a:graphicData uri="http://schemas.openxmlformats.org/presentationml/2006/ole">
            <mc:AlternateContent xmlns:mc="http://schemas.openxmlformats.org/markup-compatibility/2006">
              <mc:Choice xmlns:v="urn:schemas-microsoft-com:vml" Requires="v">
                <p:oleObj spid="_x0000_s8416" name="Equation" r:id="rId19" imgW="2247840" imgH="241200" progId="Equation.DSMT4">
                  <p:embed/>
                </p:oleObj>
              </mc:Choice>
              <mc:Fallback>
                <p:oleObj name="Equation" r:id="rId19" imgW="2247840" imgH="241200" progId="Equation.DSMT4">
                  <p:embed/>
                  <p:pic>
                    <p:nvPicPr>
                      <p:cNvPr id="0" name=""/>
                      <p:cNvPicPr/>
                      <p:nvPr/>
                    </p:nvPicPr>
                    <p:blipFill>
                      <a:blip r:embed="rId20"/>
                      <a:stretch>
                        <a:fillRect/>
                      </a:stretch>
                    </p:blipFill>
                    <p:spPr>
                      <a:xfrm>
                        <a:off x="1232478" y="5036992"/>
                        <a:ext cx="3090863" cy="333375"/>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944099981"/>
              </p:ext>
            </p:extLst>
          </p:nvPr>
        </p:nvGraphicFramePr>
        <p:xfrm>
          <a:off x="1232478" y="5461610"/>
          <a:ext cx="3090863" cy="333375"/>
        </p:xfrm>
        <a:graphic>
          <a:graphicData uri="http://schemas.openxmlformats.org/presentationml/2006/ole">
            <mc:AlternateContent xmlns:mc="http://schemas.openxmlformats.org/markup-compatibility/2006">
              <mc:Choice xmlns:v="urn:schemas-microsoft-com:vml" Requires="v">
                <p:oleObj spid="_x0000_s8417" name="Equation" r:id="rId21" imgW="2247840" imgH="241200" progId="Equation.DSMT4">
                  <p:embed/>
                </p:oleObj>
              </mc:Choice>
              <mc:Fallback>
                <p:oleObj name="Equation" r:id="rId21" imgW="2247840" imgH="241200" progId="Equation.DSMT4">
                  <p:embed/>
                  <p:pic>
                    <p:nvPicPr>
                      <p:cNvPr id="0" name=""/>
                      <p:cNvPicPr/>
                      <p:nvPr/>
                    </p:nvPicPr>
                    <p:blipFill>
                      <a:blip r:embed="rId22"/>
                      <a:stretch>
                        <a:fillRect/>
                      </a:stretch>
                    </p:blipFill>
                    <p:spPr>
                      <a:xfrm>
                        <a:off x="1232478" y="5461610"/>
                        <a:ext cx="3090863" cy="333375"/>
                      </a:xfrm>
                      <a:prstGeom prst="rect">
                        <a:avLst/>
                      </a:prstGeom>
                    </p:spPr>
                  </p:pic>
                </p:oleObj>
              </mc:Fallback>
            </mc:AlternateContent>
          </a:graphicData>
        </a:graphic>
      </p:graphicFrame>
      <p:sp>
        <p:nvSpPr>
          <p:cNvPr id="15" name="文本框 14"/>
          <p:cNvSpPr txBox="1"/>
          <p:nvPr/>
        </p:nvSpPr>
        <p:spPr>
          <a:xfrm>
            <a:off x="628081" y="6364920"/>
            <a:ext cx="7886700" cy="276999"/>
          </a:xfrm>
          <a:prstGeom prst="rect">
            <a:avLst/>
          </a:prstGeom>
          <a:noFill/>
        </p:spPr>
        <p:txBody>
          <a:bodyPr wrap="square" rtlCol="0">
            <a:spAutoFit/>
          </a:bodyPr>
          <a:lstStyle/>
          <a:p>
            <a:r>
              <a:rPr lang="en-US" altLang="zh-CN" sz="1200" dirty="0">
                <a:solidFill>
                  <a:srgbClr val="FF0000"/>
                </a:solidFill>
                <a:latin typeface="微软雅黑" panose="020B0503020204020204" pitchFamily="34" charset="-122"/>
                <a:ea typeface="微软雅黑" panose="020B0503020204020204" pitchFamily="34" charset="-122"/>
              </a:rPr>
              <a:t>Context-free grammar can describe the syntax structures of most modern programming languages</a:t>
            </a:r>
            <a:endParaRPr lang="zh-CN" altLang="en-US" sz="1200"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7086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Homework</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30484073"/>
              </p:ext>
            </p:extLst>
          </p:nvPr>
        </p:nvGraphicFramePr>
        <p:xfrm>
          <a:off x="1716232" y="1883263"/>
          <a:ext cx="2114692" cy="506645"/>
        </p:xfrm>
        <a:graphic>
          <a:graphicData uri="http://schemas.openxmlformats.org/presentationml/2006/ole">
            <mc:AlternateContent xmlns:mc="http://schemas.openxmlformats.org/markup-compatibility/2006">
              <mc:Choice xmlns:v="urn:schemas-microsoft-com:vml" Requires="v">
                <p:oleObj spid="_x0000_s10259" name="Equation" r:id="rId3" imgW="1828800" imgH="431800" progId="Equation.DSMT4">
                  <p:embed/>
                </p:oleObj>
              </mc:Choice>
              <mc:Fallback>
                <p:oleObj name="Equation" r:id="rId3" imgW="1828800" imgH="4318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6232" y="1883263"/>
                        <a:ext cx="2114692" cy="506645"/>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92551486"/>
              </p:ext>
            </p:extLst>
          </p:nvPr>
        </p:nvGraphicFramePr>
        <p:xfrm>
          <a:off x="2542451" y="5263149"/>
          <a:ext cx="2296846" cy="1438988"/>
        </p:xfrm>
        <a:graphic>
          <a:graphicData uri="http://schemas.openxmlformats.org/presentationml/2006/ole">
            <mc:AlternateContent xmlns:mc="http://schemas.openxmlformats.org/markup-compatibility/2006">
              <mc:Choice xmlns:v="urn:schemas-microsoft-com:vml" Requires="v">
                <p:oleObj spid="_x0000_s10260" name="Equation" r:id="rId5" imgW="1587500" imgH="990600" progId="Equation.DSMT4">
                  <p:embed/>
                </p:oleObj>
              </mc:Choice>
              <mc:Fallback>
                <p:oleObj name="Equation" r:id="rId5" imgW="1587500" imgH="990600" progId="Equation.DSMT4">
                  <p:embed/>
                  <p:pic>
                    <p:nvPicPr>
                      <p:cNvPr id="0" name="Object 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42451" y="5263149"/>
                        <a:ext cx="2296846" cy="1438988"/>
                      </a:xfrm>
                      <a:prstGeom prst="rect">
                        <a:avLst/>
                      </a:prstGeom>
                      <a:noFill/>
                    </p:spPr>
                  </p:pic>
                </p:oleObj>
              </mc:Fallback>
            </mc:AlternateContent>
          </a:graphicData>
        </a:graphic>
      </p:graphicFrame>
      <p:sp>
        <p:nvSpPr>
          <p:cNvPr id="6" name="Rectangle 3"/>
          <p:cNvSpPr>
            <a:spLocks noChangeArrowheads="1"/>
          </p:cNvSpPr>
          <p:nvPr/>
        </p:nvSpPr>
        <p:spPr bwMode="auto">
          <a:xfrm>
            <a:off x="828675" y="1430307"/>
            <a:ext cx="37952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tabLst/>
            </a:pPr>
            <a:r>
              <a:rPr kumimoji="0" lang="en-US" altLang="zh-CN" sz="2000"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(1) Grammar G is</a:t>
            </a:r>
            <a:endParaRPr kumimoji="0" lang="en-US" altLang="zh-CN" sz="2000" b="0" i="0" u="none" strike="noStrike" cap="none" normalizeH="0" baseline="0" dirty="0">
              <a:ln>
                <a:noFill/>
              </a:ln>
              <a:solidFill>
                <a:schemeClr val="tx1"/>
              </a:solidFill>
              <a:effectLst/>
            </a:endParaRPr>
          </a:p>
        </p:txBody>
      </p:sp>
      <p:sp>
        <p:nvSpPr>
          <p:cNvPr id="7" name="Rectangle 4"/>
          <p:cNvSpPr>
            <a:spLocks noChangeArrowheads="1"/>
          </p:cNvSpPr>
          <p:nvPr/>
        </p:nvSpPr>
        <p:spPr bwMode="auto">
          <a:xfrm>
            <a:off x="789140" y="3481658"/>
            <a:ext cx="756458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0" algn="l" defTabSz="914400" rtl="0" eaLnBrk="0" fontAlgn="base" latinLnBrk="0" hangingPunct="0">
              <a:lnSpc>
                <a:spcPct val="100000"/>
              </a:lnSpc>
              <a:spcBef>
                <a:spcPct val="0"/>
              </a:spcBef>
              <a:spcAft>
                <a:spcPct val="0"/>
              </a:spcAft>
              <a:buClrTx/>
              <a:buSzTx/>
              <a:tabLst/>
            </a:pPr>
            <a:r>
              <a:rPr kumimoji="0" lang="en-US" altLang="zh-CN" b="0" i="0" u="none" strike="noStrike" cap="none" normalizeH="0" baseline="0" dirty="0">
                <a:ln>
                  <a:noFill/>
                </a:ln>
                <a:solidFill>
                  <a:schemeClr val="tx1"/>
                </a:solidFill>
                <a:effectLst/>
                <a:latin typeface="等线" panose="02010600030101010101" pitchFamily="2" charset="-122"/>
                <a:ea typeface="等线" panose="02010600030101010101" pitchFamily="2" charset="-122"/>
                <a:cs typeface="Times New Roman" panose="02020603050405020304" pitchFamily="18" charset="0"/>
              </a:rPr>
              <a:t>(2) Write a grammar, whose specified language is the set of odd numbers and each odd number does not start with 0.</a:t>
            </a:r>
            <a:endParaRPr kumimoji="0" lang="en-US" altLang="zh-CN" b="0" i="0" u="none" strike="noStrike" cap="none" normalizeH="0" baseline="0" dirty="0">
              <a:ln>
                <a:noFill/>
              </a:ln>
              <a:solidFill>
                <a:schemeClr val="tx1"/>
              </a:solidFill>
              <a:effectLst/>
            </a:endParaRPr>
          </a:p>
        </p:txBody>
      </p:sp>
      <p:sp>
        <p:nvSpPr>
          <p:cNvPr id="8" name="矩形 7"/>
          <p:cNvSpPr/>
          <p:nvPr/>
        </p:nvSpPr>
        <p:spPr>
          <a:xfrm>
            <a:off x="1098115" y="2494455"/>
            <a:ext cx="8081058" cy="646331"/>
          </a:xfrm>
          <a:prstGeom prst="rect">
            <a:avLst/>
          </a:prstGeom>
        </p:spPr>
        <p:txBody>
          <a:bodyPr wrap="none">
            <a:spAutoFit/>
          </a:bodyPr>
          <a:lstStyle/>
          <a:p>
            <a:pPr lvl="0" eaLnBrk="0" fontAlgn="base" hangingPunct="0">
              <a:spcBef>
                <a:spcPct val="0"/>
              </a:spcBef>
              <a:spcAft>
                <a:spcPct val="0"/>
              </a:spcAft>
            </a:pPr>
            <a:r>
              <a:rPr lang="en-US" altLang="zh-CN" dirty="0">
                <a:latin typeface="等线" panose="02010600030101010101" pitchFamily="2" charset="-122"/>
                <a:ea typeface="等线" panose="02010600030101010101" pitchFamily="2" charset="-122"/>
                <a:cs typeface="Times New Roman" panose="02020603050405020304" pitchFamily="18" charset="0"/>
              </a:rPr>
              <a:t>What is the language L(G) specified by G?</a:t>
            </a:r>
          </a:p>
          <a:p>
            <a:pPr eaLnBrk="0" fontAlgn="base" hangingPunct="0">
              <a:spcBef>
                <a:spcPct val="0"/>
              </a:spcBef>
              <a:spcAft>
                <a:spcPct val="0"/>
              </a:spcAft>
            </a:pPr>
            <a:r>
              <a:rPr lang="en-US" altLang="zh-CN" dirty="0">
                <a:latin typeface="等线" panose="02010600030101010101" pitchFamily="2" charset="-122"/>
                <a:ea typeface="等线" panose="02010600030101010101" pitchFamily="2" charset="-122"/>
                <a:cs typeface="Times New Roman" panose="02020603050405020304" pitchFamily="18" charset="0"/>
              </a:rPr>
              <a:t>Write the leftmost and rightmost derivations of the sentences 0127, 34 and 568.</a:t>
            </a:r>
            <a:endParaRPr lang="en-US" altLang="zh-CN" dirty="0"/>
          </a:p>
        </p:txBody>
      </p:sp>
      <p:sp>
        <p:nvSpPr>
          <p:cNvPr id="9" name="矩形 8"/>
          <p:cNvSpPr/>
          <p:nvPr/>
        </p:nvSpPr>
        <p:spPr>
          <a:xfrm>
            <a:off x="828675" y="4607361"/>
            <a:ext cx="6107257" cy="369332"/>
          </a:xfrm>
          <a:prstGeom prst="rect">
            <a:avLst/>
          </a:prstGeom>
        </p:spPr>
        <p:txBody>
          <a:bodyPr wrap="square">
            <a:spAutoFit/>
          </a:bodyPr>
          <a:lstStyle/>
          <a:p>
            <a:pPr lvl="0" eaLnBrk="0" fontAlgn="base" hangingPunct="0">
              <a:spcBef>
                <a:spcPct val="0"/>
              </a:spcBef>
              <a:spcAft>
                <a:spcPct val="0"/>
              </a:spcAft>
            </a:pPr>
            <a:r>
              <a:rPr lang="en-US" altLang="zh-CN" dirty="0">
                <a:latin typeface="等线" panose="02010600030101010101" pitchFamily="2" charset="-122"/>
                <a:ea typeface="等线" panose="02010600030101010101" pitchFamily="2" charset="-122"/>
                <a:cs typeface="Times New Roman" panose="02020603050405020304" pitchFamily="18" charset="0"/>
              </a:rPr>
              <a:t>(3) Write the grammars for the following languages</a:t>
            </a:r>
            <a:endParaRPr lang="en-US" altLang="zh-CN" dirty="0"/>
          </a:p>
        </p:txBody>
      </p:sp>
    </p:spTree>
    <p:extLst>
      <p:ext uri="{BB962C8B-B14F-4D97-AF65-F5344CB8AC3E}">
        <p14:creationId xmlns:p14="http://schemas.microsoft.com/office/powerpoint/2010/main" val="3524092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9411639_TF03431380_TF03431380" id="{9AE2BD50-F2AD-48C6-8A81-F7D7390F9E40}" vid="{822244C9-F44A-41EE-AAAB-DAE7A533DA64}"/>
    </a:ext>
  </a:extLst>
</a:theme>
</file>

<file path=ppt/theme/theme2.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8CDDBB83-77C1-4099-A0AA-289882E745E2}">
  <ds:schemaRefs>
    <ds:schemaRef ds:uri="http://schemas.microsoft.com/office/infopath/2007/PartnerControls"/>
    <ds:schemaRef ds:uri="http://purl.org/dc/dcmitype/"/>
    <ds:schemaRef ds:uri="http://purl.org/dc/elements/1.1/"/>
    <ds:schemaRef ds:uri="4873beb7-5857-4685-be1f-d57550cc96cc"/>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1272</Words>
  <Application>Microsoft Office PowerPoint</Application>
  <PresentationFormat>全屏显示(4:3)</PresentationFormat>
  <Paragraphs>106</Paragraphs>
  <Slides>15</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15</vt:i4>
      </vt:variant>
    </vt:vector>
  </HeadingPairs>
  <TitlesOfParts>
    <vt:vector size="22" baseType="lpstr">
      <vt:lpstr>等线</vt:lpstr>
      <vt:lpstr>微软雅黑</vt:lpstr>
      <vt:lpstr>Arial</vt:lpstr>
      <vt:lpstr>Euphemia</vt:lpstr>
      <vt:lpstr>Wingdings</vt:lpstr>
      <vt:lpstr>学术文献 16x9</vt:lpstr>
      <vt:lpstr>Equation</vt:lpstr>
      <vt:lpstr>Compilers</vt:lpstr>
      <vt:lpstr>Grammar Description</vt:lpstr>
      <vt:lpstr>2.0 Why We Need Grammar</vt:lpstr>
      <vt:lpstr>2.1 Some Concepts</vt:lpstr>
      <vt:lpstr>2.2 Context-free Grammar</vt:lpstr>
      <vt:lpstr>2.2 Context-free Grammar – Formal Definition</vt:lpstr>
      <vt:lpstr>2.2 Context-free Grammar – Notational Conventions</vt:lpstr>
      <vt:lpstr>2.2 Context-free Grammar – Notational Conventions</vt:lpstr>
      <vt:lpstr>2.2 Context-free Grammar – Derivations</vt:lpstr>
      <vt:lpstr>2.2 Context-free Grammar – Derivations</vt:lpstr>
      <vt:lpstr>2.2 Context-free Grammar – Derivations</vt:lpstr>
      <vt:lpstr>Parse Tree</vt:lpstr>
      <vt:lpstr>Ambiguity</vt:lpstr>
      <vt:lpstr>An overview of formal languages</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2017-04-09T02:54:44Z</dcterms:created>
  <dcterms:modified xsi:type="dcterms:W3CDTF">2020-04-06T05:58:35Z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