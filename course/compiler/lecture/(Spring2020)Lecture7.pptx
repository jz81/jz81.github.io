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47"/>
  </p:notesMasterIdLst>
  <p:handoutMasterIdLst>
    <p:handoutMasterId r:id="rId48"/>
  </p:handoutMasterIdLst>
  <p:sldIdLst>
    <p:sldId id="256" r:id="rId5"/>
    <p:sldId id="261" r:id="rId6"/>
    <p:sldId id="278" r:id="rId7"/>
    <p:sldId id="279" r:id="rId8"/>
    <p:sldId id="280" r:id="rId9"/>
    <p:sldId id="281" r:id="rId10"/>
    <p:sldId id="282" r:id="rId11"/>
    <p:sldId id="283" r:id="rId12"/>
    <p:sldId id="284" r:id="rId13"/>
    <p:sldId id="285" r:id="rId14"/>
    <p:sldId id="286" r:id="rId15"/>
    <p:sldId id="287" r:id="rId16"/>
    <p:sldId id="316" r:id="rId17"/>
    <p:sldId id="288" r:id="rId18"/>
    <p:sldId id="289" r:id="rId19"/>
    <p:sldId id="290" r:id="rId20"/>
    <p:sldId id="291" r:id="rId21"/>
    <p:sldId id="317" r:id="rId22"/>
    <p:sldId id="292" r:id="rId23"/>
    <p:sldId id="293" r:id="rId24"/>
    <p:sldId id="294" r:id="rId25"/>
    <p:sldId id="295" r:id="rId26"/>
    <p:sldId id="296" r:id="rId27"/>
    <p:sldId id="297" r:id="rId28"/>
    <p:sldId id="298" r:id="rId29"/>
    <p:sldId id="299" r:id="rId30"/>
    <p:sldId id="300" r:id="rId31"/>
    <p:sldId id="302" r:id="rId32"/>
    <p:sldId id="301"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1430" y="101"/>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2020/5/16</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2020/5/16</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2020/5/16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2020/5/16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2020/5/16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2020/5/16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2020/5/16</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2020/5/16</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2020/5/16</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2020/5/16</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2020/5/16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2020/5/16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2020/5/16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2020/5/16</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png"/><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3.wmf"/><Relationship Id="rId5" Type="http://schemas.openxmlformats.org/officeDocument/2006/relationships/oleObject" Target="../embeddings/oleObject3.bin"/><Relationship Id="rId4" Type="http://schemas.openxmlformats.org/officeDocument/2006/relationships/image" Target="../media/image22.wmf"/></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147369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(jzhang@njust.edu.cn)</a:t>
            </a:r>
          </a:p>
        </p:txBody>
      </p:sp>
      <p:pic>
        <p:nvPicPr>
          <p:cNvPr id="4" name="图片占位符 3" descr="桌上一本打开的书，书架在背景中模糊显示" title="示例图片"/>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r>
              <a:rPr lang="en-US" altLang="zh-CN" dirty="0"/>
              <a:t>Intermediate- Code</a:t>
            </a:r>
            <a:br>
              <a:rPr lang="en-US" altLang="zh-CN" dirty="0"/>
            </a:br>
            <a:r>
              <a:rPr lang="en-US" altLang="zh-CN" dirty="0"/>
              <a:t>Generation</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Outlines</a:t>
            </a:r>
            <a:endParaRPr lang="zh-CN" altLang="en-US" dirty="0"/>
          </a:p>
        </p:txBody>
      </p:sp>
      <p:sp>
        <p:nvSpPr>
          <p:cNvPr id="3" name="内容占位符 2"/>
          <p:cNvSpPr>
            <a:spLocks noGrp="1"/>
          </p:cNvSpPr>
          <p:nvPr>
            <p:ph idx="1"/>
          </p:nvPr>
        </p:nvSpPr>
        <p:spPr/>
        <p:txBody>
          <a:bodyPr/>
          <a:lstStyle/>
          <a:p>
            <a:r>
              <a:rPr lang="en-US" altLang="zh-CN" dirty="0"/>
              <a:t>Introduction</a:t>
            </a:r>
          </a:p>
          <a:p>
            <a:r>
              <a:rPr lang="en-US" altLang="zh-CN" dirty="0"/>
              <a:t>Variants of Syntax Trees</a:t>
            </a:r>
          </a:p>
          <a:p>
            <a:r>
              <a:rPr lang="en-US" altLang="zh-CN" dirty="0"/>
              <a:t>Three-Address Code</a:t>
            </a:r>
          </a:p>
          <a:p>
            <a:r>
              <a:rPr lang="en-US" altLang="zh-CN" dirty="0"/>
              <a:t>Types and Declarations</a:t>
            </a:r>
          </a:p>
          <a:p>
            <a:r>
              <a:rPr lang="en-US" altLang="zh-CN" dirty="0"/>
              <a:t>Translation of Expressions</a:t>
            </a:r>
          </a:p>
          <a:p>
            <a:r>
              <a:rPr lang="en-US" altLang="zh-CN" dirty="0"/>
              <a:t>Type Checking</a:t>
            </a:r>
          </a:p>
          <a:p>
            <a:r>
              <a:rPr lang="en-US" altLang="zh-CN" dirty="0"/>
              <a:t>Control Flow</a:t>
            </a:r>
          </a:p>
          <a:p>
            <a:r>
              <a:rPr lang="en-US" altLang="zh-CN" dirty="0"/>
              <a:t>Switch- Statements</a:t>
            </a:r>
          </a:p>
          <a:p>
            <a:r>
              <a:rPr lang="it-IT" altLang="zh-CN" dirty="0"/>
              <a:t>Intermediate Code for Procedures</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95570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Introduction</a:t>
            </a:r>
            <a:endParaRPr lang="zh-CN" altLang="en-US" dirty="0"/>
          </a:p>
        </p:txBody>
      </p:sp>
      <p:sp>
        <p:nvSpPr>
          <p:cNvPr id="3" name="内容占位符 2"/>
          <p:cNvSpPr>
            <a:spLocks noGrp="1"/>
          </p:cNvSpPr>
          <p:nvPr>
            <p:ph idx="1"/>
          </p:nvPr>
        </p:nvSpPr>
        <p:spPr>
          <a:xfrm>
            <a:off x="828675" y="1600200"/>
            <a:ext cx="7486650" cy="3701143"/>
          </a:xfrm>
        </p:spPr>
        <p:txBody>
          <a:bodyPr/>
          <a:lstStyle/>
          <a:p>
            <a:pPr>
              <a:lnSpc>
                <a:spcPct val="100000"/>
              </a:lnSpc>
            </a:pPr>
            <a:r>
              <a:rPr lang="en-US" altLang="zh-CN" dirty="0"/>
              <a:t>we assume that a compiler front end is organized as follows, where parsing, static checking, and intermediate-code generation are done sequentially; sometimes they can be combined and folded into parsing.</a:t>
            </a:r>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r>
              <a:rPr lang="en-US" altLang="zh-CN" dirty="0"/>
              <a:t>In the process of translating a program in a given source language into code for a given target machine, a compiler may construct a sequence of intermediate representations. High-level representations are close to the source language and low-level representations are close to the target machine.</a:t>
            </a:r>
          </a:p>
          <a:p>
            <a:pPr>
              <a:lnSpc>
                <a:spcPct val="100000"/>
              </a:lnSpc>
            </a:pPr>
            <a:endParaRPr lang="en-US" altLang="zh-CN" dirty="0"/>
          </a:p>
        </p:txBody>
      </p:sp>
      <p:pic>
        <p:nvPicPr>
          <p:cNvPr id="4" name="图片 3"/>
          <p:cNvPicPr>
            <a:picLocks noChangeAspect="1"/>
          </p:cNvPicPr>
          <p:nvPr/>
        </p:nvPicPr>
        <p:blipFill>
          <a:blip r:embed="rId2"/>
          <a:stretch>
            <a:fillRect/>
          </a:stretch>
        </p:blipFill>
        <p:spPr>
          <a:xfrm>
            <a:off x="1302884" y="2505075"/>
            <a:ext cx="6124575" cy="1457325"/>
          </a:xfrm>
          <a:prstGeom prst="rect">
            <a:avLst/>
          </a:prstGeom>
        </p:spPr>
      </p:pic>
      <p:pic>
        <p:nvPicPr>
          <p:cNvPr id="5" name="图片 4"/>
          <p:cNvPicPr>
            <a:picLocks noChangeAspect="1"/>
          </p:cNvPicPr>
          <p:nvPr/>
        </p:nvPicPr>
        <p:blipFill>
          <a:blip r:embed="rId3"/>
          <a:stretch>
            <a:fillRect/>
          </a:stretch>
        </p:blipFill>
        <p:spPr>
          <a:xfrm>
            <a:off x="1431828" y="5142243"/>
            <a:ext cx="5714286" cy="828571"/>
          </a:xfrm>
          <a:prstGeom prst="rect">
            <a:avLst/>
          </a:prstGeom>
        </p:spPr>
      </p:pic>
    </p:spTree>
    <p:extLst>
      <p:ext uri="{BB962C8B-B14F-4D97-AF65-F5344CB8AC3E}">
        <p14:creationId xmlns:p14="http://schemas.microsoft.com/office/powerpoint/2010/main" val="2983461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Variants of Syntax Trees</a:t>
            </a:r>
            <a:endParaRPr lang="zh-CN" altLang="en-US" dirty="0"/>
          </a:p>
        </p:txBody>
      </p:sp>
      <p:sp>
        <p:nvSpPr>
          <p:cNvPr id="3" name="内容占位符 2"/>
          <p:cNvSpPr>
            <a:spLocks noGrp="1"/>
          </p:cNvSpPr>
          <p:nvPr>
            <p:ph idx="1"/>
          </p:nvPr>
        </p:nvSpPr>
        <p:spPr/>
        <p:txBody>
          <a:bodyPr/>
          <a:lstStyle/>
          <a:p>
            <a:r>
              <a:rPr lang="en-US" altLang="zh-CN" b="1" dirty="0">
                <a:solidFill>
                  <a:srgbClr val="7030A0"/>
                </a:solidFill>
              </a:rPr>
              <a:t>Directed Acyclic Graphs (DAG)</a:t>
            </a:r>
          </a:p>
          <a:p>
            <a:pPr marL="0" indent="0">
              <a:lnSpc>
                <a:spcPct val="100000"/>
              </a:lnSpc>
              <a:buNone/>
            </a:pPr>
            <a:r>
              <a:rPr lang="en-US" altLang="zh-CN" dirty="0"/>
              <a:t>A node </a:t>
            </a:r>
            <a:r>
              <a:rPr lang="en-US" altLang="zh-CN" i="1" dirty="0"/>
              <a:t>N</a:t>
            </a:r>
            <a:r>
              <a:rPr lang="en-US" altLang="zh-CN" dirty="0"/>
              <a:t> in a DAG has more than one parent if </a:t>
            </a:r>
            <a:r>
              <a:rPr lang="en-US" altLang="zh-CN" i="1" dirty="0"/>
              <a:t>N</a:t>
            </a:r>
            <a:r>
              <a:rPr lang="en-US" altLang="zh-CN" dirty="0"/>
              <a:t> represents a common subexpression; in a syntax tree, the tree for the common sub expression would be replicated as many times as the sub expression appears in the original expression. Thus, a DAG not only represents expressions more succinctly, it gives the compiler important clues regarding the generation of efficient code to evaluate the expressions.</a:t>
            </a:r>
          </a:p>
          <a:p>
            <a:pPr marL="0" indent="0">
              <a:lnSpc>
                <a:spcPct val="100000"/>
              </a:lnSpc>
              <a:buNone/>
            </a:pPr>
            <a:r>
              <a:rPr lang="en-US" altLang="zh-CN" dirty="0"/>
              <a:t>E.g. </a:t>
            </a:r>
            <a:r>
              <a:rPr lang="pt-BR" altLang="zh-CN" dirty="0"/>
              <a:t>a + a * (b - c) + (b - c) * d</a:t>
            </a:r>
          </a:p>
          <a:p>
            <a:pPr marL="0" indent="0">
              <a:lnSpc>
                <a:spcPct val="100000"/>
              </a:lnSpc>
              <a:buNone/>
            </a:pPr>
            <a:endParaRPr lang="zh-CN" altLang="en-US" dirty="0"/>
          </a:p>
        </p:txBody>
      </p:sp>
      <p:pic>
        <p:nvPicPr>
          <p:cNvPr id="4" name="图片 3"/>
          <p:cNvPicPr>
            <a:picLocks noChangeAspect="1"/>
          </p:cNvPicPr>
          <p:nvPr/>
        </p:nvPicPr>
        <p:blipFill>
          <a:blip r:embed="rId2"/>
          <a:stretch>
            <a:fillRect/>
          </a:stretch>
        </p:blipFill>
        <p:spPr>
          <a:xfrm>
            <a:off x="1161621" y="4215600"/>
            <a:ext cx="2247619" cy="1695238"/>
          </a:xfrm>
          <a:prstGeom prst="rect">
            <a:avLst/>
          </a:prstGeom>
        </p:spPr>
      </p:pic>
      <p:pic>
        <p:nvPicPr>
          <p:cNvPr id="5" name="图片 4"/>
          <p:cNvPicPr>
            <a:picLocks noChangeAspect="1"/>
          </p:cNvPicPr>
          <p:nvPr/>
        </p:nvPicPr>
        <p:blipFill>
          <a:blip r:embed="rId3"/>
          <a:stretch>
            <a:fillRect/>
          </a:stretch>
        </p:blipFill>
        <p:spPr>
          <a:xfrm>
            <a:off x="3990378" y="4215600"/>
            <a:ext cx="4323809" cy="1714286"/>
          </a:xfrm>
          <a:prstGeom prst="rect">
            <a:avLst/>
          </a:prstGeom>
        </p:spPr>
      </p:pic>
    </p:spTree>
    <p:extLst>
      <p:ext uri="{BB962C8B-B14F-4D97-AF65-F5344CB8AC3E}">
        <p14:creationId xmlns:p14="http://schemas.microsoft.com/office/powerpoint/2010/main" val="413214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a:t>
            </a:r>
            <a:endParaRPr lang="zh-CN" altLang="en-US" dirty="0"/>
          </a:p>
        </p:txBody>
      </p:sp>
      <p:sp>
        <p:nvSpPr>
          <p:cNvPr id="3" name="内容占位符 2"/>
          <p:cNvSpPr>
            <a:spLocks noGrp="1"/>
          </p:cNvSpPr>
          <p:nvPr>
            <p:ph idx="1"/>
          </p:nvPr>
        </p:nvSpPr>
        <p:spPr>
          <a:xfrm>
            <a:off x="828675" y="1600200"/>
            <a:ext cx="7486650" cy="1709057"/>
          </a:xfrm>
        </p:spPr>
        <p:txBody>
          <a:bodyPr/>
          <a:lstStyle/>
          <a:p>
            <a:r>
              <a:rPr lang="en-US" altLang="zh-CN" dirty="0"/>
              <a:t>In three-address code, there is at most one operator on the right side of an instruction; that is, no built-up arithmetic expressions are permitted.</a:t>
            </a:r>
          </a:p>
          <a:p>
            <a:pPr marL="0" indent="0">
              <a:buNone/>
            </a:pPr>
            <a:r>
              <a:rPr lang="en-US" altLang="zh-CN" dirty="0"/>
              <a:t>   E.g. </a:t>
            </a:r>
            <a:r>
              <a:rPr lang="en-US" altLang="zh-CN" dirty="0" err="1"/>
              <a:t>x+y</a:t>
            </a:r>
            <a:r>
              <a:rPr lang="en-US" altLang="zh-CN" dirty="0"/>
              <a:t>*z</a:t>
            </a:r>
          </a:p>
          <a:p>
            <a:pPr marL="0" indent="0">
              <a:buNone/>
            </a:pPr>
            <a:r>
              <a:rPr lang="en-US" altLang="zh-CN" dirty="0"/>
              <a:t>   Three-Address Code: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528589215"/>
              </p:ext>
            </p:extLst>
          </p:nvPr>
        </p:nvGraphicFramePr>
        <p:xfrm>
          <a:off x="3155949" y="2522083"/>
          <a:ext cx="928215" cy="710973"/>
        </p:xfrm>
        <a:graphic>
          <a:graphicData uri="http://schemas.openxmlformats.org/presentationml/2006/ole">
            <mc:AlternateContent xmlns:mc="http://schemas.openxmlformats.org/markup-compatibility/2006">
              <mc:Choice xmlns:v="urn:schemas-microsoft-com:vml" Requires="v">
                <p:oleObj spid="_x0000_s1116" name="Equation" r:id="rId3" imgW="596880" imgH="457200" progId="Equation.DSMT4">
                  <p:embed/>
                </p:oleObj>
              </mc:Choice>
              <mc:Fallback>
                <p:oleObj name="Equation" r:id="rId3" imgW="596880" imgH="457200" progId="Equation.DSMT4">
                  <p:embed/>
                  <p:pic>
                    <p:nvPicPr>
                      <p:cNvPr id="0" name=""/>
                      <p:cNvPicPr/>
                      <p:nvPr/>
                    </p:nvPicPr>
                    <p:blipFill>
                      <a:blip r:embed="rId4"/>
                      <a:stretch>
                        <a:fillRect/>
                      </a:stretch>
                    </p:blipFill>
                    <p:spPr>
                      <a:xfrm>
                        <a:off x="3155949" y="2522083"/>
                        <a:ext cx="928215" cy="710973"/>
                      </a:xfrm>
                      <a:prstGeom prst="rect">
                        <a:avLst/>
                      </a:prstGeom>
                    </p:spPr>
                  </p:pic>
                </p:oleObj>
              </mc:Fallback>
            </mc:AlternateContent>
          </a:graphicData>
        </a:graphic>
      </p:graphicFrame>
      <p:pic>
        <p:nvPicPr>
          <p:cNvPr id="5" name="图片 4"/>
          <p:cNvPicPr>
            <a:picLocks noChangeAspect="1"/>
          </p:cNvPicPr>
          <p:nvPr/>
        </p:nvPicPr>
        <p:blipFill>
          <a:blip r:embed="rId5"/>
          <a:stretch>
            <a:fillRect/>
          </a:stretch>
        </p:blipFill>
        <p:spPr>
          <a:xfrm>
            <a:off x="1684316" y="3309257"/>
            <a:ext cx="5898910" cy="3113314"/>
          </a:xfrm>
          <a:prstGeom prst="rect">
            <a:avLst/>
          </a:prstGeom>
        </p:spPr>
      </p:pic>
    </p:spTree>
    <p:extLst>
      <p:ext uri="{BB962C8B-B14F-4D97-AF65-F5344CB8AC3E}">
        <p14:creationId xmlns:p14="http://schemas.microsoft.com/office/powerpoint/2010/main" val="130017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 Addresses and Instructions</a:t>
            </a:r>
            <a:endParaRPr lang="zh-CN" altLang="en-US" dirty="0"/>
          </a:p>
        </p:txBody>
      </p:sp>
      <p:sp>
        <p:nvSpPr>
          <p:cNvPr id="3" name="内容占位符 2"/>
          <p:cNvSpPr>
            <a:spLocks noGrp="1"/>
          </p:cNvSpPr>
          <p:nvPr>
            <p:ph idx="1"/>
          </p:nvPr>
        </p:nvSpPr>
        <p:spPr/>
        <p:txBody>
          <a:bodyPr>
            <a:normAutofit/>
          </a:bodyPr>
          <a:lstStyle/>
          <a:p>
            <a:r>
              <a:rPr lang="en-US" altLang="zh-CN" sz="1600" dirty="0">
                <a:solidFill>
                  <a:srgbClr val="7030A0"/>
                </a:solidFill>
              </a:rPr>
              <a:t>Addresses</a:t>
            </a:r>
          </a:p>
          <a:p>
            <a:pPr lvl="1"/>
            <a:r>
              <a:rPr lang="en-US" altLang="zh-CN" sz="1300" dirty="0">
                <a:solidFill>
                  <a:srgbClr val="0070C0"/>
                </a:solidFill>
              </a:rPr>
              <a:t>A </a:t>
            </a:r>
            <a:r>
              <a:rPr lang="en-US" altLang="zh-CN" sz="1300" i="1" dirty="0">
                <a:solidFill>
                  <a:srgbClr val="0070C0"/>
                </a:solidFill>
              </a:rPr>
              <a:t>name</a:t>
            </a:r>
            <a:r>
              <a:rPr lang="en-US" altLang="zh-CN" sz="1300" dirty="0">
                <a:solidFill>
                  <a:srgbClr val="0070C0"/>
                </a:solidFill>
              </a:rPr>
              <a:t>.</a:t>
            </a:r>
          </a:p>
          <a:p>
            <a:pPr lvl="1"/>
            <a:r>
              <a:rPr lang="en-US" altLang="zh-CN" sz="1300" dirty="0">
                <a:solidFill>
                  <a:srgbClr val="0070C0"/>
                </a:solidFill>
              </a:rPr>
              <a:t>A </a:t>
            </a:r>
            <a:r>
              <a:rPr lang="en-US" altLang="zh-CN" sz="1300" i="1" dirty="0">
                <a:solidFill>
                  <a:srgbClr val="0070C0"/>
                </a:solidFill>
              </a:rPr>
              <a:t>constant</a:t>
            </a:r>
            <a:r>
              <a:rPr lang="en-US" altLang="zh-CN" sz="1300" dirty="0">
                <a:solidFill>
                  <a:srgbClr val="0070C0"/>
                </a:solidFill>
              </a:rPr>
              <a:t>.</a:t>
            </a:r>
          </a:p>
          <a:p>
            <a:pPr lvl="1"/>
            <a:r>
              <a:rPr lang="en-US" altLang="zh-CN" sz="1300" dirty="0">
                <a:solidFill>
                  <a:srgbClr val="0070C0"/>
                </a:solidFill>
              </a:rPr>
              <a:t>A </a:t>
            </a:r>
            <a:r>
              <a:rPr lang="en-US" altLang="zh-CN" sz="1300" i="1" dirty="0">
                <a:solidFill>
                  <a:srgbClr val="0070C0"/>
                </a:solidFill>
              </a:rPr>
              <a:t>compiler-generated temporary.</a:t>
            </a:r>
          </a:p>
          <a:p>
            <a:r>
              <a:rPr lang="en-US" altLang="zh-CN" sz="1600" dirty="0">
                <a:solidFill>
                  <a:srgbClr val="7030A0"/>
                </a:solidFill>
              </a:rPr>
              <a:t>common three-address instruction forms</a:t>
            </a:r>
          </a:p>
          <a:p>
            <a:pPr lvl="1"/>
            <a:r>
              <a:rPr lang="en-US" altLang="zh-CN" sz="1300" dirty="0">
                <a:solidFill>
                  <a:srgbClr val="0070C0"/>
                </a:solidFill>
              </a:rPr>
              <a:t>assignment instructions of the form </a:t>
            </a:r>
            <a:r>
              <a:rPr lang="en-US" altLang="zh-CN" sz="1300" i="1" dirty="0">
                <a:solidFill>
                  <a:srgbClr val="7030A0"/>
                </a:solidFill>
              </a:rPr>
              <a:t>x = y op z</a:t>
            </a:r>
            <a:r>
              <a:rPr lang="en-US" altLang="zh-CN" sz="1300" dirty="0">
                <a:solidFill>
                  <a:srgbClr val="0070C0"/>
                </a:solidFill>
              </a:rPr>
              <a:t>.</a:t>
            </a:r>
          </a:p>
          <a:p>
            <a:pPr lvl="1"/>
            <a:r>
              <a:rPr lang="en-US" altLang="zh-CN" sz="1300" dirty="0">
                <a:solidFill>
                  <a:srgbClr val="0070C0"/>
                </a:solidFill>
              </a:rPr>
              <a:t>assignments of the form </a:t>
            </a:r>
            <a:r>
              <a:rPr lang="en-US" altLang="zh-CN" sz="1300" i="1" dirty="0">
                <a:solidFill>
                  <a:srgbClr val="7030A0"/>
                </a:solidFill>
              </a:rPr>
              <a:t>x = op y</a:t>
            </a:r>
            <a:r>
              <a:rPr lang="en-US" altLang="zh-CN" sz="1300" dirty="0">
                <a:solidFill>
                  <a:srgbClr val="0070C0"/>
                </a:solidFill>
              </a:rPr>
              <a:t>, where </a:t>
            </a:r>
            <a:r>
              <a:rPr lang="en-US" altLang="zh-CN" sz="1300" i="1" dirty="0">
                <a:solidFill>
                  <a:srgbClr val="7030A0"/>
                </a:solidFill>
              </a:rPr>
              <a:t>op</a:t>
            </a:r>
            <a:r>
              <a:rPr lang="en-US" altLang="zh-CN" sz="1300" dirty="0">
                <a:solidFill>
                  <a:srgbClr val="0070C0"/>
                </a:solidFill>
              </a:rPr>
              <a:t> is a unary operation.</a:t>
            </a:r>
          </a:p>
          <a:p>
            <a:pPr lvl="1"/>
            <a:r>
              <a:rPr lang="en-US" altLang="zh-CN" sz="1300" dirty="0">
                <a:solidFill>
                  <a:srgbClr val="0070C0"/>
                </a:solidFill>
              </a:rPr>
              <a:t>copy instructions of the form </a:t>
            </a:r>
            <a:r>
              <a:rPr lang="en-US" altLang="zh-CN" sz="1300" i="1" dirty="0">
                <a:solidFill>
                  <a:srgbClr val="7030A0"/>
                </a:solidFill>
              </a:rPr>
              <a:t>x = y</a:t>
            </a:r>
            <a:r>
              <a:rPr lang="en-US" altLang="zh-CN" sz="1300" dirty="0">
                <a:solidFill>
                  <a:srgbClr val="0070C0"/>
                </a:solidFill>
              </a:rPr>
              <a:t>.</a:t>
            </a:r>
          </a:p>
          <a:p>
            <a:pPr lvl="1"/>
            <a:r>
              <a:rPr lang="en-US" altLang="zh-CN" sz="1300" dirty="0">
                <a:solidFill>
                  <a:srgbClr val="0070C0"/>
                </a:solidFill>
              </a:rPr>
              <a:t>an unconditional jump </a:t>
            </a:r>
            <a:r>
              <a:rPr lang="en-US" altLang="zh-CN" sz="1300" i="1" dirty="0" err="1">
                <a:solidFill>
                  <a:srgbClr val="7030A0"/>
                </a:solidFill>
              </a:rPr>
              <a:t>goto</a:t>
            </a:r>
            <a:r>
              <a:rPr lang="en-US" altLang="zh-CN" sz="1300" i="1" dirty="0">
                <a:solidFill>
                  <a:srgbClr val="7030A0"/>
                </a:solidFill>
              </a:rPr>
              <a:t> L</a:t>
            </a:r>
            <a:r>
              <a:rPr lang="en-US" altLang="zh-CN" sz="1300" dirty="0">
                <a:solidFill>
                  <a:srgbClr val="0070C0"/>
                </a:solidFill>
              </a:rPr>
              <a:t>.</a:t>
            </a:r>
          </a:p>
          <a:p>
            <a:pPr lvl="1"/>
            <a:r>
              <a:rPr lang="en-US" altLang="zh-CN" sz="1300" dirty="0">
                <a:solidFill>
                  <a:srgbClr val="0070C0"/>
                </a:solidFill>
              </a:rPr>
              <a:t>conditional jumps of the form</a:t>
            </a:r>
            <a:r>
              <a:rPr lang="en-US" altLang="zh-CN" sz="1300" i="1" dirty="0">
                <a:solidFill>
                  <a:srgbClr val="0070C0"/>
                </a:solidFill>
              </a:rPr>
              <a:t> </a:t>
            </a:r>
            <a:r>
              <a:rPr lang="en-US" altLang="zh-CN" sz="1300" i="1" dirty="0">
                <a:solidFill>
                  <a:srgbClr val="7030A0"/>
                </a:solidFill>
              </a:rPr>
              <a:t>if x </a:t>
            </a:r>
            <a:r>
              <a:rPr lang="en-US" altLang="zh-CN" sz="1300" i="1" dirty="0" err="1">
                <a:solidFill>
                  <a:srgbClr val="7030A0"/>
                </a:solidFill>
              </a:rPr>
              <a:t>goto</a:t>
            </a:r>
            <a:r>
              <a:rPr lang="en-US" altLang="zh-CN" sz="1300" i="1" dirty="0">
                <a:solidFill>
                  <a:srgbClr val="7030A0"/>
                </a:solidFill>
              </a:rPr>
              <a:t> L </a:t>
            </a:r>
            <a:r>
              <a:rPr lang="en-US" altLang="zh-CN" sz="1300" dirty="0">
                <a:solidFill>
                  <a:srgbClr val="0070C0"/>
                </a:solidFill>
              </a:rPr>
              <a:t>and </a:t>
            </a:r>
            <a:r>
              <a:rPr lang="en-US" altLang="zh-CN" sz="1300" i="1" dirty="0">
                <a:solidFill>
                  <a:srgbClr val="7030A0"/>
                </a:solidFill>
              </a:rPr>
              <a:t>if False x </a:t>
            </a:r>
            <a:r>
              <a:rPr lang="en-US" altLang="zh-CN" sz="1300" i="1" dirty="0" err="1">
                <a:solidFill>
                  <a:srgbClr val="7030A0"/>
                </a:solidFill>
              </a:rPr>
              <a:t>goto</a:t>
            </a:r>
            <a:r>
              <a:rPr lang="en-US" altLang="zh-CN" sz="1300" i="1" dirty="0">
                <a:solidFill>
                  <a:srgbClr val="7030A0"/>
                </a:solidFill>
              </a:rPr>
              <a:t> L</a:t>
            </a:r>
            <a:r>
              <a:rPr lang="en-US" altLang="zh-CN" sz="1300" dirty="0">
                <a:solidFill>
                  <a:srgbClr val="0070C0"/>
                </a:solidFill>
              </a:rPr>
              <a:t>.</a:t>
            </a:r>
          </a:p>
          <a:p>
            <a:pPr lvl="1"/>
            <a:r>
              <a:rPr lang="en-US" altLang="zh-CN" sz="1300" dirty="0">
                <a:solidFill>
                  <a:srgbClr val="0070C0"/>
                </a:solidFill>
              </a:rPr>
              <a:t>conditional jumps such as </a:t>
            </a:r>
            <a:r>
              <a:rPr lang="en-US" altLang="zh-CN" sz="1300" i="1" dirty="0">
                <a:solidFill>
                  <a:srgbClr val="7030A0"/>
                </a:solidFill>
              </a:rPr>
              <a:t>if x </a:t>
            </a:r>
            <a:r>
              <a:rPr lang="en-US" altLang="zh-CN" sz="1300" i="1" dirty="0" err="1">
                <a:solidFill>
                  <a:srgbClr val="7030A0"/>
                </a:solidFill>
              </a:rPr>
              <a:t>relop</a:t>
            </a:r>
            <a:r>
              <a:rPr lang="en-US" altLang="zh-CN" sz="1300" i="1" dirty="0">
                <a:solidFill>
                  <a:srgbClr val="7030A0"/>
                </a:solidFill>
              </a:rPr>
              <a:t> y </a:t>
            </a:r>
            <a:r>
              <a:rPr lang="en-US" altLang="zh-CN" sz="1300" i="1" dirty="0" err="1">
                <a:solidFill>
                  <a:srgbClr val="7030A0"/>
                </a:solidFill>
              </a:rPr>
              <a:t>goto</a:t>
            </a:r>
            <a:r>
              <a:rPr lang="en-US" altLang="zh-CN" sz="1300" i="1" dirty="0">
                <a:solidFill>
                  <a:srgbClr val="7030A0"/>
                </a:solidFill>
              </a:rPr>
              <a:t> L</a:t>
            </a:r>
            <a:r>
              <a:rPr lang="en-US" altLang="zh-CN" sz="1300" dirty="0">
                <a:solidFill>
                  <a:srgbClr val="0070C0"/>
                </a:solidFill>
              </a:rPr>
              <a:t>,</a:t>
            </a:r>
          </a:p>
          <a:p>
            <a:pPr lvl="1"/>
            <a:r>
              <a:rPr lang="en-US" altLang="zh-CN" sz="1300" dirty="0">
                <a:solidFill>
                  <a:srgbClr val="0070C0"/>
                </a:solidFill>
              </a:rPr>
              <a:t>procedure calls and returns are implemented using the following instructions:</a:t>
            </a:r>
          </a:p>
          <a:p>
            <a:pPr marL="342900" lvl="1" indent="0">
              <a:buNone/>
            </a:pPr>
            <a:r>
              <a:rPr lang="en-US" altLang="zh-CN" sz="1300" dirty="0">
                <a:solidFill>
                  <a:srgbClr val="7030A0"/>
                </a:solidFill>
              </a:rPr>
              <a:t>    </a:t>
            </a:r>
            <a:r>
              <a:rPr lang="en-US" altLang="zh-CN" sz="1300" i="1" dirty="0" err="1">
                <a:solidFill>
                  <a:srgbClr val="7030A0"/>
                </a:solidFill>
              </a:rPr>
              <a:t>param</a:t>
            </a:r>
            <a:r>
              <a:rPr lang="en-US" altLang="zh-CN" sz="1300" i="1" dirty="0">
                <a:solidFill>
                  <a:srgbClr val="7030A0"/>
                </a:solidFill>
              </a:rPr>
              <a:t> x</a:t>
            </a:r>
            <a:r>
              <a:rPr lang="en-US" altLang="zh-CN" sz="1300" dirty="0">
                <a:solidFill>
                  <a:srgbClr val="7030A0"/>
                </a:solidFill>
              </a:rPr>
              <a:t> </a:t>
            </a:r>
            <a:r>
              <a:rPr lang="en-US" altLang="zh-CN" sz="1300" dirty="0">
                <a:solidFill>
                  <a:srgbClr val="0070C0"/>
                </a:solidFill>
              </a:rPr>
              <a:t>for parameters; </a:t>
            </a:r>
            <a:r>
              <a:rPr lang="en-US" altLang="zh-CN" sz="1300" i="1" dirty="0">
                <a:solidFill>
                  <a:srgbClr val="7030A0"/>
                </a:solidFill>
              </a:rPr>
              <a:t>call p , n </a:t>
            </a:r>
            <a:r>
              <a:rPr lang="en-US" altLang="zh-CN" sz="1300" dirty="0">
                <a:solidFill>
                  <a:srgbClr val="0070C0"/>
                </a:solidFill>
              </a:rPr>
              <a:t>and </a:t>
            </a:r>
            <a:r>
              <a:rPr lang="en-US" altLang="zh-CN" sz="1300" i="1" dirty="0">
                <a:solidFill>
                  <a:srgbClr val="7030A0"/>
                </a:solidFill>
              </a:rPr>
              <a:t>y = call p , n </a:t>
            </a:r>
            <a:r>
              <a:rPr lang="en-US" altLang="zh-CN" sz="1300" dirty="0">
                <a:solidFill>
                  <a:srgbClr val="0070C0"/>
                </a:solidFill>
              </a:rPr>
              <a:t>for procedure and function calls, </a:t>
            </a:r>
          </a:p>
          <a:p>
            <a:pPr marL="342900" lvl="1" indent="0">
              <a:buNone/>
            </a:pPr>
            <a:r>
              <a:rPr lang="en-US" altLang="zh-CN" sz="1300" dirty="0">
                <a:solidFill>
                  <a:srgbClr val="0070C0"/>
                </a:solidFill>
              </a:rPr>
              <a:t>    respectively; and return </a:t>
            </a:r>
            <a:r>
              <a:rPr lang="en-US" altLang="zh-CN" sz="1300" i="1" dirty="0">
                <a:solidFill>
                  <a:srgbClr val="7030A0"/>
                </a:solidFill>
              </a:rPr>
              <a:t>y</a:t>
            </a:r>
            <a:r>
              <a:rPr lang="en-US" altLang="zh-CN" sz="1300" dirty="0">
                <a:solidFill>
                  <a:srgbClr val="0070C0"/>
                </a:solidFill>
              </a:rPr>
              <a:t>, where </a:t>
            </a:r>
            <a:r>
              <a:rPr lang="en-US" altLang="zh-CN" sz="1300" i="1" dirty="0">
                <a:solidFill>
                  <a:srgbClr val="7030A0"/>
                </a:solidFill>
              </a:rPr>
              <a:t>y</a:t>
            </a:r>
            <a:r>
              <a:rPr lang="en-US" altLang="zh-CN" sz="1300" dirty="0">
                <a:solidFill>
                  <a:srgbClr val="0070C0"/>
                </a:solidFill>
              </a:rPr>
              <a:t>, representing a returned value, is optional.</a:t>
            </a:r>
          </a:p>
          <a:p>
            <a:pPr lvl="1"/>
            <a:r>
              <a:rPr lang="en-US" altLang="zh-CN" sz="1300" dirty="0">
                <a:solidFill>
                  <a:srgbClr val="0070C0"/>
                </a:solidFill>
              </a:rPr>
              <a:t>indexed copy instructions of the form </a:t>
            </a:r>
            <a:r>
              <a:rPr lang="en-US" altLang="zh-CN" sz="1300" i="1" dirty="0">
                <a:solidFill>
                  <a:srgbClr val="7030A0"/>
                </a:solidFill>
              </a:rPr>
              <a:t>x = y [</a:t>
            </a:r>
            <a:r>
              <a:rPr lang="en-US" altLang="zh-CN" sz="1300" i="1" dirty="0" err="1">
                <a:solidFill>
                  <a:srgbClr val="7030A0"/>
                </a:solidFill>
              </a:rPr>
              <a:t>i</a:t>
            </a:r>
            <a:r>
              <a:rPr lang="en-US" altLang="zh-CN" sz="1300" i="1" dirty="0">
                <a:solidFill>
                  <a:srgbClr val="7030A0"/>
                </a:solidFill>
              </a:rPr>
              <a:t>] </a:t>
            </a:r>
            <a:r>
              <a:rPr lang="en-US" altLang="zh-CN" sz="1300" dirty="0">
                <a:solidFill>
                  <a:srgbClr val="0070C0"/>
                </a:solidFill>
              </a:rPr>
              <a:t>and </a:t>
            </a:r>
            <a:r>
              <a:rPr lang="en-US" altLang="zh-CN" sz="1300" i="1" dirty="0">
                <a:solidFill>
                  <a:srgbClr val="7030A0"/>
                </a:solidFill>
              </a:rPr>
              <a:t>x [</a:t>
            </a:r>
            <a:r>
              <a:rPr lang="en-US" altLang="zh-CN" sz="1300" i="1" dirty="0" err="1">
                <a:solidFill>
                  <a:srgbClr val="7030A0"/>
                </a:solidFill>
              </a:rPr>
              <a:t>i</a:t>
            </a:r>
            <a:r>
              <a:rPr lang="en-US" altLang="zh-CN" sz="1300" i="1" dirty="0">
                <a:solidFill>
                  <a:srgbClr val="7030A0"/>
                </a:solidFill>
              </a:rPr>
              <a:t>] = y </a:t>
            </a:r>
            <a:r>
              <a:rPr lang="en-US" altLang="zh-CN" sz="1300" dirty="0">
                <a:solidFill>
                  <a:srgbClr val="0070C0"/>
                </a:solidFill>
              </a:rPr>
              <a:t>.</a:t>
            </a:r>
          </a:p>
          <a:p>
            <a:pPr lvl="1"/>
            <a:r>
              <a:rPr lang="en-US" altLang="zh-CN" sz="1300" dirty="0">
                <a:solidFill>
                  <a:srgbClr val="0070C0"/>
                </a:solidFill>
              </a:rPr>
              <a:t>address and pointer assignments of the form </a:t>
            </a:r>
            <a:r>
              <a:rPr lang="en-US" altLang="zh-CN" sz="1300" i="1" dirty="0">
                <a:solidFill>
                  <a:srgbClr val="7030A0"/>
                </a:solidFill>
              </a:rPr>
              <a:t>x = &amp; y </a:t>
            </a:r>
            <a:r>
              <a:rPr lang="en-US" altLang="zh-CN" sz="1300" dirty="0">
                <a:solidFill>
                  <a:srgbClr val="0070C0"/>
                </a:solidFill>
              </a:rPr>
              <a:t>, </a:t>
            </a:r>
            <a:r>
              <a:rPr lang="en-US" altLang="zh-CN" sz="1300" i="1" dirty="0">
                <a:solidFill>
                  <a:srgbClr val="7030A0"/>
                </a:solidFill>
              </a:rPr>
              <a:t>x = * y </a:t>
            </a:r>
            <a:r>
              <a:rPr lang="en-US" altLang="zh-CN" sz="1300" dirty="0">
                <a:solidFill>
                  <a:srgbClr val="0070C0"/>
                </a:solidFill>
              </a:rPr>
              <a:t>, and </a:t>
            </a:r>
            <a:r>
              <a:rPr lang="en-US" altLang="zh-CN" sz="1300" i="1" dirty="0">
                <a:solidFill>
                  <a:srgbClr val="7030A0"/>
                </a:solidFill>
              </a:rPr>
              <a:t>* x = y</a:t>
            </a:r>
            <a:r>
              <a:rPr lang="en-US" altLang="zh-CN" sz="1300" dirty="0">
                <a:solidFill>
                  <a:srgbClr val="0070C0"/>
                </a:solidFill>
              </a:rPr>
              <a:t>.</a:t>
            </a:r>
          </a:p>
          <a:p>
            <a:pPr lvl="1"/>
            <a:endParaRPr lang="zh-CN" altLang="en-US" sz="1300" dirty="0">
              <a:solidFill>
                <a:srgbClr val="7030A0"/>
              </a:solidFill>
            </a:endParaRPr>
          </a:p>
        </p:txBody>
      </p:sp>
      <p:pic>
        <p:nvPicPr>
          <p:cNvPr id="4" name="图片 3"/>
          <p:cNvPicPr>
            <a:picLocks noChangeAspect="1"/>
          </p:cNvPicPr>
          <p:nvPr/>
        </p:nvPicPr>
        <p:blipFill>
          <a:blip r:embed="rId2"/>
          <a:stretch>
            <a:fillRect/>
          </a:stretch>
        </p:blipFill>
        <p:spPr>
          <a:xfrm>
            <a:off x="6645781" y="3400485"/>
            <a:ext cx="838095" cy="971429"/>
          </a:xfrm>
          <a:prstGeom prst="rect">
            <a:avLst/>
          </a:prstGeom>
        </p:spPr>
      </p:pic>
    </p:spTree>
    <p:extLst>
      <p:ext uri="{BB962C8B-B14F-4D97-AF65-F5344CB8AC3E}">
        <p14:creationId xmlns:p14="http://schemas.microsoft.com/office/powerpoint/2010/main" val="97410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 Addresses and Instructions</a:t>
            </a:r>
            <a:endParaRPr lang="zh-CN" altLang="en-US" dirty="0"/>
          </a:p>
        </p:txBody>
      </p:sp>
      <p:sp>
        <p:nvSpPr>
          <p:cNvPr id="3" name="内容占位符 2"/>
          <p:cNvSpPr>
            <a:spLocks noGrp="1"/>
          </p:cNvSpPr>
          <p:nvPr>
            <p:ph idx="1"/>
          </p:nvPr>
        </p:nvSpPr>
        <p:spPr/>
        <p:txBody>
          <a:bodyPr/>
          <a:lstStyle/>
          <a:p>
            <a:r>
              <a:rPr lang="en-US" altLang="zh-CN" dirty="0"/>
              <a:t>E.g.</a:t>
            </a:r>
          </a:p>
          <a:p>
            <a:pPr marL="0" indent="0" algn="ctr">
              <a:buNone/>
            </a:pPr>
            <a:r>
              <a:rPr lang="en-US" altLang="zh-CN" sz="1800" dirty="0"/>
              <a:t>do </a:t>
            </a:r>
            <a:r>
              <a:rPr lang="en-US" altLang="zh-CN" sz="1800" dirty="0" err="1"/>
              <a:t>i</a:t>
            </a:r>
            <a:r>
              <a:rPr lang="en-US" altLang="zh-CN" sz="1800" dirty="0"/>
              <a:t> = </a:t>
            </a:r>
            <a:r>
              <a:rPr lang="en-US" altLang="zh-CN" sz="1800" dirty="0" err="1"/>
              <a:t>i</a:t>
            </a:r>
            <a:r>
              <a:rPr lang="en-US" altLang="zh-CN" sz="1800" dirty="0"/>
              <a:t>+ l ; while ( a [</a:t>
            </a:r>
            <a:r>
              <a:rPr lang="en-US" altLang="zh-CN" sz="1800" dirty="0" err="1"/>
              <a:t>i</a:t>
            </a:r>
            <a:r>
              <a:rPr lang="en-US" altLang="zh-CN" sz="1800" dirty="0"/>
              <a:t>] &lt; v) ;</a:t>
            </a:r>
          </a:p>
          <a:p>
            <a:pPr marL="0" indent="0" algn="ctr">
              <a:buNone/>
            </a:pPr>
            <a:endParaRPr lang="en-US" altLang="zh-CN" sz="1800" dirty="0"/>
          </a:p>
        </p:txBody>
      </p:sp>
      <p:pic>
        <p:nvPicPr>
          <p:cNvPr id="4" name="图片 3"/>
          <p:cNvPicPr>
            <a:picLocks noChangeAspect="1"/>
          </p:cNvPicPr>
          <p:nvPr/>
        </p:nvPicPr>
        <p:blipFill>
          <a:blip r:embed="rId2"/>
          <a:stretch>
            <a:fillRect/>
          </a:stretch>
        </p:blipFill>
        <p:spPr>
          <a:xfrm>
            <a:off x="1433336" y="2585486"/>
            <a:ext cx="6276190" cy="2057143"/>
          </a:xfrm>
          <a:prstGeom prst="rect">
            <a:avLst/>
          </a:prstGeom>
        </p:spPr>
      </p:pic>
    </p:spTree>
    <p:extLst>
      <p:ext uri="{BB962C8B-B14F-4D97-AF65-F5344CB8AC3E}">
        <p14:creationId xmlns:p14="http://schemas.microsoft.com/office/powerpoint/2010/main" val="192050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 Quadruples</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The description of three-address instructions specifies the components of each type of instruction, but it does not specify the representation of these instructions in a data structure. Three such representations are called "</a:t>
            </a:r>
            <a:r>
              <a:rPr lang="en-US" altLang="zh-CN" dirty="0">
                <a:solidFill>
                  <a:srgbClr val="FF0000"/>
                </a:solidFill>
              </a:rPr>
              <a:t>quadruples</a:t>
            </a:r>
            <a:r>
              <a:rPr lang="en-US" altLang="zh-CN" dirty="0"/>
              <a:t>," "</a:t>
            </a:r>
            <a:r>
              <a:rPr lang="en-US" altLang="zh-CN" dirty="0">
                <a:solidFill>
                  <a:srgbClr val="FF0000"/>
                </a:solidFill>
              </a:rPr>
              <a:t>triples</a:t>
            </a:r>
            <a:r>
              <a:rPr lang="en-US" altLang="zh-CN" dirty="0"/>
              <a:t>," and "</a:t>
            </a:r>
            <a:r>
              <a:rPr lang="en-US" altLang="zh-CN" dirty="0">
                <a:solidFill>
                  <a:srgbClr val="FF0000"/>
                </a:solidFill>
              </a:rPr>
              <a:t>indirect triples</a:t>
            </a:r>
            <a:r>
              <a:rPr lang="en-US" altLang="zh-CN" dirty="0"/>
              <a:t>.“</a:t>
            </a:r>
          </a:p>
          <a:p>
            <a:pPr>
              <a:lnSpc>
                <a:spcPct val="100000"/>
              </a:lnSpc>
            </a:pPr>
            <a:r>
              <a:rPr lang="en-US" altLang="zh-CN" b="1" dirty="0">
                <a:solidFill>
                  <a:srgbClr val="7030A0"/>
                </a:solidFill>
              </a:rPr>
              <a:t>Quadruples</a:t>
            </a:r>
          </a:p>
          <a:p>
            <a:pPr marL="0" indent="0">
              <a:lnSpc>
                <a:spcPct val="100000"/>
              </a:lnSpc>
              <a:buNone/>
            </a:pPr>
            <a:r>
              <a:rPr lang="en-US" altLang="zh-CN" dirty="0"/>
              <a:t>  A </a:t>
            </a:r>
            <a:r>
              <a:rPr lang="en-US" altLang="zh-CN" i="1" dirty="0"/>
              <a:t>quadruple</a:t>
            </a:r>
            <a:r>
              <a:rPr lang="en-US" altLang="zh-CN" dirty="0"/>
              <a:t> (or </a:t>
            </a:r>
            <a:r>
              <a:rPr lang="en-US" altLang="zh-CN" i="1" dirty="0"/>
              <a:t>quad</a:t>
            </a:r>
            <a:r>
              <a:rPr lang="en-US" altLang="zh-CN" dirty="0"/>
              <a:t> ) has four fields, which we call </a:t>
            </a:r>
            <a:r>
              <a:rPr lang="en-US" altLang="zh-CN" i="1" dirty="0"/>
              <a:t>op</a:t>
            </a:r>
            <a:r>
              <a:rPr lang="en-US" altLang="zh-CN" dirty="0"/>
              <a:t>, </a:t>
            </a:r>
            <a:r>
              <a:rPr lang="en-US" altLang="zh-CN" i="1" dirty="0" err="1"/>
              <a:t>argl</a:t>
            </a:r>
            <a:r>
              <a:rPr lang="en-US" altLang="zh-CN" dirty="0"/>
              <a:t>  </a:t>
            </a:r>
            <a:r>
              <a:rPr lang="en-US" altLang="zh-CN" i="1" dirty="0"/>
              <a:t>arg2</a:t>
            </a:r>
            <a:r>
              <a:rPr lang="en-US" altLang="zh-CN" dirty="0"/>
              <a:t> , and </a:t>
            </a:r>
            <a:r>
              <a:rPr lang="en-US" altLang="zh-CN" i="1" dirty="0"/>
              <a:t>result</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885256" y="3514725"/>
            <a:ext cx="7372350" cy="1657350"/>
          </a:xfrm>
          <a:prstGeom prst="rect">
            <a:avLst/>
          </a:prstGeom>
        </p:spPr>
      </p:pic>
      <p:pic>
        <p:nvPicPr>
          <p:cNvPr id="5" name="图片 4"/>
          <p:cNvPicPr>
            <a:picLocks noChangeAspect="1"/>
          </p:cNvPicPr>
          <p:nvPr/>
        </p:nvPicPr>
        <p:blipFill>
          <a:blip r:embed="rId3"/>
          <a:stretch>
            <a:fillRect/>
          </a:stretch>
        </p:blipFill>
        <p:spPr>
          <a:xfrm>
            <a:off x="2628590" y="5172075"/>
            <a:ext cx="3767302" cy="1566182"/>
          </a:xfrm>
          <a:prstGeom prst="rect">
            <a:avLst/>
          </a:prstGeom>
        </p:spPr>
      </p:pic>
    </p:spTree>
    <p:extLst>
      <p:ext uri="{BB962C8B-B14F-4D97-AF65-F5344CB8AC3E}">
        <p14:creationId xmlns:p14="http://schemas.microsoft.com/office/powerpoint/2010/main" val="94719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 Triples</a:t>
            </a:r>
            <a:endParaRPr lang="zh-CN" altLang="en-US" dirty="0"/>
          </a:p>
        </p:txBody>
      </p:sp>
      <p:sp>
        <p:nvSpPr>
          <p:cNvPr id="3" name="内容占位符 2"/>
          <p:cNvSpPr>
            <a:spLocks noGrp="1"/>
          </p:cNvSpPr>
          <p:nvPr>
            <p:ph idx="1"/>
          </p:nvPr>
        </p:nvSpPr>
        <p:spPr/>
        <p:txBody>
          <a:bodyPr/>
          <a:lstStyle/>
          <a:p>
            <a:r>
              <a:rPr lang="en-US" altLang="zh-CN" b="1" i="1" dirty="0">
                <a:solidFill>
                  <a:srgbClr val="7030A0"/>
                </a:solidFill>
              </a:rPr>
              <a:t>A triple</a:t>
            </a:r>
            <a:r>
              <a:rPr lang="en-US" altLang="zh-CN" dirty="0">
                <a:solidFill>
                  <a:srgbClr val="7030A0"/>
                </a:solidFill>
              </a:rPr>
              <a:t> </a:t>
            </a:r>
            <a:r>
              <a:rPr lang="en-US" altLang="zh-CN" dirty="0"/>
              <a:t>has only three fields, which we call op, arg1 , and arg2. Using triples, we refer to the result of an operation </a:t>
            </a:r>
            <a:r>
              <a:rPr lang="en-US" altLang="zh-CN" i="1" dirty="0">
                <a:solidFill>
                  <a:srgbClr val="7030A0"/>
                </a:solidFill>
              </a:rPr>
              <a:t>x op y </a:t>
            </a:r>
            <a:r>
              <a:rPr lang="en-US" altLang="zh-CN" dirty="0"/>
              <a:t>by its position, rather than by an explicit temporary name.</a:t>
            </a:r>
          </a:p>
          <a:p>
            <a:r>
              <a:rPr lang="en-US" altLang="zh-CN" dirty="0"/>
              <a:t>A ternary operation like </a:t>
            </a:r>
            <a:r>
              <a:rPr lang="en-US" altLang="zh-CN" i="1" dirty="0">
                <a:solidFill>
                  <a:srgbClr val="7030A0"/>
                </a:solidFill>
              </a:rPr>
              <a:t>x [</a:t>
            </a:r>
            <a:r>
              <a:rPr lang="en-US" altLang="zh-CN" i="1" dirty="0" err="1">
                <a:solidFill>
                  <a:srgbClr val="7030A0"/>
                </a:solidFill>
              </a:rPr>
              <a:t>i</a:t>
            </a:r>
            <a:r>
              <a:rPr lang="en-US" altLang="zh-CN" i="1" dirty="0">
                <a:solidFill>
                  <a:srgbClr val="7030A0"/>
                </a:solidFill>
              </a:rPr>
              <a:t>]= y </a:t>
            </a:r>
            <a:r>
              <a:rPr lang="en-US" altLang="zh-CN" dirty="0"/>
              <a:t>requires two entries in the triple structure; for example, we can put </a:t>
            </a:r>
            <a:r>
              <a:rPr lang="en-US" altLang="zh-CN" i="1" dirty="0">
                <a:solidFill>
                  <a:srgbClr val="7030A0"/>
                </a:solidFill>
              </a:rPr>
              <a:t>x</a:t>
            </a:r>
            <a:r>
              <a:rPr lang="en-US" altLang="zh-CN" dirty="0"/>
              <a:t> and</a:t>
            </a:r>
            <a:r>
              <a:rPr lang="en-US" altLang="zh-CN" i="1" dirty="0">
                <a:solidFill>
                  <a:srgbClr val="7030A0"/>
                </a:solidFill>
              </a:rPr>
              <a:t> </a:t>
            </a:r>
            <a:r>
              <a:rPr lang="en-US" altLang="zh-CN" i="1" dirty="0" err="1">
                <a:solidFill>
                  <a:srgbClr val="7030A0"/>
                </a:solidFill>
              </a:rPr>
              <a:t>i</a:t>
            </a:r>
            <a:r>
              <a:rPr lang="en-US" altLang="zh-CN" i="1" dirty="0">
                <a:solidFill>
                  <a:srgbClr val="7030A0"/>
                </a:solidFill>
              </a:rPr>
              <a:t> </a:t>
            </a:r>
            <a:r>
              <a:rPr lang="en-US" altLang="zh-CN" dirty="0"/>
              <a:t>in one triple and </a:t>
            </a:r>
            <a:r>
              <a:rPr lang="en-US" altLang="zh-CN" i="1" dirty="0">
                <a:solidFill>
                  <a:srgbClr val="7030A0"/>
                </a:solidFill>
              </a:rPr>
              <a:t>y</a:t>
            </a:r>
            <a:r>
              <a:rPr lang="en-US" altLang="zh-CN" dirty="0"/>
              <a:t> in the next. Similarly, </a:t>
            </a:r>
            <a:r>
              <a:rPr lang="en-US" altLang="zh-CN" i="1" dirty="0">
                <a:solidFill>
                  <a:srgbClr val="7030A0"/>
                </a:solidFill>
              </a:rPr>
              <a:t>x = y [</a:t>
            </a:r>
            <a:r>
              <a:rPr lang="en-US" altLang="zh-CN" i="1" dirty="0" err="1">
                <a:solidFill>
                  <a:srgbClr val="7030A0"/>
                </a:solidFill>
              </a:rPr>
              <a:t>i</a:t>
            </a:r>
            <a:r>
              <a:rPr lang="en-US" altLang="zh-CN" i="1" dirty="0">
                <a:solidFill>
                  <a:srgbClr val="7030A0"/>
                </a:solidFill>
              </a:rPr>
              <a:t>] </a:t>
            </a:r>
            <a:r>
              <a:rPr lang="en-US" altLang="zh-CN" dirty="0"/>
              <a:t>can implemented by treating it as if it were the two instructions.</a:t>
            </a:r>
          </a:p>
          <a:p>
            <a:endParaRPr lang="en-US" altLang="zh-CN" dirty="0"/>
          </a:p>
          <a:p>
            <a:endParaRPr lang="en-US" altLang="zh-CN" dirty="0"/>
          </a:p>
        </p:txBody>
      </p:sp>
      <p:pic>
        <p:nvPicPr>
          <p:cNvPr id="4" name="图片 3"/>
          <p:cNvPicPr>
            <a:picLocks noChangeAspect="1"/>
          </p:cNvPicPr>
          <p:nvPr/>
        </p:nvPicPr>
        <p:blipFill>
          <a:blip r:embed="rId2"/>
          <a:stretch>
            <a:fillRect/>
          </a:stretch>
        </p:blipFill>
        <p:spPr>
          <a:xfrm>
            <a:off x="1766571" y="3215562"/>
            <a:ext cx="5828571" cy="3104762"/>
          </a:xfrm>
          <a:prstGeom prst="rect">
            <a:avLst/>
          </a:prstGeom>
        </p:spPr>
      </p:pic>
    </p:spTree>
    <p:extLst>
      <p:ext uri="{BB962C8B-B14F-4D97-AF65-F5344CB8AC3E}">
        <p14:creationId xmlns:p14="http://schemas.microsoft.com/office/powerpoint/2010/main" val="120776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a:t>
            </a:r>
            <a:r>
              <a:rPr lang="en-US" altLang="zh-CN"/>
              <a:t>– Indirect Triples</a:t>
            </a:r>
            <a:endParaRPr lang="zh-CN" altLang="en-US" dirty="0"/>
          </a:p>
        </p:txBody>
      </p:sp>
      <p:pic>
        <p:nvPicPr>
          <p:cNvPr id="5" name="图片 4"/>
          <p:cNvPicPr>
            <a:picLocks noChangeAspect="1"/>
          </p:cNvPicPr>
          <p:nvPr/>
        </p:nvPicPr>
        <p:blipFill>
          <a:blip r:embed="rId2"/>
          <a:stretch>
            <a:fillRect/>
          </a:stretch>
        </p:blipFill>
        <p:spPr>
          <a:xfrm>
            <a:off x="706136" y="1886208"/>
            <a:ext cx="7904762" cy="4152381"/>
          </a:xfrm>
          <a:prstGeom prst="rect">
            <a:avLst/>
          </a:prstGeom>
        </p:spPr>
      </p:pic>
    </p:spTree>
    <p:extLst>
      <p:ext uri="{BB962C8B-B14F-4D97-AF65-F5344CB8AC3E}">
        <p14:creationId xmlns:p14="http://schemas.microsoft.com/office/powerpoint/2010/main" val="2196857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Three-Address Code – Triples</a:t>
            </a:r>
            <a:endParaRPr lang="zh-CN" altLang="en-US" dirty="0"/>
          </a:p>
        </p:txBody>
      </p:sp>
      <p:pic>
        <p:nvPicPr>
          <p:cNvPr id="5" name="内容占位符 4"/>
          <p:cNvPicPr>
            <a:picLocks noGrp="1" noChangeAspect="1"/>
          </p:cNvPicPr>
          <p:nvPr>
            <p:ph idx="1"/>
          </p:nvPr>
        </p:nvPicPr>
        <p:blipFill>
          <a:blip r:embed="rId2"/>
          <a:stretch>
            <a:fillRect/>
          </a:stretch>
        </p:blipFill>
        <p:spPr>
          <a:xfrm>
            <a:off x="3606905" y="2274590"/>
            <a:ext cx="5304762" cy="2361905"/>
          </a:xfrm>
          <a:prstGeom prst="rect">
            <a:avLst/>
          </a:prstGeom>
        </p:spPr>
      </p:pic>
      <p:pic>
        <p:nvPicPr>
          <p:cNvPr id="4" name="图片 3"/>
          <p:cNvPicPr>
            <a:picLocks noChangeAspect="1"/>
          </p:cNvPicPr>
          <p:nvPr/>
        </p:nvPicPr>
        <p:blipFill>
          <a:blip r:embed="rId3"/>
          <a:stretch>
            <a:fillRect/>
          </a:stretch>
        </p:blipFill>
        <p:spPr>
          <a:xfrm>
            <a:off x="456695" y="2274590"/>
            <a:ext cx="2809524" cy="2504762"/>
          </a:xfrm>
          <a:prstGeom prst="rect">
            <a:avLst/>
          </a:prstGeom>
        </p:spPr>
      </p:pic>
      <p:sp>
        <p:nvSpPr>
          <p:cNvPr id="6" name="右箭头 5"/>
          <p:cNvSpPr/>
          <p:nvPr/>
        </p:nvSpPr>
        <p:spPr>
          <a:xfrm>
            <a:off x="3410962" y="3186456"/>
            <a:ext cx="391886" cy="5381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2304764" y="1622665"/>
            <a:ext cx="4533333" cy="371429"/>
          </a:xfrm>
          <a:prstGeom prst="rect">
            <a:avLst/>
          </a:prstGeom>
        </p:spPr>
      </p:pic>
    </p:spTree>
    <p:extLst>
      <p:ext uri="{BB962C8B-B14F-4D97-AF65-F5344CB8AC3E}">
        <p14:creationId xmlns:p14="http://schemas.microsoft.com/office/powerpoint/2010/main" val="539001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9043DA-C433-4806-8842-F0F437874D07}"/>
              </a:ext>
            </a:extLst>
          </p:cNvPr>
          <p:cNvSpPr>
            <a:spLocks noGrp="1"/>
          </p:cNvSpPr>
          <p:nvPr>
            <p:ph type="title"/>
          </p:nvPr>
        </p:nvSpPr>
        <p:spPr/>
        <p:txBody>
          <a:bodyPr/>
          <a:lstStyle/>
          <a:p>
            <a:r>
              <a:rPr lang="en-US" altLang="zh-CN" dirty="0"/>
              <a:t>Three-Address Code – SSA</a:t>
            </a:r>
            <a:endParaRPr lang="zh-CN" altLang="en-US" dirty="0"/>
          </a:p>
        </p:txBody>
      </p:sp>
      <p:sp>
        <p:nvSpPr>
          <p:cNvPr id="3" name="内容占位符 2">
            <a:extLst>
              <a:ext uri="{FF2B5EF4-FFF2-40B4-BE49-F238E27FC236}">
                <a16:creationId xmlns:a16="http://schemas.microsoft.com/office/drawing/2014/main" id="{70111D9A-0511-46E2-94FE-B85D79F57DE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6DDDF4C4-E783-4467-B48E-385CAA4F325E}"/>
              </a:ext>
            </a:extLst>
          </p:cNvPr>
          <p:cNvPicPr>
            <a:picLocks noChangeAspect="1"/>
          </p:cNvPicPr>
          <p:nvPr/>
        </p:nvPicPr>
        <p:blipFill>
          <a:blip r:embed="rId2"/>
          <a:stretch>
            <a:fillRect/>
          </a:stretch>
        </p:blipFill>
        <p:spPr>
          <a:xfrm>
            <a:off x="828675" y="1352939"/>
            <a:ext cx="7662182" cy="5478686"/>
          </a:xfrm>
          <a:prstGeom prst="rect">
            <a:avLst/>
          </a:prstGeom>
        </p:spPr>
      </p:pic>
    </p:spTree>
    <p:extLst>
      <p:ext uri="{BB962C8B-B14F-4D97-AF65-F5344CB8AC3E}">
        <p14:creationId xmlns:p14="http://schemas.microsoft.com/office/powerpoint/2010/main" val="43380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a:t>
            </a:r>
            <a:endParaRPr lang="zh-CN" altLang="en-US" dirty="0"/>
          </a:p>
        </p:txBody>
      </p:sp>
      <p:pic>
        <p:nvPicPr>
          <p:cNvPr id="4" name="图片 3"/>
          <p:cNvPicPr>
            <a:picLocks noChangeAspect="1"/>
          </p:cNvPicPr>
          <p:nvPr/>
        </p:nvPicPr>
        <p:blipFill>
          <a:blip r:embed="rId2"/>
          <a:stretch>
            <a:fillRect/>
          </a:stretch>
        </p:blipFill>
        <p:spPr>
          <a:xfrm>
            <a:off x="661907" y="1789542"/>
            <a:ext cx="7819048" cy="3257143"/>
          </a:xfrm>
          <a:prstGeom prst="rect">
            <a:avLst/>
          </a:prstGeom>
        </p:spPr>
      </p:pic>
      <p:cxnSp>
        <p:nvCxnSpPr>
          <p:cNvPr id="6" name="直接连接符 5"/>
          <p:cNvCxnSpPr/>
          <p:nvPr/>
        </p:nvCxnSpPr>
        <p:spPr>
          <a:xfrm>
            <a:off x="1404258" y="2645229"/>
            <a:ext cx="1317171" cy="10886"/>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7" name="直接连接符 6"/>
          <p:cNvCxnSpPr/>
          <p:nvPr/>
        </p:nvCxnSpPr>
        <p:spPr>
          <a:xfrm flipV="1">
            <a:off x="1377044" y="3845957"/>
            <a:ext cx="2400299" cy="21772"/>
          </a:xfrm>
          <a:prstGeom prst="line">
            <a:avLst/>
          </a:prstGeom>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05913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Declarations-Type Expressions</a:t>
            </a:r>
            <a:endParaRPr lang="zh-CN" altLang="en-US" dirty="0"/>
          </a:p>
        </p:txBody>
      </p:sp>
      <p:sp>
        <p:nvSpPr>
          <p:cNvPr id="3" name="内容占位符 2"/>
          <p:cNvSpPr>
            <a:spLocks noGrp="1"/>
          </p:cNvSpPr>
          <p:nvPr>
            <p:ph idx="1"/>
          </p:nvPr>
        </p:nvSpPr>
        <p:spPr>
          <a:xfrm>
            <a:off x="828675" y="1600200"/>
            <a:ext cx="7486650" cy="631371"/>
          </a:xfrm>
        </p:spPr>
        <p:txBody>
          <a:bodyPr/>
          <a:lstStyle/>
          <a:p>
            <a:r>
              <a:rPr lang="en-US" altLang="zh-CN" b="1" dirty="0">
                <a:solidFill>
                  <a:srgbClr val="7030A0"/>
                </a:solidFill>
              </a:rPr>
              <a:t>type expressions</a:t>
            </a:r>
            <a:r>
              <a:rPr lang="en-US" altLang="zh-CN" dirty="0"/>
              <a:t>: a type expression is either a basic type or is formed by applying an operator called a type constructor to a type expression.</a:t>
            </a:r>
            <a:endParaRPr lang="zh-CN" altLang="en-US" dirty="0"/>
          </a:p>
        </p:txBody>
      </p:sp>
      <p:pic>
        <p:nvPicPr>
          <p:cNvPr id="4" name="图片 3"/>
          <p:cNvPicPr>
            <a:picLocks noChangeAspect="1"/>
          </p:cNvPicPr>
          <p:nvPr/>
        </p:nvPicPr>
        <p:blipFill>
          <a:blip r:embed="rId2"/>
          <a:stretch>
            <a:fillRect/>
          </a:stretch>
        </p:blipFill>
        <p:spPr>
          <a:xfrm>
            <a:off x="1089932" y="2231571"/>
            <a:ext cx="6392527" cy="3002191"/>
          </a:xfrm>
          <a:prstGeom prst="rect">
            <a:avLst/>
          </a:prstGeom>
        </p:spPr>
      </p:pic>
    </p:spTree>
    <p:extLst>
      <p:ext uri="{BB962C8B-B14F-4D97-AF65-F5344CB8AC3E}">
        <p14:creationId xmlns:p14="http://schemas.microsoft.com/office/powerpoint/2010/main" val="181693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Declarations-Type Expressions</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A basic type is a type expression. Typical basic types for a language include </a:t>
            </a:r>
            <a:r>
              <a:rPr lang="en-US" altLang="zh-CN" i="1" dirty="0" err="1"/>
              <a:t>boolean</a:t>
            </a:r>
            <a:r>
              <a:rPr lang="en-US" altLang="zh-CN" dirty="0"/>
              <a:t>, </a:t>
            </a:r>
            <a:r>
              <a:rPr lang="en-US" altLang="zh-CN" i="1" dirty="0"/>
              <a:t>char</a:t>
            </a:r>
            <a:r>
              <a:rPr lang="en-US" altLang="zh-CN" dirty="0"/>
              <a:t>, </a:t>
            </a:r>
            <a:r>
              <a:rPr lang="en-US" altLang="zh-CN" i="1" dirty="0"/>
              <a:t>integer</a:t>
            </a:r>
            <a:r>
              <a:rPr lang="en-US" altLang="zh-CN" dirty="0"/>
              <a:t>, </a:t>
            </a:r>
            <a:r>
              <a:rPr lang="en-US" altLang="zh-CN" i="1" dirty="0"/>
              <a:t>float</a:t>
            </a:r>
            <a:r>
              <a:rPr lang="en-US" altLang="zh-CN" dirty="0"/>
              <a:t>, and </a:t>
            </a:r>
            <a:r>
              <a:rPr lang="en-US" altLang="zh-CN" i="1" dirty="0"/>
              <a:t>void</a:t>
            </a:r>
            <a:r>
              <a:rPr lang="en-US" altLang="zh-CN" dirty="0"/>
              <a:t>;</a:t>
            </a:r>
          </a:p>
          <a:p>
            <a:pPr>
              <a:lnSpc>
                <a:spcPct val="100000"/>
              </a:lnSpc>
            </a:pPr>
            <a:r>
              <a:rPr lang="en-US" altLang="zh-CN" dirty="0"/>
              <a:t>A type name is a type expression;</a:t>
            </a:r>
          </a:p>
          <a:p>
            <a:pPr>
              <a:lnSpc>
                <a:spcPct val="100000"/>
              </a:lnSpc>
            </a:pPr>
            <a:r>
              <a:rPr lang="en-US" altLang="zh-CN" dirty="0"/>
              <a:t>A type expression can be formed by applying the array type constructor to a number and a type expression;</a:t>
            </a:r>
          </a:p>
          <a:p>
            <a:pPr>
              <a:lnSpc>
                <a:spcPct val="100000"/>
              </a:lnSpc>
            </a:pPr>
            <a:r>
              <a:rPr lang="en-US" altLang="zh-CN" dirty="0"/>
              <a:t>A type expression can be formed by applying the record type constructor to the field names and their types;</a:t>
            </a:r>
          </a:p>
          <a:p>
            <a:pPr>
              <a:lnSpc>
                <a:spcPct val="100000"/>
              </a:lnSpc>
            </a:pPr>
            <a:r>
              <a:rPr lang="en-US" altLang="zh-CN" dirty="0"/>
              <a:t>A type expression can be formed by using the type constructor “-&gt;”for function types. We write s -&gt;t for "function from type s to type t.“</a:t>
            </a:r>
          </a:p>
          <a:p>
            <a:pPr>
              <a:lnSpc>
                <a:spcPct val="100000"/>
              </a:lnSpc>
            </a:pPr>
            <a:r>
              <a:rPr lang="en-US" altLang="zh-CN" dirty="0"/>
              <a:t>If </a:t>
            </a:r>
            <a:r>
              <a:rPr lang="en-US" altLang="zh-CN" i="1" dirty="0"/>
              <a:t>s</a:t>
            </a:r>
            <a:r>
              <a:rPr lang="en-US" altLang="zh-CN" dirty="0"/>
              <a:t> and </a:t>
            </a:r>
            <a:r>
              <a:rPr lang="en-US" altLang="zh-CN" i="1" dirty="0"/>
              <a:t>t</a:t>
            </a:r>
            <a:r>
              <a:rPr lang="en-US" altLang="zh-CN" dirty="0"/>
              <a:t> are type expressions, then their Cartesian product </a:t>
            </a:r>
            <a:r>
              <a:rPr lang="en-US" altLang="zh-CN" i="1" dirty="0"/>
              <a:t>s x t </a:t>
            </a:r>
            <a:r>
              <a:rPr lang="en-US" altLang="zh-CN" dirty="0"/>
              <a:t>is a type expression. Products are introduced for completeness; they can be used to represent a list or tuple of types (e.g. , for function parameters ) .</a:t>
            </a:r>
          </a:p>
          <a:p>
            <a:pPr>
              <a:lnSpc>
                <a:spcPct val="100000"/>
              </a:lnSpc>
            </a:pPr>
            <a:r>
              <a:rPr lang="en-US" altLang="zh-CN" dirty="0"/>
              <a:t>Type expressions may contain variables whose values are type expressions.</a:t>
            </a:r>
          </a:p>
        </p:txBody>
      </p:sp>
    </p:spTree>
    <p:extLst>
      <p:ext uri="{BB962C8B-B14F-4D97-AF65-F5344CB8AC3E}">
        <p14:creationId xmlns:p14="http://schemas.microsoft.com/office/powerpoint/2010/main" val="273046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Declarations-Type Equivalence</a:t>
            </a:r>
            <a:endParaRPr lang="zh-CN" altLang="en-US" dirty="0"/>
          </a:p>
        </p:txBody>
      </p:sp>
      <p:sp>
        <p:nvSpPr>
          <p:cNvPr id="3" name="内容占位符 2"/>
          <p:cNvSpPr>
            <a:spLocks noGrp="1"/>
          </p:cNvSpPr>
          <p:nvPr>
            <p:ph idx="1"/>
          </p:nvPr>
        </p:nvSpPr>
        <p:spPr/>
        <p:txBody>
          <a:bodyPr/>
          <a:lstStyle/>
          <a:p>
            <a:r>
              <a:rPr lang="en-US" altLang="zh-CN" dirty="0"/>
              <a:t>Many type-checking rules have the form, "if two type expressions are equal then return a certain type else error.“</a:t>
            </a:r>
          </a:p>
          <a:p>
            <a:r>
              <a:rPr lang="en-US" altLang="zh-CN" dirty="0"/>
              <a:t>The key issue is whether a name in a type expression stands for itself or whether it is an abbreviation for another type expression.</a:t>
            </a:r>
          </a:p>
          <a:p>
            <a:pPr marL="0" indent="0">
              <a:buNone/>
            </a:pPr>
            <a:endParaRPr lang="en-US" altLang="zh-CN" dirty="0"/>
          </a:p>
        </p:txBody>
      </p:sp>
      <p:pic>
        <p:nvPicPr>
          <p:cNvPr id="4" name="图片 3"/>
          <p:cNvPicPr>
            <a:picLocks noChangeAspect="1"/>
          </p:cNvPicPr>
          <p:nvPr/>
        </p:nvPicPr>
        <p:blipFill>
          <a:blip r:embed="rId2"/>
          <a:stretch>
            <a:fillRect/>
          </a:stretch>
        </p:blipFill>
        <p:spPr>
          <a:xfrm>
            <a:off x="747621" y="2916876"/>
            <a:ext cx="7647619" cy="2961905"/>
          </a:xfrm>
          <a:prstGeom prst="rect">
            <a:avLst/>
          </a:prstGeom>
        </p:spPr>
      </p:pic>
      <p:cxnSp>
        <p:nvCxnSpPr>
          <p:cNvPr id="6" name="直接连接符 5"/>
          <p:cNvCxnSpPr/>
          <p:nvPr/>
        </p:nvCxnSpPr>
        <p:spPr>
          <a:xfrm>
            <a:off x="4354286" y="5878781"/>
            <a:ext cx="1545771" cy="0"/>
          </a:xfrm>
          <a:prstGeom prst="line">
            <a:avLst/>
          </a:prstGeom>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95313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130474-E806-4E29-9F1A-3B3CE7237640}"/>
              </a:ext>
            </a:extLst>
          </p:cNvPr>
          <p:cNvSpPr>
            <a:spLocks noGrp="1"/>
          </p:cNvSpPr>
          <p:nvPr>
            <p:ph type="title"/>
          </p:nvPr>
        </p:nvSpPr>
        <p:spPr/>
        <p:txBody>
          <a:bodyPr/>
          <a:lstStyle/>
          <a:p>
            <a:r>
              <a:rPr lang="en-US" altLang="zh-CN" dirty="0"/>
              <a:t>7.3 Types and Declarations-Examples</a:t>
            </a:r>
            <a:endParaRPr lang="zh-CN" altLang="en-US" dirty="0"/>
          </a:p>
        </p:txBody>
      </p:sp>
      <p:sp>
        <p:nvSpPr>
          <p:cNvPr id="3" name="内容占位符 2">
            <a:extLst>
              <a:ext uri="{FF2B5EF4-FFF2-40B4-BE49-F238E27FC236}">
                <a16:creationId xmlns:a16="http://schemas.microsoft.com/office/drawing/2014/main" id="{84315867-9A72-40F3-94C8-00265BA62D7D}"/>
              </a:ext>
            </a:extLst>
          </p:cNvPr>
          <p:cNvSpPr>
            <a:spLocks noGrp="1"/>
          </p:cNvSpPr>
          <p:nvPr>
            <p:ph idx="1"/>
          </p:nvPr>
        </p:nvSpPr>
        <p:spPr>
          <a:xfrm>
            <a:off x="828675" y="1600200"/>
            <a:ext cx="7486650" cy="937727"/>
          </a:xfrm>
        </p:spPr>
        <p:txBody>
          <a:bodyPr>
            <a:normAutofit/>
          </a:bodyPr>
          <a:lstStyle/>
          <a:p>
            <a:pPr>
              <a:spcBef>
                <a:spcPts val="0"/>
              </a:spcBef>
            </a:pPr>
            <a:r>
              <a:rPr lang="en-US" altLang="zh-CN" dirty="0"/>
              <a:t>Type row = record </a:t>
            </a:r>
          </a:p>
          <a:p>
            <a:pPr>
              <a:spcBef>
                <a:spcPts val="0"/>
              </a:spcBef>
            </a:pPr>
            <a:r>
              <a:rPr lang="en-US" altLang="zh-CN" dirty="0"/>
              <a:t>                           address: integer;</a:t>
            </a:r>
          </a:p>
          <a:p>
            <a:pPr>
              <a:spcBef>
                <a:spcPts val="0"/>
              </a:spcBef>
            </a:pPr>
            <a:r>
              <a:rPr lang="en-US" altLang="zh-CN" dirty="0"/>
              <a:t>                           lexeme: array [1..15] of char</a:t>
            </a:r>
          </a:p>
          <a:p>
            <a:pPr>
              <a:spcBef>
                <a:spcPts val="0"/>
              </a:spcBef>
            </a:pPr>
            <a:r>
              <a:rPr lang="en-US" altLang="zh-CN" dirty="0"/>
              <a:t>                   end</a:t>
            </a:r>
            <a:endParaRPr lang="zh-CN" altLang="en-US" dirty="0"/>
          </a:p>
        </p:txBody>
      </p:sp>
      <p:graphicFrame>
        <p:nvGraphicFramePr>
          <p:cNvPr id="4" name="对象 3">
            <a:extLst>
              <a:ext uri="{FF2B5EF4-FFF2-40B4-BE49-F238E27FC236}">
                <a16:creationId xmlns:a16="http://schemas.microsoft.com/office/drawing/2014/main" id="{7987FEC7-4559-45BE-82AE-DDE9C5FAD8C7}"/>
              </a:ext>
            </a:extLst>
          </p:cNvPr>
          <p:cNvGraphicFramePr>
            <a:graphicFrameLocks noChangeAspect="1"/>
          </p:cNvGraphicFramePr>
          <p:nvPr>
            <p:extLst>
              <p:ext uri="{D42A27DB-BD31-4B8C-83A1-F6EECF244321}">
                <p14:modId xmlns:p14="http://schemas.microsoft.com/office/powerpoint/2010/main" val="2912349729"/>
              </p:ext>
            </p:extLst>
          </p:nvPr>
        </p:nvGraphicFramePr>
        <p:xfrm>
          <a:off x="915534" y="2667584"/>
          <a:ext cx="6005512" cy="406400"/>
        </p:xfrm>
        <a:graphic>
          <a:graphicData uri="http://schemas.openxmlformats.org/presentationml/2006/ole">
            <mc:AlternateContent xmlns:mc="http://schemas.openxmlformats.org/markup-compatibility/2006">
              <mc:Choice xmlns:v="urn:schemas-microsoft-com:vml" Requires="v">
                <p:oleObj spid="_x0000_s2053" name="Equation" r:id="rId3" imgW="2806560" imgH="190440" progId="Equation.DSMT4">
                  <p:embed/>
                </p:oleObj>
              </mc:Choice>
              <mc:Fallback>
                <p:oleObj name="Equation" r:id="rId3" imgW="2806560" imgH="190440" progId="Equation.DSMT4">
                  <p:embed/>
                  <p:pic>
                    <p:nvPicPr>
                      <p:cNvPr id="0" name=""/>
                      <p:cNvPicPr/>
                      <p:nvPr/>
                    </p:nvPicPr>
                    <p:blipFill>
                      <a:blip r:embed="rId4"/>
                      <a:stretch>
                        <a:fillRect/>
                      </a:stretch>
                    </p:blipFill>
                    <p:spPr>
                      <a:xfrm>
                        <a:off x="915534" y="2667584"/>
                        <a:ext cx="6005512" cy="406400"/>
                      </a:xfrm>
                      <a:prstGeom prst="rect">
                        <a:avLst/>
                      </a:prstGeom>
                    </p:spPr>
                  </p:pic>
                </p:oleObj>
              </mc:Fallback>
            </mc:AlternateContent>
          </a:graphicData>
        </a:graphic>
      </p:graphicFrame>
      <p:sp>
        <p:nvSpPr>
          <p:cNvPr id="5" name="内容占位符 2">
            <a:extLst>
              <a:ext uri="{FF2B5EF4-FFF2-40B4-BE49-F238E27FC236}">
                <a16:creationId xmlns:a16="http://schemas.microsoft.com/office/drawing/2014/main" id="{AFAF7481-80E2-49A5-BEF1-F3306D709628}"/>
              </a:ext>
            </a:extLst>
          </p:cNvPr>
          <p:cNvSpPr txBox="1">
            <a:spLocks/>
          </p:cNvSpPr>
          <p:nvPr/>
        </p:nvSpPr>
        <p:spPr>
          <a:xfrm>
            <a:off x="827537" y="3258194"/>
            <a:ext cx="7486650" cy="406401"/>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spcBef>
                <a:spcPts val="0"/>
              </a:spcBef>
            </a:pPr>
            <a:r>
              <a:rPr lang="en-US" altLang="zh-CN" dirty="0"/>
              <a:t>Int * </a:t>
            </a:r>
            <a:r>
              <a:rPr lang="en-US" altLang="zh-CN" dirty="0" err="1"/>
              <a:t>func</a:t>
            </a:r>
            <a:r>
              <a:rPr lang="en-US" altLang="zh-CN" dirty="0"/>
              <a:t> (char a, char b, char c)</a:t>
            </a:r>
            <a:endParaRPr lang="zh-CN" altLang="en-US" dirty="0"/>
          </a:p>
        </p:txBody>
      </p:sp>
      <p:graphicFrame>
        <p:nvGraphicFramePr>
          <p:cNvPr id="6" name="对象 5">
            <a:extLst>
              <a:ext uri="{FF2B5EF4-FFF2-40B4-BE49-F238E27FC236}">
                <a16:creationId xmlns:a16="http://schemas.microsoft.com/office/drawing/2014/main" id="{331D52B4-AADF-465F-BD6D-9867383E70DB}"/>
              </a:ext>
            </a:extLst>
          </p:cNvPr>
          <p:cNvGraphicFramePr>
            <a:graphicFrameLocks noChangeAspect="1"/>
          </p:cNvGraphicFramePr>
          <p:nvPr>
            <p:extLst>
              <p:ext uri="{D42A27DB-BD31-4B8C-83A1-F6EECF244321}">
                <p14:modId xmlns:p14="http://schemas.microsoft.com/office/powerpoint/2010/main" val="125698123"/>
              </p:ext>
            </p:extLst>
          </p:nvPr>
        </p:nvGraphicFramePr>
        <p:xfrm>
          <a:off x="827537" y="3664595"/>
          <a:ext cx="3586162" cy="406400"/>
        </p:xfrm>
        <a:graphic>
          <a:graphicData uri="http://schemas.openxmlformats.org/presentationml/2006/ole">
            <mc:AlternateContent xmlns:mc="http://schemas.openxmlformats.org/markup-compatibility/2006">
              <mc:Choice xmlns:v="urn:schemas-microsoft-com:vml" Requires="v">
                <p:oleObj spid="_x0000_s2054" name="Equation" r:id="rId5" imgW="1676160" imgH="190440" progId="Equation.DSMT4">
                  <p:embed/>
                </p:oleObj>
              </mc:Choice>
              <mc:Fallback>
                <p:oleObj name="Equation" r:id="rId5" imgW="1676160" imgH="190440" progId="Equation.DSMT4">
                  <p:embed/>
                  <p:pic>
                    <p:nvPicPr>
                      <p:cNvPr id="4" name="对象 3">
                        <a:extLst>
                          <a:ext uri="{FF2B5EF4-FFF2-40B4-BE49-F238E27FC236}">
                            <a16:creationId xmlns:a16="http://schemas.microsoft.com/office/drawing/2014/main" id="{7987FEC7-4559-45BE-82AE-DDE9C5FAD8C7}"/>
                          </a:ext>
                        </a:extLst>
                      </p:cNvPr>
                      <p:cNvPicPr/>
                      <p:nvPr/>
                    </p:nvPicPr>
                    <p:blipFill>
                      <a:blip r:embed="rId6"/>
                      <a:stretch>
                        <a:fillRect/>
                      </a:stretch>
                    </p:blipFill>
                    <p:spPr>
                      <a:xfrm>
                        <a:off x="827537" y="3664595"/>
                        <a:ext cx="3586162" cy="406400"/>
                      </a:xfrm>
                      <a:prstGeom prst="rect">
                        <a:avLst/>
                      </a:prstGeom>
                    </p:spPr>
                  </p:pic>
                </p:oleObj>
              </mc:Fallback>
            </mc:AlternateContent>
          </a:graphicData>
        </a:graphic>
      </p:graphicFrame>
      <p:sp>
        <p:nvSpPr>
          <p:cNvPr id="7" name="内容占位符 2">
            <a:extLst>
              <a:ext uri="{FF2B5EF4-FFF2-40B4-BE49-F238E27FC236}">
                <a16:creationId xmlns:a16="http://schemas.microsoft.com/office/drawing/2014/main" id="{4D23F4CF-E356-4267-A7E5-8372805DB878}"/>
              </a:ext>
            </a:extLst>
          </p:cNvPr>
          <p:cNvSpPr txBox="1">
            <a:spLocks/>
          </p:cNvSpPr>
          <p:nvPr/>
        </p:nvSpPr>
        <p:spPr>
          <a:xfrm>
            <a:off x="915534" y="4320074"/>
            <a:ext cx="7486650" cy="406401"/>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spcBef>
                <a:spcPts val="0"/>
              </a:spcBef>
            </a:pPr>
            <a:r>
              <a:rPr lang="en-US" altLang="zh-CN" dirty="0"/>
              <a:t>High-order functions</a:t>
            </a:r>
            <a:endParaRPr lang="zh-CN" altLang="en-US" dirty="0"/>
          </a:p>
        </p:txBody>
      </p:sp>
      <p:graphicFrame>
        <p:nvGraphicFramePr>
          <p:cNvPr id="8" name="对象 7">
            <a:extLst>
              <a:ext uri="{FF2B5EF4-FFF2-40B4-BE49-F238E27FC236}">
                <a16:creationId xmlns:a16="http://schemas.microsoft.com/office/drawing/2014/main" id="{57EE252E-4D17-42D6-B6F0-6E5249EDD5C7}"/>
              </a:ext>
            </a:extLst>
          </p:cNvPr>
          <p:cNvGraphicFramePr>
            <a:graphicFrameLocks noChangeAspect="1"/>
          </p:cNvGraphicFramePr>
          <p:nvPr>
            <p:extLst>
              <p:ext uri="{D42A27DB-BD31-4B8C-83A1-F6EECF244321}">
                <p14:modId xmlns:p14="http://schemas.microsoft.com/office/powerpoint/2010/main" val="813583001"/>
              </p:ext>
            </p:extLst>
          </p:nvPr>
        </p:nvGraphicFramePr>
        <p:xfrm>
          <a:off x="827537" y="4652931"/>
          <a:ext cx="4645025" cy="406400"/>
        </p:xfrm>
        <a:graphic>
          <a:graphicData uri="http://schemas.openxmlformats.org/presentationml/2006/ole">
            <mc:AlternateContent xmlns:mc="http://schemas.openxmlformats.org/markup-compatibility/2006">
              <mc:Choice xmlns:v="urn:schemas-microsoft-com:vml" Requires="v">
                <p:oleObj spid="_x0000_s2055" name="Equation" r:id="rId7" imgW="2171520" imgH="190440" progId="Equation.DSMT4">
                  <p:embed/>
                </p:oleObj>
              </mc:Choice>
              <mc:Fallback>
                <p:oleObj name="Equation" r:id="rId7" imgW="2171520" imgH="190440" progId="Equation.DSMT4">
                  <p:embed/>
                  <p:pic>
                    <p:nvPicPr>
                      <p:cNvPr id="6" name="对象 5">
                        <a:extLst>
                          <a:ext uri="{FF2B5EF4-FFF2-40B4-BE49-F238E27FC236}">
                            <a16:creationId xmlns:a16="http://schemas.microsoft.com/office/drawing/2014/main" id="{331D52B4-AADF-465F-BD6D-9867383E70DB}"/>
                          </a:ext>
                        </a:extLst>
                      </p:cNvPr>
                      <p:cNvPicPr/>
                      <p:nvPr/>
                    </p:nvPicPr>
                    <p:blipFill>
                      <a:blip r:embed="rId8"/>
                      <a:stretch>
                        <a:fillRect/>
                      </a:stretch>
                    </p:blipFill>
                    <p:spPr>
                      <a:xfrm>
                        <a:off x="827537" y="4652931"/>
                        <a:ext cx="4645025" cy="406400"/>
                      </a:xfrm>
                      <a:prstGeom prst="rect">
                        <a:avLst/>
                      </a:prstGeom>
                    </p:spPr>
                  </p:pic>
                </p:oleObj>
              </mc:Fallback>
            </mc:AlternateContent>
          </a:graphicData>
        </a:graphic>
      </p:graphicFrame>
    </p:spTree>
    <p:extLst>
      <p:ext uri="{BB962C8B-B14F-4D97-AF65-F5344CB8AC3E}">
        <p14:creationId xmlns:p14="http://schemas.microsoft.com/office/powerpoint/2010/main" val="169794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Declarations-Declaration</a:t>
            </a:r>
            <a:endParaRPr lang="zh-CN" altLang="en-US" dirty="0"/>
          </a:p>
        </p:txBody>
      </p:sp>
      <p:pic>
        <p:nvPicPr>
          <p:cNvPr id="4" name="图片 3"/>
          <p:cNvPicPr>
            <a:picLocks noChangeAspect="1"/>
          </p:cNvPicPr>
          <p:nvPr/>
        </p:nvPicPr>
        <p:blipFill>
          <a:blip r:embed="rId2"/>
          <a:stretch>
            <a:fillRect/>
          </a:stretch>
        </p:blipFill>
        <p:spPr>
          <a:xfrm>
            <a:off x="1875324" y="1779199"/>
            <a:ext cx="4152381" cy="1057143"/>
          </a:xfrm>
          <a:prstGeom prst="rect">
            <a:avLst/>
          </a:prstGeom>
        </p:spPr>
      </p:pic>
      <p:pic>
        <p:nvPicPr>
          <p:cNvPr id="5" name="图片 4"/>
          <p:cNvPicPr>
            <a:picLocks noChangeAspect="1"/>
          </p:cNvPicPr>
          <p:nvPr/>
        </p:nvPicPr>
        <p:blipFill>
          <a:blip r:embed="rId3"/>
          <a:stretch>
            <a:fillRect/>
          </a:stretch>
        </p:blipFill>
        <p:spPr>
          <a:xfrm>
            <a:off x="431068" y="3037895"/>
            <a:ext cx="7799818" cy="1958647"/>
          </a:xfrm>
          <a:prstGeom prst="rect">
            <a:avLst/>
          </a:prstGeom>
        </p:spPr>
      </p:pic>
    </p:spTree>
    <p:extLst>
      <p:ext uri="{BB962C8B-B14F-4D97-AF65-F5344CB8AC3E}">
        <p14:creationId xmlns:p14="http://schemas.microsoft.com/office/powerpoint/2010/main" val="300976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Declarations-Storage Layout for Local Names</a:t>
            </a:r>
            <a:endParaRPr lang="zh-CN" altLang="en-US" dirty="0"/>
          </a:p>
        </p:txBody>
      </p:sp>
      <p:sp>
        <p:nvSpPr>
          <p:cNvPr id="3" name="内容占位符 2"/>
          <p:cNvSpPr>
            <a:spLocks noGrp="1"/>
          </p:cNvSpPr>
          <p:nvPr>
            <p:ph idx="1"/>
          </p:nvPr>
        </p:nvSpPr>
        <p:spPr>
          <a:xfrm>
            <a:off x="828675" y="1273627"/>
            <a:ext cx="7486650" cy="4572000"/>
          </a:xfrm>
        </p:spPr>
        <p:txBody>
          <a:bodyPr/>
          <a:lstStyle/>
          <a:p>
            <a:pPr>
              <a:lnSpc>
                <a:spcPct val="100000"/>
              </a:lnSpc>
            </a:pPr>
            <a:r>
              <a:rPr lang="en-US" altLang="zh-CN" dirty="0"/>
              <a:t>From the type of a name, we can determine the amount of storage that will be needed for the name at run time. </a:t>
            </a:r>
          </a:p>
          <a:p>
            <a:pPr>
              <a:lnSpc>
                <a:spcPct val="100000"/>
              </a:lnSpc>
            </a:pPr>
            <a:endParaRPr lang="zh-CN" altLang="en-US" dirty="0"/>
          </a:p>
        </p:txBody>
      </p:sp>
      <p:pic>
        <p:nvPicPr>
          <p:cNvPr id="4" name="图片 3"/>
          <p:cNvPicPr>
            <a:picLocks noChangeAspect="1"/>
          </p:cNvPicPr>
          <p:nvPr/>
        </p:nvPicPr>
        <p:blipFill>
          <a:blip r:embed="rId2"/>
          <a:stretch>
            <a:fillRect/>
          </a:stretch>
        </p:blipFill>
        <p:spPr>
          <a:xfrm>
            <a:off x="1057275" y="1783216"/>
            <a:ext cx="6390476" cy="904762"/>
          </a:xfrm>
          <a:prstGeom prst="rect">
            <a:avLst/>
          </a:prstGeom>
        </p:spPr>
      </p:pic>
      <p:pic>
        <p:nvPicPr>
          <p:cNvPr id="5" name="图片 4"/>
          <p:cNvPicPr>
            <a:picLocks noChangeAspect="1"/>
          </p:cNvPicPr>
          <p:nvPr/>
        </p:nvPicPr>
        <p:blipFill>
          <a:blip r:embed="rId3"/>
          <a:stretch>
            <a:fillRect/>
          </a:stretch>
        </p:blipFill>
        <p:spPr>
          <a:xfrm>
            <a:off x="1620834" y="2684260"/>
            <a:ext cx="4472668" cy="1994236"/>
          </a:xfrm>
          <a:prstGeom prst="rect">
            <a:avLst/>
          </a:prstGeom>
        </p:spPr>
      </p:pic>
      <p:pic>
        <p:nvPicPr>
          <p:cNvPr id="6" name="图片 5"/>
          <p:cNvPicPr>
            <a:picLocks noChangeAspect="1"/>
          </p:cNvPicPr>
          <p:nvPr/>
        </p:nvPicPr>
        <p:blipFill>
          <a:blip r:embed="rId4"/>
          <a:stretch>
            <a:fillRect/>
          </a:stretch>
        </p:blipFill>
        <p:spPr>
          <a:xfrm>
            <a:off x="1598494" y="4678496"/>
            <a:ext cx="4789362" cy="2111526"/>
          </a:xfrm>
          <a:prstGeom prst="rect">
            <a:avLst/>
          </a:prstGeom>
        </p:spPr>
      </p:pic>
    </p:spTree>
    <p:extLst>
      <p:ext uri="{BB962C8B-B14F-4D97-AF65-F5344CB8AC3E}">
        <p14:creationId xmlns:p14="http://schemas.microsoft.com/office/powerpoint/2010/main" val="581898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Declarations-Sequences of Declarations</a:t>
            </a:r>
            <a:endParaRPr lang="zh-CN" altLang="en-US" dirty="0"/>
          </a:p>
        </p:txBody>
      </p:sp>
      <p:sp>
        <p:nvSpPr>
          <p:cNvPr id="3" name="内容占位符 2"/>
          <p:cNvSpPr>
            <a:spLocks noGrp="1"/>
          </p:cNvSpPr>
          <p:nvPr>
            <p:ph idx="1"/>
          </p:nvPr>
        </p:nvSpPr>
        <p:spPr>
          <a:xfrm>
            <a:off x="828675" y="1600200"/>
            <a:ext cx="7486650" cy="1273629"/>
          </a:xfrm>
        </p:spPr>
        <p:txBody>
          <a:bodyPr/>
          <a:lstStyle/>
          <a:p>
            <a:r>
              <a:rPr lang="en-US" altLang="zh-CN" dirty="0"/>
              <a:t>Languages such as C and Java allow all the declarations in a single procedure to be processed as a group. The declarations may be distributed within a Java procedure, but they can still be processed when the procedure is analyzed. Therefore , we can use a variable, say offset, to keep track of the next available relative address.</a:t>
            </a:r>
          </a:p>
          <a:p>
            <a:endParaRPr lang="zh-CN" altLang="en-US" dirty="0"/>
          </a:p>
        </p:txBody>
      </p:sp>
      <p:pic>
        <p:nvPicPr>
          <p:cNvPr id="4" name="图片 3"/>
          <p:cNvPicPr>
            <a:picLocks noChangeAspect="1"/>
          </p:cNvPicPr>
          <p:nvPr/>
        </p:nvPicPr>
        <p:blipFill>
          <a:blip r:embed="rId2"/>
          <a:stretch>
            <a:fillRect/>
          </a:stretch>
        </p:blipFill>
        <p:spPr>
          <a:xfrm>
            <a:off x="2058352" y="2873829"/>
            <a:ext cx="4352381" cy="1685714"/>
          </a:xfrm>
          <a:prstGeom prst="rect">
            <a:avLst/>
          </a:prstGeom>
        </p:spPr>
      </p:pic>
      <p:sp>
        <p:nvSpPr>
          <p:cNvPr id="5" name="矩形 4"/>
          <p:cNvSpPr/>
          <p:nvPr/>
        </p:nvSpPr>
        <p:spPr>
          <a:xfrm>
            <a:off x="2656114" y="4864464"/>
            <a:ext cx="4572000" cy="1200329"/>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r>
              <a:rPr lang="en-US" altLang="zh-CN" dirty="0"/>
              <a:t>creates a symbol table</a:t>
            </a:r>
          </a:p>
          <a:p>
            <a:r>
              <a:rPr lang="en-US" altLang="zh-CN" dirty="0"/>
              <a:t>entry by executing </a:t>
            </a:r>
            <a:r>
              <a:rPr lang="en-US" altLang="zh-CN" i="1" dirty="0" err="1"/>
              <a:t>top.put</a:t>
            </a:r>
            <a:r>
              <a:rPr lang="en-US" altLang="zh-CN" i="1" dirty="0"/>
              <a:t>(id. lexeme, T. type, offset) </a:t>
            </a:r>
            <a:r>
              <a:rPr lang="en-US" altLang="zh-CN" dirty="0"/>
              <a:t>. Here top denotes</a:t>
            </a:r>
          </a:p>
          <a:p>
            <a:r>
              <a:rPr lang="en-US" altLang="zh-CN" dirty="0"/>
              <a:t>the current symbol table.</a:t>
            </a:r>
            <a:endParaRPr lang="zh-CN" altLang="en-US" dirty="0"/>
          </a:p>
        </p:txBody>
      </p:sp>
      <p:cxnSp>
        <p:nvCxnSpPr>
          <p:cNvPr id="7" name="直接箭头连接符 6"/>
          <p:cNvCxnSpPr/>
          <p:nvPr/>
        </p:nvCxnSpPr>
        <p:spPr>
          <a:xfrm flipH="1" flipV="1">
            <a:off x="6193971" y="3716686"/>
            <a:ext cx="315686" cy="11477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09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Types and Declarations-Fields in Records and Classes</a:t>
            </a:r>
            <a:endParaRPr lang="zh-CN" altLang="en-US" dirty="0"/>
          </a:p>
        </p:txBody>
      </p:sp>
      <p:sp>
        <p:nvSpPr>
          <p:cNvPr id="3" name="内容占位符 2"/>
          <p:cNvSpPr>
            <a:spLocks noGrp="1"/>
          </p:cNvSpPr>
          <p:nvPr>
            <p:ph idx="1"/>
          </p:nvPr>
        </p:nvSpPr>
        <p:spPr>
          <a:xfrm>
            <a:off x="828675" y="1382487"/>
            <a:ext cx="7486650" cy="4844142"/>
          </a:xfrm>
        </p:spPr>
        <p:txBody>
          <a:bodyPr/>
          <a:lstStyle/>
          <a:p>
            <a:r>
              <a:rPr lang="en-US" altLang="zh-CN" dirty="0"/>
              <a:t>This production has two semantic actions. The embedded action before </a:t>
            </a:r>
            <a:r>
              <a:rPr lang="en-US" altLang="zh-CN" i="1" dirty="0"/>
              <a:t>D</a:t>
            </a:r>
            <a:r>
              <a:rPr lang="en-US" altLang="zh-CN" dirty="0"/>
              <a:t> saves the existing symbol table, denoted by top and sets top to a fresh symbol table. It also saves the current offset, and sets offset to </a:t>
            </a:r>
            <a:r>
              <a:rPr lang="en-US" altLang="zh-CN" i="1" dirty="0"/>
              <a:t>0</a:t>
            </a:r>
            <a:r>
              <a:rPr lang="en-US" altLang="zh-CN" dirty="0"/>
              <a:t>. The declarations generated by </a:t>
            </a:r>
            <a:r>
              <a:rPr lang="en-US" altLang="zh-CN" i="1" dirty="0"/>
              <a:t>D</a:t>
            </a:r>
            <a:r>
              <a:rPr lang="en-US" altLang="zh-CN" dirty="0"/>
              <a:t> will result in types and relative addresses being put in the fresh symbol table. The action after </a:t>
            </a:r>
            <a:r>
              <a:rPr lang="en-US" altLang="zh-CN" i="1" dirty="0"/>
              <a:t>D</a:t>
            </a:r>
            <a:r>
              <a:rPr lang="en-US" altLang="zh-CN" dirty="0"/>
              <a:t> creates a record type using top, before restoring the saved symbol table and offset.</a:t>
            </a:r>
          </a:p>
          <a:p>
            <a:endParaRPr lang="en-US" altLang="zh-CN" dirty="0"/>
          </a:p>
          <a:p>
            <a:endParaRPr lang="en-US" altLang="zh-CN" dirty="0"/>
          </a:p>
          <a:p>
            <a:endParaRPr lang="en-US" altLang="zh-CN" dirty="0"/>
          </a:p>
          <a:p>
            <a:pPr>
              <a:lnSpc>
                <a:spcPct val="100000"/>
              </a:lnSpc>
            </a:pPr>
            <a:r>
              <a:rPr lang="en-US" altLang="zh-CN" dirty="0"/>
              <a:t>Let class </a:t>
            </a:r>
            <a:r>
              <a:rPr lang="en-US" altLang="zh-CN" i="1" dirty="0" err="1"/>
              <a:t>Env</a:t>
            </a:r>
            <a:r>
              <a:rPr lang="en-US" altLang="zh-CN" dirty="0"/>
              <a:t> implement symbol tables. The call </a:t>
            </a:r>
            <a:r>
              <a:rPr lang="en-US" altLang="zh-CN" i="1" dirty="0" err="1"/>
              <a:t>Env.push</a:t>
            </a:r>
            <a:r>
              <a:rPr lang="en-US" altLang="zh-CN" i="1" dirty="0"/>
              <a:t>( top) </a:t>
            </a:r>
            <a:r>
              <a:rPr lang="en-US" altLang="zh-CN" dirty="0"/>
              <a:t>pushes the current symbol table denoted by top onto a stack. Variable top is then set to a new symbol table. Similarly, offset is pushed onto a stack called Stack. Variable offset is then set to 0.</a:t>
            </a:r>
          </a:p>
          <a:p>
            <a:endParaRPr lang="en-US" altLang="zh-CN" dirty="0"/>
          </a:p>
          <a:p>
            <a:endParaRPr lang="en-US" altLang="zh-CN" dirty="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876193" y="2667762"/>
            <a:ext cx="5390476" cy="1304762"/>
          </a:xfrm>
          <a:prstGeom prst="rect">
            <a:avLst/>
          </a:prstGeom>
        </p:spPr>
      </p:pic>
    </p:spTree>
    <p:extLst>
      <p:ext uri="{BB962C8B-B14F-4D97-AF65-F5344CB8AC3E}">
        <p14:creationId xmlns:p14="http://schemas.microsoft.com/office/powerpoint/2010/main" val="2169707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848142" y="3940626"/>
            <a:ext cx="3295857" cy="14695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7.4 Translation of Expressions-Operations Within Expressions</a:t>
            </a:r>
            <a:endParaRPr lang="zh-CN" altLang="en-US" dirty="0"/>
          </a:p>
        </p:txBody>
      </p:sp>
      <p:sp>
        <p:nvSpPr>
          <p:cNvPr id="3" name="内容占位符 2"/>
          <p:cNvSpPr>
            <a:spLocks noGrp="1"/>
          </p:cNvSpPr>
          <p:nvPr>
            <p:ph idx="1"/>
          </p:nvPr>
        </p:nvSpPr>
        <p:spPr>
          <a:xfrm>
            <a:off x="828675" y="1600200"/>
            <a:ext cx="7486650" cy="1480457"/>
          </a:xfrm>
        </p:spPr>
        <p:txBody>
          <a:bodyPr/>
          <a:lstStyle/>
          <a:p>
            <a:r>
              <a:rPr lang="en-US" altLang="zh-CN" dirty="0"/>
              <a:t>The syntax-directed definition in the following table builds up the three-address code for an assignment statement </a:t>
            </a:r>
            <a:r>
              <a:rPr lang="en-US" altLang="zh-CN" i="1" dirty="0"/>
              <a:t>S</a:t>
            </a:r>
            <a:r>
              <a:rPr lang="en-US" altLang="zh-CN" dirty="0"/>
              <a:t> using attribute code for </a:t>
            </a:r>
            <a:r>
              <a:rPr lang="en-US" altLang="zh-CN" i="1" dirty="0"/>
              <a:t>S</a:t>
            </a:r>
            <a:r>
              <a:rPr lang="en-US" altLang="zh-CN" dirty="0"/>
              <a:t> and attributes </a:t>
            </a:r>
            <a:r>
              <a:rPr lang="en-US" altLang="zh-CN" i="1" dirty="0" err="1"/>
              <a:t>addr</a:t>
            </a:r>
            <a:r>
              <a:rPr lang="en-US" altLang="zh-CN" dirty="0"/>
              <a:t> and </a:t>
            </a:r>
            <a:r>
              <a:rPr lang="en-US" altLang="zh-CN" i="1" dirty="0"/>
              <a:t>code</a:t>
            </a:r>
            <a:r>
              <a:rPr lang="en-US" altLang="zh-CN" dirty="0"/>
              <a:t> for an expression </a:t>
            </a:r>
            <a:r>
              <a:rPr lang="en-US" altLang="zh-CN" i="1" dirty="0"/>
              <a:t>E</a:t>
            </a:r>
            <a:r>
              <a:rPr lang="en-US" altLang="zh-CN" dirty="0"/>
              <a:t>. Attributes </a:t>
            </a:r>
            <a:r>
              <a:rPr lang="en-US" altLang="zh-CN" i="1" dirty="0"/>
              <a:t>S. code </a:t>
            </a:r>
            <a:r>
              <a:rPr lang="en-US" altLang="zh-CN" dirty="0"/>
              <a:t>and </a:t>
            </a:r>
            <a:r>
              <a:rPr lang="en-US" altLang="zh-CN" i="1" dirty="0"/>
              <a:t>E. code </a:t>
            </a:r>
            <a:r>
              <a:rPr lang="en-US" altLang="zh-CN" dirty="0"/>
              <a:t>denote the three-address code for </a:t>
            </a:r>
            <a:r>
              <a:rPr lang="en-US" altLang="zh-CN" i="1" dirty="0"/>
              <a:t>S</a:t>
            </a:r>
            <a:r>
              <a:rPr lang="en-US" altLang="zh-CN" dirty="0"/>
              <a:t> and </a:t>
            </a:r>
            <a:r>
              <a:rPr lang="en-US" altLang="zh-CN" i="1" dirty="0"/>
              <a:t>E</a:t>
            </a:r>
            <a:r>
              <a:rPr lang="en-US" altLang="zh-CN" dirty="0"/>
              <a:t>, respectively. Attribute </a:t>
            </a:r>
            <a:r>
              <a:rPr lang="en-US" altLang="zh-CN" i="1" dirty="0" err="1"/>
              <a:t>E.addr</a:t>
            </a:r>
            <a:r>
              <a:rPr lang="en-US" altLang="zh-CN" i="1" dirty="0"/>
              <a:t> </a:t>
            </a:r>
            <a:r>
              <a:rPr lang="en-US" altLang="zh-CN" dirty="0"/>
              <a:t>denotes the address that will hold the value of </a:t>
            </a:r>
            <a:r>
              <a:rPr lang="en-US" altLang="zh-CN" i="1" dirty="0"/>
              <a:t>E</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315684" y="2699316"/>
            <a:ext cx="5706630" cy="3997100"/>
          </a:xfrm>
          <a:prstGeom prst="rect">
            <a:avLst/>
          </a:prstGeom>
        </p:spPr>
      </p:pic>
      <p:pic>
        <p:nvPicPr>
          <p:cNvPr id="6" name="图片 5"/>
          <p:cNvPicPr>
            <a:picLocks noChangeAspect="1"/>
          </p:cNvPicPr>
          <p:nvPr/>
        </p:nvPicPr>
        <p:blipFill>
          <a:blip r:embed="rId3"/>
          <a:stretch>
            <a:fillRect/>
          </a:stretch>
        </p:blipFill>
        <p:spPr>
          <a:xfrm>
            <a:off x="5943600" y="4061049"/>
            <a:ext cx="3200400" cy="1228725"/>
          </a:xfrm>
          <a:prstGeom prst="rect">
            <a:avLst/>
          </a:prstGeom>
        </p:spPr>
      </p:pic>
    </p:spTree>
    <p:extLst>
      <p:ext uri="{BB962C8B-B14F-4D97-AF65-F5344CB8AC3E}">
        <p14:creationId xmlns:p14="http://schemas.microsoft.com/office/powerpoint/2010/main" val="124110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 Translation of Expressions-Incremental Translation</a:t>
            </a:r>
            <a:endParaRPr lang="zh-CN" altLang="en-US" dirty="0"/>
          </a:p>
        </p:txBody>
      </p:sp>
      <p:sp>
        <p:nvSpPr>
          <p:cNvPr id="3" name="内容占位符 2"/>
          <p:cNvSpPr>
            <a:spLocks noGrp="1"/>
          </p:cNvSpPr>
          <p:nvPr>
            <p:ph idx="1"/>
          </p:nvPr>
        </p:nvSpPr>
        <p:spPr>
          <a:xfrm>
            <a:off x="828675" y="1600200"/>
            <a:ext cx="7486650" cy="1545771"/>
          </a:xfrm>
        </p:spPr>
        <p:txBody>
          <a:bodyPr/>
          <a:lstStyle/>
          <a:p>
            <a:r>
              <a:rPr lang="en-US" altLang="zh-CN" dirty="0"/>
              <a:t>Code attributes can be long strings, so they are usually generated incrementally. Thus , instead of building up </a:t>
            </a:r>
            <a:r>
              <a:rPr lang="en-US" altLang="zh-CN" i="1" dirty="0"/>
              <a:t>E. code</a:t>
            </a:r>
            <a:r>
              <a:rPr lang="en-US" altLang="zh-CN" dirty="0"/>
              <a:t>, we can arrange to generate only the new three-address instructions, as in the following translation scheme. In the incremental approach, </a:t>
            </a:r>
            <a:r>
              <a:rPr lang="en-US" altLang="zh-CN" i="1" dirty="0">
                <a:solidFill>
                  <a:srgbClr val="7030A0"/>
                </a:solidFill>
              </a:rPr>
              <a:t>gen</a:t>
            </a:r>
            <a:r>
              <a:rPr lang="en-US" altLang="zh-CN" dirty="0"/>
              <a:t> not only constructs a three-address instruction, it appends the instruction to the sequence of instructions generated so far. The sequence may either be retained in memory for further processing, or it may be output incrementally.</a:t>
            </a:r>
            <a:endParaRPr lang="zh-CN" altLang="en-US" dirty="0"/>
          </a:p>
        </p:txBody>
      </p:sp>
      <p:pic>
        <p:nvPicPr>
          <p:cNvPr id="4" name="图片 3"/>
          <p:cNvPicPr>
            <a:picLocks noChangeAspect="1"/>
          </p:cNvPicPr>
          <p:nvPr/>
        </p:nvPicPr>
        <p:blipFill>
          <a:blip r:embed="rId2"/>
          <a:stretch>
            <a:fillRect/>
          </a:stretch>
        </p:blipFill>
        <p:spPr>
          <a:xfrm>
            <a:off x="2637856" y="3320142"/>
            <a:ext cx="4377104" cy="2242457"/>
          </a:xfrm>
          <a:prstGeom prst="rect">
            <a:avLst/>
          </a:prstGeom>
        </p:spPr>
      </p:pic>
    </p:spTree>
    <p:extLst>
      <p:ext uri="{BB962C8B-B14F-4D97-AF65-F5344CB8AC3E}">
        <p14:creationId xmlns:p14="http://schemas.microsoft.com/office/powerpoint/2010/main" val="320336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 Translation of Expressions-Addressing Array Elements</a:t>
            </a:r>
            <a:endParaRPr lang="zh-CN" altLang="en-US" dirty="0"/>
          </a:p>
        </p:txBody>
      </p:sp>
      <p:pic>
        <p:nvPicPr>
          <p:cNvPr id="7" name="图片 6"/>
          <p:cNvPicPr>
            <a:picLocks noChangeAspect="1"/>
          </p:cNvPicPr>
          <p:nvPr/>
        </p:nvPicPr>
        <p:blipFill>
          <a:blip r:embed="rId2"/>
          <a:stretch>
            <a:fillRect/>
          </a:stretch>
        </p:blipFill>
        <p:spPr>
          <a:xfrm>
            <a:off x="1542029" y="1277030"/>
            <a:ext cx="5450341" cy="5450341"/>
          </a:xfrm>
          <a:prstGeom prst="rect">
            <a:avLst/>
          </a:prstGeom>
        </p:spPr>
      </p:pic>
      <p:cxnSp>
        <p:nvCxnSpPr>
          <p:cNvPr id="9" name="直接连接符 8"/>
          <p:cNvCxnSpPr/>
          <p:nvPr/>
        </p:nvCxnSpPr>
        <p:spPr>
          <a:xfrm flipV="1">
            <a:off x="3646713" y="2393270"/>
            <a:ext cx="1240972" cy="10886"/>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2" name="直接连接符 11"/>
          <p:cNvCxnSpPr/>
          <p:nvPr/>
        </p:nvCxnSpPr>
        <p:spPr>
          <a:xfrm flipV="1">
            <a:off x="2677885" y="4691743"/>
            <a:ext cx="3178628" cy="10886"/>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4" name="直接连接符 13"/>
          <p:cNvCxnSpPr/>
          <p:nvPr/>
        </p:nvCxnSpPr>
        <p:spPr>
          <a:xfrm flipV="1">
            <a:off x="2209800" y="6727371"/>
            <a:ext cx="4082143" cy="10886"/>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6" name="直接连接符 15"/>
          <p:cNvCxnSpPr/>
          <p:nvPr/>
        </p:nvCxnSpPr>
        <p:spPr>
          <a:xfrm flipV="1">
            <a:off x="3330459" y="6085114"/>
            <a:ext cx="1774941" cy="20184"/>
          </a:xfrm>
          <a:prstGeom prst="line">
            <a:avLst/>
          </a:prstGeom>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5882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 Translation of Expressions-Addressing Array Elements</a:t>
            </a:r>
            <a:endParaRPr lang="zh-CN" altLang="en-US" dirty="0"/>
          </a:p>
        </p:txBody>
      </p:sp>
      <p:pic>
        <p:nvPicPr>
          <p:cNvPr id="3" name="图片 2"/>
          <p:cNvPicPr>
            <a:picLocks noChangeAspect="1"/>
          </p:cNvPicPr>
          <p:nvPr/>
        </p:nvPicPr>
        <p:blipFill>
          <a:blip r:embed="rId2"/>
          <a:stretch>
            <a:fillRect/>
          </a:stretch>
        </p:blipFill>
        <p:spPr>
          <a:xfrm>
            <a:off x="828675" y="1499507"/>
            <a:ext cx="6569862" cy="2930978"/>
          </a:xfrm>
          <a:prstGeom prst="rect">
            <a:avLst/>
          </a:prstGeom>
        </p:spPr>
      </p:pic>
      <p:pic>
        <p:nvPicPr>
          <p:cNvPr id="4" name="图片 3"/>
          <p:cNvPicPr>
            <a:picLocks noChangeAspect="1"/>
          </p:cNvPicPr>
          <p:nvPr/>
        </p:nvPicPr>
        <p:blipFill>
          <a:blip r:embed="rId3"/>
          <a:stretch>
            <a:fillRect/>
          </a:stretch>
        </p:blipFill>
        <p:spPr>
          <a:xfrm>
            <a:off x="2323531" y="4756830"/>
            <a:ext cx="4495800" cy="1733550"/>
          </a:xfrm>
          <a:prstGeom prst="rect">
            <a:avLst/>
          </a:prstGeom>
        </p:spPr>
      </p:pic>
    </p:spTree>
    <p:extLst>
      <p:ext uri="{BB962C8B-B14F-4D97-AF65-F5344CB8AC3E}">
        <p14:creationId xmlns:p14="http://schemas.microsoft.com/office/powerpoint/2010/main" val="44682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 Translation of Expressions-Addressing Array Elements</a:t>
            </a:r>
            <a:endParaRPr lang="zh-CN" altLang="en-US" dirty="0"/>
          </a:p>
        </p:txBody>
      </p:sp>
      <p:sp>
        <p:nvSpPr>
          <p:cNvPr id="6" name="矩形 5"/>
          <p:cNvSpPr/>
          <p:nvPr/>
        </p:nvSpPr>
        <p:spPr>
          <a:xfrm>
            <a:off x="1251857" y="1304313"/>
            <a:ext cx="5758543" cy="584775"/>
          </a:xfrm>
          <a:prstGeom prst="rect">
            <a:avLst/>
          </a:prstGeom>
        </p:spPr>
        <p:txBody>
          <a:bodyPr wrap="square">
            <a:spAutoFit/>
          </a:bodyPr>
          <a:lstStyle/>
          <a:p>
            <a:r>
              <a:rPr lang="en-US" altLang="zh-CN" sz="1600" dirty="0">
                <a:solidFill>
                  <a:schemeClr val="tx2"/>
                </a:solidFill>
              </a:rPr>
              <a:t>Let nonterminal </a:t>
            </a:r>
            <a:r>
              <a:rPr lang="en-US" altLang="zh-CN" sz="1600" i="1" dirty="0">
                <a:solidFill>
                  <a:schemeClr val="tx2"/>
                </a:solidFill>
              </a:rPr>
              <a:t>L</a:t>
            </a:r>
            <a:r>
              <a:rPr lang="en-US" altLang="zh-CN" sz="1600" dirty="0">
                <a:solidFill>
                  <a:schemeClr val="tx2"/>
                </a:solidFill>
              </a:rPr>
              <a:t> generate an array name followed by a sequence of indexed expressions</a:t>
            </a:r>
            <a:endParaRPr lang="zh-CN" altLang="en-US" sz="1600" dirty="0">
              <a:solidFill>
                <a:schemeClr val="tx2"/>
              </a:solidFill>
            </a:endParaRPr>
          </a:p>
        </p:txBody>
      </p:sp>
      <p:pic>
        <p:nvPicPr>
          <p:cNvPr id="7" name="图片 6"/>
          <p:cNvPicPr>
            <a:picLocks noChangeAspect="1"/>
          </p:cNvPicPr>
          <p:nvPr/>
        </p:nvPicPr>
        <p:blipFill>
          <a:blip r:embed="rId2"/>
          <a:stretch>
            <a:fillRect/>
          </a:stretch>
        </p:blipFill>
        <p:spPr>
          <a:xfrm>
            <a:off x="2943904" y="1963215"/>
            <a:ext cx="2669087" cy="373930"/>
          </a:xfrm>
          <a:prstGeom prst="rect">
            <a:avLst/>
          </a:prstGeom>
        </p:spPr>
      </p:pic>
      <p:sp>
        <p:nvSpPr>
          <p:cNvPr id="8" name="矩形 7"/>
          <p:cNvSpPr/>
          <p:nvPr/>
        </p:nvSpPr>
        <p:spPr>
          <a:xfrm>
            <a:off x="828675" y="2411272"/>
            <a:ext cx="7347857" cy="584775"/>
          </a:xfrm>
          <a:prstGeom prst="rect">
            <a:avLst/>
          </a:prstGeom>
        </p:spPr>
        <p:txBody>
          <a:bodyPr wrap="square">
            <a:spAutoFit/>
          </a:bodyPr>
          <a:lstStyle/>
          <a:p>
            <a:r>
              <a:rPr lang="en-US" altLang="zh-CN" sz="1600" dirty="0">
                <a:solidFill>
                  <a:schemeClr val="tx2"/>
                </a:solidFill>
              </a:rPr>
              <a:t>As in C and Java, assume that the lowest-numbered array element is O. The translation scheme of the expression with arrays:</a:t>
            </a:r>
            <a:endParaRPr lang="zh-CN" altLang="en-US" sz="1600" dirty="0">
              <a:solidFill>
                <a:schemeClr val="tx2"/>
              </a:solidFill>
            </a:endParaRPr>
          </a:p>
        </p:txBody>
      </p:sp>
      <p:pic>
        <p:nvPicPr>
          <p:cNvPr id="9" name="图片 8"/>
          <p:cNvPicPr>
            <a:picLocks noChangeAspect="1"/>
          </p:cNvPicPr>
          <p:nvPr/>
        </p:nvPicPr>
        <p:blipFill>
          <a:blip r:embed="rId3"/>
          <a:stretch>
            <a:fillRect/>
          </a:stretch>
        </p:blipFill>
        <p:spPr>
          <a:xfrm>
            <a:off x="828675" y="3032809"/>
            <a:ext cx="3842658" cy="3825191"/>
          </a:xfrm>
          <a:prstGeom prst="rect">
            <a:avLst/>
          </a:prstGeom>
        </p:spPr>
      </p:pic>
      <p:sp>
        <p:nvSpPr>
          <p:cNvPr id="10" name="矩形 9"/>
          <p:cNvSpPr/>
          <p:nvPr/>
        </p:nvSpPr>
        <p:spPr>
          <a:xfrm>
            <a:off x="4724400" y="3129674"/>
            <a:ext cx="4419600" cy="830997"/>
          </a:xfrm>
          <a:prstGeom prst="rect">
            <a:avLst/>
          </a:prstGeom>
        </p:spPr>
        <p:txBody>
          <a:bodyPr wrap="square">
            <a:spAutoFit/>
          </a:bodyPr>
          <a:lstStyle/>
          <a:p>
            <a:r>
              <a:rPr lang="en-US" altLang="zh-CN" sz="1600" i="1" dirty="0" err="1">
                <a:solidFill>
                  <a:srgbClr val="7030A0"/>
                </a:solidFill>
              </a:rPr>
              <a:t>L.addr</a:t>
            </a:r>
            <a:r>
              <a:rPr lang="en-US" altLang="zh-CN" sz="1600" dirty="0">
                <a:solidFill>
                  <a:schemeClr val="tx2"/>
                </a:solidFill>
              </a:rPr>
              <a:t> denotes a temporary that is used while computing the offset for the array reference</a:t>
            </a:r>
            <a:endParaRPr lang="zh-CN" altLang="en-US" sz="1600" dirty="0">
              <a:solidFill>
                <a:schemeClr val="tx2"/>
              </a:solidFill>
            </a:endParaRPr>
          </a:p>
        </p:txBody>
      </p:sp>
      <p:sp>
        <p:nvSpPr>
          <p:cNvPr id="12" name="矩形 11"/>
          <p:cNvSpPr/>
          <p:nvPr/>
        </p:nvSpPr>
        <p:spPr>
          <a:xfrm>
            <a:off x="4648200" y="3960671"/>
            <a:ext cx="4572000" cy="1569660"/>
          </a:xfrm>
          <a:prstGeom prst="rect">
            <a:avLst/>
          </a:prstGeom>
        </p:spPr>
        <p:txBody>
          <a:bodyPr>
            <a:spAutoFit/>
          </a:bodyPr>
          <a:lstStyle/>
          <a:p>
            <a:r>
              <a:rPr lang="en-US" altLang="zh-CN" sz="1600" i="1" dirty="0" err="1">
                <a:solidFill>
                  <a:srgbClr val="7030A0"/>
                </a:solidFill>
              </a:rPr>
              <a:t>L.array</a:t>
            </a:r>
            <a:r>
              <a:rPr lang="en-US" altLang="zh-CN" sz="1600" dirty="0">
                <a:solidFill>
                  <a:schemeClr val="tx2"/>
                </a:solidFill>
              </a:rPr>
              <a:t> is a pointer to the symbol-table entry for the array name. The base address of the array, say,</a:t>
            </a:r>
            <a:r>
              <a:rPr lang="en-US" altLang="zh-CN" sz="1600" i="1" dirty="0">
                <a:solidFill>
                  <a:srgbClr val="7030A0"/>
                </a:solidFill>
              </a:rPr>
              <a:t> </a:t>
            </a:r>
            <a:r>
              <a:rPr lang="en-US" altLang="zh-CN" sz="1600" i="1" dirty="0" err="1">
                <a:solidFill>
                  <a:srgbClr val="7030A0"/>
                </a:solidFill>
              </a:rPr>
              <a:t>L.array.base</a:t>
            </a:r>
            <a:r>
              <a:rPr lang="en-US" altLang="zh-CN" sz="1600" i="1" dirty="0">
                <a:solidFill>
                  <a:srgbClr val="7030A0"/>
                </a:solidFill>
              </a:rPr>
              <a:t> </a:t>
            </a:r>
            <a:r>
              <a:rPr lang="en-US" altLang="zh-CN" sz="1600" dirty="0">
                <a:solidFill>
                  <a:schemeClr val="tx2"/>
                </a:solidFill>
              </a:rPr>
              <a:t>is used to determine the actual l-value of an array reference after all the index expressions are analyzed.</a:t>
            </a:r>
            <a:endParaRPr lang="zh-CN" altLang="en-US" sz="1600" dirty="0">
              <a:solidFill>
                <a:schemeClr val="tx2"/>
              </a:solidFill>
            </a:endParaRPr>
          </a:p>
        </p:txBody>
      </p:sp>
      <p:sp>
        <p:nvSpPr>
          <p:cNvPr id="13" name="矩形 12"/>
          <p:cNvSpPr/>
          <p:nvPr/>
        </p:nvSpPr>
        <p:spPr>
          <a:xfrm>
            <a:off x="4659767" y="5609390"/>
            <a:ext cx="4572000" cy="584775"/>
          </a:xfrm>
          <a:prstGeom prst="rect">
            <a:avLst/>
          </a:prstGeom>
        </p:spPr>
        <p:txBody>
          <a:bodyPr>
            <a:spAutoFit/>
          </a:bodyPr>
          <a:lstStyle/>
          <a:p>
            <a:r>
              <a:rPr lang="en-US" altLang="zh-CN" sz="1600" i="1" dirty="0" err="1">
                <a:solidFill>
                  <a:srgbClr val="7030A0"/>
                </a:solidFill>
              </a:rPr>
              <a:t>L.type</a:t>
            </a:r>
            <a:r>
              <a:rPr lang="en-US" altLang="zh-CN" sz="1600" dirty="0">
                <a:solidFill>
                  <a:schemeClr val="tx2"/>
                </a:solidFill>
              </a:rPr>
              <a:t> is the type of the sub array generated by L.</a:t>
            </a:r>
            <a:endParaRPr lang="zh-CN" altLang="en-US" sz="1600" dirty="0">
              <a:solidFill>
                <a:schemeClr val="tx2"/>
              </a:solidFill>
            </a:endParaRPr>
          </a:p>
        </p:txBody>
      </p:sp>
    </p:spTree>
    <p:extLst>
      <p:ext uri="{BB962C8B-B14F-4D97-AF65-F5344CB8AC3E}">
        <p14:creationId xmlns:p14="http://schemas.microsoft.com/office/powerpoint/2010/main" val="1733800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 Translation of Expressions-Addressing Array Elements</a:t>
            </a:r>
            <a:endParaRPr lang="zh-CN" altLang="en-US" dirty="0"/>
          </a:p>
        </p:txBody>
      </p:sp>
      <p:pic>
        <p:nvPicPr>
          <p:cNvPr id="3" name="图片 2"/>
          <p:cNvPicPr>
            <a:picLocks noChangeAspect="1"/>
          </p:cNvPicPr>
          <p:nvPr/>
        </p:nvPicPr>
        <p:blipFill>
          <a:blip r:embed="rId2"/>
          <a:stretch>
            <a:fillRect/>
          </a:stretch>
        </p:blipFill>
        <p:spPr>
          <a:xfrm>
            <a:off x="2290193" y="1679121"/>
            <a:ext cx="4562475" cy="4762500"/>
          </a:xfrm>
          <a:prstGeom prst="rect">
            <a:avLst/>
          </a:prstGeom>
        </p:spPr>
      </p:pic>
    </p:spTree>
    <p:extLst>
      <p:ext uri="{BB962C8B-B14F-4D97-AF65-F5344CB8AC3E}">
        <p14:creationId xmlns:p14="http://schemas.microsoft.com/office/powerpoint/2010/main" val="3045919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 Type checking-Rules for Type Checking</a:t>
            </a:r>
            <a:endParaRPr lang="zh-CN" altLang="en-US" dirty="0"/>
          </a:p>
        </p:txBody>
      </p:sp>
      <p:sp>
        <p:nvSpPr>
          <p:cNvPr id="3" name="内容占位符 2"/>
          <p:cNvSpPr>
            <a:spLocks noGrp="1"/>
          </p:cNvSpPr>
          <p:nvPr>
            <p:ph idx="1"/>
          </p:nvPr>
        </p:nvSpPr>
        <p:spPr>
          <a:xfrm>
            <a:off x="828675" y="1600200"/>
            <a:ext cx="7486650" cy="478971"/>
          </a:xfrm>
        </p:spPr>
        <p:txBody>
          <a:bodyPr/>
          <a:lstStyle/>
          <a:p>
            <a:r>
              <a:rPr lang="en-US" altLang="zh-CN" dirty="0"/>
              <a:t>Type checking can take on two forms: </a:t>
            </a:r>
            <a:r>
              <a:rPr lang="en-US" altLang="zh-CN" i="1" dirty="0">
                <a:solidFill>
                  <a:srgbClr val="7030A0"/>
                </a:solidFill>
              </a:rPr>
              <a:t>synthesis</a:t>
            </a:r>
            <a:r>
              <a:rPr lang="en-US" altLang="zh-CN" dirty="0">
                <a:solidFill>
                  <a:srgbClr val="7030A0"/>
                </a:solidFill>
              </a:rPr>
              <a:t> </a:t>
            </a:r>
            <a:r>
              <a:rPr lang="en-US" altLang="zh-CN" dirty="0"/>
              <a:t>and </a:t>
            </a:r>
            <a:r>
              <a:rPr lang="en-US" altLang="zh-CN" i="1" dirty="0">
                <a:solidFill>
                  <a:srgbClr val="7030A0"/>
                </a:solidFill>
              </a:rPr>
              <a:t>inference</a:t>
            </a:r>
            <a:r>
              <a:rPr lang="en-US" altLang="zh-CN" dirty="0"/>
              <a:t>.</a:t>
            </a:r>
            <a:endParaRPr lang="zh-CN" altLang="en-US" dirty="0"/>
          </a:p>
        </p:txBody>
      </p:sp>
      <p:sp>
        <p:nvSpPr>
          <p:cNvPr id="5" name="内容占位符 2"/>
          <p:cNvSpPr txBox="1">
            <a:spLocks/>
          </p:cNvSpPr>
          <p:nvPr/>
        </p:nvSpPr>
        <p:spPr>
          <a:xfrm>
            <a:off x="828675" y="2027238"/>
            <a:ext cx="7486650" cy="111873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b="1" dirty="0">
                <a:solidFill>
                  <a:srgbClr val="7030A0"/>
                </a:solidFill>
              </a:rPr>
              <a:t>Type synthesis </a:t>
            </a:r>
            <a:r>
              <a:rPr lang="en-US" altLang="zh-CN" dirty="0"/>
              <a:t>builds up the type of an expression from the types of its subexpressions. It requires names to be declared before they are used.</a:t>
            </a:r>
            <a:endParaRPr lang="zh-CN" altLang="en-US" dirty="0"/>
          </a:p>
        </p:txBody>
      </p:sp>
      <p:sp>
        <p:nvSpPr>
          <p:cNvPr id="6" name="内容占位符 2"/>
          <p:cNvSpPr txBox="1">
            <a:spLocks/>
          </p:cNvSpPr>
          <p:nvPr/>
        </p:nvSpPr>
        <p:spPr>
          <a:xfrm>
            <a:off x="828675" y="3954009"/>
            <a:ext cx="7486650" cy="617991"/>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b="1" dirty="0">
                <a:solidFill>
                  <a:srgbClr val="7030A0"/>
                </a:solidFill>
              </a:rPr>
              <a:t>Type inference </a:t>
            </a:r>
            <a:r>
              <a:rPr lang="en-US" altLang="zh-CN" dirty="0"/>
              <a:t>determines the type of a language construct from the way it is used.</a:t>
            </a:r>
            <a:endParaRPr lang="zh-CN" altLang="en-US" dirty="0"/>
          </a:p>
        </p:txBody>
      </p:sp>
      <p:pic>
        <p:nvPicPr>
          <p:cNvPr id="7" name="图片 6"/>
          <p:cNvPicPr>
            <a:picLocks noChangeAspect="1"/>
          </p:cNvPicPr>
          <p:nvPr/>
        </p:nvPicPr>
        <p:blipFill>
          <a:blip r:embed="rId2"/>
          <a:stretch>
            <a:fillRect/>
          </a:stretch>
        </p:blipFill>
        <p:spPr>
          <a:xfrm>
            <a:off x="2881992" y="2586603"/>
            <a:ext cx="3780552" cy="733540"/>
          </a:xfrm>
          <a:prstGeom prst="rect">
            <a:avLst/>
          </a:prstGeom>
        </p:spPr>
      </p:pic>
      <p:pic>
        <p:nvPicPr>
          <p:cNvPr id="8" name="图片 7"/>
          <p:cNvPicPr>
            <a:picLocks noChangeAspect="1"/>
          </p:cNvPicPr>
          <p:nvPr/>
        </p:nvPicPr>
        <p:blipFill>
          <a:blip r:embed="rId3"/>
          <a:stretch>
            <a:fillRect/>
          </a:stretch>
        </p:blipFill>
        <p:spPr>
          <a:xfrm>
            <a:off x="2575151" y="4498294"/>
            <a:ext cx="5471048" cy="707572"/>
          </a:xfrm>
          <a:prstGeom prst="rect">
            <a:avLst/>
          </a:prstGeom>
        </p:spPr>
      </p:pic>
    </p:spTree>
    <p:extLst>
      <p:ext uri="{BB962C8B-B14F-4D97-AF65-F5344CB8AC3E}">
        <p14:creationId xmlns:p14="http://schemas.microsoft.com/office/powerpoint/2010/main" val="2891057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 Type checking-Type Conversions</a:t>
            </a:r>
            <a:endParaRPr lang="zh-CN" altLang="en-US" dirty="0"/>
          </a:p>
        </p:txBody>
      </p:sp>
      <p:sp>
        <p:nvSpPr>
          <p:cNvPr id="3" name="内容占位符 2"/>
          <p:cNvSpPr>
            <a:spLocks noGrp="1"/>
          </p:cNvSpPr>
          <p:nvPr>
            <p:ph idx="1"/>
          </p:nvPr>
        </p:nvSpPr>
        <p:spPr>
          <a:xfrm>
            <a:off x="828675" y="1600200"/>
            <a:ext cx="7486650" cy="1404257"/>
          </a:xfrm>
        </p:spPr>
        <p:txBody>
          <a:bodyPr>
            <a:normAutofit/>
          </a:bodyPr>
          <a:lstStyle/>
          <a:p>
            <a:r>
              <a:rPr lang="en-US" altLang="zh-CN" dirty="0"/>
              <a:t>Consider expressions like </a:t>
            </a:r>
            <a:r>
              <a:rPr lang="en-US" altLang="zh-CN" b="1" i="1" dirty="0">
                <a:solidFill>
                  <a:srgbClr val="7030A0"/>
                </a:solidFill>
              </a:rPr>
              <a:t>x + </a:t>
            </a:r>
            <a:r>
              <a:rPr lang="en-US" altLang="zh-CN" b="1" i="1" dirty="0" err="1">
                <a:solidFill>
                  <a:srgbClr val="7030A0"/>
                </a:solidFill>
              </a:rPr>
              <a:t>i</a:t>
            </a:r>
            <a:r>
              <a:rPr lang="en-US" altLang="zh-CN" dirty="0"/>
              <a:t>, where </a:t>
            </a:r>
            <a:r>
              <a:rPr lang="en-US" altLang="zh-CN" b="1" i="1" dirty="0">
                <a:solidFill>
                  <a:srgbClr val="7030A0"/>
                </a:solidFill>
              </a:rPr>
              <a:t>x</a:t>
            </a:r>
            <a:r>
              <a:rPr lang="en-US" altLang="zh-CN" dirty="0"/>
              <a:t> is of type float and</a:t>
            </a:r>
            <a:r>
              <a:rPr lang="en-US" altLang="zh-CN" i="1" dirty="0">
                <a:solidFill>
                  <a:srgbClr val="7030A0"/>
                </a:solidFill>
              </a:rPr>
              <a:t> </a:t>
            </a:r>
            <a:r>
              <a:rPr lang="en-US" altLang="zh-CN" i="1" dirty="0" err="1">
                <a:solidFill>
                  <a:srgbClr val="7030A0"/>
                </a:solidFill>
              </a:rPr>
              <a:t>i</a:t>
            </a:r>
            <a:r>
              <a:rPr lang="en-US" altLang="zh-CN" i="1" dirty="0">
                <a:solidFill>
                  <a:srgbClr val="7030A0"/>
                </a:solidFill>
              </a:rPr>
              <a:t> </a:t>
            </a:r>
            <a:r>
              <a:rPr lang="en-US" altLang="zh-CN" dirty="0"/>
              <a:t>is of type integer. Since the representation of integers and floating-point numbers is different within a computer and different machine instructions are used for operations on integers and floats, the compiler may need to convert one of the operands of </a:t>
            </a:r>
            <a:r>
              <a:rPr lang="en-US" altLang="zh-CN" b="1" dirty="0">
                <a:solidFill>
                  <a:srgbClr val="7030A0"/>
                </a:solidFill>
              </a:rPr>
              <a:t>+</a:t>
            </a:r>
            <a:r>
              <a:rPr lang="en-US" altLang="zh-CN" dirty="0"/>
              <a:t> to ensure that both operands are of the same type when the addition occurs.</a:t>
            </a:r>
            <a:endParaRPr lang="zh-CN" altLang="en-US" dirty="0"/>
          </a:p>
        </p:txBody>
      </p:sp>
      <p:pic>
        <p:nvPicPr>
          <p:cNvPr id="4" name="图片 3"/>
          <p:cNvPicPr>
            <a:picLocks noChangeAspect="1"/>
          </p:cNvPicPr>
          <p:nvPr/>
        </p:nvPicPr>
        <p:blipFill>
          <a:blip r:embed="rId2"/>
          <a:stretch>
            <a:fillRect/>
          </a:stretch>
        </p:blipFill>
        <p:spPr>
          <a:xfrm>
            <a:off x="3365726" y="2814637"/>
            <a:ext cx="2175103" cy="766763"/>
          </a:xfrm>
          <a:prstGeom prst="rect">
            <a:avLst/>
          </a:prstGeom>
        </p:spPr>
      </p:pic>
      <p:pic>
        <p:nvPicPr>
          <p:cNvPr id="9" name="图片 8"/>
          <p:cNvPicPr>
            <a:picLocks noChangeAspect="1"/>
          </p:cNvPicPr>
          <p:nvPr/>
        </p:nvPicPr>
        <p:blipFill>
          <a:blip r:embed="rId3"/>
          <a:stretch>
            <a:fillRect/>
          </a:stretch>
        </p:blipFill>
        <p:spPr>
          <a:xfrm>
            <a:off x="1514814" y="3873953"/>
            <a:ext cx="6354991" cy="1264103"/>
          </a:xfrm>
          <a:prstGeom prst="rect">
            <a:avLst/>
          </a:prstGeom>
        </p:spPr>
      </p:pic>
    </p:spTree>
    <p:extLst>
      <p:ext uri="{BB962C8B-B14F-4D97-AF65-F5344CB8AC3E}">
        <p14:creationId xmlns:p14="http://schemas.microsoft.com/office/powerpoint/2010/main" val="45869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 Type checking-Type Conversions</a:t>
            </a:r>
            <a:endParaRPr lang="zh-CN" altLang="en-US" dirty="0"/>
          </a:p>
        </p:txBody>
      </p:sp>
      <p:sp>
        <p:nvSpPr>
          <p:cNvPr id="3" name="内容占位符 2"/>
          <p:cNvSpPr>
            <a:spLocks noGrp="1"/>
          </p:cNvSpPr>
          <p:nvPr>
            <p:ph idx="1"/>
          </p:nvPr>
        </p:nvSpPr>
        <p:spPr>
          <a:xfrm>
            <a:off x="828675" y="1600200"/>
            <a:ext cx="7486650" cy="1404257"/>
          </a:xfrm>
        </p:spPr>
        <p:txBody>
          <a:bodyPr>
            <a:normAutofit/>
          </a:bodyPr>
          <a:lstStyle/>
          <a:p>
            <a:r>
              <a:rPr lang="en-US" altLang="zh-CN" dirty="0"/>
              <a:t>Type conversion rules vary from language to language. The rules for Java in the following figure distinguish between </a:t>
            </a:r>
            <a:r>
              <a:rPr lang="en-US" altLang="zh-CN" b="1" dirty="0">
                <a:solidFill>
                  <a:srgbClr val="7030A0"/>
                </a:solidFill>
              </a:rPr>
              <a:t>widening</a:t>
            </a:r>
            <a:r>
              <a:rPr lang="en-US" altLang="zh-CN" dirty="0"/>
              <a:t> conversions, which are intended to preserve information, and </a:t>
            </a:r>
            <a:r>
              <a:rPr lang="en-US" altLang="zh-CN" b="1" dirty="0">
                <a:solidFill>
                  <a:srgbClr val="7030A0"/>
                </a:solidFill>
              </a:rPr>
              <a:t>narrowing</a:t>
            </a:r>
            <a:r>
              <a:rPr lang="en-US" altLang="zh-CN" dirty="0">
                <a:solidFill>
                  <a:srgbClr val="7030A0"/>
                </a:solidFill>
              </a:rPr>
              <a:t> </a:t>
            </a:r>
            <a:r>
              <a:rPr lang="en-US" altLang="zh-CN" dirty="0"/>
              <a:t>conversions, which can lose information.</a:t>
            </a:r>
            <a:endParaRPr lang="zh-CN" altLang="en-US" dirty="0"/>
          </a:p>
        </p:txBody>
      </p:sp>
      <p:pic>
        <p:nvPicPr>
          <p:cNvPr id="5" name="图片 4"/>
          <p:cNvPicPr>
            <a:picLocks noChangeAspect="1"/>
          </p:cNvPicPr>
          <p:nvPr/>
        </p:nvPicPr>
        <p:blipFill>
          <a:blip r:embed="rId2"/>
          <a:stretch>
            <a:fillRect/>
          </a:stretch>
        </p:blipFill>
        <p:spPr>
          <a:xfrm>
            <a:off x="2137793" y="2708501"/>
            <a:ext cx="4867275" cy="3248025"/>
          </a:xfrm>
          <a:prstGeom prst="rect">
            <a:avLst/>
          </a:prstGeom>
        </p:spPr>
      </p:pic>
    </p:spTree>
    <p:extLst>
      <p:ext uri="{BB962C8B-B14F-4D97-AF65-F5344CB8AC3E}">
        <p14:creationId xmlns:p14="http://schemas.microsoft.com/office/powerpoint/2010/main" val="223524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 Type checking-Type Conversions</a:t>
            </a:r>
            <a:endParaRPr lang="zh-CN" altLang="en-US" dirty="0"/>
          </a:p>
        </p:txBody>
      </p:sp>
      <p:pic>
        <p:nvPicPr>
          <p:cNvPr id="6" name="图片 5"/>
          <p:cNvPicPr>
            <a:picLocks noChangeAspect="1"/>
          </p:cNvPicPr>
          <p:nvPr/>
        </p:nvPicPr>
        <p:blipFill>
          <a:blip r:embed="rId2"/>
          <a:stretch>
            <a:fillRect/>
          </a:stretch>
        </p:blipFill>
        <p:spPr>
          <a:xfrm>
            <a:off x="922564" y="1709058"/>
            <a:ext cx="3771900" cy="2590800"/>
          </a:xfrm>
          <a:prstGeom prst="rect">
            <a:avLst/>
          </a:prstGeom>
        </p:spPr>
      </p:pic>
      <p:pic>
        <p:nvPicPr>
          <p:cNvPr id="7" name="图片 6"/>
          <p:cNvPicPr>
            <a:picLocks noChangeAspect="1"/>
          </p:cNvPicPr>
          <p:nvPr/>
        </p:nvPicPr>
        <p:blipFill>
          <a:blip r:embed="rId3"/>
          <a:stretch>
            <a:fillRect/>
          </a:stretch>
        </p:blipFill>
        <p:spPr>
          <a:xfrm>
            <a:off x="3666444" y="4702629"/>
            <a:ext cx="4772025" cy="1676400"/>
          </a:xfrm>
          <a:prstGeom prst="rect">
            <a:avLst/>
          </a:prstGeom>
        </p:spPr>
      </p:pic>
    </p:spTree>
    <p:extLst>
      <p:ext uri="{BB962C8B-B14F-4D97-AF65-F5344CB8AC3E}">
        <p14:creationId xmlns:p14="http://schemas.microsoft.com/office/powerpoint/2010/main" val="3306091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Control Flow – Introduction</a:t>
            </a:r>
            <a:endParaRPr lang="zh-CN" altLang="en-US" dirty="0"/>
          </a:p>
        </p:txBody>
      </p:sp>
      <p:pic>
        <p:nvPicPr>
          <p:cNvPr id="3" name="图片 2"/>
          <p:cNvPicPr>
            <a:picLocks noChangeAspect="1"/>
          </p:cNvPicPr>
          <p:nvPr/>
        </p:nvPicPr>
        <p:blipFill>
          <a:blip r:embed="rId2"/>
          <a:stretch>
            <a:fillRect/>
          </a:stretch>
        </p:blipFill>
        <p:spPr>
          <a:xfrm>
            <a:off x="329408" y="1617208"/>
            <a:ext cx="7984779" cy="3499077"/>
          </a:xfrm>
          <a:prstGeom prst="rect">
            <a:avLst/>
          </a:prstGeom>
        </p:spPr>
      </p:pic>
      <p:cxnSp>
        <p:nvCxnSpPr>
          <p:cNvPr id="5" name="直接连接符 4"/>
          <p:cNvCxnSpPr/>
          <p:nvPr/>
        </p:nvCxnSpPr>
        <p:spPr>
          <a:xfrm flipV="1">
            <a:off x="1088571" y="2960914"/>
            <a:ext cx="2329543" cy="10886"/>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8" name="直接连接符 7"/>
          <p:cNvCxnSpPr/>
          <p:nvPr/>
        </p:nvCxnSpPr>
        <p:spPr>
          <a:xfrm flipV="1">
            <a:off x="1088570" y="4463142"/>
            <a:ext cx="2329543" cy="10886"/>
          </a:xfrm>
          <a:prstGeom prst="line">
            <a:avLst/>
          </a:prstGeom>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70039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Control Flow – Boolean Expressions</a:t>
            </a:r>
            <a:endParaRPr lang="zh-CN" altLang="en-US" dirty="0"/>
          </a:p>
        </p:txBody>
      </p:sp>
      <p:pic>
        <p:nvPicPr>
          <p:cNvPr id="4" name="图片 3"/>
          <p:cNvPicPr>
            <a:picLocks noChangeAspect="1"/>
          </p:cNvPicPr>
          <p:nvPr/>
        </p:nvPicPr>
        <p:blipFill>
          <a:blip r:embed="rId2"/>
          <a:stretch>
            <a:fillRect/>
          </a:stretch>
        </p:blipFill>
        <p:spPr>
          <a:xfrm>
            <a:off x="1277710" y="1364633"/>
            <a:ext cx="6000750" cy="457200"/>
          </a:xfrm>
          <a:prstGeom prst="rect">
            <a:avLst/>
          </a:prstGeom>
        </p:spPr>
      </p:pic>
      <p:sp>
        <p:nvSpPr>
          <p:cNvPr id="6" name="矩形 5"/>
          <p:cNvSpPr/>
          <p:nvPr/>
        </p:nvSpPr>
        <p:spPr>
          <a:xfrm>
            <a:off x="980394" y="1884847"/>
            <a:ext cx="7182072" cy="1200329"/>
          </a:xfrm>
          <a:prstGeom prst="rect">
            <a:avLst/>
          </a:prstGeom>
        </p:spPr>
        <p:txBody>
          <a:bodyPr wrap="square">
            <a:spAutoFit/>
          </a:bodyPr>
          <a:lstStyle/>
          <a:p>
            <a:r>
              <a:rPr lang="en-US" altLang="zh-CN" dirty="0"/>
              <a:t>In </a:t>
            </a:r>
            <a:r>
              <a:rPr lang="en-US" altLang="zh-CN" b="1" dirty="0">
                <a:solidFill>
                  <a:srgbClr val="7030A0"/>
                </a:solidFill>
              </a:rPr>
              <a:t>short-circuit (or jumping) </a:t>
            </a:r>
            <a:r>
              <a:rPr lang="en-US" altLang="zh-CN" dirty="0"/>
              <a:t>code, the Boolean operators </a:t>
            </a:r>
            <a:r>
              <a:rPr lang="en-US" altLang="zh-CN" dirty="0">
                <a:solidFill>
                  <a:srgbClr val="7030A0"/>
                </a:solidFill>
              </a:rPr>
              <a:t>&amp;&amp;</a:t>
            </a:r>
            <a:r>
              <a:rPr lang="en-US" altLang="zh-CN" dirty="0"/>
              <a:t>, </a:t>
            </a:r>
            <a:r>
              <a:rPr lang="en-US" altLang="zh-CN" b="1" dirty="0">
                <a:solidFill>
                  <a:srgbClr val="7030A0"/>
                </a:solidFill>
              </a:rPr>
              <a:t>||</a:t>
            </a:r>
            <a:r>
              <a:rPr lang="en-US" altLang="zh-CN" dirty="0"/>
              <a:t>, and </a:t>
            </a:r>
            <a:r>
              <a:rPr lang="en-US" altLang="zh-CN" b="1" dirty="0">
                <a:solidFill>
                  <a:srgbClr val="7030A0"/>
                </a:solidFill>
              </a:rPr>
              <a:t>!</a:t>
            </a:r>
            <a:r>
              <a:rPr lang="en-US" altLang="zh-CN" dirty="0"/>
              <a:t> translate into jumps. The operators themselves do not appear in the code; </a:t>
            </a:r>
            <a:r>
              <a:rPr lang="en-US" altLang="zh-CN" dirty="0" err="1"/>
              <a:t>Instead,the</a:t>
            </a:r>
            <a:r>
              <a:rPr lang="en-US" altLang="zh-CN" dirty="0"/>
              <a:t> value of a Boolean expression is represented by a position in the code sequence.</a:t>
            </a:r>
            <a:endParaRPr lang="zh-CN" altLang="en-US" dirty="0"/>
          </a:p>
        </p:txBody>
      </p:sp>
      <p:pic>
        <p:nvPicPr>
          <p:cNvPr id="9" name="图片 8"/>
          <p:cNvPicPr>
            <a:picLocks noChangeAspect="1"/>
          </p:cNvPicPr>
          <p:nvPr/>
        </p:nvPicPr>
        <p:blipFill>
          <a:blip r:embed="rId3"/>
          <a:stretch>
            <a:fillRect/>
          </a:stretch>
        </p:blipFill>
        <p:spPr>
          <a:xfrm>
            <a:off x="1453922" y="3148190"/>
            <a:ext cx="6410325" cy="3590925"/>
          </a:xfrm>
          <a:prstGeom prst="rect">
            <a:avLst/>
          </a:prstGeom>
        </p:spPr>
      </p:pic>
    </p:spTree>
    <p:extLst>
      <p:ext uri="{BB962C8B-B14F-4D97-AF65-F5344CB8AC3E}">
        <p14:creationId xmlns:p14="http://schemas.microsoft.com/office/powerpoint/2010/main" val="3336654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 Control Flow – Flow-of-Control Statements</a:t>
            </a:r>
            <a:endParaRPr lang="zh-CN" altLang="en-US" dirty="0"/>
          </a:p>
        </p:txBody>
      </p:sp>
      <p:pic>
        <p:nvPicPr>
          <p:cNvPr id="3" name="图片 2"/>
          <p:cNvPicPr>
            <a:picLocks noChangeAspect="1"/>
          </p:cNvPicPr>
          <p:nvPr/>
        </p:nvPicPr>
        <p:blipFill>
          <a:blip r:embed="rId2"/>
          <a:stretch>
            <a:fillRect/>
          </a:stretch>
        </p:blipFill>
        <p:spPr>
          <a:xfrm>
            <a:off x="1042361" y="1327710"/>
            <a:ext cx="6467475" cy="1438275"/>
          </a:xfrm>
          <a:prstGeom prst="rect">
            <a:avLst/>
          </a:prstGeom>
        </p:spPr>
      </p:pic>
      <p:pic>
        <p:nvPicPr>
          <p:cNvPr id="5" name="图片 4"/>
          <p:cNvPicPr>
            <a:picLocks noChangeAspect="1"/>
          </p:cNvPicPr>
          <p:nvPr/>
        </p:nvPicPr>
        <p:blipFill>
          <a:blip r:embed="rId3"/>
          <a:stretch>
            <a:fillRect/>
          </a:stretch>
        </p:blipFill>
        <p:spPr>
          <a:xfrm>
            <a:off x="1672428" y="2920533"/>
            <a:ext cx="5207343" cy="3937467"/>
          </a:xfrm>
          <a:prstGeom prst="rect">
            <a:avLst/>
          </a:prstGeom>
        </p:spPr>
      </p:pic>
    </p:spTree>
    <p:extLst>
      <p:ext uri="{BB962C8B-B14F-4D97-AF65-F5344CB8AC3E}">
        <p14:creationId xmlns:p14="http://schemas.microsoft.com/office/powerpoint/2010/main" val="2449586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Control Flow – Flow-of-Control Statements</a:t>
            </a:r>
            <a:endParaRPr lang="zh-CN" altLang="en-US" dirty="0"/>
          </a:p>
        </p:txBody>
      </p:sp>
      <p:pic>
        <p:nvPicPr>
          <p:cNvPr id="4" name="图片 3"/>
          <p:cNvPicPr>
            <a:picLocks noChangeAspect="1"/>
          </p:cNvPicPr>
          <p:nvPr/>
        </p:nvPicPr>
        <p:blipFill>
          <a:blip r:embed="rId2"/>
          <a:stretch>
            <a:fillRect/>
          </a:stretch>
        </p:blipFill>
        <p:spPr>
          <a:xfrm>
            <a:off x="1426029" y="1576911"/>
            <a:ext cx="4659086" cy="5174273"/>
          </a:xfrm>
          <a:prstGeom prst="rect">
            <a:avLst/>
          </a:prstGeom>
        </p:spPr>
      </p:pic>
    </p:spTree>
    <p:extLst>
      <p:ext uri="{BB962C8B-B14F-4D97-AF65-F5344CB8AC3E}">
        <p14:creationId xmlns:p14="http://schemas.microsoft.com/office/powerpoint/2010/main" val="167276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Control Flow – Translation of Boolean Expressions</a:t>
            </a:r>
            <a:endParaRPr lang="zh-CN" altLang="en-US" dirty="0"/>
          </a:p>
        </p:txBody>
      </p:sp>
      <p:pic>
        <p:nvPicPr>
          <p:cNvPr id="4" name="图片 3"/>
          <p:cNvPicPr>
            <a:picLocks noChangeAspect="1"/>
          </p:cNvPicPr>
          <p:nvPr/>
        </p:nvPicPr>
        <p:blipFill>
          <a:blip r:embed="rId2"/>
          <a:stretch>
            <a:fillRect/>
          </a:stretch>
        </p:blipFill>
        <p:spPr>
          <a:xfrm>
            <a:off x="2093230" y="1494711"/>
            <a:ext cx="4956402" cy="4893162"/>
          </a:xfrm>
          <a:prstGeom prst="rect">
            <a:avLst/>
          </a:prstGeom>
        </p:spPr>
      </p:pic>
    </p:spTree>
    <p:extLst>
      <p:ext uri="{BB962C8B-B14F-4D97-AF65-F5344CB8AC3E}">
        <p14:creationId xmlns:p14="http://schemas.microsoft.com/office/powerpoint/2010/main" val="235286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 Switch- Statements</a:t>
            </a:r>
            <a:endParaRPr lang="zh-CN" altLang="en-US" dirty="0"/>
          </a:p>
        </p:txBody>
      </p:sp>
      <p:sp>
        <p:nvSpPr>
          <p:cNvPr id="3" name="内容占位符 2"/>
          <p:cNvSpPr>
            <a:spLocks noGrp="1"/>
          </p:cNvSpPr>
          <p:nvPr>
            <p:ph idx="1"/>
          </p:nvPr>
        </p:nvSpPr>
        <p:spPr>
          <a:xfrm>
            <a:off x="828675" y="1600200"/>
            <a:ext cx="4668611" cy="642257"/>
          </a:xfrm>
        </p:spPr>
        <p:txBody>
          <a:bodyPr/>
          <a:lstStyle/>
          <a:p>
            <a:r>
              <a:rPr lang="en-US" altLang="zh-CN" dirty="0"/>
              <a:t>The "switch" or "case" statement is available in a variety of languages</a:t>
            </a:r>
            <a:endParaRPr lang="zh-CN" altLang="en-US" dirty="0"/>
          </a:p>
        </p:txBody>
      </p:sp>
      <p:pic>
        <p:nvPicPr>
          <p:cNvPr id="4" name="图片 3"/>
          <p:cNvPicPr>
            <a:picLocks noChangeAspect="1"/>
          </p:cNvPicPr>
          <p:nvPr/>
        </p:nvPicPr>
        <p:blipFill>
          <a:blip r:embed="rId2"/>
          <a:stretch>
            <a:fillRect/>
          </a:stretch>
        </p:blipFill>
        <p:spPr>
          <a:xfrm>
            <a:off x="5868761" y="1456644"/>
            <a:ext cx="2152650" cy="1571625"/>
          </a:xfrm>
          <a:prstGeom prst="rect">
            <a:avLst/>
          </a:prstGeom>
        </p:spPr>
      </p:pic>
      <p:pic>
        <p:nvPicPr>
          <p:cNvPr id="5" name="图片 4"/>
          <p:cNvPicPr>
            <a:picLocks noChangeAspect="1"/>
          </p:cNvPicPr>
          <p:nvPr/>
        </p:nvPicPr>
        <p:blipFill>
          <a:blip r:embed="rId3"/>
          <a:stretch>
            <a:fillRect/>
          </a:stretch>
        </p:blipFill>
        <p:spPr>
          <a:xfrm>
            <a:off x="1004207" y="3455307"/>
            <a:ext cx="6438900" cy="1876425"/>
          </a:xfrm>
          <a:prstGeom prst="rect">
            <a:avLst/>
          </a:prstGeom>
        </p:spPr>
      </p:pic>
    </p:spTree>
    <p:extLst>
      <p:ext uri="{BB962C8B-B14F-4D97-AF65-F5344CB8AC3E}">
        <p14:creationId xmlns:p14="http://schemas.microsoft.com/office/powerpoint/2010/main" val="253476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 Switch- Statements</a:t>
            </a:r>
            <a:endParaRPr lang="zh-CN" altLang="en-US" dirty="0"/>
          </a:p>
        </p:txBody>
      </p:sp>
      <p:pic>
        <p:nvPicPr>
          <p:cNvPr id="7" name="图片 6"/>
          <p:cNvPicPr>
            <a:picLocks noChangeAspect="1"/>
          </p:cNvPicPr>
          <p:nvPr/>
        </p:nvPicPr>
        <p:blipFill>
          <a:blip r:embed="rId2"/>
          <a:stretch>
            <a:fillRect/>
          </a:stretch>
        </p:blipFill>
        <p:spPr>
          <a:xfrm>
            <a:off x="1022576" y="1505630"/>
            <a:ext cx="2962275" cy="4086225"/>
          </a:xfrm>
          <a:prstGeom prst="rect">
            <a:avLst/>
          </a:prstGeom>
        </p:spPr>
      </p:pic>
      <p:pic>
        <p:nvPicPr>
          <p:cNvPr id="8" name="图片 7"/>
          <p:cNvPicPr>
            <a:picLocks noChangeAspect="1"/>
          </p:cNvPicPr>
          <p:nvPr/>
        </p:nvPicPr>
        <p:blipFill>
          <a:blip r:embed="rId3"/>
          <a:stretch>
            <a:fillRect/>
          </a:stretch>
        </p:blipFill>
        <p:spPr>
          <a:xfrm>
            <a:off x="4454298" y="1505630"/>
            <a:ext cx="3457575" cy="3400425"/>
          </a:xfrm>
          <a:prstGeom prst="rect">
            <a:avLst/>
          </a:prstGeom>
        </p:spPr>
      </p:pic>
      <p:pic>
        <p:nvPicPr>
          <p:cNvPr id="9" name="图片 8"/>
          <p:cNvPicPr>
            <a:picLocks noChangeAspect="1"/>
          </p:cNvPicPr>
          <p:nvPr/>
        </p:nvPicPr>
        <p:blipFill>
          <a:blip r:embed="rId4"/>
          <a:stretch>
            <a:fillRect/>
          </a:stretch>
        </p:blipFill>
        <p:spPr>
          <a:xfrm>
            <a:off x="5011511" y="5238523"/>
            <a:ext cx="1581150" cy="1371600"/>
          </a:xfrm>
          <a:prstGeom prst="rect">
            <a:avLst/>
          </a:prstGeom>
        </p:spPr>
      </p:pic>
      <p:pic>
        <p:nvPicPr>
          <p:cNvPr id="10" name="图片 9"/>
          <p:cNvPicPr>
            <a:picLocks noChangeAspect="1"/>
          </p:cNvPicPr>
          <p:nvPr/>
        </p:nvPicPr>
        <p:blipFill>
          <a:blip r:embed="rId5"/>
          <a:stretch>
            <a:fillRect/>
          </a:stretch>
        </p:blipFill>
        <p:spPr>
          <a:xfrm>
            <a:off x="6852558" y="5781448"/>
            <a:ext cx="1533525" cy="285750"/>
          </a:xfrm>
          <a:prstGeom prst="rect">
            <a:avLst/>
          </a:prstGeom>
        </p:spPr>
      </p:pic>
    </p:spTree>
    <p:extLst>
      <p:ext uri="{BB962C8B-B14F-4D97-AF65-F5344CB8AC3E}">
        <p14:creationId xmlns:p14="http://schemas.microsoft.com/office/powerpoint/2010/main" val="399186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 </a:t>
            </a:r>
            <a:r>
              <a:rPr lang="it-IT" altLang="zh-CN" dirty="0"/>
              <a:t>Intermediate Code for Procedures</a:t>
            </a:r>
            <a:endParaRPr lang="zh-CN" altLang="en-US" dirty="0"/>
          </a:p>
        </p:txBody>
      </p:sp>
      <p:pic>
        <p:nvPicPr>
          <p:cNvPr id="3" name="图片 2"/>
          <p:cNvPicPr>
            <a:picLocks noChangeAspect="1"/>
          </p:cNvPicPr>
          <p:nvPr/>
        </p:nvPicPr>
        <p:blipFill>
          <a:blip r:embed="rId2"/>
          <a:stretch>
            <a:fillRect/>
          </a:stretch>
        </p:blipFill>
        <p:spPr>
          <a:xfrm>
            <a:off x="1373641" y="1550533"/>
            <a:ext cx="4829175" cy="2581275"/>
          </a:xfrm>
          <a:prstGeom prst="rect">
            <a:avLst/>
          </a:prstGeom>
        </p:spPr>
      </p:pic>
      <p:pic>
        <p:nvPicPr>
          <p:cNvPr id="4" name="图片 3"/>
          <p:cNvPicPr>
            <a:picLocks noChangeAspect="1"/>
          </p:cNvPicPr>
          <p:nvPr/>
        </p:nvPicPr>
        <p:blipFill>
          <a:blip r:embed="rId3"/>
          <a:stretch>
            <a:fillRect/>
          </a:stretch>
        </p:blipFill>
        <p:spPr>
          <a:xfrm>
            <a:off x="2126115" y="4589690"/>
            <a:ext cx="3324225" cy="1771650"/>
          </a:xfrm>
          <a:prstGeom prst="rect">
            <a:avLst/>
          </a:prstGeom>
        </p:spPr>
      </p:pic>
    </p:spTree>
    <p:extLst>
      <p:ext uri="{BB962C8B-B14F-4D97-AF65-F5344CB8AC3E}">
        <p14:creationId xmlns:p14="http://schemas.microsoft.com/office/powerpoint/2010/main" val="2979253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 </a:t>
            </a:r>
            <a:r>
              <a:rPr lang="it-IT" altLang="zh-CN" dirty="0"/>
              <a:t>Intermediate Code for Procedures</a:t>
            </a:r>
            <a:endParaRPr lang="zh-CN" altLang="en-US" dirty="0"/>
          </a:p>
        </p:txBody>
      </p:sp>
      <p:pic>
        <p:nvPicPr>
          <p:cNvPr id="5" name="图片 4"/>
          <p:cNvPicPr>
            <a:picLocks noChangeAspect="1"/>
          </p:cNvPicPr>
          <p:nvPr/>
        </p:nvPicPr>
        <p:blipFill>
          <a:blip r:embed="rId2"/>
          <a:stretch>
            <a:fillRect/>
          </a:stretch>
        </p:blipFill>
        <p:spPr>
          <a:xfrm>
            <a:off x="1413893" y="1695450"/>
            <a:ext cx="6315075" cy="4533900"/>
          </a:xfrm>
          <a:prstGeom prst="rect">
            <a:avLst/>
          </a:prstGeom>
        </p:spPr>
      </p:pic>
    </p:spTree>
    <p:extLst>
      <p:ext uri="{BB962C8B-B14F-4D97-AF65-F5344CB8AC3E}">
        <p14:creationId xmlns:p14="http://schemas.microsoft.com/office/powerpoint/2010/main" val="95342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 </a:t>
            </a:r>
            <a:r>
              <a:rPr lang="it-IT" altLang="zh-CN" dirty="0"/>
              <a:t>Intermediate Code for Procedures</a:t>
            </a:r>
            <a:endParaRPr lang="zh-CN" altLang="en-US" dirty="0"/>
          </a:p>
        </p:txBody>
      </p:sp>
      <p:pic>
        <p:nvPicPr>
          <p:cNvPr id="3" name="图片 2"/>
          <p:cNvPicPr>
            <a:picLocks noChangeAspect="1"/>
          </p:cNvPicPr>
          <p:nvPr/>
        </p:nvPicPr>
        <p:blipFill>
          <a:blip r:embed="rId2"/>
          <a:stretch>
            <a:fillRect/>
          </a:stretch>
        </p:blipFill>
        <p:spPr>
          <a:xfrm>
            <a:off x="1414462" y="1852612"/>
            <a:ext cx="6315075" cy="3152775"/>
          </a:xfrm>
          <a:prstGeom prst="rect">
            <a:avLst/>
          </a:prstGeom>
        </p:spPr>
      </p:pic>
    </p:spTree>
    <p:extLst>
      <p:ext uri="{BB962C8B-B14F-4D97-AF65-F5344CB8AC3E}">
        <p14:creationId xmlns:p14="http://schemas.microsoft.com/office/powerpoint/2010/main" val="267101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4873beb7-5857-4685-be1f-d57550cc96c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1878</Words>
  <Application>Microsoft Office PowerPoint</Application>
  <PresentationFormat>全屏显示(4:3)</PresentationFormat>
  <Paragraphs>142</Paragraphs>
  <Slides>42</Slides>
  <Notes>1</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48" baseType="lpstr">
      <vt:lpstr>微软雅黑</vt:lpstr>
      <vt:lpstr>Euphemia</vt:lpstr>
      <vt:lpstr>Wingdings</vt:lpstr>
      <vt:lpstr>学术文献 16x9</vt:lpstr>
      <vt:lpstr>Equation</vt:lpstr>
      <vt:lpstr>MathType 6.0 Equation</vt:lpstr>
      <vt:lpstr>Compilers</vt:lpstr>
      <vt:lpstr>Intermediate- Code Generation</vt:lpstr>
      <vt:lpstr>Outlines</vt:lpstr>
      <vt:lpstr>Introduction</vt:lpstr>
      <vt:lpstr>7.1 Variants of Syntax Trees</vt:lpstr>
      <vt:lpstr>7.2 Three-Address Code</vt:lpstr>
      <vt:lpstr>7.2 Three-Address Code – Addresses and Instructions</vt:lpstr>
      <vt:lpstr>7.2 Three-Address Code – Addresses and Instructions</vt:lpstr>
      <vt:lpstr>7.2 Three-Address Code – Quadruples</vt:lpstr>
      <vt:lpstr>7.2 Three-Address Code – Triples</vt:lpstr>
      <vt:lpstr>7.2 Three-Address Code – Indirect Triples</vt:lpstr>
      <vt:lpstr>7.2 Three-Address Code – Triples</vt:lpstr>
      <vt:lpstr>Three-Address Code – SSA</vt:lpstr>
      <vt:lpstr>7.3 Types and Declarations</vt:lpstr>
      <vt:lpstr>7.3 Types and Declarations-Type Expressions</vt:lpstr>
      <vt:lpstr>7.3 Types and Declarations-Type Expressions</vt:lpstr>
      <vt:lpstr>7.3 Types and Declarations-Type Equivalence</vt:lpstr>
      <vt:lpstr>7.3 Types and Declarations-Examples</vt:lpstr>
      <vt:lpstr>7.3 Types and Declarations-Declaration</vt:lpstr>
      <vt:lpstr>7.3 Types and Declarations-Storage Layout for Local Names</vt:lpstr>
      <vt:lpstr>7.3 Types and Declarations-Sequences of Declarations</vt:lpstr>
      <vt:lpstr>7.3 Types and Declarations-Fields in Records and Classes</vt:lpstr>
      <vt:lpstr>7.4 Translation of Expressions-Operations Within Expressions</vt:lpstr>
      <vt:lpstr>7.4 Translation of Expressions-Incremental Translation</vt:lpstr>
      <vt:lpstr>7.4 Translation of Expressions-Addressing Array Elements</vt:lpstr>
      <vt:lpstr>7.4 Translation of Expressions-Addressing Array Elements</vt:lpstr>
      <vt:lpstr>7.4 Translation of Expressions-Addressing Array Elements</vt:lpstr>
      <vt:lpstr>7.4 Translation of Expressions-Addressing Array Elements</vt:lpstr>
      <vt:lpstr>7.5 Type checking-Rules for Type Checking</vt:lpstr>
      <vt:lpstr>7.5 Type checking-Type Conversions</vt:lpstr>
      <vt:lpstr>7.5 Type checking-Type Conversions</vt:lpstr>
      <vt:lpstr>7.5 Type checking-Type Conversions</vt:lpstr>
      <vt:lpstr>7.6 Control Flow – Introduction</vt:lpstr>
      <vt:lpstr>7.6 Control Flow – Boolean Expressions</vt:lpstr>
      <vt:lpstr>7.5 Control Flow – Flow-of-Control Statements</vt:lpstr>
      <vt:lpstr>7.6 Control Flow – Flow-of-Control Statements</vt:lpstr>
      <vt:lpstr>7.6 Control Flow – Translation of Boolean Expressions</vt:lpstr>
      <vt:lpstr>7.7 Switch- Statements</vt:lpstr>
      <vt:lpstr>7.7 Switch- Statements</vt:lpstr>
      <vt:lpstr>7.8 Intermediate Code for Procedures</vt:lpstr>
      <vt:lpstr>7.8 Intermediate Code for Procedures</vt:lpstr>
      <vt:lpstr>7.8 Intermediate Code for Procedures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2020-05-16T12:25:17Z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