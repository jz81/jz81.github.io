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45"/>
  </p:notesMasterIdLst>
  <p:handoutMasterIdLst>
    <p:handoutMasterId r:id="rId46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2" r:id="rId30"/>
    <p:sldId id="301" r:id="rId31"/>
    <p:sldId id="30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8" d="100"/>
          <a:sy n="88" d="100"/>
        </p:scale>
        <p:origin x="1416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2018/6/6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2018/6/6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2018/6/6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2018/6/6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2018/6/6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8.png"/><Relationship Id="rId4" Type="http://schemas.openxmlformats.org/officeDocument/2006/relationships/image" Target="../media/image7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Intermediate- </a:t>
            </a:r>
            <a:r>
              <a:rPr lang="en-US" altLang="zh-CN" dirty="0"/>
              <a:t>Code</a:t>
            </a:r>
            <a:br>
              <a:rPr lang="en-US" altLang="zh-CN" dirty="0"/>
            </a:br>
            <a:r>
              <a:rPr lang="en-US" altLang="zh-CN" dirty="0"/>
              <a:t>Generation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Introduction</a:t>
            </a:r>
          </a:p>
          <a:p>
            <a:r>
              <a:rPr lang="en-US" altLang="zh-CN" dirty="0"/>
              <a:t>Variants of Syntax </a:t>
            </a:r>
            <a:r>
              <a:rPr lang="en-US" altLang="zh-CN" dirty="0" smtClean="0"/>
              <a:t>Trees</a:t>
            </a:r>
          </a:p>
          <a:p>
            <a:r>
              <a:rPr lang="en-US" altLang="zh-CN" dirty="0" smtClean="0"/>
              <a:t>Three-Address Code</a:t>
            </a:r>
          </a:p>
          <a:p>
            <a:r>
              <a:rPr lang="en-US" altLang="zh-CN" dirty="0" smtClean="0"/>
              <a:t>Types </a:t>
            </a:r>
            <a:r>
              <a:rPr lang="en-US" altLang="zh-CN" dirty="0"/>
              <a:t>and </a:t>
            </a:r>
            <a:r>
              <a:rPr lang="en-US" altLang="zh-CN" dirty="0" smtClean="0"/>
              <a:t>Declarations</a:t>
            </a:r>
          </a:p>
          <a:p>
            <a:r>
              <a:rPr lang="en-US" altLang="zh-CN" dirty="0" smtClean="0"/>
              <a:t>Translation </a:t>
            </a:r>
            <a:r>
              <a:rPr lang="en-US" altLang="zh-CN" dirty="0"/>
              <a:t>of </a:t>
            </a:r>
            <a:r>
              <a:rPr lang="en-US" altLang="zh-CN" dirty="0" smtClean="0"/>
              <a:t>Expressions</a:t>
            </a:r>
          </a:p>
          <a:p>
            <a:r>
              <a:rPr lang="en-US" altLang="zh-CN" dirty="0" smtClean="0"/>
              <a:t>Type Checking</a:t>
            </a:r>
          </a:p>
          <a:p>
            <a:r>
              <a:rPr lang="en-US" altLang="zh-CN" dirty="0" smtClean="0"/>
              <a:t>Control Flow</a:t>
            </a:r>
          </a:p>
          <a:p>
            <a:r>
              <a:rPr lang="en-US" altLang="zh-CN" dirty="0"/>
              <a:t>Switch- </a:t>
            </a:r>
            <a:r>
              <a:rPr lang="en-US" altLang="zh-CN" dirty="0" smtClean="0"/>
              <a:t>Statements</a:t>
            </a:r>
          </a:p>
          <a:p>
            <a:r>
              <a:rPr lang="it-IT" altLang="zh-CN" dirty="0"/>
              <a:t>Intermediate Code </a:t>
            </a:r>
            <a:r>
              <a:rPr lang="it-IT" altLang="zh-CN" dirty="0" smtClean="0"/>
              <a:t>for Procedures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Introduction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370114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dirty="0"/>
              <a:t>we assume that a </a:t>
            </a:r>
            <a:r>
              <a:rPr lang="en-US" altLang="zh-CN" dirty="0" smtClean="0"/>
              <a:t>compiler front </a:t>
            </a:r>
            <a:r>
              <a:rPr lang="en-US" altLang="zh-CN" dirty="0"/>
              <a:t>end is organized </a:t>
            </a:r>
            <a:r>
              <a:rPr lang="en-US" altLang="zh-CN" dirty="0" smtClean="0"/>
              <a:t>as follows, </a:t>
            </a:r>
            <a:r>
              <a:rPr lang="en-US" altLang="zh-CN" dirty="0"/>
              <a:t>where parsing, static checking, </a:t>
            </a:r>
            <a:r>
              <a:rPr lang="en-US" altLang="zh-CN" dirty="0" smtClean="0"/>
              <a:t>and intermediate-code </a:t>
            </a:r>
            <a:r>
              <a:rPr lang="en-US" altLang="zh-CN" dirty="0"/>
              <a:t>generation are done sequentially; sometimes they can be </a:t>
            </a:r>
            <a:r>
              <a:rPr lang="en-US" altLang="zh-CN" dirty="0" smtClean="0"/>
              <a:t>combined and </a:t>
            </a:r>
            <a:r>
              <a:rPr lang="en-US" altLang="zh-CN" dirty="0"/>
              <a:t>folded into parsing</a:t>
            </a:r>
            <a:r>
              <a:rPr lang="en-US" altLang="zh-CN" dirty="0" smtClean="0"/>
              <a:t>.</a:t>
            </a:r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 smtClean="0"/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 smtClean="0"/>
          </a:p>
          <a:p>
            <a:pPr>
              <a:lnSpc>
                <a:spcPct val="100000"/>
              </a:lnSpc>
            </a:pPr>
            <a:r>
              <a:rPr lang="en-US" altLang="zh-CN" dirty="0"/>
              <a:t>In the process of translating a program in a given source language into </a:t>
            </a:r>
            <a:r>
              <a:rPr lang="en-US" altLang="zh-CN" dirty="0" smtClean="0"/>
              <a:t>code for </a:t>
            </a:r>
            <a:r>
              <a:rPr lang="en-US" altLang="zh-CN" dirty="0"/>
              <a:t>a given target machine, a compiler may construct a sequence of </a:t>
            </a:r>
            <a:r>
              <a:rPr lang="en-US" altLang="zh-CN" dirty="0" smtClean="0"/>
              <a:t>intermediate </a:t>
            </a:r>
            <a:r>
              <a:rPr lang="en-US" altLang="zh-CN" dirty="0"/>
              <a:t>representations. High-level representations are close to the </a:t>
            </a:r>
            <a:r>
              <a:rPr lang="en-US" altLang="zh-CN" dirty="0" smtClean="0"/>
              <a:t>source language </a:t>
            </a:r>
            <a:r>
              <a:rPr lang="en-US" altLang="zh-CN" dirty="0"/>
              <a:t>and low-level representations are close to the target </a:t>
            </a:r>
            <a:r>
              <a:rPr lang="en-US" altLang="zh-CN" dirty="0" smtClean="0"/>
              <a:t>machine.</a:t>
            </a:r>
          </a:p>
          <a:p>
            <a:pPr>
              <a:lnSpc>
                <a:spcPct val="100000"/>
              </a:lnSpc>
            </a:pPr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884" y="2505075"/>
            <a:ext cx="6124575" cy="14573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28" y="5142243"/>
            <a:ext cx="5714286" cy="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61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7.1 Variants of Syntax Trees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030A0"/>
                </a:solidFill>
              </a:rPr>
              <a:t>Directed Acyclic </a:t>
            </a:r>
            <a:r>
              <a:rPr lang="en-US" altLang="zh-CN" b="1" dirty="0" smtClean="0">
                <a:solidFill>
                  <a:srgbClr val="7030A0"/>
                </a:solidFill>
              </a:rPr>
              <a:t>Graphs (DAG)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 smtClean="0"/>
              <a:t>A node </a:t>
            </a:r>
            <a:r>
              <a:rPr lang="en-US" altLang="zh-CN" i="1" dirty="0"/>
              <a:t>N</a:t>
            </a:r>
            <a:r>
              <a:rPr lang="en-US" altLang="zh-CN" dirty="0"/>
              <a:t> in a DAG has more than one parent if </a:t>
            </a:r>
            <a:r>
              <a:rPr lang="en-US" altLang="zh-CN" i="1" dirty="0"/>
              <a:t>N</a:t>
            </a:r>
            <a:r>
              <a:rPr lang="en-US" altLang="zh-CN" dirty="0"/>
              <a:t> represents a </a:t>
            </a:r>
            <a:r>
              <a:rPr lang="en-US" altLang="zh-CN" dirty="0" smtClean="0"/>
              <a:t>common subexpression</a:t>
            </a:r>
            <a:r>
              <a:rPr lang="en-US" altLang="zh-CN" dirty="0"/>
              <a:t>; in a syntax tree, the tree for the common sub </a:t>
            </a:r>
            <a:r>
              <a:rPr lang="en-US" altLang="zh-CN" dirty="0" smtClean="0"/>
              <a:t>expression would </a:t>
            </a:r>
            <a:r>
              <a:rPr lang="en-US" altLang="zh-CN" dirty="0"/>
              <a:t>be replicated as many times as the sub expression appears in the </a:t>
            </a:r>
            <a:r>
              <a:rPr lang="en-US" altLang="zh-CN" dirty="0" smtClean="0"/>
              <a:t>original expression</a:t>
            </a:r>
            <a:r>
              <a:rPr lang="en-US" altLang="zh-CN" dirty="0"/>
              <a:t>. Thus, a DAG not only represents expressions more succinctly, </a:t>
            </a:r>
            <a:r>
              <a:rPr lang="en-US" altLang="zh-CN" dirty="0" smtClean="0"/>
              <a:t>it gives </a:t>
            </a:r>
            <a:r>
              <a:rPr lang="en-US" altLang="zh-CN" dirty="0"/>
              <a:t>the compiler important clues regarding the generation of efficient code </a:t>
            </a:r>
            <a:r>
              <a:rPr lang="en-US" altLang="zh-CN" dirty="0" smtClean="0"/>
              <a:t>to evaluate </a:t>
            </a:r>
            <a:r>
              <a:rPr lang="en-US" altLang="zh-CN" dirty="0"/>
              <a:t>the expressions</a:t>
            </a:r>
            <a:r>
              <a:rPr lang="en-US" altLang="zh-CN" dirty="0" smtClean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 smtClean="0"/>
              <a:t>E.g. </a:t>
            </a:r>
            <a:r>
              <a:rPr lang="pt-BR" altLang="zh-CN" dirty="0"/>
              <a:t>a + a * (b - c) + (b - c) * </a:t>
            </a:r>
            <a:r>
              <a:rPr lang="pt-BR" altLang="zh-CN" dirty="0" smtClean="0"/>
              <a:t>d</a:t>
            </a:r>
          </a:p>
          <a:p>
            <a:pPr marL="0" indent="0">
              <a:lnSpc>
                <a:spcPct val="100000"/>
              </a:lnSpc>
              <a:buNone/>
            </a:pP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21" y="4215600"/>
            <a:ext cx="2247619" cy="1695238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378" y="4215600"/>
            <a:ext cx="4323809" cy="17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148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7.2 Three-Address Code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709057"/>
          </a:xfrm>
        </p:spPr>
        <p:txBody>
          <a:bodyPr/>
          <a:lstStyle/>
          <a:p>
            <a:r>
              <a:rPr lang="en-US" altLang="zh-CN" dirty="0"/>
              <a:t>In three-address code, there is at most one operator on the right side of </a:t>
            </a:r>
            <a:r>
              <a:rPr lang="en-US" altLang="zh-CN" dirty="0" smtClean="0"/>
              <a:t>an instruction</a:t>
            </a:r>
            <a:r>
              <a:rPr lang="en-US" altLang="zh-CN" dirty="0"/>
              <a:t>; that is, no built-up arithmetic expressions are </a:t>
            </a:r>
            <a:r>
              <a:rPr lang="en-US" altLang="zh-CN" dirty="0" smtClean="0"/>
              <a:t>permitted.</a:t>
            </a:r>
          </a:p>
          <a:p>
            <a:pPr marL="0" indent="0">
              <a:buNone/>
            </a:pPr>
            <a:r>
              <a:rPr lang="en-US" altLang="zh-CN" dirty="0"/>
              <a:t> </a:t>
            </a:r>
            <a:r>
              <a:rPr lang="en-US" altLang="zh-CN" dirty="0" smtClean="0"/>
              <a:t>  </a:t>
            </a:r>
            <a:r>
              <a:rPr lang="en-US" altLang="zh-CN" dirty="0"/>
              <a:t>E.g. </a:t>
            </a:r>
            <a:r>
              <a:rPr lang="en-US" altLang="zh-CN" dirty="0" err="1" smtClean="0"/>
              <a:t>x+y</a:t>
            </a:r>
            <a:r>
              <a:rPr lang="en-US" altLang="zh-CN" dirty="0" smtClean="0"/>
              <a:t>*z</a:t>
            </a:r>
          </a:p>
          <a:p>
            <a:pPr marL="0" indent="0">
              <a:buNone/>
            </a:pPr>
            <a:r>
              <a:rPr lang="en-US" altLang="zh-CN" dirty="0"/>
              <a:t> </a:t>
            </a:r>
            <a:r>
              <a:rPr lang="en-US" altLang="zh-CN" dirty="0" smtClean="0"/>
              <a:t>  Three-Address Code: </a:t>
            </a:r>
            <a:endParaRPr lang="zh-CN" altLang="en-US" dirty="0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28589215"/>
              </p:ext>
            </p:extLst>
          </p:nvPr>
        </p:nvGraphicFramePr>
        <p:xfrm>
          <a:off x="3155949" y="2522083"/>
          <a:ext cx="928215" cy="71097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3" name="Equation" r:id="rId3" imgW="596880" imgH="457200" progId="Equation.DSMT4">
                  <p:embed/>
                </p:oleObj>
              </mc:Choice>
              <mc:Fallback>
                <p:oleObj name="Equation" r:id="rId3" imgW="596880" imgH="457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155949" y="2522083"/>
                        <a:ext cx="928215" cy="71097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316" y="3309257"/>
            <a:ext cx="5898910" cy="311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71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</a:t>
            </a:r>
            <a:r>
              <a:rPr lang="en-US" altLang="zh-CN" dirty="0" smtClean="0"/>
              <a:t>Code – Addresses and Instructions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1600" dirty="0" smtClean="0">
                <a:solidFill>
                  <a:srgbClr val="7030A0"/>
                </a:solidFill>
              </a:rPr>
              <a:t>Addresses</a:t>
            </a:r>
          </a:p>
          <a:p>
            <a:pPr lvl="1"/>
            <a:r>
              <a:rPr lang="en-US" altLang="zh-CN" sz="1300" dirty="0">
                <a:solidFill>
                  <a:srgbClr val="0070C0"/>
                </a:solidFill>
              </a:rPr>
              <a:t>A </a:t>
            </a:r>
            <a:r>
              <a:rPr lang="en-US" altLang="zh-CN" sz="1300" i="1" dirty="0" smtClean="0">
                <a:solidFill>
                  <a:srgbClr val="0070C0"/>
                </a:solidFill>
              </a:rPr>
              <a:t>name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>
                <a:solidFill>
                  <a:srgbClr val="0070C0"/>
                </a:solidFill>
              </a:rPr>
              <a:t>A </a:t>
            </a:r>
            <a:r>
              <a:rPr lang="en-US" altLang="zh-CN" sz="1300" i="1" dirty="0" smtClean="0">
                <a:solidFill>
                  <a:srgbClr val="0070C0"/>
                </a:solidFill>
              </a:rPr>
              <a:t>constant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>
                <a:solidFill>
                  <a:srgbClr val="0070C0"/>
                </a:solidFill>
              </a:rPr>
              <a:t>A </a:t>
            </a:r>
            <a:r>
              <a:rPr lang="en-US" altLang="zh-CN" sz="1300" i="1" dirty="0">
                <a:solidFill>
                  <a:srgbClr val="0070C0"/>
                </a:solidFill>
              </a:rPr>
              <a:t>compiler-generated </a:t>
            </a:r>
            <a:r>
              <a:rPr lang="en-US" altLang="zh-CN" sz="1300" i="1" dirty="0" smtClean="0">
                <a:solidFill>
                  <a:srgbClr val="0070C0"/>
                </a:solidFill>
              </a:rPr>
              <a:t>temporary.</a:t>
            </a:r>
          </a:p>
          <a:p>
            <a:r>
              <a:rPr lang="en-US" altLang="zh-CN" sz="1600" dirty="0">
                <a:solidFill>
                  <a:srgbClr val="7030A0"/>
                </a:solidFill>
              </a:rPr>
              <a:t>common three-address instruction </a:t>
            </a:r>
            <a:r>
              <a:rPr lang="en-US" altLang="zh-CN" sz="1600" dirty="0" smtClean="0">
                <a:solidFill>
                  <a:srgbClr val="7030A0"/>
                </a:solidFill>
              </a:rPr>
              <a:t>forms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assignment </a:t>
            </a:r>
            <a:r>
              <a:rPr lang="en-US" altLang="zh-CN" sz="1300" dirty="0">
                <a:solidFill>
                  <a:srgbClr val="0070C0"/>
                </a:solidFill>
              </a:rPr>
              <a:t>instructions of the form </a:t>
            </a:r>
            <a:r>
              <a:rPr lang="en-US" altLang="zh-CN" sz="1300" i="1" dirty="0">
                <a:solidFill>
                  <a:srgbClr val="7030A0"/>
                </a:solidFill>
              </a:rPr>
              <a:t>x = y op </a:t>
            </a:r>
            <a:r>
              <a:rPr lang="en-US" altLang="zh-CN" sz="1300" i="1" dirty="0" smtClean="0">
                <a:solidFill>
                  <a:srgbClr val="7030A0"/>
                </a:solidFill>
              </a:rPr>
              <a:t>z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assignments </a:t>
            </a:r>
            <a:r>
              <a:rPr lang="en-US" altLang="zh-CN" sz="1300" dirty="0">
                <a:solidFill>
                  <a:srgbClr val="0070C0"/>
                </a:solidFill>
              </a:rPr>
              <a:t>of the form </a:t>
            </a:r>
            <a:r>
              <a:rPr lang="en-US" altLang="zh-CN" sz="1300" i="1" dirty="0">
                <a:solidFill>
                  <a:srgbClr val="7030A0"/>
                </a:solidFill>
              </a:rPr>
              <a:t>x = op y</a:t>
            </a:r>
            <a:r>
              <a:rPr lang="en-US" altLang="zh-CN" sz="1300" dirty="0">
                <a:solidFill>
                  <a:srgbClr val="0070C0"/>
                </a:solidFill>
              </a:rPr>
              <a:t>, where </a:t>
            </a:r>
            <a:r>
              <a:rPr lang="en-US" altLang="zh-CN" sz="1300" i="1" dirty="0">
                <a:solidFill>
                  <a:srgbClr val="7030A0"/>
                </a:solidFill>
              </a:rPr>
              <a:t>op</a:t>
            </a:r>
            <a:r>
              <a:rPr lang="en-US" altLang="zh-CN" sz="1300" dirty="0">
                <a:solidFill>
                  <a:srgbClr val="0070C0"/>
                </a:solidFill>
              </a:rPr>
              <a:t> is a unary </a:t>
            </a:r>
            <a:r>
              <a:rPr lang="en-US" altLang="zh-CN" sz="1300" dirty="0" smtClean="0">
                <a:solidFill>
                  <a:srgbClr val="0070C0"/>
                </a:solidFill>
              </a:rPr>
              <a:t>operation.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copy </a:t>
            </a:r>
            <a:r>
              <a:rPr lang="en-US" altLang="zh-CN" sz="1300" dirty="0">
                <a:solidFill>
                  <a:srgbClr val="0070C0"/>
                </a:solidFill>
              </a:rPr>
              <a:t>instructions of the form </a:t>
            </a:r>
            <a:r>
              <a:rPr lang="en-US" altLang="zh-CN" sz="1300" i="1" dirty="0">
                <a:solidFill>
                  <a:srgbClr val="7030A0"/>
                </a:solidFill>
              </a:rPr>
              <a:t>x = </a:t>
            </a:r>
            <a:r>
              <a:rPr lang="en-US" altLang="zh-CN" sz="1300" i="1" dirty="0" smtClean="0">
                <a:solidFill>
                  <a:srgbClr val="7030A0"/>
                </a:solidFill>
              </a:rPr>
              <a:t>y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an </a:t>
            </a:r>
            <a:r>
              <a:rPr lang="en-US" altLang="zh-CN" sz="1300" dirty="0">
                <a:solidFill>
                  <a:srgbClr val="0070C0"/>
                </a:solidFill>
              </a:rPr>
              <a:t>unconditional jump </a:t>
            </a:r>
            <a:r>
              <a:rPr lang="en-US" altLang="zh-CN" sz="1300" i="1" dirty="0" err="1">
                <a:solidFill>
                  <a:srgbClr val="7030A0"/>
                </a:solidFill>
              </a:rPr>
              <a:t>goto</a:t>
            </a:r>
            <a:r>
              <a:rPr lang="en-US" altLang="zh-CN" sz="1300" i="1" dirty="0">
                <a:solidFill>
                  <a:srgbClr val="7030A0"/>
                </a:solidFill>
              </a:rPr>
              <a:t> L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conditional </a:t>
            </a:r>
            <a:r>
              <a:rPr lang="en-US" altLang="zh-CN" sz="1300" dirty="0">
                <a:solidFill>
                  <a:srgbClr val="0070C0"/>
                </a:solidFill>
              </a:rPr>
              <a:t>jumps of the </a:t>
            </a:r>
            <a:r>
              <a:rPr lang="en-US" altLang="zh-CN" sz="1300" dirty="0" smtClean="0">
                <a:solidFill>
                  <a:srgbClr val="0070C0"/>
                </a:solidFill>
              </a:rPr>
              <a:t>form</a:t>
            </a:r>
            <a:r>
              <a:rPr lang="en-US" altLang="zh-CN" sz="1300" i="1" dirty="0" smtClean="0">
                <a:solidFill>
                  <a:srgbClr val="0070C0"/>
                </a:solidFill>
              </a:rPr>
              <a:t> </a:t>
            </a:r>
            <a:r>
              <a:rPr lang="en-US" altLang="zh-CN" sz="1300" i="1" dirty="0">
                <a:solidFill>
                  <a:srgbClr val="7030A0"/>
                </a:solidFill>
              </a:rPr>
              <a:t>if x </a:t>
            </a:r>
            <a:r>
              <a:rPr lang="en-US" altLang="zh-CN" sz="1300" i="1" dirty="0" err="1">
                <a:solidFill>
                  <a:srgbClr val="7030A0"/>
                </a:solidFill>
              </a:rPr>
              <a:t>goto</a:t>
            </a:r>
            <a:r>
              <a:rPr lang="en-US" altLang="zh-CN" sz="1300" i="1" dirty="0">
                <a:solidFill>
                  <a:srgbClr val="7030A0"/>
                </a:solidFill>
              </a:rPr>
              <a:t> L </a:t>
            </a:r>
            <a:r>
              <a:rPr lang="en-US" altLang="zh-CN" sz="1300" dirty="0">
                <a:solidFill>
                  <a:srgbClr val="0070C0"/>
                </a:solidFill>
              </a:rPr>
              <a:t>and </a:t>
            </a:r>
            <a:r>
              <a:rPr lang="en-US" altLang="zh-CN" sz="1300" i="1" dirty="0">
                <a:solidFill>
                  <a:srgbClr val="7030A0"/>
                </a:solidFill>
              </a:rPr>
              <a:t>if </a:t>
            </a:r>
            <a:r>
              <a:rPr lang="en-US" altLang="zh-CN" sz="1300" i="1" dirty="0" smtClean="0">
                <a:solidFill>
                  <a:srgbClr val="7030A0"/>
                </a:solidFill>
              </a:rPr>
              <a:t>False </a:t>
            </a:r>
            <a:r>
              <a:rPr lang="en-US" altLang="zh-CN" sz="1300" i="1" dirty="0">
                <a:solidFill>
                  <a:srgbClr val="7030A0"/>
                </a:solidFill>
              </a:rPr>
              <a:t>x </a:t>
            </a:r>
            <a:r>
              <a:rPr lang="en-US" altLang="zh-CN" sz="1300" i="1" dirty="0" err="1" smtClean="0">
                <a:solidFill>
                  <a:srgbClr val="7030A0"/>
                </a:solidFill>
              </a:rPr>
              <a:t>goto</a:t>
            </a:r>
            <a:r>
              <a:rPr lang="en-US" altLang="zh-CN" sz="1300" i="1" dirty="0" smtClean="0">
                <a:solidFill>
                  <a:srgbClr val="7030A0"/>
                </a:solidFill>
              </a:rPr>
              <a:t> </a:t>
            </a:r>
            <a:r>
              <a:rPr lang="en-US" altLang="zh-CN" sz="1300" i="1" dirty="0">
                <a:solidFill>
                  <a:srgbClr val="7030A0"/>
                </a:solidFill>
              </a:rPr>
              <a:t>L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conditional </a:t>
            </a:r>
            <a:r>
              <a:rPr lang="en-US" altLang="zh-CN" sz="1300" dirty="0">
                <a:solidFill>
                  <a:srgbClr val="0070C0"/>
                </a:solidFill>
              </a:rPr>
              <a:t>jumps such as </a:t>
            </a:r>
            <a:r>
              <a:rPr lang="en-US" altLang="zh-CN" sz="1300" i="1" dirty="0">
                <a:solidFill>
                  <a:srgbClr val="7030A0"/>
                </a:solidFill>
              </a:rPr>
              <a:t>if x </a:t>
            </a:r>
            <a:r>
              <a:rPr lang="en-US" altLang="zh-CN" sz="1300" i="1" dirty="0" err="1">
                <a:solidFill>
                  <a:srgbClr val="7030A0"/>
                </a:solidFill>
              </a:rPr>
              <a:t>relop</a:t>
            </a:r>
            <a:r>
              <a:rPr lang="en-US" altLang="zh-CN" sz="1300" i="1" dirty="0">
                <a:solidFill>
                  <a:srgbClr val="7030A0"/>
                </a:solidFill>
              </a:rPr>
              <a:t> y </a:t>
            </a:r>
            <a:r>
              <a:rPr lang="en-US" altLang="zh-CN" sz="1300" i="1" dirty="0" err="1">
                <a:solidFill>
                  <a:srgbClr val="7030A0"/>
                </a:solidFill>
              </a:rPr>
              <a:t>goto</a:t>
            </a:r>
            <a:r>
              <a:rPr lang="en-US" altLang="zh-CN" sz="1300" i="1" dirty="0">
                <a:solidFill>
                  <a:srgbClr val="7030A0"/>
                </a:solidFill>
              </a:rPr>
              <a:t> L</a:t>
            </a:r>
            <a:r>
              <a:rPr lang="en-US" altLang="zh-CN" sz="1300" dirty="0" smtClean="0">
                <a:solidFill>
                  <a:srgbClr val="0070C0"/>
                </a:solidFill>
              </a:rPr>
              <a:t>,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procedure </a:t>
            </a:r>
            <a:r>
              <a:rPr lang="en-US" altLang="zh-CN" sz="1300" dirty="0">
                <a:solidFill>
                  <a:srgbClr val="0070C0"/>
                </a:solidFill>
              </a:rPr>
              <a:t>calls and returns are implemented using the following instructions:</a:t>
            </a:r>
          </a:p>
          <a:p>
            <a:pPr marL="342900" lvl="1" indent="0">
              <a:buNone/>
            </a:pPr>
            <a:r>
              <a:rPr lang="en-US" altLang="zh-CN" sz="1300" dirty="0" smtClean="0">
                <a:solidFill>
                  <a:srgbClr val="7030A0"/>
                </a:solidFill>
              </a:rPr>
              <a:t>    </a:t>
            </a:r>
            <a:r>
              <a:rPr lang="en-US" altLang="zh-CN" sz="1300" i="1" dirty="0" err="1" smtClean="0">
                <a:solidFill>
                  <a:srgbClr val="7030A0"/>
                </a:solidFill>
              </a:rPr>
              <a:t>param</a:t>
            </a:r>
            <a:r>
              <a:rPr lang="en-US" altLang="zh-CN" sz="1300" i="1" dirty="0" smtClean="0">
                <a:solidFill>
                  <a:srgbClr val="7030A0"/>
                </a:solidFill>
              </a:rPr>
              <a:t> </a:t>
            </a:r>
            <a:r>
              <a:rPr lang="en-US" altLang="zh-CN" sz="1300" i="1" dirty="0">
                <a:solidFill>
                  <a:srgbClr val="7030A0"/>
                </a:solidFill>
              </a:rPr>
              <a:t>x</a:t>
            </a:r>
            <a:r>
              <a:rPr lang="en-US" altLang="zh-CN" sz="1300" dirty="0">
                <a:solidFill>
                  <a:srgbClr val="7030A0"/>
                </a:solidFill>
              </a:rPr>
              <a:t> </a:t>
            </a:r>
            <a:r>
              <a:rPr lang="en-US" altLang="zh-CN" sz="1300" dirty="0">
                <a:solidFill>
                  <a:srgbClr val="0070C0"/>
                </a:solidFill>
              </a:rPr>
              <a:t>for parameters; </a:t>
            </a:r>
            <a:r>
              <a:rPr lang="en-US" altLang="zh-CN" sz="1300" i="1" dirty="0">
                <a:solidFill>
                  <a:srgbClr val="7030A0"/>
                </a:solidFill>
              </a:rPr>
              <a:t>call p , n </a:t>
            </a:r>
            <a:r>
              <a:rPr lang="en-US" altLang="zh-CN" sz="1300" dirty="0">
                <a:solidFill>
                  <a:srgbClr val="0070C0"/>
                </a:solidFill>
              </a:rPr>
              <a:t>and </a:t>
            </a:r>
            <a:r>
              <a:rPr lang="en-US" altLang="zh-CN" sz="1300" i="1" dirty="0">
                <a:solidFill>
                  <a:srgbClr val="7030A0"/>
                </a:solidFill>
              </a:rPr>
              <a:t>y = call p , n </a:t>
            </a:r>
            <a:r>
              <a:rPr lang="en-US" altLang="zh-CN" sz="1300" dirty="0">
                <a:solidFill>
                  <a:srgbClr val="0070C0"/>
                </a:solidFill>
              </a:rPr>
              <a:t>for </a:t>
            </a:r>
            <a:r>
              <a:rPr lang="en-US" altLang="zh-CN" sz="1300" dirty="0" smtClean="0">
                <a:solidFill>
                  <a:srgbClr val="0070C0"/>
                </a:solidFill>
              </a:rPr>
              <a:t>procedure and </a:t>
            </a:r>
            <a:r>
              <a:rPr lang="en-US" altLang="zh-CN" sz="1300" dirty="0">
                <a:solidFill>
                  <a:srgbClr val="0070C0"/>
                </a:solidFill>
              </a:rPr>
              <a:t>function calls, </a:t>
            </a:r>
            <a:endParaRPr lang="en-US" altLang="zh-CN" sz="1300" dirty="0" smtClean="0">
              <a:solidFill>
                <a:srgbClr val="0070C0"/>
              </a:solidFill>
            </a:endParaRPr>
          </a:p>
          <a:p>
            <a:pPr marL="342900" lvl="1" indent="0">
              <a:buNone/>
            </a:pPr>
            <a:r>
              <a:rPr lang="en-US" altLang="zh-CN" sz="1300" dirty="0">
                <a:solidFill>
                  <a:srgbClr val="0070C0"/>
                </a:solidFill>
              </a:rPr>
              <a:t> </a:t>
            </a:r>
            <a:r>
              <a:rPr lang="en-US" altLang="zh-CN" sz="1300" dirty="0" smtClean="0">
                <a:solidFill>
                  <a:srgbClr val="0070C0"/>
                </a:solidFill>
              </a:rPr>
              <a:t>   respectively</a:t>
            </a:r>
            <a:r>
              <a:rPr lang="en-US" altLang="zh-CN" sz="1300" dirty="0">
                <a:solidFill>
                  <a:srgbClr val="0070C0"/>
                </a:solidFill>
              </a:rPr>
              <a:t>; and return </a:t>
            </a:r>
            <a:r>
              <a:rPr lang="en-US" altLang="zh-CN" sz="1300" i="1" dirty="0">
                <a:solidFill>
                  <a:srgbClr val="7030A0"/>
                </a:solidFill>
              </a:rPr>
              <a:t>y</a:t>
            </a:r>
            <a:r>
              <a:rPr lang="en-US" altLang="zh-CN" sz="1300" dirty="0">
                <a:solidFill>
                  <a:srgbClr val="0070C0"/>
                </a:solidFill>
              </a:rPr>
              <a:t>, where </a:t>
            </a:r>
            <a:r>
              <a:rPr lang="en-US" altLang="zh-CN" sz="1300" i="1" dirty="0">
                <a:solidFill>
                  <a:srgbClr val="7030A0"/>
                </a:solidFill>
              </a:rPr>
              <a:t>y</a:t>
            </a:r>
            <a:r>
              <a:rPr lang="en-US" altLang="zh-CN" sz="1300" dirty="0">
                <a:solidFill>
                  <a:srgbClr val="0070C0"/>
                </a:solidFill>
              </a:rPr>
              <a:t>, representing </a:t>
            </a:r>
            <a:r>
              <a:rPr lang="en-US" altLang="zh-CN" sz="1300" dirty="0" smtClean="0">
                <a:solidFill>
                  <a:srgbClr val="0070C0"/>
                </a:solidFill>
              </a:rPr>
              <a:t>a returned </a:t>
            </a:r>
            <a:r>
              <a:rPr lang="en-US" altLang="zh-CN" sz="1300" dirty="0">
                <a:solidFill>
                  <a:srgbClr val="0070C0"/>
                </a:solidFill>
              </a:rPr>
              <a:t>value, is optional.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indexed </a:t>
            </a:r>
            <a:r>
              <a:rPr lang="en-US" altLang="zh-CN" sz="1300" dirty="0">
                <a:solidFill>
                  <a:srgbClr val="0070C0"/>
                </a:solidFill>
              </a:rPr>
              <a:t>copy instructions of the form </a:t>
            </a:r>
            <a:r>
              <a:rPr lang="en-US" altLang="zh-CN" sz="1300" i="1" dirty="0">
                <a:solidFill>
                  <a:srgbClr val="7030A0"/>
                </a:solidFill>
              </a:rPr>
              <a:t>x = y [</a:t>
            </a:r>
            <a:r>
              <a:rPr lang="en-US" altLang="zh-CN" sz="1300" i="1" dirty="0" err="1">
                <a:solidFill>
                  <a:srgbClr val="7030A0"/>
                </a:solidFill>
              </a:rPr>
              <a:t>i</a:t>
            </a:r>
            <a:r>
              <a:rPr lang="en-US" altLang="zh-CN" sz="1300" i="1" dirty="0">
                <a:solidFill>
                  <a:srgbClr val="7030A0"/>
                </a:solidFill>
              </a:rPr>
              <a:t>] </a:t>
            </a:r>
            <a:r>
              <a:rPr lang="en-US" altLang="zh-CN" sz="1300" dirty="0">
                <a:solidFill>
                  <a:srgbClr val="0070C0"/>
                </a:solidFill>
              </a:rPr>
              <a:t>and </a:t>
            </a:r>
            <a:r>
              <a:rPr lang="en-US" altLang="zh-CN" sz="1300" i="1" dirty="0">
                <a:solidFill>
                  <a:srgbClr val="7030A0"/>
                </a:solidFill>
              </a:rPr>
              <a:t>x [</a:t>
            </a:r>
            <a:r>
              <a:rPr lang="en-US" altLang="zh-CN" sz="1300" i="1" dirty="0" err="1">
                <a:solidFill>
                  <a:srgbClr val="7030A0"/>
                </a:solidFill>
              </a:rPr>
              <a:t>i</a:t>
            </a:r>
            <a:r>
              <a:rPr lang="en-US" altLang="zh-CN" sz="1300" i="1" dirty="0">
                <a:solidFill>
                  <a:srgbClr val="7030A0"/>
                </a:solidFill>
              </a:rPr>
              <a:t>] = y </a:t>
            </a:r>
            <a:r>
              <a:rPr lang="en-US" altLang="zh-CN" sz="1300" dirty="0" smtClean="0">
                <a:solidFill>
                  <a:srgbClr val="0070C0"/>
                </a:solidFill>
              </a:rPr>
              <a:t>.</a:t>
            </a:r>
          </a:p>
          <a:p>
            <a:pPr lvl="1"/>
            <a:r>
              <a:rPr lang="en-US" altLang="zh-CN" sz="1300" dirty="0" smtClean="0">
                <a:solidFill>
                  <a:srgbClr val="0070C0"/>
                </a:solidFill>
              </a:rPr>
              <a:t>address </a:t>
            </a:r>
            <a:r>
              <a:rPr lang="en-US" altLang="zh-CN" sz="1300" dirty="0">
                <a:solidFill>
                  <a:srgbClr val="0070C0"/>
                </a:solidFill>
              </a:rPr>
              <a:t>and pointer assignments of the form </a:t>
            </a:r>
            <a:r>
              <a:rPr lang="en-US" altLang="zh-CN" sz="1300" i="1" dirty="0">
                <a:solidFill>
                  <a:srgbClr val="7030A0"/>
                </a:solidFill>
              </a:rPr>
              <a:t>x = &amp; y </a:t>
            </a:r>
            <a:r>
              <a:rPr lang="en-US" altLang="zh-CN" sz="1300" dirty="0">
                <a:solidFill>
                  <a:srgbClr val="0070C0"/>
                </a:solidFill>
              </a:rPr>
              <a:t>, </a:t>
            </a:r>
            <a:r>
              <a:rPr lang="en-US" altLang="zh-CN" sz="1300" i="1" dirty="0">
                <a:solidFill>
                  <a:srgbClr val="7030A0"/>
                </a:solidFill>
              </a:rPr>
              <a:t>x = * y </a:t>
            </a:r>
            <a:r>
              <a:rPr lang="en-US" altLang="zh-CN" sz="1300" dirty="0">
                <a:solidFill>
                  <a:srgbClr val="0070C0"/>
                </a:solidFill>
              </a:rPr>
              <a:t>, and </a:t>
            </a:r>
            <a:r>
              <a:rPr lang="en-US" altLang="zh-CN" sz="1300" i="1" dirty="0">
                <a:solidFill>
                  <a:srgbClr val="7030A0"/>
                </a:solidFill>
              </a:rPr>
              <a:t>* x = y</a:t>
            </a:r>
            <a:r>
              <a:rPr lang="en-US" altLang="zh-CN" sz="1300" dirty="0">
                <a:solidFill>
                  <a:srgbClr val="0070C0"/>
                </a:solidFill>
              </a:rPr>
              <a:t>.</a:t>
            </a:r>
            <a:endParaRPr lang="en-US" altLang="zh-CN" sz="1300" dirty="0" smtClean="0">
              <a:solidFill>
                <a:srgbClr val="0070C0"/>
              </a:solidFill>
            </a:endParaRPr>
          </a:p>
          <a:p>
            <a:pPr lvl="1"/>
            <a:endParaRPr lang="zh-CN" altLang="en-US" sz="1300" dirty="0">
              <a:solidFill>
                <a:srgbClr val="7030A0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781" y="3400485"/>
            <a:ext cx="838095" cy="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0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Code – Addresses and Instructions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E.g.</a:t>
            </a:r>
          </a:p>
          <a:p>
            <a:pPr marL="0" indent="0" algn="ctr">
              <a:buNone/>
            </a:pPr>
            <a:r>
              <a:rPr lang="en-US" altLang="zh-CN" sz="1800" dirty="0"/>
              <a:t>do </a:t>
            </a:r>
            <a:r>
              <a:rPr lang="en-US" altLang="zh-CN" sz="1800" dirty="0" err="1"/>
              <a:t>i</a:t>
            </a:r>
            <a:r>
              <a:rPr lang="en-US" altLang="zh-CN" sz="1800" dirty="0"/>
              <a:t> = </a:t>
            </a:r>
            <a:r>
              <a:rPr lang="en-US" altLang="zh-CN" sz="1800" dirty="0" err="1"/>
              <a:t>i</a:t>
            </a:r>
            <a:r>
              <a:rPr lang="en-US" altLang="zh-CN" sz="1800" dirty="0"/>
              <a:t>+ l ; while ( a [</a:t>
            </a:r>
            <a:r>
              <a:rPr lang="en-US" altLang="zh-CN" sz="1800" dirty="0" err="1"/>
              <a:t>i</a:t>
            </a:r>
            <a:r>
              <a:rPr lang="en-US" altLang="zh-CN" sz="1800" dirty="0"/>
              <a:t>] &lt; v) </a:t>
            </a:r>
            <a:r>
              <a:rPr lang="en-US" altLang="zh-CN" sz="1800" dirty="0" smtClean="0"/>
              <a:t>;</a:t>
            </a:r>
          </a:p>
          <a:p>
            <a:pPr marL="0" indent="0" algn="ctr">
              <a:buNone/>
            </a:pPr>
            <a:endParaRPr lang="en-US" altLang="zh-CN" sz="18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336" y="2585486"/>
            <a:ext cx="6276190" cy="2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501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Code – Quadruples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dirty="0"/>
              <a:t>The description of three-address instructions specifies the components of </a:t>
            </a:r>
            <a:r>
              <a:rPr lang="en-US" altLang="zh-CN" dirty="0" smtClean="0"/>
              <a:t>each type </a:t>
            </a:r>
            <a:r>
              <a:rPr lang="en-US" altLang="zh-CN" dirty="0"/>
              <a:t>of instruction, but it does not specify the representation of these </a:t>
            </a:r>
            <a:r>
              <a:rPr lang="en-US" altLang="zh-CN" dirty="0" smtClean="0"/>
              <a:t>instructions in </a:t>
            </a:r>
            <a:r>
              <a:rPr lang="en-US" altLang="zh-CN" dirty="0"/>
              <a:t>a data structure. </a:t>
            </a:r>
            <a:r>
              <a:rPr lang="en-US" altLang="zh-CN" dirty="0" smtClean="0"/>
              <a:t>Three such </a:t>
            </a:r>
            <a:r>
              <a:rPr lang="en-US" altLang="zh-CN" dirty="0"/>
              <a:t>representations are </a:t>
            </a:r>
            <a:r>
              <a:rPr lang="en-US" altLang="zh-CN" dirty="0" smtClean="0"/>
              <a:t>called "</a:t>
            </a:r>
            <a:r>
              <a:rPr lang="en-US" altLang="zh-CN" dirty="0" smtClean="0">
                <a:solidFill>
                  <a:srgbClr val="FF0000"/>
                </a:solidFill>
              </a:rPr>
              <a:t>quadruples</a:t>
            </a:r>
            <a:r>
              <a:rPr lang="en-US" altLang="zh-CN" dirty="0"/>
              <a:t>," "</a:t>
            </a:r>
            <a:r>
              <a:rPr lang="en-US" altLang="zh-CN" dirty="0">
                <a:solidFill>
                  <a:srgbClr val="FF0000"/>
                </a:solidFill>
              </a:rPr>
              <a:t>triples</a:t>
            </a:r>
            <a:r>
              <a:rPr lang="en-US" altLang="zh-CN" dirty="0"/>
              <a:t>," and "</a:t>
            </a:r>
            <a:r>
              <a:rPr lang="en-US" altLang="zh-CN" dirty="0">
                <a:solidFill>
                  <a:srgbClr val="FF0000"/>
                </a:solidFill>
              </a:rPr>
              <a:t>indirect triples</a:t>
            </a:r>
            <a:r>
              <a:rPr lang="en-US" altLang="zh-CN" dirty="0" smtClean="0"/>
              <a:t>.“</a:t>
            </a:r>
          </a:p>
          <a:p>
            <a:pPr>
              <a:lnSpc>
                <a:spcPct val="100000"/>
              </a:lnSpc>
            </a:pPr>
            <a:r>
              <a:rPr lang="en-US" altLang="zh-CN" b="1" dirty="0" smtClean="0">
                <a:solidFill>
                  <a:srgbClr val="7030A0"/>
                </a:solidFill>
              </a:rPr>
              <a:t>Quadruples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 smtClean="0"/>
              <a:t>  A </a:t>
            </a:r>
            <a:r>
              <a:rPr lang="en-US" altLang="zh-CN" i="1" dirty="0" smtClean="0"/>
              <a:t>quadruple</a:t>
            </a:r>
            <a:r>
              <a:rPr lang="en-US" altLang="zh-CN" dirty="0" smtClean="0"/>
              <a:t> </a:t>
            </a:r>
            <a:r>
              <a:rPr lang="en-US" altLang="zh-CN" dirty="0"/>
              <a:t>(or </a:t>
            </a:r>
            <a:r>
              <a:rPr lang="en-US" altLang="zh-CN" i="1" dirty="0" smtClean="0"/>
              <a:t>quad</a:t>
            </a:r>
            <a:r>
              <a:rPr lang="en-US" altLang="zh-CN" dirty="0" smtClean="0"/>
              <a:t> </a:t>
            </a:r>
            <a:r>
              <a:rPr lang="en-US" altLang="zh-CN" dirty="0"/>
              <a:t>) has four fields, which we call </a:t>
            </a:r>
            <a:r>
              <a:rPr lang="en-US" altLang="zh-CN" i="1" dirty="0"/>
              <a:t>op</a:t>
            </a:r>
            <a:r>
              <a:rPr lang="en-US" altLang="zh-CN" dirty="0"/>
              <a:t>, </a:t>
            </a:r>
            <a:r>
              <a:rPr lang="en-US" altLang="zh-CN" i="1" dirty="0" err="1"/>
              <a:t>argl</a:t>
            </a:r>
            <a:r>
              <a:rPr lang="en-US" altLang="zh-CN" dirty="0"/>
              <a:t> </a:t>
            </a:r>
            <a:r>
              <a:rPr lang="en-US" altLang="zh-CN" dirty="0" smtClean="0"/>
              <a:t> </a:t>
            </a:r>
            <a:r>
              <a:rPr lang="en-US" altLang="zh-CN" i="1" dirty="0"/>
              <a:t>arg2</a:t>
            </a:r>
            <a:r>
              <a:rPr lang="en-US" altLang="zh-CN" dirty="0"/>
              <a:t> </a:t>
            </a:r>
            <a:r>
              <a:rPr lang="en-US" altLang="zh-CN" dirty="0" smtClean="0"/>
              <a:t>, and </a:t>
            </a:r>
            <a:r>
              <a:rPr lang="en-US" altLang="zh-CN" i="1" dirty="0"/>
              <a:t>result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56" y="3514725"/>
            <a:ext cx="7372350" cy="16573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590" y="5172075"/>
            <a:ext cx="3767302" cy="156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9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Code – Triples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i="1" dirty="0" smtClean="0">
                <a:solidFill>
                  <a:srgbClr val="7030A0"/>
                </a:solidFill>
              </a:rPr>
              <a:t>A triple</a:t>
            </a:r>
            <a:r>
              <a:rPr lang="en-US" altLang="zh-CN" dirty="0" smtClean="0">
                <a:solidFill>
                  <a:srgbClr val="7030A0"/>
                </a:solidFill>
              </a:rPr>
              <a:t> </a:t>
            </a:r>
            <a:r>
              <a:rPr lang="en-US" altLang="zh-CN" dirty="0"/>
              <a:t>has only three fields, which we call op, arg1 , and </a:t>
            </a:r>
            <a:r>
              <a:rPr lang="en-US" altLang="zh-CN" dirty="0" smtClean="0"/>
              <a:t>arg2. Using triples</a:t>
            </a:r>
            <a:r>
              <a:rPr lang="en-US" altLang="zh-CN" dirty="0"/>
              <a:t>, we refer to the result of an operation </a:t>
            </a:r>
            <a:r>
              <a:rPr lang="en-US" altLang="zh-CN" i="1" dirty="0">
                <a:solidFill>
                  <a:srgbClr val="7030A0"/>
                </a:solidFill>
              </a:rPr>
              <a:t>x op y </a:t>
            </a:r>
            <a:r>
              <a:rPr lang="en-US" altLang="zh-CN" dirty="0"/>
              <a:t>by its position, </a:t>
            </a:r>
            <a:r>
              <a:rPr lang="en-US" altLang="zh-CN" dirty="0" smtClean="0"/>
              <a:t>rather than </a:t>
            </a:r>
            <a:r>
              <a:rPr lang="en-US" altLang="zh-CN" dirty="0"/>
              <a:t>by an explicit temporary name</a:t>
            </a:r>
            <a:r>
              <a:rPr lang="en-US" altLang="zh-CN" dirty="0" smtClean="0"/>
              <a:t>.</a:t>
            </a:r>
          </a:p>
          <a:p>
            <a:r>
              <a:rPr lang="en-US" altLang="zh-CN" dirty="0"/>
              <a:t>A ternary operation like </a:t>
            </a:r>
            <a:r>
              <a:rPr lang="en-US" altLang="zh-CN" i="1" dirty="0">
                <a:solidFill>
                  <a:srgbClr val="7030A0"/>
                </a:solidFill>
              </a:rPr>
              <a:t>x [</a:t>
            </a:r>
            <a:r>
              <a:rPr lang="en-US" altLang="zh-CN" i="1" dirty="0" err="1" smtClean="0">
                <a:solidFill>
                  <a:srgbClr val="7030A0"/>
                </a:solidFill>
              </a:rPr>
              <a:t>i</a:t>
            </a:r>
            <a:r>
              <a:rPr lang="en-US" altLang="zh-CN" i="1" dirty="0" smtClean="0">
                <a:solidFill>
                  <a:srgbClr val="7030A0"/>
                </a:solidFill>
              </a:rPr>
              <a:t>]= </a:t>
            </a:r>
            <a:r>
              <a:rPr lang="en-US" altLang="zh-CN" i="1" dirty="0">
                <a:solidFill>
                  <a:srgbClr val="7030A0"/>
                </a:solidFill>
              </a:rPr>
              <a:t>y </a:t>
            </a:r>
            <a:r>
              <a:rPr lang="en-US" altLang="zh-CN" dirty="0"/>
              <a:t>requires two entries in the triple </a:t>
            </a:r>
            <a:r>
              <a:rPr lang="en-US" altLang="zh-CN" dirty="0" smtClean="0"/>
              <a:t>structure; for </a:t>
            </a:r>
            <a:r>
              <a:rPr lang="en-US" altLang="zh-CN" dirty="0"/>
              <a:t>example, we can put </a:t>
            </a:r>
            <a:r>
              <a:rPr lang="en-US" altLang="zh-CN" i="1" dirty="0">
                <a:solidFill>
                  <a:srgbClr val="7030A0"/>
                </a:solidFill>
              </a:rPr>
              <a:t>x</a:t>
            </a:r>
            <a:r>
              <a:rPr lang="en-US" altLang="zh-CN" dirty="0"/>
              <a:t> and</a:t>
            </a:r>
            <a:r>
              <a:rPr lang="en-US" altLang="zh-CN" i="1" dirty="0">
                <a:solidFill>
                  <a:srgbClr val="7030A0"/>
                </a:solidFill>
              </a:rPr>
              <a:t> </a:t>
            </a:r>
            <a:r>
              <a:rPr lang="en-US" altLang="zh-CN" i="1" dirty="0" err="1">
                <a:solidFill>
                  <a:srgbClr val="7030A0"/>
                </a:solidFill>
              </a:rPr>
              <a:t>i</a:t>
            </a:r>
            <a:r>
              <a:rPr lang="en-US" altLang="zh-CN" i="1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in one triple and </a:t>
            </a:r>
            <a:r>
              <a:rPr lang="en-US" altLang="zh-CN" i="1" dirty="0">
                <a:solidFill>
                  <a:srgbClr val="7030A0"/>
                </a:solidFill>
              </a:rPr>
              <a:t>y</a:t>
            </a:r>
            <a:r>
              <a:rPr lang="en-US" altLang="zh-CN" dirty="0"/>
              <a:t> in the next. </a:t>
            </a:r>
            <a:r>
              <a:rPr lang="en-US" altLang="zh-CN" dirty="0" smtClean="0"/>
              <a:t>Similarly, </a:t>
            </a:r>
            <a:r>
              <a:rPr lang="en-US" altLang="zh-CN" i="1" dirty="0" smtClean="0">
                <a:solidFill>
                  <a:srgbClr val="7030A0"/>
                </a:solidFill>
              </a:rPr>
              <a:t>x </a:t>
            </a:r>
            <a:r>
              <a:rPr lang="en-US" altLang="zh-CN" i="1" dirty="0">
                <a:solidFill>
                  <a:srgbClr val="7030A0"/>
                </a:solidFill>
              </a:rPr>
              <a:t>= y [</a:t>
            </a:r>
            <a:r>
              <a:rPr lang="en-US" altLang="zh-CN" i="1" dirty="0" err="1" smtClean="0">
                <a:solidFill>
                  <a:srgbClr val="7030A0"/>
                </a:solidFill>
              </a:rPr>
              <a:t>i</a:t>
            </a:r>
            <a:r>
              <a:rPr lang="en-US" altLang="zh-CN" i="1" dirty="0" smtClean="0">
                <a:solidFill>
                  <a:srgbClr val="7030A0"/>
                </a:solidFill>
              </a:rPr>
              <a:t>] </a:t>
            </a:r>
            <a:r>
              <a:rPr lang="en-US" altLang="zh-CN" dirty="0" smtClean="0"/>
              <a:t>can </a:t>
            </a:r>
            <a:r>
              <a:rPr lang="en-US" altLang="zh-CN" dirty="0"/>
              <a:t>implemented by treating it as if it were the two </a:t>
            </a:r>
            <a:r>
              <a:rPr lang="en-US" altLang="zh-CN" dirty="0" smtClean="0"/>
              <a:t>instructions.</a:t>
            </a:r>
          </a:p>
          <a:p>
            <a:endParaRPr lang="en-US" altLang="zh-CN" dirty="0" smtClean="0"/>
          </a:p>
          <a:p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571" y="3215562"/>
            <a:ext cx="5828571" cy="31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766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Code – Triples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36" y="1886208"/>
            <a:ext cx="7904762" cy="41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57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7.2 Three-Address Code – Triples</a:t>
            </a:r>
            <a:endParaRPr lang="zh-CN" altLang="en-US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6905" y="2274590"/>
            <a:ext cx="5304762" cy="23619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95" y="2274590"/>
            <a:ext cx="2809524" cy="2504762"/>
          </a:xfrm>
          <a:prstGeom prst="rect">
            <a:avLst/>
          </a:prstGeom>
        </p:spPr>
      </p:pic>
      <p:sp>
        <p:nvSpPr>
          <p:cNvPr id="6" name="右箭头 5"/>
          <p:cNvSpPr/>
          <p:nvPr/>
        </p:nvSpPr>
        <p:spPr>
          <a:xfrm>
            <a:off x="3410962" y="3186456"/>
            <a:ext cx="391886" cy="53817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764" y="1622665"/>
            <a:ext cx="4533333" cy="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01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</a:t>
            </a:r>
            <a:r>
              <a:rPr lang="en-US" altLang="zh-CN" dirty="0" smtClean="0"/>
              <a:t>Declarations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07" y="1789542"/>
            <a:ext cx="7819048" cy="3257143"/>
          </a:xfrm>
          <a:prstGeom prst="rect">
            <a:avLst/>
          </a:prstGeom>
        </p:spPr>
      </p:pic>
      <p:cxnSp>
        <p:nvCxnSpPr>
          <p:cNvPr id="6" name="直接连接符 5"/>
          <p:cNvCxnSpPr/>
          <p:nvPr/>
        </p:nvCxnSpPr>
        <p:spPr>
          <a:xfrm>
            <a:off x="1404258" y="2645229"/>
            <a:ext cx="1317171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V="1">
            <a:off x="1377044" y="3845957"/>
            <a:ext cx="2400299" cy="21772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9132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</a:t>
            </a:r>
            <a:r>
              <a:rPr lang="en-US" altLang="zh-CN" dirty="0" smtClean="0"/>
              <a:t>Declarations-Type </a:t>
            </a:r>
            <a:r>
              <a:rPr lang="en-US" altLang="zh-CN" dirty="0"/>
              <a:t>Expressions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631371"/>
          </a:xfrm>
        </p:spPr>
        <p:txBody>
          <a:bodyPr/>
          <a:lstStyle/>
          <a:p>
            <a:r>
              <a:rPr lang="en-US" altLang="zh-CN" b="1" dirty="0">
                <a:solidFill>
                  <a:srgbClr val="7030A0"/>
                </a:solidFill>
              </a:rPr>
              <a:t>type expressions</a:t>
            </a:r>
            <a:r>
              <a:rPr lang="en-US" altLang="zh-CN" dirty="0"/>
              <a:t>: a </a:t>
            </a:r>
            <a:r>
              <a:rPr lang="en-US" altLang="zh-CN" dirty="0" smtClean="0"/>
              <a:t>type expression </a:t>
            </a:r>
            <a:r>
              <a:rPr lang="en-US" altLang="zh-CN" dirty="0"/>
              <a:t>is either a basic type or is formed by applying an operator called </a:t>
            </a:r>
            <a:r>
              <a:rPr lang="en-US" altLang="zh-CN" dirty="0" smtClean="0"/>
              <a:t>a type </a:t>
            </a:r>
            <a:r>
              <a:rPr lang="en-US" altLang="zh-CN" dirty="0"/>
              <a:t>constructor to a type expression.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32" y="2231571"/>
            <a:ext cx="6392527" cy="3002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931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Declarations-Type Expressions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dirty="0"/>
              <a:t>A basic type is a type expression. Typical basic types for a </a:t>
            </a:r>
            <a:r>
              <a:rPr lang="en-US" altLang="zh-CN" dirty="0" smtClean="0"/>
              <a:t>language include </a:t>
            </a:r>
            <a:r>
              <a:rPr lang="en-US" altLang="zh-CN" i="1" dirty="0" err="1"/>
              <a:t>boolean</a:t>
            </a:r>
            <a:r>
              <a:rPr lang="en-US" altLang="zh-CN" dirty="0"/>
              <a:t>, </a:t>
            </a:r>
            <a:r>
              <a:rPr lang="en-US" altLang="zh-CN" i="1" dirty="0"/>
              <a:t>char</a:t>
            </a:r>
            <a:r>
              <a:rPr lang="en-US" altLang="zh-CN" dirty="0"/>
              <a:t>, </a:t>
            </a:r>
            <a:r>
              <a:rPr lang="en-US" altLang="zh-CN" i="1" dirty="0"/>
              <a:t>integer</a:t>
            </a:r>
            <a:r>
              <a:rPr lang="en-US" altLang="zh-CN" dirty="0"/>
              <a:t>, </a:t>
            </a:r>
            <a:r>
              <a:rPr lang="en-US" altLang="zh-CN" i="1" dirty="0"/>
              <a:t>float</a:t>
            </a:r>
            <a:r>
              <a:rPr lang="en-US" altLang="zh-CN" dirty="0"/>
              <a:t>, and </a:t>
            </a:r>
            <a:r>
              <a:rPr lang="en-US" altLang="zh-CN" i="1" dirty="0"/>
              <a:t>void</a:t>
            </a:r>
            <a:r>
              <a:rPr lang="en-US" altLang="zh-CN" dirty="0" smtClean="0"/>
              <a:t>;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A type name is a type </a:t>
            </a:r>
            <a:r>
              <a:rPr lang="en-US" altLang="zh-CN" dirty="0" smtClean="0"/>
              <a:t>expression;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A type expression can be </a:t>
            </a:r>
            <a:r>
              <a:rPr lang="en-US" altLang="zh-CN" dirty="0" smtClean="0"/>
              <a:t>formed </a:t>
            </a:r>
            <a:r>
              <a:rPr lang="en-US" altLang="zh-CN" dirty="0"/>
              <a:t>by applying the array type </a:t>
            </a:r>
            <a:r>
              <a:rPr lang="en-US" altLang="zh-CN" dirty="0" smtClean="0"/>
              <a:t>constructor to </a:t>
            </a:r>
            <a:r>
              <a:rPr lang="en-US" altLang="zh-CN" dirty="0"/>
              <a:t>a number and a type </a:t>
            </a:r>
            <a:r>
              <a:rPr lang="en-US" altLang="zh-CN" dirty="0" smtClean="0"/>
              <a:t>expression;</a:t>
            </a: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A type expression </a:t>
            </a:r>
            <a:r>
              <a:rPr lang="en-US" altLang="zh-CN" dirty="0" smtClean="0"/>
              <a:t>can be </a:t>
            </a:r>
            <a:r>
              <a:rPr lang="en-US" altLang="zh-CN" dirty="0"/>
              <a:t>formed by applying the record type constructor to the field names </a:t>
            </a:r>
            <a:r>
              <a:rPr lang="en-US" altLang="zh-CN" dirty="0" smtClean="0"/>
              <a:t>and their types;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A type expression can be formed by using the type constructor </a:t>
            </a:r>
            <a:r>
              <a:rPr lang="en-US" altLang="zh-CN" dirty="0" smtClean="0"/>
              <a:t>“-&gt;”for function types</a:t>
            </a:r>
            <a:r>
              <a:rPr lang="en-US" altLang="zh-CN" dirty="0"/>
              <a:t>. We write s </a:t>
            </a:r>
            <a:r>
              <a:rPr lang="en-US" altLang="zh-CN" dirty="0" smtClean="0"/>
              <a:t>-&gt;t </a:t>
            </a:r>
            <a:r>
              <a:rPr lang="en-US" altLang="zh-CN" dirty="0"/>
              <a:t>for "function </a:t>
            </a:r>
            <a:r>
              <a:rPr lang="en-US" altLang="zh-CN" dirty="0" smtClean="0"/>
              <a:t>from </a:t>
            </a:r>
            <a:r>
              <a:rPr lang="en-US" altLang="zh-CN" dirty="0"/>
              <a:t>type s to type t</a:t>
            </a:r>
            <a:r>
              <a:rPr lang="en-US" altLang="zh-CN" dirty="0" smtClean="0"/>
              <a:t>.“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If </a:t>
            </a:r>
            <a:r>
              <a:rPr lang="en-US" altLang="zh-CN" i="1" dirty="0"/>
              <a:t>s</a:t>
            </a:r>
            <a:r>
              <a:rPr lang="en-US" altLang="zh-CN" dirty="0"/>
              <a:t> and </a:t>
            </a:r>
            <a:r>
              <a:rPr lang="en-US" altLang="zh-CN" i="1" dirty="0"/>
              <a:t>t</a:t>
            </a:r>
            <a:r>
              <a:rPr lang="en-US" altLang="zh-CN" dirty="0"/>
              <a:t> are type expressions, then their Cartesian product </a:t>
            </a:r>
            <a:r>
              <a:rPr lang="en-US" altLang="zh-CN" i="1" dirty="0"/>
              <a:t>s x t </a:t>
            </a:r>
            <a:r>
              <a:rPr lang="en-US" altLang="zh-CN" dirty="0"/>
              <a:t>is </a:t>
            </a:r>
            <a:r>
              <a:rPr lang="en-US" altLang="zh-CN" dirty="0" smtClean="0"/>
              <a:t>a type </a:t>
            </a:r>
            <a:r>
              <a:rPr lang="en-US" altLang="zh-CN" dirty="0"/>
              <a:t>expression. Products are introduced for completeness; they can </a:t>
            </a:r>
            <a:r>
              <a:rPr lang="en-US" altLang="zh-CN" dirty="0" smtClean="0"/>
              <a:t>be used </a:t>
            </a:r>
            <a:r>
              <a:rPr lang="en-US" altLang="zh-CN" dirty="0"/>
              <a:t>to represent a list or tuple of types (e.g. , for </a:t>
            </a:r>
            <a:r>
              <a:rPr lang="en-US" altLang="zh-CN" dirty="0" smtClean="0"/>
              <a:t>function </a:t>
            </a:r>
            <a:r>
              <a:rPr lang="en-US" altLang="zh-CN" dirty="0"/>
              <a:t>parameters ) </a:t>
            </a:r>
            <a:r>
              <a:rPr lang="en-US" altLang="zh-CN" dirty="0" smtClean="0"/>
              <a:t>.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Type expressions may contain variables whose values are type </a:t>
            </a:r>
            <a:r>
              <a:rPr lang="en-US" altLang="zh-CN" dirty="0" smtClean="0"/>
              <a:t>expressions.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30462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Declarations-Type </a:t>
            </a:r>
            <a:r>
              <a:rPr lang="en-US" altLang="zh-CN" dirty="0" smtClean="0"/>
              <a:t>Equivalence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Many type-checking rules have </a:t>
            </a:r>
            <a:r>
              <a:rPr lang="en-US" altLang="zh-CN" dirty="0" smtClean="0"/>
              <a:t>the form</a:t>
            </a:r>
            <a:r>
              <a:rPr lang="en-US" altLang="zh-CN" dirty="0"/>
              <a:t>, "if two type expressions are equal then return a certain type else error</a:t>
            </a:r>
            <a:r>
              <a:rPr lang="en-US" altLang="zh-CN" dirty="0" smtClean="0"/>
              <a:t>.“</a:t>
            </a:r>
          </a:p>
          <a:p>
            <a:r>
              <a:rPr lang="en-US" altLang="zh-CN" dirty="0"/>
              <a:t>The key issue is </a:t>
            </a:r>
            <a:r>
              <a:rPr lang="en-US" altLang="zh-CN" dirty="0" smtClean="0"/>
              <a:t>whether a </a:t>
            </a:r>
            <a:r>
              <a:rPr lang="en-US" altLang="zh-CN" dirty="0"/>
              <a:t>name in a type expression stands for itself or whether it is an </a:t>
            </a:r>
            <a:r>
              <a:rPr lang="en-US" altLang="zh-CN" dirty="0" smtClean="0"/>
              <a:t>abbreviation for </a:t>
            </a:r>
            <a:r>
              <a:rPr lang="en-US" altLang="zh-CN" dirty="0"/>
              <a:t>another type expression</a:t>
            </a:r>
            <a:r>
              <a:rPr lang="en-US" altLang="zh-CN" dirty="0" smtClean="0"/>
              <a:t>.</a:t>
            </a:r>
          </a:p>
          <a:p>
            <a:pPr marL="0" indent="0">
              <a:buNone/>
            </a:pPr>
            <a:endParaRPr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21" y="2916876"/>
            <a:ext cx="7647619" cy="2961905"/>
          </a:xfrm>
          <a:prstGeom prst="rect">
            <a:avLst/>
          </a:prstGeom>
        </p:spPr>
      </p:pic>
      <p:cxnSp>
        <p:nvCxnSpPr>
          <p:cNvPr id="6" name="直接连接符 5"/>
          <p:cNvCxnSpPr/>
          <p:nvPr/>
        </p:nvCxnSpPr>
        <p:spPr>
          <a:xfrm>
            <a:off x="4354286" y="5878781"/>
            <a:ext cx="1545771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136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</a:t>
            </a:r>
            <a:r>
              <a:rPr lang="en-US" altLang="zh-CN" dirty="0" smtClean="0"/>
              <a:t>Declarations-Declaration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324" y="1779199"/>
            <a:ext cx="4152381" cy="105714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68" y="3037895"/>
            <a:ext cx="7799818" cy="195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69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Declarations-Storage Layout </a:t>
            </a:r>
            <a:r>
              <a:rPr lang="en-US" altLang="zh-CN" dirty="0" smtClean="0"/>
              <a:t>for </a:t>
            </a:r>
            <a:r>
              <a:rPr lang="en-US" altLang="zh-CN" dirty="0"/>
              <a:t>Local </a:t>
            </a:r>
            <a:r>
              <a:rPr lang="en-US" altLang="zh-CN" dirty="0" smtClean="0"/>
              <a:t>Names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273627"/>
            <a:ext cx="7486650" cy="45720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dirty="0"/>
              <a:t>From the type of a name, we can determine the amount of storage that will </a:t>
            </a:r>
            <a:r>
              <a:rPr lang="en-US" altLang="zh-CN" dirty="0" smtClean="0"/>
              <a:t>be needed </a:t>
            </a:r>
            <a:r>
              <a:rPr lang="en-US" altLang="zh-CN" dirty="0"/>
              <a:t>for the name at run time. </a:t>
            </a:r>
            <a:endParaRPr lang="en-US" altLang="zh-CN" dirty="0" smtClean="0"/>
          </a:p>
          <a:p>
            <a:pPr>
              <a:lnSpc>
                <a:spcPct val="100000"/>
              </a:lnSpc>
            </a:pP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1783216"/>
            <a:ext cx="6390476" cy="9047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834" y="2684260"/>
            <a:ext cx="4472668" cy="199423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94" y="4678496"/>
            <a:ext cx="4789362" cy="2111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898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Declarations-Sequences of Declarations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273629"/>
          </a:xfrm>
        </p:spPr>
        <p:txBody>
          <a:bodyPr/>
          <a:lstStyle/>
          <a:p>
            <a:r>
              <a:rPr lang="en-US" altLang="zh-CN" dirty="0"/>
              <a:t>Languages such as C and Java allow all the declarations in a </a:t>
            </a:r>
            <a:r>
              <a:rPr lang="en-US" altLang="zh-CN" dirty="0" smtClean="0"/>
              <a:t>single procedure to </a:t>
            </a:r>
            <a:r>
              <a:rPr lang="en-US" altLang="zh-CN" dirty="0"/>
              <a:t>be processed as a group. The declarations may be distributed within a </a:t>
            </a:r>
            <a:r>
              <a:rPr lang="en-US" altLang="zh-CN" dirty="0" smtClean="0"/>
              <a:t>Java procedure</a:t>
            </a:r>
            <a:r>
              <a:rPr lang="en-US" altLang="zh-CN" dirty="0"/>
              <a:t>, but they can still be processed when the procedure is </a:t>
            </a:r>
            <a:r>
              <a:rPr lang="en-US" altLang="zh-CN" dirty="0" smtClean="0"/>
              <a:t>analyzed. Therefore </a:t>
            </a:r>
            <a:r>
              <a:rPr lang="en-US" altLang="zh-CN" dirty="0"/>
              <a:t>, we can use a variable, say offset, to keep track of the next </a:t>
            </a:r>
            <a:r>
              <a:rPr lang="en-US" altLang="zh-CN" dirty="0" smtClean="0"/>
              <a:t>available relative </a:t>
            </a:r>
            <a:r>
              <a:rPr lang="en-US" altLang="zh-CN" dirty="0"/>
              <a:t>address</a:t>
            </a:r>
            <a:r>
              <a:rPr lang="en-US" altLang="zh-CN" dirty="0" smtClean="0"/>
              <a:t>.</a:t>
            </a:r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352" y="2873829"/>
            <a:ext cx="4352381" cy="1685714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2656114" y="4864464"/>
            <a:ext cx="4572000" cy="12003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US" altLang="zh-CN" dirty="0"/>
              <a:t>creates a </a:t>
            </a:r>
            <a:r>
              <a:rPr lang="en-US" altLang="zh-CN" dirty="0" smtClean="0"/>
              <a:t>symbol table</a:t>
            </a:r>
            <a:endParaRPr lang="en-US" altLang="zh-CN" dirty="0"/>
          </a:p>
          <a:p>
            <a:r>
              <a:rPr lang="en-US" altLang="zh-CN" dirty="0"/>
              <a:t>entry by executing </a:t>
            </a:r>
            <a:r>
              <a:rPr lang="en-US" altLang="zh-CN" i="1" dirty="0" err="1"/>
              <a:t>top.put</a:t>
            </a:r>
            <a:r>
              <a:rPr lang="en-US" altLang="zh-CN" i="1" dirty="0"/>
              <a:t>(id. lexeme, T. type, offset) </a:t>
            </a:r>
            <a:r>
              <a:rPr lang="en-US" altLang="zh-CN" dirty="0"/>
              <a:t>. </a:t>
            </a:r>
            <a:r>
              <a:rPr lang="en-US" altLang="zh-CN" dirty="0" smtClean="0"/>
              <a:t>Here </a:t>
            </a:r>
            <a:r>
              <a:rPr lang="en-US" altLang="zh-CN" dirty="0"/>
              <a:t>top denotes</a:t>
            </a:r>
          </a:p>
          <a:p>
            <a:r>
              <a:rPr lang="en-US" altLang="zh-CN" dirty="0"/>
              <a:t>the current symbol table.</a:t>
            </a:r>
            <a:endParaRPr lang="zh-CN" altLang="en-US" dirty="0"/>
          </a:p>
        </p:txBody>
      </p:sp>
      <p:cxnSp>
        <p:nvCxnSpPr>
          <p:cNvPr id="7" name="直接箭头连接符 6"/>
          <p:cNvCxnSpPr/>
          <p:nvPr/>
        </p:nvCxnSpPr>
        <p:spPr>
          <a:xfrm flipH="1" flipV="1">
            <a:off x="6193971" y="3716686"/>
            <a:ext cx="315686" cy="11477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095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7.3 Types and </a:t>
            </a:r>
            <a:r>
              <a:rPr lang="en-US" altLang="zh-CN" dirty="0" smtClean="0"/>
              <a:t>Declarations-Fields in </a:t>
            </a:r>
            <a:r>
              <a:rPr lang="en-US" altLang="zh-CN" dirty="0"/>
              <a:t>Records and Classes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382487"/>
            <a:ext cx="7486650" cy="4844142"/>
          </a:xfrm>
        </p:spPr>
        <p:txBody>
          <a:bodyPr/>
          <a:lstStyle/>
          <a:p>
            <a:r>
              <a:rPr lang="en-US" altLang="zh-CN" dirty="0"/>
              <a:t>This production has two </a:t>
            </a:r>
            <a:r>
              <a:rPr lang="en-US" altLang="zh-CN" dirty="0" smtClean="0"/>
              <a:t>semantic actions</a:t>
            </a:r>
            <a:r>
              <a:rPr lang="en-US" altLang="zh-CN" dirty="0"/>
              <a:t>. The embedded action before </a:t>
            </a:r>
            <a:r>
              <a:rPr lang="en-US" altLang="zh-CN" i="1" dirty="0"/>
              <a:t>D</a:t>
            </a:r>
            <a:r>
              <a:rPr lang="en-US" altLang="zh-CN" dirty="0"/>
              <a:t> saves the existing symbol table, </a:t>
            </a:r>
            <a:r>
              <a:rPr lang="en-US" altLang="zh-CN" dirty="0" smtClean="0"/>
              <a:t>denoted by </a:t>
            </a:r>
            <a:r>
              <a:rPr lang="en-US" altLang="zh-CN" dirty="0"/>
              <a:t>top and sets top to a fresh symbol table. It also saves the current offset, </a:t>
            </a:r>
            <a:r>
              <a:rPr lang="en-US" altLang="zh-CN" dirty="0" smtClean="0"/>
              <a:t>and sets </a:t>
            </a:r>
            <a:r>
              <a:rPr lang="en-US" altLang="zh-CN" dirty="0"/>
              <a:t>offset to </a:t>
            </a:r>
            <a:r>
              <a:rPr lang="en-US" altLang="zh-CN" i="1" dirty="0" smtClean="0"/>
              <a:t>0</a:t>
            </a:r>
            <a:r>
              <a:rPr lang="en-US" altLang="zh-CN" dirty="0" smtClean="0"/>
              <a:t>. </a:t>
            </a:r>
            <a:r>
              <a:rPr lang="en-US" altLang="zh-CN" dirty="0"/>
              <a:t>The declarations generated by </a:t>
            </a:r>
            <a:r>
              <a:rPr lang="en-US" altLang="zh-CN" i="1" dirty="0"/>
              <a:t>D</a:t>
            </a:r>
            <a:r>
              <a:rPr lang="en-US" altLang="zh-CN" dirty="0"/>
              <a:t> will result in types and </a:t>
            </a:r>
            <a:r>
              <a:rPr lang="en-US" altLang="zh-CN" dirty="0" smtClean="0"/>
              <a:t>relative addresses </a:t>
            </a:r>
            <a:r>
              <a:rPr lang="en-US" altLang="zh-CN" dirty="0"/>
              <a:t>being put in the fresh symbol table. The action after </a:t>
            </a:r>
            <a:r>
              <a:rPr lang="en-US" altLang="zh-CN" i="1" dirty="0"/>
              <a:t>D</a:t>
            </a:r>
            <a:r>
              <a:rPr lang="en-US" altLang="zh-CN" dirty="0"/>
              <a:t> creates </a:t>
            </a:r>
            <a:r>
              <a:rPr lang="en-US" altLang="zh-CN" dirty="0" smtClean="0"/>
              <a:t>a record </a:t>
            </a:r>
            <a:r>
              <a:rPr lang="en-US" altLang="zh-CN" dirty="0"/>
              <a:t>type using top, before restoring the saved symbol table and </a:t>
            </a:r>
            <a:r>
              <a:rPr lang="en-US" altLang="zh-CN" dirty="0" smtClean="0"/>
              <a:t>offset.</a:t>
            </a:r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Let class </a:t>
            </a:r>
            <a:r>
              <a:rPr lang="en-US" altLang="zh-CN" i="1" dirty="0" err="1"/>
              <a:t>Env</a:t>
            </a:r>
            <a:r>
              <a:rPr lang="en-US" altLang="zh-CN" dirty="0"/>
              <a:t> implement symbol tables. The call </a:t>
            </a:r>
            <a:r>
              <a:rPr lang="en-US" altLang="zh-CN" i="1" dirty="0" err="1"/>
              <a:t>Env.push</a:t>
            </a:r>
            <a:r>
              <a:rPr lang="en-US" altLang="zh-CN" i="1" dirty="0"/>
              <a:t>( </a:t>
            </a:r>
            <a:r>
              <a:rPr lang="en-US" altLang="zh-CN" i="1" dirty="0" smtClean="0"/>
              <a:t>top) </a:t>
            </a:r>
            <a:r>
              <a:rPr lang="en-US" altLang="zh-CN" dirty="0" smtClean="0"/>
              <a:t>pushes </a:t>
            </a:r>
            <a:r>
              <a:rPr lang="en-US" altLang="zh-CN" dirty="0"/>
              <a:t>the current symbol table denoted by top onto a stack. Variable top </a:t>
            </a:r>
            <a:r>
              <a:rPr lang="en-US" altLang="zh-CN" dirty="0" smtClean="0"/>
              <a:t>is then </a:t>
            </a:r>
            <a:r>
              <a:rPr lang="en-US" altLang="zh-CN" dirty="0"/>
              <a:t>set to a new symbol table. Similarly, offset is pushed onto a stack </a:t>
            </a:r>
            <a:r>
              <a:rPr lang="en-US" altLang="zh-CN" dirty="0" smtClean="0"/>
              <a:t>called Stack</a:t>
            </a:r>
            <a:r>
              <a:rPr lang="en-US" altLang="zh-CN" dirty="0"/>
              <a:t>. Variable offset is then set to </a:t>
            </a:r>
            <a:r>
              <a:rPr lang="en-US" altLang="zh-CN" dirty="0" smtClean="0"/>
              <a:t>0.</a:t>
            </a:r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93" y="2667762"/>
            <a:ext cx="5390476" cy="1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707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5848142" y="3940626"/>
            <a:ext cx="3295857" cy="14695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7.4 Translation </a:t>
            </a:r>
            <a:r>
              <a:rPr lang="en-US" altLang="zh-CN" dirty="0"/>
              <a:t>of </a:t>
            </a:r>
            <a:r>
              <a:rPr lang="en-US" altLang="zh-CN" dirty="0" smtClean="0"/>
              <a:t>Expressions-Operations Within Expressions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480457"/>
          </a:xfrm>
        </p:spPr>
        <p:txBody>
          <a:bodyPr/>
          <a:lstStyle/>
          <a:p>
            <a:r>
              <a:rPr lang="en-US" altLang="zh-CN" dirty="0"/>
              <a:t>The syntax-directed definition in </a:t>
            </a:r>
            <a:r>
              <a:rPr lang="en-US" altLang="zh-CN" dirty="0" smtClean="0"/>
              <a:t>the following table </a:t>
            </a:r>
            <a:r>
              <a:rPr lang="en-US" altLang="zh-CN" dirty="0"/>
              <a:t>builds up the three-address code </a:t>
            </a:r>
            <a:r>
              <a:rPr lang="en-US" altLang="zh-CN" dirty="0" smtClean="0"/>
              <a:t>for an </a:t>
            </a:r>
            <a:r>
              <a:rPr lang="en-US" altLang="zh-CN" dirty="0"/>
              <a:t>assignment statement </a:t>
            </a:r>
            <a:r>
              <a:rPr lang="en-US" altLang="zh-CN" i="1" dirty="0"/>
              <a:t>S</a:t>
            </a:r>
            <a:r>
              <a:rPr lang="en-US" altLang="zh-CN" dirty="0"/>
              <a:t> using attribute code for </a:t>
            </a:r>
            <a:r>
              <a:rPr lang="en-US" altLang="zh-CN" i="1" dirty="0"/>
              <a:t>S</a:t>
            </a:r>
            <a:r>
              <a:rPr lang="en-US" altLang="zh-CN" dirty="0"/>
              <a:t> and attributes </a:t>
            </a:r>
            <a:r>
              <a:rPr lang="en-US" altLang="zh-CN" i="1" dirty="0" err="1"/>
              <a:t>addr</a:t>
            </a:r>
            <a:r>
              <a:rPr lang="en-US" altLang="zh-CN" dirty="0"/>
              <a:t> </a:t>
            </a:r>
            <a:r>
              <a:rPr lang="en-US" altLang="zh-CN" dirty="0" smtClean="0"/>
              <a:t>and </a:t>
            </a:r>
            <a:r>
              <a:rPr lang="en-US" altLang="zh-CN" i="1" dirty="0" smtClean="0"/>
              <a:t>code</a:t>
            </a:r>
            <a:r>
              <a:rPr lang="en-US" altLang="zh-CN" dirty="0" smtClean="0"/>
              <a:t> </a:t>
            </a:r>
            <a:r>
              <a:rPr lang="en-US" altLang="zh-CN" dirty="0"/>
              <a:t>for an expression </a:t>
            </a:r>
            <a:r>
              <a:rPr lang="en-US" altLang="zh-CN" i="1" dirty="0"/>
              <a:t>E</a:t>
            </a:r>
            <a:r>
              <a:rPr lang="en-US" altLang="zh-CN" dirty="0"/>
              <a:t>. Attributes </a:t>
            </a:r>
            <a:r>
              <a:rPr lang="en-US" altLang="zh-CN" i="1" dirty="0"/>
              <a:t>S. code </a:t>
            </a:r>
            <a:r>
              <a:rPr lang="en-US" altLang="zh-CN" dirty="0"/>
              <a:t>and </a:t>
            </a:r>
            <a:r>
              <a:rPr lang="en-US" altLang="zh-CN" i="1" dirty="0"/>
              <a:t>E. code </a:t>
            </a:r>
            <a:r>
              <a:rPr lang="en-US" altLang="zh-CN" dirty="0"/>
              <a:t>denote the </a:t>
            </a:r>
            <a:r>
              <a:rPr lang="en-US" altLang="zh-CN" dirty="0" smtClean="0"/>
              <a:t>three-address code </a:t>
            </a:r>
            <a:r>
              <a:rPr lang="en-US" altLang="zh-CN" dirty="0"/>
              <a:t>for </a:t>
            </a:r>
            <a:r>
              <a:rPr lang="en-US" altLang="zh-CN" i="1" dirty="0"/>
              <a:t>S</a:t>
            </a:r>
            <a:r>
              <a:rPr lang="en-US" altLang="zh-CN" dirty="0"/>
              <a:t> and </a:t>
            </a:r>
            <a:r>
              <a:rPr lang="en-US" altLang="zh-CN" i="1" dirty="0"/>
              <a:t>E</a:t>
            </a:r>
            <a:r>
              <a:rPr lang="en-US" altLang="zh-CN" dirty="0"/>
              <a:t>, respectively. Attribute </a:t>
            </a:r>
            <a:r>
              <a:rPr lang="en-US" altLang="zh-CN" i="1" dirty="0" err="1"/>
              <a:t>E.addr</a:t>
            </a:r>
            <a:r>
              <a:rPr lang="en-US" altLang="zh-CN" i="1" dirty="0"/>
              <a:t> </a:t>
            </a:r>
            <a:r>
              <a:rPr lang="en-US" altLang="zh-CN" dirty="0"/>
              <a:t>denotes the address that will hold the value of </a:t>
            </a:r>
            <a:r>
              <a:rPr lang="en-US" altLang="zh-CN" i="1" dirty="0"/>
              <a:t>E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84" y="2699316"/>
            <a:ext cx="5706630" cy="39971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061049"/>
            <a:ext cx="3200400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1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7.4 Translation of </a:t>
            </a:r>
            <a:r>
              <a:rPr lang="en-US" altLang="zh-CN" dirty="0" smtClean="0"/>
              <a:t>Expressions-Incremental </a:t>
            </a:r>
            <a:r>
              <a:rPr lang="en-US" altLang="zh-CN" dirty="0"/>
              <a:t>Translation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545771"/>
          </a:xfrm>
        </p:spPr>
        <p:txBody>
          <a:bodyPr/>
          <a:lstStyle/>
          <a:p>
            <a:r>
              <a:rPr lang="en-US" altLang="zh-CN" dirty="0"/>
              <a:t>Code attributes can be long strings, so they are usually generated </a:t>
            </a:r>
            <a:r>
              <a:rPr lang="en-US" altLang="zh-CN" dirty="0" smtClean="0"/>
              <a:t>incrementally. Thus </a:t>
            </a:r>
            <a:r>
              <a:rPr lang="en-US" altLang="zh-CN" dirty="0"/>
              <a:t>, instead of building up </a:t>
            </a:r>
            <a:r>
              <a:rPr lang="en-US" altLang="zh-CN" i="1" dirty="0"/>
              <a:t>E. </a:t>
            </a:r>
            <a:r>
              <a:rPr lang="en-US" altLang="zh-CN" i="1" dirty="0" smtClean="0"/>
              <a:t>code</a:t>
            </a:r>
            <a:r>
              <a:rPr lang="en-US" altLang="zh-CN" dirty="0" smtClean="0"/>
              <a:t>, </a:t>
            </a:r>
            <a:r>
              <a:rPr lang="en-US" altLang="zh-CN" dirty="0"/>
              <a:t>we can arrange to generate only the new three-address </a:t>
            </a:r>
            <a:r>
              <a:rPr lang="en-US" altLang="zh-CN" dirty="0" smtClean="0"/>
              <a:t>instructions, as </a:t>
            </a:r>
            <a:r>
              <a:rPr lang="en-US" altLang="zh-CN" dirty="0"/>
              <a:t>in </a:t>
            </a:r>
            <a:r>
              <a:rPr lang="en-US" altLang="zh-CN" dirty="0" smtClean="0"/>
              <a:t>the following </a:t>
            </a:r>
            <a:r>
              <a:rPr lang="en-US" altLang="zh-CN" dirty="0"/>
              <a:t>translation </a:t>
            </a:r>
            <a:r>
              <a:rPr lang="en-US" altLang="zh-CN" dirty="0" smtClean="0"/>
              <a:t>scheme. </a:t>
            </a:r>
            <a:r>
              <a:rPr lang="en-US" altLang="zh-CN" dirty="0"/>
              <a:t>In the incremental approach, </a:t>
            </a:r>
            <a:r>
              <a:rPr lang="en-US" altLang="zh-CN" i="1" dirty="0">
                <a:solidFill>
                  <a:srgbClr val="7030A0"/>
                </a:solidFill>
              </a:rPr>
              <a:t>gen</a:t>
            </a:r>
            <a:r>
              <a:rPr lang="en-US" altLang="zh-CN" dirty="0"/>
              <a:t> </a:t>
            </a:r>
            <a:r>
              <a:rPr lang="en-US" altLang="zh-CN" dirty="0" smtClean="0"/>
              <a:t>not only </a:t>
            </a:r>
            <a:r>
              <a:rPr lang="en-US" altLang="zh-CN" dirty="0"/>
              <a:t>constructs a three-address instruction, it appends the instruction to </a:t>
            </a:r>
            <a:r>
              <a:rPr lang="en-US" altLang="zh-CN" dirty="0" smtClean="0"/>
              <a:t>the sequence </a:t>
            </a:r>
            <a:r>
              <a:rPr lang="en-US" altLang="zh-CN" dirty="0"/>
              <a:t>of instructions generated so far. The sequence may either be </a:t>
            </a:r>
            <a:r>
              <a:rPr lang="en-US" altLang="zh-CN" dirty="0" smtClean="0"/>
              <a:t>retained in </a:t>
            </a:r>
            <a:r>
              <a:rPr lang="en-US" altLang="zh-CN" dirty="0"/>
              <a:t>memory for </a:t>
            </a:r>
            <a:r>
              <a:rPr lang="en-US" altLang="zh-CN" dirty="0" smtClean="0"/>
              <a:t>further </a:t>
            </a:r>
            <a:r>
              <a:rPr lang="en-US" altLang="zh-CN" dirty="0"/>
              <a:t>processing, or it may be output incrementally.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56" y="3320142"/>
            <a:ext cx="4377104" cy="2242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362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7.4 Translation of Expressions-Addressing Array Elements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029" y="1277030"/>
            <a:ext cx="5450341" cy="5450341"/>
          </a:xfrm>
          <a:prstGeom prst="rect">
            <a:avLst/>
          </a:prstGeom>
        </p:spPr>
      </p:pic>
      <p:cxnSp>
        <p:nvCxnSpPr>
          <p:cNvPr id="9" name="直接连接符 8"/>
          <p:cNvCxnSpPr/>
          <p:nvPr/>
        </p:nvCxnSpPr>
        <p:spPr>
          <a:xfrm flipV="1">
            <a:off x="3646713" y="2393270"/>
            <a:ext cx="1240972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V="1">
            <a:off x="2677885" y="4691743"/>
            <a:ext cx="3178628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V="1">
            <a:off x="2209800" y="6727371"/>
            <a:ext cx="4082143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 flipV="1">
            <a:off x="3330459" y="6085114"/>
            <a:ext cx="1774941" cy="20184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825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7.4 Translation of Expressions-Addressing Array Elements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1499507"/>
            <a:ext cx="6569862" cy="2930978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531" y="4756830"/>
            <a:ext cx="4495800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82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7.4 Translation of Expressions-Addressing Array Elements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251857" y="1304313"/>
            <a:ext cx="575854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 smtClean="0">
                <a:solidFill>
                  <a:schemeClr val="tx2"/>
                </a:solidFill>
              </a:rPr>
              <a:t>Let nonterminal </a:t>
            </a:r>
            <a:r>
              <a:rPr lang="en-US" altLang="zh-CN" sz="1600" i="1" dirty="0">
                <a:solidFill>
                  <a:schemeClr val="tx2"/>
                </a:solidFill>
              </a:rPr>
              <a:t>L</a:t>
            </a:r>
            <a:r>
              <a:rPr lang="en-US" altLang="zh-CN" sz="1600" dirty="0">
                <a:solidFill>
                  <a:schemeClr val="tx2"/>
                </a:solidFill>
              </a:rPr>
              <a:t> generate an array name </a:t>
            </a:r>
            <a:r>
              <a:rPr lang="en-US" altLang="zh-CN" sz="1600" dirty="0" smtClean="0">
                <a:solidFill>
                  <a:schemeClr val="tx2"/>
                </a:solidFill>
              </a:rPr>
              <a:t>followed </a:t>
            </a:r>
            <a:r>
              <a:rPr lang="en-US" altLang="zh-CN" sz="1600" dirty="0">
                <a:solidFill>
                  <a:schemeClr val="tx2"/>
                </a:solidFill>
              </a:rPr>
              <a:t>by a sequence of </a:t>
            </a:r>
            <a:r>
              <a:rPr lang="en-US" altLang="zh-CN" sz="1600" dirty="0" smtClean="0">
                <a:solidFill>
                  <a:schemeClr val="tx2"/>
                </a:solidFill>
              </a:rPr>
              <a:t>indexed </a:t>
            </a:r>
            <a:r>
              <a:rPr lang="en-US" altLang="zh-CN" sz="1600" dirty="0">
                <a:solidFill>
                  <a:schemeClr val="tx2"/>
                </a:solidFill>
              </a:rPr>
              <a:t>expressions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904" y="1963215"/>
            <a:ext cx="2669087" cy="373930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828675" y="2411272"/>
            <a:ext cx="734785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tx2"/>
                </a:solidFill>
              </a:rPr>
              <a:t>As in C and Java, assume that the </a:t>
            </a:r>
            <a:r>
              <a:rPr lang="en-US" altLang="zh-CN" sz="1600" dirty="0" smtClean="0">
                <a:solidFill>
                  <a:schemeClr val="tx2"/>
                </a:solidFill>
              </a:rPr>
              <a:t>lowest-numbered </a:t>
            </a:r>
            <a:r>
              <a:rPr lang="en-US" altLang="zh-CN" sz="1600" dirty="0">
                <a:solidFill>
                  <a:schemeClr val="tx2"/>
                </a:solidFill>
              </a:rPr>
              <a:t>array element is </a:t>
            </a:r>
            <a:r>
              <a:rPr lang="en-US" altLang="zh-CN" sz="1600" dirty="0" smtClean="0">
                <a:solidFill>
                  <a:schemeClr val="tx2"/>
                </a:solidFill>
              </a:rPr>
              <a:t>O. The translation scheme of the expression with arrays: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675" y="3032809"/>
            <a:ext cx="3842658" cy="3825191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24400" y="3129674"/>
            <a:ext cx="441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i="1" dirty="0" err="1" smtClean="0">
                <a:solidFill>
                  <a:srgbClr val="7030A0"/>
                </a:solidFill>
              </a:rPr>
              <a:t>L.addr</a:t>
            </a:r>
            <a:r>
              <a:rPr lang="en-US" altLang="zh-CN" sz="1600" dirty="0" smtClean="0">
                <a:solidFill>
                  <a:schemeClr val="tx2"/>
                </a:solidFill>
              </a:rPr>
              <a:t> </a:t>
            </a:r>
            <a:r>
              <a:rPr lang="en-US" altLang="zh-CN" sz="1600" dirty="0">
                <a:solidFill>
                  <a:schemeClr val="tx2"/>
                </a:solidFill>
              </a:rPr>
              <a:t>denotes a temporary that is </a:t>
            </a:r>
            <a:r>
              <a:rPr lang="en-US" altLang="zh-CN" sz="1600" dirty="0" smtClean="0">
                <a:solidFill>
                  <a:schemeClr val="tx2"/>
                </a:solidFill>
              </a:rPr>
              <a:t>used while </a:t>
            </a:r>
            <a:r>
              <a:rPr lang="en-US" altLang="zh-CN" sz="1600" dirty="0">
                <a:solidFill>
                  <a:schemeClr val="tx2"/>
                </a:solidFill>
              </a:rPr>
              <a:t>computing the offset </a:t>
            </a:r>
            <a:r>
              <a:rPr lang="en-US" altLang="zh-CN" sz="1600" dirty="0" smtClean="0">
                <a:solidFill>
                  <a:schemeClr val="tx2"/>
                </a:solidFill>
              </a:rPr>
              <a:t>for the </a:t>
            </a:r>
            <a:r>
              <a:rPr lang="en-US" altLang="zh-CN" sz="1600" dirty="0">
                <a:solidFill>
                  <a:schemeClr val="tx2"/>
                </a:solidFill>
              </a:rPr>
              <a:t>array reference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648200" y="3960671"/>
            <a:ext cx="4572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 i="1" dirty="0" err="1" smtClean="0">
                <a:solidFill>
                  <a:srgbClr val="7030A0"/>
                </a:solidFill>
              </a:rPr>
              <a:t>L.array</a:t>
            </a:r>
            <a:r>
              <a:rPr lang="en-US" altLang="zh-CN" sz="1600" dirty="0" smtClean="0">
                <a:solidFill>
                  <a:schemeClr val="tx2"/>
                </a:solidFill>
              </a:rPr>
              <a:t> </a:t>
            </a:r>
            <a:r>
              <a:rPr lang="en-US" altLang="zh-CN" sz="1600" dirty="0">
                <a:solidFill>
                  <a:schemeClr val="tx2"/>
                </a:solidFill>
              </a:rPr>
              <a:t>is a </a:t>
            </a:r>
            <a:r>
              <a:rPr lang="en-US" altLang="zh-CN" sz="1600" dirty="0" smtClean="0">
                <a:solidFill>
                  <a:schemeClr val="tx2"/>
                </a:solidFill>
              </a:rPr>
              <a:t>pointer to the symbol-table entry </a:t>
            </a:r>
            <a:r>
              <a:rPr lang="en-US" altLang="zh-CN" sz="1600" dirty="0">
                <a:solidFill>
                  <a:schemeClr val="tx2"/>
                </a:solidFill>
              </a:rPr>
              <a:t>for the array name. </a:t>
            </a:r>
            <a:r>
              <a:rPr lang="en-US" altLang="zh-CN" sz="1600" dirty="0" smtClean="0">
                <a:solidFill>
                  <a:schemeClr val="tx2"/>
                </a:solidFill>
              </a:rPr>
              <a:t>The base </a:t>
            </a:r>
            <a:r>
              <a:rPr lang="en-US" altLang="zh-CN" sz="1600" dirty="0">
                <a:solidFill>
                  <a:schemeClr val="tx2"/>
                </a:solidFill>
              </a:rPr>
              <a:t>address of the array, say,</a:t>
            </a:r>
            <a:r>
              <a:rPr lang="en-US" altLang="zh-CN" sz="1600" i="1" dirty="0">
                <a:solidFill>
                  <a:srgbClr val="7030A0"/>
                </a:solidFill>
              </a:rPr>
              <a:t> </a:t>
            </a:r>
            <a:r>
              <a:rPr lang="en-US" altLang="zh-CN" sz="1600" i="1" dirty="0" err="1" smtClean="0">
                <a:solidFill>
                  <a:srgbClr val="7030A0"/>
                </a:solidFill>
              </a:rPr>
              <a:t>L.array.base</a:t>
            </a:r>
            <a:r>
              <a:rPr lang="en-US" altLang="zh-CN" sz="1600" i="1" dirty="0" smtClean="0">
                <a:solidFill>
                  <a:srgbClr val="7030A0"/>
                </a:solidFill>
              </a:rPr>
              <a:t> </a:t>
            </a:r>
            <a:r>
              <a:rPr lang="en-US" altLang="zh-CN" sz="1600" dirty="0">
                <a:solidFill>
                  <a:schemeClr val="tx2"/>
                </a:solidFill>
              </a:rPr>
              <a:t>is used </a:t>
            </a:r>
            <a:r>
              <a:rPr lang="en-US" altLang="zh-CN" sz="1600" dirty="0" smtClean="0">
                <a:solidFill>
                  <a:schemeClr val="tx2"/>
                </a:solidFill>
              </a:rPr>
              <a:t>to determine </a:t>
            </a:r>
            <a:r>
              <a:rPr lang="en-US" altLang="zh-CN" sz="1600" dirty="0">
                <a:solidFill>
                  <a:schemeClr val="tx2"/>
                </a:solidFill>
              </a:rPr>
              <a:t>the </a:t>
            </a:r>
            <a:r>
              <a:rPr lang="en-US" altLang="zh-CN" sz="1600" dirty="0" smtClean="0">
                <a:solidFill>
                  <a:schemeClr val="tx2"/>
                </a:solidFill>
              </a:rPr>
              <a:t>actual l-value </a:t>
            </a:r>
            <a:r>
              <a:rPr lang="en-US" altLang="zh-CN" sz="1600" dirty="0">
                <a:solidFill>
                  <a:schemeClr val="tx2"/>
                </a:solidFill>
              </a:rPr>
              <a:t>of an array reference after all the index expressions are </a:t>
            </a:r>
            <a:r>
              <a:rPr lang="en-US" altLang="zh-CN" sz="1600" dirty="0" smtClean="0">
                <a:solidFill>
                  <a:schemeClr val="tx2"/>
                </a:solidFill>
              </a:rPr>
              <a:t>analyzed.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659767" y="5609390"/>
            <a:ext cx="4572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 i="1" dirty="0" err="1" smtClean="0">
                <a:solidFill>
                  <a:srgbClr val="7030A0"/>
                </a:solidFill>
              </a:rPr>
              <a:t>L.type</a:t>
            </a:r>
            <a:r>
              <a:rPr lang="en-US" altLang="zh-CN" sz="1600" dirty="0" smtClean="0">
                <a:solidFill>
                  <a:schemeClr val="tx2"/>
                </a:solidFill>
              </a:rPr>
              <a:t> </a:t>
            </a:r>
            <a:r>
              <a:rPr lang="en-US" altLang="zh-CN" sz="1600" dirty="0">
                <a:solidFill>
                  <a:schemeClr val="tx2"/>
                </a:solidFill>
              </a:rPr>
              <a:t>is the type of the sub </a:t>
            </a:r>
            <a:r>
              <a:rPr lang="en-US" altLang="zh-CN" sz="1600" dirty="0" smtClean="0">
                <a:solidFill>
                  <a:schemeClr val="tx2"/>
                </a:solidFill>
              </a:rPr>
              <a:t>array generated </a:t>
            </a:r>
            <a:r>
              <a:rPr lang="en-US" altLang="zh-CN" sz="1600" dirty="0">
                <a:solidFill>
                  <a:schemeClr val="tx2"/>
                </a:solidFill>
              </a:rPr>
              <a:t>by L.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800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7.4 Translation of Expressions-Addressing Array Elements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193" y="1679121"/>
            <a:ext cx="4562475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919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7.5 </a:t>
            </a:r>
            <a:r>
              <a:rPr lang="en-US" altLang="zh-CN" dirty="0"/>
              <a:t>Type checking-Rules </a:t>
            </a:r>
            <a:r>
              <a:rPr lang="en-US" altLang="zh-CN" dirty="0" smtClean="0"/>
              <a:t>for </a:t>
            </a:r>
            <a:r>
              <a:rPr lang="en-US" altLang="zh-CN" dirty="0"/>
              <a:t>Type Checking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478971"/>
          </a:xfrm>
        </p:spPr>
        <p:txBody>
          <a:bodyPr/>
          <a:lstStyle/>
          <a:p>
            <a:r>
              <a:rPr lang="en-US" altLang="zh-CN" dirty="0"/>
              <a:t>Type checking can take on two </a:t>
            </a:r>
            <a:r>
              <a:rPr lang="en-US" altLang="zh-CN" dirty="0" smtClean="0"/>
              <a:t>forms</a:t>
            </a:r>
            <a:r>
              <a:rPr lang="en-US" altLang="zh-CN" dirty="0"/>
              <a:t>: </a:t>
            </a:r>
            <a:r>
              <a:rPr lang="en-US" altLang="zh-CN" i="1" dirty="0">
                <a:solidFill>
                  <a:srgbClr val="7030A0"/>
                </a:solidFill>
              </a:rPr>
              <a:t>synthesis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and </a:t>
            </a:r>
            <a:r>
              <a:rPr lang="en-US" altLang="zh-CN" i="1" dirty="0">
                <a:solidFill>
                  <a:srgbClr val="7030A0"/>
                </a:solidFill>
              </a:rPr>
              <a:t>inference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5" name="内容占位符 2"/>
          <p:cNvSpPr txBox="1">
            <a:spLocks/>
          </p:cNvSpPr>
          <p:nvPr/>
        </p:nvSpPr>
        <p:spPr>
          <a:xfrm>
            <a:off x="828675" y="2027238"/>
            <a:ext cx="7486650" cy="111873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9pPr>
          </a:lstStyle>
          <a:p>
            <a:r>
              <a:rPr lang="en-US" altLang="zh-CN" b="1" dirty="0" smtClean="0">
                <a:solidFill>
                  <a:srgbClr val="7030A0"/>
                </a:solidFill>
              </a:rPr>
              <a:t>Type synthesis </a:t>
            </a:r>
            <a:r>
              <a:rPr lang="en-US" altLang="zh-CN" dirty="0" smtClean="0"/>
              <a:t>builds </a:t>
            </a:r>
            <a:r>
              <a:rPr lang="en-US" altLang="zh-CN" dirty="0"/>
              <a:t>up the type of an expression from the types of its subexpressions. </a:t>
            </a:r>
            <a:r>
              <a:rPr lang="en-US" altLang="zh-CN" dirty="0" smtClean="0"/>
              <a:t>It requires </a:t>
            </a:r>
            <a:r>
              <a:rPr lang="en-US" altLang="zh-CN" dirty="0"/>
              <a:t>names to be declared before they are </a:t>
            </a:r>
            <a:r>
              <a:rPr lang="en-US" altLang="zh-CN" dirty="0" smtClean="0"/>
              <a:t>used.</a:t>
            </a:r>
            <a:endParaRPr lang="zh-CN" altLang="en-US" dirty="0"/>
          </a:p>
        </p:txBody>
      </p:sp>
      <p:sp>
        <p:nvSpPr>
          <p:cNvPr id="6" name="内容占位符 2"/>
          <p:cNvSpPr txBox="1">
            <a:spLocks/>
          </p:cNvSpPr>
          <p:nvPr/>
        </p:nvSpPr>
        <p:spPr>
          <a:xfrm>
            <a:off x="828675" y="3954009"/>
            <a:ext cx="7486650" cy="6179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9pPr>
          </a:lstStyle>
          <a:p>
            <a:r>
              <a:rPr lang="en-US" altLang="zh-CN" b="1" dirty="0" smtClean="0">
                <a:solidFill>
                  <a:srgbClr val="7030A0"/>
                </a:solidFill>
              </a:rPr>
              <a:t>Type </a:t>
            </a:r>
            <a:r>
              <a:rPr lang="en-US" altLang="zh-CN" b="1" dirty="0">
                <a:solidFill>
                  <a:srgbClr val="7030A0"/>
                </a:solidFill>
              </a:rPr>
              <a:t>inference </a:t>
            </a:r>
            <a:r>
              <a:rPr lang="en-US" altLang="zh-CN" dirty="0"/>
              <a:t>determines the type of a language construct from the way </a:t>
            </a:r>
            <a:r>
              <a:rPr lang="en-US" altLang="zh-CN" dirty="0" smtClean="0"/>
              <a:t>it is </a:t>
            </a:r>
            <a:r>
              <a:rPr lang="en-US" altLang="zh-CN" dirty="0"/>
              <a:t>used.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992" y="2586603"/>
            <a:ext cx="3780552" cy="7335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151" y="4498294"/>
            <a:ext cx="5471048" cy="707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057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7.5 </a:t>
            </a:r>
            <a:r>
              <a:rPr lang="en-US" altLang="zh-CN" dirty="0"/>
              <a:t>Type checking-Type Conversions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404257"/>
          </a:xfrm>
        </p:spPr>
        <p:txBody>
          <a:bodyPr>
            <a:normAutofit/>
          </a:bodyPr>
          <a:lstStyle/>
          <a:p>
            <a:r>
              <a:rPr lang="en-US" altLang="zh-CN" dirty="0"/>
              <a:t>Consider expressions like </a:t>
            </a:r>
            <a:r>
              <a:rPr lang="en-US" altLang="zh-CN" b="1" i="1" dirty="0">
                <a:solidFill>
                  <a:srgbClr val="7030A0"/>
                </a:solidFill>
              </a:rPr>
              <a:t>x + </a:t>
            </a:r>
            <a:r>
              <a:rPr lang="en-US" altLang="zh-CN" b="1" i="1" dirty="0" err="1">
                <a:solidFill>
                  <a:srgbClr val="7030A0"/>
                </a:solidFill>
              </a:rPr>
              <a:t>i</a:t>
            </a:r>
            <a:r>
              <a:rPr lang="en-US" altLang="zh-CN" dirty="0"/>
              <a:t>, where </a:t>
            </a:r>
            <a:r>
              <a:rPr lang="en-US" altLang="zh-CN" b="1" i="1" dirty="0">
                <a:solidFill>
                  <a:srgbClr val="7030A0"/>
                </a:solidFill>
              </a:rPr>
              <a:t>x</a:t>
            </a:r>
            <a:r>
              <a:rPr lang="en-US" altLang="zh-CN" dirty="0"/>
              <a:t> is of type float and</a:t>
            </a:r>
            <a:r>
              <a:rPr lang="en-US" altLang="zh-CN" i="1" dirty="0">
                <a:solidFill>
                  <a:srgbClr val="7030A0"/>
                </a:solidFill>
              </a:rPr>
              <a:t> </a:t>
            </a:r>
            <a:r>
              <a:rPr lang="en-US" altLang="zh-CN" i="1" dirty="0" err="1">
                <a:solidFill>
                  <a:srgbClr val="7030A0"/>
                </a:solidFill>
              </a:rPr>
              <a:t>i</a:t>
            </a:r>
            <a:r>
              <a:rPr lang="en-US" altLang="zh-CN" i="1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is of type </a:t>
            </a:r>
            <a:r>
              <a:rPr lang="en-US" altLang="zh-CN" dirty="0" smtClean="0"/>
              <a:t>integer. Since </a:t>
            </a:r>
            <a:r>
              <a:rPr lang="en-US" altLang="zh-CN" dirty="0"/>
              <a:t>the representation of integers and floating-point numbers is </a:t>
            </a:r>
            <a:r>
              <a:rPr lang="en-US" altLang="zh-CN" dirty="0" smtClean="0"/>
              <a:t>different within </a:t>
            </a:r>
            <a:r>
              <a:rPr lang="en-US" altLang="zh-CN" dirty="0"/>
              <a:t>a computer and different machine instructions are used for </a:t>
            </a:r>
            <a:r>
              <a:rPr lang="en-US" altLang="zh-CN" dirty="0" smtClean="0"/>
              <a:t>operations on </a:t>
            </a:r>
            <a:r>
              <a:rPr lang="en-US" altLang="zh-CN" dirty="0"/>
              <a:t>integers and floats, the compiler may need to convert one of the operands </a:t>
            </a:r>
            <a:r>
              <a:rPr lang="en-US" altLang="zh-CN" dirty="0" smtClean="0"/>
              <a:t>of </a:t>
            </a:r>
            <a:r>
              <a:rPr lang="en-US" altLang="zh-CN" b="1" dirty="0" smtClean="0">
                <a:solidFill>
                  <a:srgbClr val="7030A0"/>
                </a:solidFill>
              </a:rPr>
              <a:t>+</a:t>
            </a:r>
            <a:r>
              <a:rPr lang="en-US" altLang="zh-CN" dirty="0" smtClean="0"/>
              <a:t> </a:t>
            </a:r>
            <a:r>
              <a:rPr lang="en-US" altLang="zh-CN" dirty="0"/>
              <a:t>to ensure that both operands are of the same type when the </a:t>
            </a:r>
            <a:r>
              <a:rPr lang="en-US" altLang="zh-CN" dirty="0" smtClean="0"/>
              <a:t>addition occurs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726" y="2814637"/>
            <a:ext cx="2175103" cy="766763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14" y="3873953"/>
            <a:ext cx="6354991" cy="1264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694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7.5 </a:t>
            </a:r>
            <a:r>
              <a:rPr lang="en-US" altLang="zh-CN" dirty="0"/>
              <a:t>Type checking-Type Conversions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404257"/>
          </a:xfrm>
        </p:spPr>
        <p:txBody>
          <a:bodyPr>
            <a:normAutofit/>
          </a:bodyPr>
          <a:lstStyle/>
          <a:p>
            <a:r>
              <a:rPr lang="en-US" altLang="zh-CN" dirty="0"/>
              <a:t>Type conversion rules vary </a:t>
            </a:r>
            <a:r>
              <a:rPr lang="en-US" altLang="zh-CN" dirty="0" smtClean="0"/>
              <a:t>from </a:t>
            </a:r>
            <a:r>
              <a:rPr lang="en-US" altLang="zh-CN" dirty="0"/>
              <a:t>language to language. The rules for </a:t>
            </a:r>
            <a:r>
              <a:rPr lang="en-US" altLang="zh-CN" dirty="0" smtClean="0"/>
              <a:t>Java in the following figure </a:t>
            </a:r>
            <a:r>
              <a:rPr lang="en-US" altLang="zh-CN" dirty="0"/>
              <a:t>distinguish between </a:t>
            </a:r>
            <a:r>
              <a:rPr lang="en-US" altLang="zh-CN" b="1" dirty="0">
                <a:solidFill>
                  <a:srgbClr val="7030A0"/>
                </a:solidFill>
              </a:rPr>
              <a:t>widening</a:t>
            </a:r>
            <a:r>
              <a:rPr lang="en-US" altLang="zh-CN" dirty="0"/>
              <a:t> conversions, which are intended </a:t>
            </a:r>
            <a:r>
              <a:rPr lang="en-US" altLang="zh-CN" dirty="0" smtClean="0"/>
              <a:t>to preserve </a:t>
            </a:r>
            <a:r>
              <a:rPr lang="en-US" altLang="zh-CN" dirty="0"/>
              <a:t>information, and </a:t>
            </a:r>
            <a:r>
              <a:rPr lang="en-US" altLang="zh-CN" b="1" dirty="0">
                <a:solidFill>
                  <a:srgbClr val="7030A0"/>
                </a:solidFill>
              </a:rPr>
              <a:t>narrowing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conversions, which can lose </a:t>
            </a:r>
            <a:r>
              <a:rPr lang="en-US" altLang="zh-CN" dirty="0" smtClean="0"/>
              <a:t>information.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793" y="2708501"/>
            <a:ext cx="4867275" cy="324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248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7.5 </a:t>
            </a:r>
            <a:r>
              <a:rPr lang="en-US" altLang="zh-CN" dirty="0"/>
              <a:t>Type checking-Type Conversions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564" y="1709058"/>
            <a:ext cx="3771900" cy="25908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444" y="4702629"/>
            <a:ext cx="47720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9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7.6 Control Flow – Introduction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08" y="1617208"/>
            <a:ext cx="7984779" cy="3499077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 flipV="1">
            <a:off x="1088571" y="2960914"/>
            <a:ext cx="2329543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V="1">
            <a:off x="1088570" y="4463142"/>
            <a:ext cx="2329543" cy="10886"/>
          </a:xfrm>
          <a:prstGeom prst="line">
            <a:avLst/>
          </a:prstGeom>
          <a:ln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396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7.6 Control Flow </a:t>
            </a:r>
            <a:r>
              <a:rPr lang="en-US" altLang="zh-CN" dirty="0"/>
              <a:t>– Boolean Expressions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710" y="1364633"/>
            <a:ext cx="6000750" cy="45720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980394" y="1884847"/>
            <a:ext cx="71820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In </a:t>
            </a:r>
            <a:r>
              <a:rPr lang="en-US" altLang="zh-CN" b="1" dirty="0">
                <a:solidFill>
                  <a:srgbClr val="7030A0"/>
                </a:solidFill>
              </a:rPr>
              <a:t>short-circuit (or jumping) </a:t>
            </a:r>
            <a:r>
              <a:rPr lang="en-US" altLang="zh-CN" dirty="0"/>
              <a:t>code, the </a:t>
            </a:r>
            <a:r>
              <a:rPr lang="en-US" altLang="zh-CN" dirty="0" smtClean="0"/>
              <a:t>Boolean operators </a:t>
            </a:r>
            <a:r>
              <a:rPr lang="en-US" altLang="zh-CN" dirty="0">
                <a:solidFill>
                  <a:srgbClr val="7030A0"/>
                </a:solidFill>
              </a:rPr>
              <a:t>&amp;&amp;</a:t>
            </a:r>
            <a:r>
              <a:rPr lang="en-US" altLang="zh-CN" dirty="0"/>
              <a:t>, </a:t>
            </a:r>
            <a:r>
              <a:rPr lang="en-US" altLang="zh-CN" b="1" dirty="0" smtClean="0">
                <a:solidFill>
                  <a:srgbClr val="7030A0"/>
                </a:solidFill>
              </a:rPr>
              <a:t>||</a:t>
            </a:r>
            <a:r>
              <a:rPr lang="en-US" altLang="zh-CN" dirty="0" smtClean="0"/>
              <a:t>, </a:t>
            </a:r>
            <a:r>
              <a:rPr lang="en-US" altLang="zh-CN" dirty="0"/>
              <a:t>and </a:t>
            </a:r>
            <a:r>
              <a:rPr lang="en-US" altLang="zh-CN" b="1" dirty="0">
                <a:solidFill>
                  <a:srgbClr val="7030A0"/>
                </a:solidFill>
              </a:rPr>
              <a:t>!</a:t>
            </a:r>
            <a:r>
              <a:rPr lang="en-US" altLang="zh-CN" dirty="0"/>
              <a:t> </a:t>
            </a:r>
            <a:r>
              <a:rPr lang="en-US" altLang="zh-CN" dirty="0" smtClean="0"/>
              <a:t>translate into jumps. The operators </a:t>
            </a:r>
            <a:r>
              <a:rPr lang="en-US" altLang="zh-CN" dirty="0"/>
              <a:t>themselves do not appear in the </a:t>
            </a:r>
            <a:r>
              <a:rPr lang="en-US" altLang="zh-CN" dirty="0" smtClean="0"/>
              <a:t>code; </a:t>
            </a:r>
            <a:r>
              <a:rPr lang="en-US" altLang="zh-CN" dirty="0" err="1" smtClean="0"/>
              <a:t>Instead,the</a:t>
            </a:r>
            <a:r>
              <a:rPr lang="en-US" altLang="zh-CN" dirty="0" smtClean="0"/>
              <a:t> </a:t>
            </a:r>
            <a:r>
              <a:rPr lang="en-US" altLang="zh-CN" dirty="0"/>
              <a:t>value of a </a:t>
            </a:r>
            <a:r>
              <a:rPr lang="en-US" altLang="zh-CN" dirty="0" smtClean="0"/>
              <a:t>Boolean </a:t>
            </a:r>
            <a:r>
              <a:rPr lang="en-US" altLang="zh-CN" dirty="0"/>
              <a:t>expression is represented by a </a:t>
            </a:r>
            <a:r>
              <a:rPr lang="en-US" altLang="zh-CN" dirty="0" smtClean="0"/>
              <a:t>position </a:t>
            </a:r>
            <a:r>
              <a:rPr lang="en-US" altLang="zh-CN" dirty="0"/>
              <a:t>in the code sequence.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922" y="3148190"/>
            <a:ext cx="64103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65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7.5 Control Flow </a:t>
            </a:r>
            <a:r>
              <a:rPr lang="en-US" altLang="zh-CN" dirty="0"/>
              <a:t>– Flow-of-Control Statements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361" y="1327710"/>
            <a:ext cx="6467475" cy="14382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428" y="2920533"/>
            <a:ext cx="5207343" cy="393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8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7.6 Control Flow </a:t>
            </a:r>
            <a:r>
              <a:rPr lang="en-US" altLang="zh-CN" dirty="0"/>
              <a:t>– Flow-of-Control Statements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29" y="1576911"/>
            <a:ext cx="4659086" cy="517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766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7.6 </a:t>
            </a:r>
            <a:r>
              <a:rPr lang="en-US" altLang="zh-CN" dirty="0"/>
              <a:t>Control Flow – </a:t>
            </a:r>
            <a:r>
              <a:rPr lang="en-US" altLang="zh-CN" dirty="0"/>
              <a:t>Translation of Boolean Expressions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30" y="1494711"/>
            <a:ext cx="4956402" cy="489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64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7.7 Switch- Statements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4668611" cy="642257"/>
          </a:xfrm>
        </p:spPr>
        <p:txBody>
          <a:bodyPr/>
          <a:lstStyle/>
          <a:p>
            <a:r>
              <a:rPr lang="en-US" altLang="zh-CN" dirty="0"/>
              <a:t>The "switch" or "case" statement is available in a variety of languages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761" y="1456644"/>
            <a:ext cx="2152650" cy="15716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207" y="3455307"/>
            <a:ext cx="64389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764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7.7 Switch- Statements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6" y="1505630"/>
            <a:ext cx="2962275" cy="40862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298" y="1505630"/>
            <a:ext cx="3457575" cy="340042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1511" y="5238523"/>
            <a:ext cx="1581150" cy="13716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558" y="5781448"/>
            <a:ext cx="1533525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86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7.8 </a:t>
            </a:r>
            <a:r>
              <a:rPr lang="it-IT" altLang="zh-CN" dirty="0"/>
              <a:t>Intermediate Code </a:t>
            </a:r>
            <a:r>
              <a:rPr lang="it-IT" altLang="zh-CN" dirty="0" smtClean="0"/>
              <a:t>for Procedures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641" y="1550533"/>
            <a:ext cx="4829175" cy="25812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6115" y="4589690"/>
            <a:ext cx="3324225" cy="177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25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7.8 </a:t>
            </a:r>
            <a:r>
              <a:rPr lang="it-IT" altLang="zh-CN" dirty="0"/>
              <a:t>Intermediate Code for Procedures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93" y="1695450"/>
            <a:ext cx="6315075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425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7.8 </a:t>
            </a:r>
            <a:r>
              <a:rPr lang="it-IT" altLang="zh-CN" dirty="0"/>
              <a:t>Intermediate Code for Procedures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2" y="1852612"/>
            <a:ext cx="6315075" cy="31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018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purl.org/dc/dcmitype/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873beb7-5857-4685-be1f-d57550cc96cc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1792</Words>
  <Application>Microsoft Office PowerPoint</Application>
  <PresentationFormat>全屏显示(4:3)</PresentationFormat>
  <Paragraphs>134</Paragraphs>
  <Slides>40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6" baseType="lpstr">
      <vt:lpstr>Euphemia</vt:lpstr>
      <vt:lpstr>微软雅黑</vt:lpstr>
      <vt:lpstr>Arial</vt:lpstr>
      <vt:lpstr>Wingdings</vt:lpstr>
      <vt:lpstr>学术文献 16x9</vt:lpstr>
      <vt:lpstr>Equation</vt:lpstr>
      <vt:lpstr>Compilers</vt:lpstr>
      <vt:lpstr>Intermediate- Code Generation</vt:lpstr>
      <vt:lpstr>Outlines</vt:lpstr>
      <vt:lpstr>Introduction</vt:lpstr>
      <vt:lpstr>7.1 Variants of Syntax Trees</vt:lpstr>
      <vt:lpstr>7.2 Three-Address Code</vt:lpstr>
      <vt:lpstr>7.2 Three-Address Code – Addresses and Instructions</vt:lpstr>
      <vt:lpstr>7.2 Three-Address Code – Addresses and Instructions</vt:lpstr>
      <vt:lpstr>7.2 Three-Address Code – Quadruples</vt:lpstr>
      <vt:lpstr>7.2 Three-Address Code – Triples</vt:lpstr>
      <vt:lpstr>7.2 Three-Address Code – Triples</vt:lpstr>
      <vt:lpstr>7.2 Three-Address Code – Triples</vt:lpstr>
      <vt:lpstr>7.3 Types and Declarations</vt:lpstr>
      <vt:lpstr>7.3 Types and Declarations-Type Expressions</vt:lpstr>
      <vt:lpstr>7.3 Types and Declarations-Type Expressions</vt:lpstr>
      <vt:lpstr>7.3 Types and Declarations-Type Equivalence</vt:lpstr>
      <vt:lpstr>7.3 Types and Declarations-Declaration</vt:lpstr>
      <vt:lpstr>7.3 Types and Declarations-Storage Layout for Local Names</vt:lpstr>
      <vt:lpstr>7.3 Types and Declarations-Sequences of Declarations</vt:lpstr>
      <vt:lpstr>7.3 Types and Declarations-Fields in Records and Classes</vt:lpstr>
      <vt:lpstr>7.4 Translation of Expressions-Operations Within Expressions</vt:lpstr>
      <vt:lpstr>7.4 Translation of Expressions-Incremental Translation</vt:lpstr>
      <vt:lpstr>7.4 Translation of Expressions-Addressing Array Elements</vt:lpstr>
      <vt:lpstr>7.4 Translation of Expressions-Addressing Array Elements</vt:lpstr>
      <vt:lpstr>7.4 Translation of Expressions-Addressing Array Elements</vt:lpstr>
      <vt:lpstr>7.4 Translation of Expressions-Addressing Array Elements</vt:lpstr>
      <vt:lpstr>7.5 Type checking-Rules for Type Checking</vt:lpstr>
      <vt:lpstr>7.5 Type checking-Type Conversions</vt:lpstr>
      <vt:lpstr>7.5 Type checking-Type Conversions</vt:lpstr>
      <vt:lpstr>7.5 Type checking-Type Conversions</vt:lpstr>
      <vt:lpstr>7.6 Control Flow – Introduction</vt:lpstr>
      <vt:lpstr>7.6 Control Flow – Boolean Expressions</vt:lpstr>
      <vt:lpstr>7.5 Control Flow – Flow-of-Control Statements</vt:lpstr>
      <vt:lpstr>7.6 Control Flow – Flow-of-Control Statements</vt:lpstr>
      <vt:lpstr>7.6 Control Flow – Translation of Boolean Expressions</vt:lpstr>
      <vt:lpstr>7.7 Switch- Statements</vt:lpstr>
      <vt:lpstr>7.7 Switch- Statements</vt:lpstr>
      <vt:lpstr>7.8 Intermediate Code for Procedures</vt:lpstr>
      <vt:lpstr>7.8 Intermediate Code for Procedures</vt:lpstr>
      <vt:lpstr>7.8 Intermediate Code for Procedures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2018-06-06T07:48:09Z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